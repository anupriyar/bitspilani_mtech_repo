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3.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65.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2"/>
  </p:notesMasterIdLst>
  <p:sldIdLst>
    <p:sldId id="256" r:id="rId2"/>
    <p:sldId id="257" r:id="rId3"/>
    <p:sldId id="262" r:id="rId4"/>
    <p:sldId id="258" r:id="rId5"/>
    <p:sldId id="259" r:id="rId6"/>
    <p:sldId id="260"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Lst>
  <p:sldSz cx="5765800" cy="3244850"/>
  <p:notesSz cx="5765800" cy="3244850"/>
  <p:embeddedFontLst>
    <p:embeddedFont>
      <p:font typeface="Cambria" panose="02040503050406030204" pitchFamily="18" charset="0"/>
      <p:regular r:id="rId103"/>
      <p:bold r:id="rId104"/>
      <p:italic r:id="rId105"/>
      <p:boldItalic r:id="rId106"/>
    </p:embeddedFont>
    <p:embeddedFont>
      <p:font typeface="Google Sans" panose="020B0604020202020204" charset="0"/>
      <p:regular r:id="rId107"/>
      <p:bold r:id="rId108"/>
      <p:italic r:id="rId109"/>
      <p:boldItalic r:id="rId110"/>
    </p:embeddedFont>
    <p:embeddedFont>
      <p:font typeface="Tahoma" panose="020B0604030504040204" pitchFamily="34" charset="0"/>
      <p:regular r:id="rId111"/>
      <p:bold r:id="rId1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4" roundtripDataSignature="AMtx7mjjrNCrk0ynkq4AGeJVlzJu3mGA5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8AA219-CA89-41A0-AA6F-2D93B60182F7}">
  <a:tblStyle styleId="{2A8AA219-CA89-41A0-AA6F-2D93B60182F7}"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Arial"/>
          <a:ea typeface="Arial"/>
          <a:cs typeface="Arial"/>
        </a:font>
        <a:schemeClr val="lt1"/>
      </a:tcTxStyle>
      <a:tcStyle>
        <a:tcBdr/>
        <a:fill>
          <a:solidFill>
            <a:schemeClr val="dk1"/>
          </a:solidFill>
        </a:fill>
      </a:tcStyle>
    </a:lastCol>
    <a:firstCol>
      <a:tcTxStyle b="on" i="off">
        <a:font>
          <a:latin typeface="Arial"/>
          <a:ea typeface="Arial"/>
          <a:cs typeface="Arial"/>
        </a:font>
        <a:schemeClr val="lt1"/>
      </a:tcTxStyle>
      <a:tcStyle>
        <a:tcBdr/>
        <a:fill>
          <a:solidFill>
            <a:schemeClr val="dk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F97AB370-09F2-4B06-AB82-BC6DADC2435D}"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b="off" i="off"/>
      <a:tcStyle>
        <a:tcBdr/>
        <a:fill>
          <a:solidFill>
            <a:srgbClr val="CACACA"/>
          </a:solidFill>
        </a:fill>
      </a:tcStyle>
    </a:band1H>
    <a:band2H>
      <a:tcTxStyle b="off" i="off"/>
      <a:tcStyle>
        <a:tcBdr/>
      </a:tcStyle>
    </a:band2H>
    <a:band1V>
      <a:tcTxStyle b="off" i="off"/>
      <a:tcStyle>
        <a:tcBdr/>
        <a:fill>
          <a:solidFill>
            <a:srgbClr val="CACACA"/>
          </a:solidFill>
        </a:fill>
      </a:tcStyle>
    </a:band1V>
    <a:band2V>
      <a:tcTxStyle b="off" i="off"/>
      <a:tcStyle>
        <a:tcBdr/>
      </a:tcStyle>
    </a:band2V>
    <a:lastCol>
      <a:tcTxStyle b="on" i="off">
        <a:font>
          <a:latin typeface="Arial"/>
          <a:ea typeface="Arial"/>
          <a:cs typeface="Arial"/>
        </a:font>
        <a:schemeClr val="lt1"/>
      </a:tcTxStyle>
      <a:tcStyle>
        <a:tcBdr/>
        <a:fill>
          <a:solidFill>
            <a:schemeClr val="dk1"/>
          </a:solidFill>
        </a:fill>
      </a:tcStyle>
    </a:lastCol>
    <a:firstCol>
      <a:tcTxStyle b="on" i="off">
        <a:font>
          <a:latin typeface="Arial"/>
          <a:ea typeface="Arial"/>
          <a:cs typeface="Arial"/>
        </a:font>
        <a:schemeClr val="lt1"/>
      </a:tcTxStyle>
      <a:tcStyle>
        <a:tcBdr/>
        <a:fill>
          <a:solidFill>
            <a:schemeClr val="dk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 styleId="{428A736C-7654-4D50-9457-C7091998729E}" styleName="Table_2">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0" d="100"/>
          <a:sy n="190" d="100"/>
        </p:scale>
        <p:origin x="374" y="110"/>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0.fntdata"/><Relationship Id="rId16" Type="http://schemas.openxmlformats.org/officeDocument/2006/relationships/slide" Target="slides/slide15.xml"/><Relationship Id="rId107" Type="http://schemas.openxmlformats.org/officeDocument/2006/relationships/font" Target="fonts/font5.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fntdata"/><Relationship Id="rId108" Type="http://schemas.openxmlformats.org/officeDocument/2006/relationships/font" Target="fonts/font6.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customschemas.google.com/relationships/presentationmetadata" Target="metadata"/><Relationship Id="rId119"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7.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2.fntdata"/><Relationship Id="rId120" Type="http://schemas.openxmlformats.org/officeDocument/2006/relationships/customXml" Target="../customXml/item2.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8.fntdata"/><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customXml" Target="../customXml/item3.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 name="Google Shape;36;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 name="Google Shape;45;p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p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 name="Google Shape;57;p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p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p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1" name="Google Shape;211;p1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3" name="Google Shape;263;p1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2: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p1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3: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p1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4: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7" name="Google Shape;427;p1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5: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4" name="Google Shape;484;p1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6: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0" name="Google Shape;540;p1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17: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6" name="Google Shape;596;p1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18: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3" name="Google Shape;653;p1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2" name="Google Shape;712;p1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20: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0" name="Google Shape;720;p2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2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3" name="Google Shape;753;p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22: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6" name="Google Shape;806;p2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23: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3" name="Google Shape;863;p2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24: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0" name="Google Shape;920;p2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25: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0" name="Google Shape;980;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26: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0" name="Google Shape;1040;p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27: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0" name="Google Shape;1100;p2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28: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4" name="Google Shape;1154;p2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29: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3" name="Google Shape;1173;p2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g3a6c7b9e349_0_2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4" name="Google Shape;1194;g3a6c7b9e349_0_2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g3a6c7b9e349_0_4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8" name="Google Shape;1218;g3a6c7b9e349_0_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g3a6c7b9e349_0_74: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0" name="Google Shape;1250;g3a6c7b9e349_0_7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g3a6c7b9e349_0_10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2" name="Google Shape;1282;g3a6c7b9e349_0_105: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6"/>
        <p:cNvGrpSpPr/>
        <p:nvPr/>
      </p:nvGrpSpPr>
      <p:grpSpPr>
        <a:xfrm>
          <a:off x="0" y="0"/>
          <a:ext cx="0" cy="0"/>
          <a:chOff x="0" y="0"/>
          <a:chExt cx="0" cy="0"/>
        </a:xfrm>
      </p:grpSpPr>
      <p:sp>
        <p:nvSpPr>
          <p:cNvPr id="1287" name="Google Shape;1287;g3a6c7b9e349_0_11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8" name="Google Shape;1288;g3a6c7b9e349_0_11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3a6c7b9e349_0_15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9" name="Google Shape;1329;g3a6c7b9e349_0_15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g3a6c7b9e349_0_19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0" name="Google Shape;1370;g3a6c7b9e349_0_19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g3a6c7b9e349_0_231: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2" name="Google Shape;1412;g3a6c7b9e349_0_23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3a6c7b9e349_0_27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5" name="Google Shape;1455;g3a6c7b9e349_0_27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6"/>
        <p:cNvGrpSpPr/>
        <p:nvPr/>
      </p:nvGrpSpPr>
      <p:grpSpPr>
        <a:xfrm>
          <a:off x="0" y="0"/>
          <a:ext cx="0" cy="0"/>
          <a:chOff x="0" y="0"/>
          <a:chExt cx="0" cy="0"/>
        </a:xfrm>
      </p:grpSpPr>
      <p:sp>
        <p:nvSpPr>
          <p:cNvPr id="1497" name="Google Shape;1497;g3a6c7b9e349_0_31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8" name="Google Shape;1498;g3a6c7b9e349_0_31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g3a6c7b9e349_0_357: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1" name="Google Shape;1541;g3a6c7b9e349_0_35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g3a6c7b9e349_0_40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5" name="Google Shape;1585;g3a6c7b9e349_0_40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g3a6c7b9e349_0_44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9" name="Google Shape;1629;g3a6c7b9e349_0_4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4"/>
        <p:cNvGrpSpPr/>
        <p:nvPr/>
      </p:nvGrpSpPr>
      <p:grpSpPr>
        <a:xfrm>
          <a:off x="0" y="0"/>
          <a:ext cx="0" cy="0"/>
          <a:chOff x="0" y="0"/>
          <a:chExt cx="0" cy="0"/>
        </a:xfrm>
      </p:grpSpPr>
      <p:sp>
        <p:nvSpPr>
          <p:cNvPr id="1675" name="Google Shape;1675;g3a6c7b9e349_0_489: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6" name="Google Shape;1676;g3a6c7b9e349_0_48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3a6c7b9e349_0_52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8" name="Google Shape;1708;g3a6c7b9e349_0_520: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2"/>
        <p:cNvGrpSpPr/>
        <p:nvPr/>
      </p:nvGrpSpPr>
      <p:grpSpPr>
        <a:xfrm>
          <a:off x="0" y="0"/>
          <a:ext cx="0" cy="0"/>
          <a:chOff x="0" y="0"/>
          <a:chExt cx="0" cy="0"/>
        </a:xfrm>
      </p:grpSpPr>
      <p:sp>
        <p:nvSpPr>
          <p:cNvPr id="1713" name="Google Shape;1713;g3a6c7b9e349_0_52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4" name="Google Shape;1714;g3a6c7b9e349_0_5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g3a6c7b9e349_0_56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5" name="Google Shape;1755;g3a6c7b9e349_0_56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p:cNvGrpSpPr/>
        <p:nvPr/>
      </p:nvGrpSpPr>
      <p:grpSpPr>
        <a:xfrm>
          <a:off x="0" y="0"/>
          <a:ext cx="0" cy="0"/>
          <a:chOff x="0" y="0"/>
          <a:chExt cx="0" cy="0"/>
        </a:xfrm>
      </p:grpSpPr>
      <p:sp>
        <p:nvSpPr>
          <p:cNvPr id="1799" name="Google Shape;1799;g3a6c7b9e349_0_609: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00" name="Google Shape;1800;g3a6c7b9e349_0_60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3"/>
        <p:cNvGrpSpPr/>
        <p:nvPr/>
      </p:nvGrpSpPr>
      <p:grpSpPr>
        <a:xfrm>
          <a:off x="0" y="0"/>
          <a:ext cx="0" cy="0"/>
          <a:chOff x="0" y="0"/>
          <a:chExt cx="0" cy="0"/>
        </a:xfrm>
      </p:grpSpPr>
      <p:sp>
        <p:nvSpPr>
          <p:cNvPr id="1844" name="Google Shape;1844;g3a6c7b9e349_0_65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5" name="Google Shape;1845;g3a6c7b9e349_0_65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9"/>
        <p:cNvGrpSpPr/>
        <p:nvPr/>
      </p:nvGrpSpPr>
      <p:grpSpPr>
        <a:xfrm>
          <a:off x="0" y="0"/>
          <a:ext cx="0" cy="0"/>
          <a:chOff x="0" y="0"/>
          <a:chExt cx="0" cy="0"/>
        </a:xfrm>
      </p:grpSpPr>
      <p:sp>
        <p:nvSpPr>
          <p:cNvPr id="1890" name="Google Shape;1890;g3a6c7b9e349_0_698: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91" name="Google Shape;1891;g3a6c7b9e349_0_69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5"/>
        <p:cNvGrpSpPr/>
        <p:nvPr/>
      </p:nvGrpSpPr>
      <p:grpSpPr>
        <a:xfrm>
          <a:off x="0" y="0"/>
          <a:ext cx="0" cy="0"/>
          <a:chOff x="0" y="0"/>
          <a:chExt cx="0" cy="0"/>
        </a:xfrm>
      </p:grpSpPr>
      <p:sp>
        <p:nvSpPr>
          <p:cNvPr id="1936" name="Google Shape;1936;g3a6c7b9e349_0_74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7" name="Google Shape;1937;g3a6c7b9e349_0_7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3a6c7b9e349_0_788: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3" name="Google Shape;1983;g3a6c7b9e349_0_78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8"/>
        <p:cNvGrpSpPr/>
        <p:nvPr/>
      </p:nvGrpSpPr>
      <p:grpSpPr>
        <a:xfrm>
          <a:off x="0" y="0"/>
          <a:ext cx="0" cy="0"/>
          <a:chOff x="0" y="0"/>
          <a:chExt cx="0" cy="0"/>
        </a:xfrm>
      </p:grpSpPr>
      <p:sp>
        <p:nvSpPr>
          <p:cNvPr id="2029" name="Google Shape;2029;g3a6c7b9e349_0_834: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30" name="Google Shape;2030;g3a6c7b9e349_0_83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4"/>
        <p:cNvGrpSpPr/>
        <p:nvPr/>
      </p:nvGrpSpPr>
      <p:grpSpPr>
        <a:xfrm>
          <a:off x="0" y="0"/>
          <a:ext cx="0" cy="0"/>
          <a:chOff x="0" y="0"/>
          <a:chExt cx="0" cy="0"/>
        </a:xfrm>
      </p:grpSpPr>
      <p:sp>
        <p:nvSpPr>
          <p:cNvPr id="2075" name="Google Shape;2075;g3a6c7b9e349_0_879: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6" name="Google Shape;2076;g3a6c7b9e349_0_87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0"/>
        <p:cNvGrpSpPr/>
        <p:nvPr/>
      </p:nvGrpSpPr>
      <p:grpSpPr>
        <a:xfrm>
          <a:off x="0" y="0"/>
          <a:ext cx="0" cy="0"/>
          <a:chOff x="0" y="0"/>
          <a:chExt cx="0" cy="0"/>
        </a:xfrm>
      </p:grpSpPr>
      <p:sp>
        <p:nvSpPr>
          <p:cNvPr id="2121" name="Google Shape;2121;g3a6c7b9e349_0_924: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2" name="Google Shape;2122;g3a6c7b9e349_0_92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6"/>
        <p:cNvGrpSpPr/>
        <p:nvPr/>
      </p:nvGrpSpPr>
      <p:grpSpPr>
        <a:xfrm>
          <a:off x="0" y="0"/>
          <a:ext cx="0" cy="0"/>
          <a:chOff x="0" y="0"/>
          <a:chExt cx="0" cy="0"/>
        </a:xfrm>
      </p:grpSpPr>
      <p:sp>
        <p:nvSpPr>
          <p:cNvPr id="2167" name="Google Shape;2167;g3a6c7b9e349_0_969: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8" name="Google Shape;2168;g3a6c7b9e349_0_96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3a6c7b9e349_0_1014: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4" name="Google Shape;2214;g3a6c7b9e349_0_101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0"/>
        <p:cNvGrpSpPr/>
        <p:nvPr/>
      </p:nvGrpSpPr>
      <p:grpSpPr>
        <a:xfrm>
          <a:off x="0" y="0"/>
          <a:ext cx="0" cy="0"/>
          <a:chOff x="0" y="0"/>
          <a:chExt cx="0" cy="0"/>
        </a:xfrm>
      </p:grpSpPr>
      <p:sp>
        <p:nvSpPr>
          <p:cNvPr id="2261" name="Google Shape;2261;g3a6c7b9e349_0_1061: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62" name="Google Shape;2262;g3a6c7b9e349_0_106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7"/>
        <p:cNvGrpSpPr/>
        <p:nvPr/>
      </p:nvGrpSpPr>
      <p:grpSpPr>
        <a:xfrm>
          <a:off x="0" y="0"/>
          <a:ext cx="0" cy="0"/>
          <a:chOff x="0" y="0"/>
          <a:chExt cx="0" cy="0"/>
        </a:xfrm>
      </p:grpSpPr>
      <p:sp>
        <p:nvSpPr>
          <p:cNvPr id="2308" name="Google Shape;2308;g3a6c7b9e349_0_1107: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9" name="Google Shape;2309;g3a6c7b9e349_0_110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4"/>
        <p:cNvGrpSpPr/>
        <p:nvPr/>
      </p:nvGrpSpPr>
      <p:grpSpPr>
        <a:xfrm>
          <a:off x="0" y="0"/>
          <a:ext cx="0" cy="0"/>
          <a:chOff x="0" y="0"/>
          <a:chExt cx="0" cy="0"/>
        </a:xfrm>
      </p:grpSpPr>
      <p:sp>
        <p:nvSpPr>
          <p:cNvPr id="2355" name="Google Shape;2355;g3a6c7b9e349_0_115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6" name="Google Shape;2356;g3a6c7b9e349_0_115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1"/>
        <p:cNvGrpSpPr/>
        <p:nvPr/>
      </p:nvGrpSpPr>
      <p:grpSpPr>
        <a:xfrm>
          <a:off x="0" y="0"/>
          <a:ext cx="0" cy="0"/>
          <a:chOff x="0" y="0"/>
          <a:chExt cx="0" cy="0"/>
        </a:xfrm>
      </p:grpSpPr>
      <p:sp>
        <p:nvSpPr>
          <p:cNvPr id="2402" name="Google Shape;2402;g3a6c7b9e349_0_1199: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03" name="Google Shape;2403;g3a6c7b9e349_0_119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0"/>
        <p:cNvGrpSpPr/>
        <p:nvPr/>
      </p:nvGrpSpPr>
      <p:grpSpPr>
        <a:xfrm>
          <a:off x="0" y="0"/>
          <a:ext cx="0" cy="0"/>
          <a:chOff x="0" y="0"/>
          <a:chExt cx="0" cy="0"/>
        </a:xfrm>
      </p:grpSpPr>
      <p:sp>
        <p:nvSpPr>
          <p:cNvPr id="2451" name="Google Shape;2451;g3a6c7b9e349_0_1247: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2" name="Google Shape;2452;g3a6c7b9e349_0_124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2"/>
        <p:cNvGrpSpPr/>
        <p:nvPr/>
      </p:nvGrpSpPr>
      <p:grpSpPr>
        <a:xfrm>
          <a:off x="0" y="0"/>
          <a:ext cx="0" cy="0"/>
          <a:chOff x="0" y="0"/>
          <a:chExt cx="0" cy="0"/>
        </a:xfrm>
      </p:grpSpPr>
      <p:sp>
        <p:nvSpPr>
          <p:cNvPr id="2483" name="Google Shape;2483;g3a6c7b9e349_0_1278: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4" name="Google Shape;2484;g3a6c7b9e349_0_127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g3a6c7b9e349_0_1322: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9" name="Google Shape;2529;g3a6c7b9e349_0_132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2"/>
        <p:cNvGrpSpPr/>
        <p:nvPr/>
      </p:nvGrpSpPr>
      <p:grpSpPr>
        <a:xfrm>
          <a:off x="0" y="0"/>
          <a:ext cx="0" cy="0"/>
          <a:chOff x="0" y="0"/>
          <a:chExt cx="0" cy="0"/>
        </a:xfrm>
      </p:grpSpPr>
      <p:sp>
        <p:nvSpPr>
          <p:cNvPr id="2573" name="Google Shape;2573;g3a6c7b9e349_0_1366: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74" name="Google Shape;2574;g3a6c7b9e349_0_136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9"/>
        <p:cNvGrpSpPr/>
        <p:nvPr/>
      </p:nvGrpSpPr>
      <p:grpSpPr>
        <a:xfrm>
          <a:off x="0" y="0"/>
          <a:ext cx="0" cy="0"/>
          <a:chOff x="0" y="0"/>
          <a:chExt cx="0" cy="0"/>
        </a:xfrm>
      </p:grpSpPr>
      <p:sp>
        <p:nvSpPr>
          <p:cNvPr id="2590" name="Google Shape;2590;g3a6c7b9e349_0_1382: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1" name="Google Shape;2591;g3a6c7b9e349_0_138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p:cNvGrpSpPr/>
        <p:nvPr/>
      </p:nvGrpSpPr>
      <p:grpSpPr>
        <a:xfrm>
          <a:off x="0" y="0"/>
          <a:ext cx="0" cy="0"/>
          <a:chOff x="0" y="0"/>
          <a:chExt cx="0" cy="0"/>
        </a:xfrm>
      </p:grpSpPr>
      <p:sp>
        <p:nvSpPr>
          <p:cNvPr id="2607" name="Google Shape;2607;g3b54a426ae3_0_1346: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8" name="Google Shape;2608;g3b54a426ae3_0_134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7"/>
        <p:cNvGrpSpPr/>
        <p:nvPr/>
      </p:nvGrpSpPr>
      <p:grpSpPr>
        <a:xfrm>
          <a:off x="0" y="0"/>
          <a:ext cx="0" cy="0"/>
          <a:chOff x="0" y="0"/>
          <a:chExt cx="0" cy="0"/>
        </a:xfrm>
      </p:grpSpPr>
      <p:sp>
        <p:nvSpPr>
          <p:cNvPr id="2628" name="Google Shape;2628;g3b54a426ae3_0_1366: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29" name="Google Shape;2629;g3b54a426ae3_0_136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1"/>
        <p:cNvGrpSpPr/>
        <p:nvPr/>
      </p:nvGrpSpPr>
      <p:grpSpPr>
        <a:xfrm>
          <a:off x="0" y="0"/>
          <a:ext cx="0" cy="0"/>
          <a:chOff x="0" y="0"/>
          <a:chExt cx="0" cy="0"/>
        </a:xfrm>
      </p:grpSpPr>
      <p:sp>
        <p:nvSpPr>
          <p:cNvPr id="2652" name="Google Shape;2652;g3b54a426ae3_0_1389: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53" name="Google Shape;2653;g3b54a426ae3_0_138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1"/>
        <p:cNvGrpSpPr/>
        <p:nvPr/>
      </p:nvGrpSpPr>
      <p:grpSpPr>
        <a:xfrm>
          <a:off x="0" y="0"/>
          <a:ext cx="0" cy="0"/>
          <a:chOff x="0" y="0"/>
          <a:chExt cx="0" cy="0"/>
        </a:xfrm>
      </p:grpSpPr>
      <p:sp>
        <p:nvSpPr>
          <p:cNvPr id="2682" name="Google Shape;2682;g3b54a426ae3_0_1418: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3" name="Google Shape;2683;g3b54a426ae3_0_1418: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7"/>
        <p:cNvGrpSpPr/>
        <p:nvPr/>
      </p:nvGrpSpPr>
      <p:grpSpPr>
        <a:xfrm>
          <a:off x="0" y="0"/>
          <a:ext cx="0" cy="0"/>
          <a:chOff x="0" y="0"/>
          <a:chExt cx="0" cy="0"/>
        </a:xfrm>
      </p:grpSpPr>
      <p:sp>
        <p:nvSpPr>
          <p:cNvPr id="2688" name="Google Shape;2688;g3b54a426ae3_0_142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9" name="Google Shape;2689;g3b54a426ae3_0_142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3"/>
        <p:cNvGrpSpPr/>
        <p:nvPr/>
      </p:nvGrpSpPr>
      <p:grpSpPr>
        <a:xfrm>
          <a:off x="0" y="0"/>
          <a:ext cx="0" cy="0"/>
          <a:chOff x="0" y="0"/>
          <a:chExt cx="0" cy="0"/>
        </a:xfrm>
      </p:grpSpPr>
      <p:sp>
        <p:nvSpPr>
          <p:cNvPr id="2724" name="Google Shape;2724;g3b54a426ae3_0_1458: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25" name="Google Shape;2725;g3b54a426ae3_0_145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8"/>
        <p:cNvGrpSpPr/>
        <p:nvPr/>
      </p:nvGrpSpPr>
      <p:grpSpPr>
        <a:xfrm>
          <a:off x="0" y="0"/>
          <a:ext cx="0" cy="0"/>
          <a:chOff x="0" y="0"/>
          <a:chExt cx="0" cy="0"/>
        </a:xfrm>
      </p:grpSpPr>
      <p:sp>
        <p:nvSpPr>
          <p:cNvPr id="2759" name="Google Shape;2759;g3b54a426ae3_0_1492: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60" name="Google Shape;2760;g3b54a426ae3_0_149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3"/>
        <p:cNvGrpSpPr/>
        <p:nvPr/>
      </p:nvGrpSpPr>
      <p:grpSpPr>
        <a:xfrm>
          <a:off x="0" y="0"/>
          <a:ext cx="0" cy="0"/>
          <a:chOff x="0" y="0"/>
          <a:chExt cx="0" cy="0"/>
        </a:xfrm>
      </p:grpSpPr>
      <p:sp>
        <p:nvSpPr>
          <p:cNvPr id="2794" name="Google Shape;2794;g3b54a426ae3_0_1526: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95" name="Google Shape;2795;g3b54a426ae3_0_15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8"/>
        <p:cNvGrpSpPr/>
        <p:nvPr/>
      </p:nvGrpSpPr>
      <p:grpSpPr>
        <a:xfrm>
          <a:off x="0" y="0"/>
          <a:ext cx="0" cy="0"/>
          <a:chOff x="0" y="0"/>
          <a:chExt cx="0" cy="0"/>
        </a:xfrm>
      </p:grpSpPr>
      <p:sp>
        <p:nvSpPr>
          <p:cNvPr id="2829" name="Google Shape;2829;g3b54a426ae3_0_156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0" name="Google Shape;2830;g3b54a426ae3_0_1560: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4"/>
        <p:cNvGrpSpPr/>
        <p:nvPr/>
      </p:nvGrpSpPr>
      <p:grpSpPr>
        <a:xfrm>
          <a:off x="0" y="0"/>
          <a:ext cx="0" cy="0"/>
          <a:chOff x="0" y="0"/>
          <a:chExt cx="0" cy="0"/>
        </a:xfrm>
      </p:grpSpPr>
      <p:sp>
        <p:nvSpPr>
          <p:cNvPr id="2835" name="Google Shape;2835;g3b54a426ae3_0_156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6" name="Google Shape;2836;g3b54a426ae3_0_1565: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0"/>
        <p:cNvGrpSpPr/>
        <p:nvPr/>
      </p:nvGrpSpPr>
      <p:grpSpPr>
        <a:xfrm>
          <a:off x="0" y="0"/>
          <a:ext cx="0" cy="0"/>
          <a:chOff x="0" y="0"/>
          <a:chExt cx="0" cy="0"/>
        </a:xfrm>
      </p:grpSpPr>
      <p:sp>
        <p:nvSpPr>
          <p:cNvPr id="2841" name="Google Shape;2841;g3b54a426ae3_0_157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42" name="Google Shape;2842;g3b54a426ae3_0_157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1"/>
        <p:cNvGrpSpPr/>
        <p:nvPr/>
      </p:nvGrpSpPr>
      <p:grpSpPr>
        <a:xfrm>
          <a:off x="0" y="0"/>
          <a:ext cx="0" cy="0"/>
          <a:chOff x="0" y="0"/>
          <a:chExt cx="0" cy="0"/>
        </a:xfrm>
      </p:grpSpPr>
      <p:sp>
        <p:nvSpPr>
          <p:cNvPr id="2882" name="Google Shape;2882;g3b54a426ae3_0_161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83" name="Google Shape;2883;g3b54a426ae3_0_161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2"/>
        <p:cNvGrpSpPr/>
        <p:nvPr/>
      </p:nvGrpSpPr>
      <p:grpSpPr>
        <a:xfrm>
          <a:off x="0" y="0"/>
          <a:ext cx="0" cy="0"/>
          <a:chOff x="0" y="0"/>
          <a:chExt cx="0" cy="0"/>
        </a:xfrm>
      </p:grpSpPr>
      <p:sp>
        <p:nvSpPr>
          <p:cNvPr id="2923" name="Google Shape;2923;g3b54a426ae3_0_165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24" name="Google Shape;2924;g3b54a426ae3_0_165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3"/>
        <p:cNvGrpSpPr/>
        <p:nvPr/>
      </p:nvGrpSpPr>
      <p:grpSpPr>
        <a:xfrm>
          <a:off x="0" y="0"/>
          <a:ext cx="0" cy="0"/>
          <a:chOff x="0" y="0"/>
          <a:chExt cx="0" cy="0"/>
        </a:xfrm>
      </p:grpSpPr>
      <p:sp>
        <p:nvSpPr>
          <p:cNvPr id="2964" name="Google Shape;2964;g3b54a426ae3_0_169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65" name="Google Shape;2965;g3b54a426ae3_0_169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4"/>
        <p:cNvGrpSpPr/>
        <p:nvPr/>
      </p:nvGrpSpPr>
      <p:grpSpPr>
        <a:xfrm>
          <a:off x="0" y="0"/>
          <a:ext cx="0" cy="0"/>
          <a:chOff x="0" y="0"/>
          <a:chExt cx="0" cy="0"/>
        </a:xfrm>
      </p:grpSpPr>
      <p:sp>
        <p:nvSpPr>
          <p:cNvPr id="3005" name="Google Shape;3005;g3b54a426ae3_0_173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06" name="Google Shape;3006;g3b54a426ae3_0_173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1"/>
        <p:cNvGrpSpPr/>
        <p:nvPr/>
      </p:nvGrpSpPr>
      <p:grpSpPr>
        <a:xfrm>
          <a:off x="0" y="0"/>
          <a:ext cx="0" cy="0"/>
          <a:chOff x="0" y="0"/>
          <a:chExt cx="0" cy="0"/>
        </a:xfrm>
      </p:grpSpPr>
      <p:sp>
        <p:nvSpPr>
          <p:cNvPr id="3052" name="Google Shape;3052;g3b54a426ae3_0_1776: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53" name="Google Shape;3053;g3b54a426ae3_0_1776: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7"/>
        <p:cNvGrpSpPr/>
        <p:nvPr/>
      </p:nvGrpSpPr>
      <p:grpSpPr>
        <a:xfrm>
          <a:off x="0" y="0"/>
          <a:ext cx="0" cy="0"/>
          <a:chOff x="0" y="0"/>
          <a:chExt cx="0" cy="0"/>
        </a:xfrm>
      </p:grpSpPr>
      <p:sp>
        <p:nvSpPr>
          <p:cNvPr id="3058" name="Google Shape;3058;g3b54a426ae3_0_1781: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59" name="Google Shape;3059;g3b54a426ae3_0_178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8"/>
        <p:cNvGrpSpPr/>
        <p:nvPr/>
      </p:nvGrpSpPr>
      <p:grpSpPr>
        <a:xfrm>
          <a:off x="0" y="0"/>
          <a:ext cx="0" cy="0"/>
          <a:chOff x="0" y="0"/>
          <a:chExt cx="0" cy="0"/>
        </a:xfrm>
      </p:grpSpPr>
      <p:sp>
        <p:nvSpPr>
          <p:cNvPr id="3099" name="Google Shape;3099;g3b54a426ae3_0_1821: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00" name="Google Shape;3100;g3b54a426ae3_0_18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1"/>
        <p:cNvGrpSpPr/>
        <p:nvPr/>
      </p:nvGrpSpPr>
      <p:grpSpPr>
        <a:xfrm>
          <a:off x="0" y="0"/>
          <a:ext cx="0" cy="0"/>
          <a:chOff x="0" y="0"/>
          <a:chExt cx="0" cy="0"/>
        </a:xfrm>
      </p:grpSpPr>
      <p:sp>
        <p:nvSpPr>
          <p:cNvPr id="3142" name="Google Shape;3142;g3b54a426ae3_0_186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3" name="Google Shape;3143;g3b54a426ae3_0_186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3"/>
        <p:cNvGrpSpPr/>
        <p:nvPr/>
      </p:nvGrpSpPr>
      <p:grpSpPr>
        <a:xfrm>
          <a:off x="0" y="0"/>
          <a:ext cx="0" cy="0"/>
          <a:chOff x="0" y="0"/>
          <a:chExt cx="0" cy="0"/>
        </a:xfrm>
      </p:grpSpPr>
      <p:sp>
        <p:nvSpPr>
          <p:cNvPr id="3184" name="Google Shape;3184;g3b54a426ae3_0_1904: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-2.484</a:t>
            </a:r>
            <a:endParaRPr/>
          </a:p>
        </p:txBody>
      </p:sp>
      <p:sp>
        <p:nvSpPr>
          <p:cNvPr id="3185" name="Google Shape;3185;g3b54a426ae3_0_190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p:cNvGrpSpPr/>
        <p:nvPr/>
      </p:nvGrpSpPr>
      <p:grpSpPr>
        <a:xfrm>
          <a:off x="0" y="0"/>
          <a:ext cx="0" cy="0"/>
          <a:chOff x="0" y="0"/>
          <a:chExt cx="0" cy="0"/>
        </a:xfrm>
      </p:grpSpPr>
      <p:sp>
        <p:nvSpPr>
          <p:cNvPr id="3226" name="Google Shape;3226;g3b54a426ae3_0_194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-2.484</a:t>
            </a:r>
            <a:endParaRPr/>
          </a:p>
        </p:txBody>
      </p:sp>
      <p:sp>
        <p:nvSpPr>
          <p:cNvPr id="3227" name="Google Shape;3227;g3b54a426ae3_0_194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1"/>
        <p:cNvGrpSpPr/>
        <p:nvPr/>
      </p:nvGrpSpPr>
      <p:grpSpPr>
        <a:xfrm>
          <a:off x="0" y="0"/>
          <a:ext cx="0" cy="0"/>
          <a:chOff x="0" y="0"/>
          <a:chExt cx="0" cy="0"/>
        </a:xfrm>
      </p:grpSpPr>
      <p:sp>
        <p:nvSpPr>
          <p:cNvPr id="3272" name="Google Shape;3272;g3b75ff0c716_0_0: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73" name="Google Shape;3273;g3b75ff0c716_0_0: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7"/>
        <p:cNvGrpSpPr/>
        <p:nvPr/>
      </p:nvGrpSpPr>
      <p:grpSpPr>
        <a:xfrm>
          <a:off x="0" y="0"/>
          <a:ext cx="0" cy="0"/>
          <a:chOff x="0" y="0"/>
          <a:chExt cx="0" cy="0"/>
        </a:xfrm>
      </p:grpSpPr>
      <p:sp>
        <p:nvSpPr>
          <p:cNvPr id="3278" name="Google Shape;3278;g3b75ff0c716_0_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79" name="Google Shape;3279;g3b75ff0c716_0_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8"/>
        <p:cNvGrpSpPr/>
        <p:nvPr/>
      </p:nvGrpSpPr>
      <p:grpSpPr>
        <a:xfrm>
          <a:off x="0" y="0"/>
          <a:ext cx="0" cy="0"/>
          <a:chOff x="0" y="0"/>
          <a:chExt cx="0" cy="0"/>
        </a:xfrm>
      </p:grpSpPr>
      <p:sp>
        <p:nvSpPr>
          <p:cNvPr id="3319" name="Google Shape;3319;g3b75ff0c716_0_4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0" name="Google Shape;3320;g3b75ff0c716_0_4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1"/>
        <p:cNvGrpSpPr/>
        <p:nvPr/>
      </p:nvGrpSpPr>
      <p:grpSpPr>
        <a:xfrm>
          <a:off x="0" y="0"/>
          <a:ext cx="0" cy="0"/>
          <a:chOff x="0" y="0"/>
          <a:chExt cx="0" cy="0"/>
        </a:xfrm>
      </p:grpSpPr>
      <p:sp>
        <p:nvSpPr>
          <p:cNvPr id="3362" name="Google Shape;3362;g3b75ff0c716_0_87: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63" name="Google Shape;3363;g3b75ff0c716_0_8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6"/>
        <p:cNvGrpSpPr/>
        <p:nvPr/>
      </p:nvGrpSpPr>
      <p:grpSpPr>
        <a:xfrm>
          <a:off x="0" y="0"/>
          <a:ext cx="0" cy="0"/>
          <a:chOff x="0" y="0"/>
          <a:chExt cx="0" cy="0"/>
        </a:xfrm>
      </p:grpSpPr>
      <p:sp>
        <p:nvSpPr>
          <p:cNvPr id="3407" name="Google Shape;3407;g3b75ff0c716_0_131: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8" name="Google Shape;3408;g3b75ff0c716_0_13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8"/>
        <p:cNvGrpSpPr/>
        <p:nvPr/>
      </p:nvGrpSpPr>
      <p:grpSpPr>
        <a:xfrm>
          <a:off x="0" y="0"/>
          <a:ext cx="0" cy="0"/>
          <a:chOff x="0" y="0"/>
          <a:chExt cx="0" cy="0"/>
        </a:xfrm>
      </p:grpSpPr>
      <p:sp>
        <p:nvSpPr>
          <p:cNvPr id="3449" name="Google Shape;3449;g3b75ff0c716_0_172: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50" name="Google Shape;3450;g3b75ff0c716_0_17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4"/>
        <p:cNvGrpSpPr/>
        <p:nvPr/>
      </p:nvGrpSpPr>
      <p:grpSpPr>
        <a:xfrm>
          <a:off x="0" y="0"/>
          <a:ext cx="0" cy="0"/>
          <a:chOff x="0" y="0"/>
          <a:chExt cx="0" cy="0"/>
        </a:xfrm>
      </p:grpSpPr>
      <p:sp>
        <p:nvSpPr>
          <p:cNvPr id="3505" name="Google Shape;3505;g3b75ff0c716_0_227: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06" name="Google Shape;3506;g3b75ff0c716_0_227:notes"/>
          <p:cNvSpPr>
            <a:spLocks noGrp="1" noRot="1" noChangeAspect="1"/>
          </p:cNvSpPr>
          <p:nvPr>
            <p:ph type="sldImg" idx="2"/>
          </p:nvPr>
        </p:nvSpPr>
        <p:spPr>
          <a:xfrm>
            <a:off x="1801813" y="242888"/>
            <a:ext cx="2162100" cy="1217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0"/>
        <p:cNvGrpSpPr/>
        <p:nvPr/>
      </p:nvGrpSpPr>
      <p:grpSpPr>
        <a:xfrm>
          <a:off x="0" y="0"/>
          <a:ext cx="0" cy="0"/>
          <a:chOff x="0" y="0"/>
          <a:chExt cx="0" cy="0"/>
        </a:xfrm>
      </p:grpSpPr>
      <p:sp>
        <p:nvSpPr>
          <p:cNvPr id="3511" name="Google Shape;3511;g3b75ff0c716_0_232: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12" name="Google Shape;3512;g3b75ff0c716_0_23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2"/>
        <p:cNvGrpSpPr/>
        <p:nvPr/>
      </p:nvGrpSpPr>
      <p:grpSpPr>
        <a:xfrm>
          <a:off x="0" y="0"/>
          <a:ext cx="0" cy="0"/>
          <a:chOff x="0" y="0"/>
          <a:chExt cx="0" cy="0"/>
        </a:xfrm>
      </p:grpSpPr>
      <p:sp>
        <p:nvSpPr>
          <p:cNvPr id="3573" name="Google Shape;3573;g3b75ff0c716_0_29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74" name="Google Shape;3574;g3b75ff0c716_0_29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3"/>
        <p:cNvGrpSpPr/>
        <p:nvPr/>
      </p:nvGrpSpPr>
      <p:grpSpPr>
        <a:xfrm>
          <a:off x="0" y="0"/>
          <a:ext cx="0" cy="0"/>
          <a:chOff x="0" y="0"/>
          <a:chExt cx="0" cy="0"/>
        </a:xfrm>
      </p:grpSpPr>
      <p:sp>
        <p:nvSpPr>
          <p:cNvPr id="3634" name="Google Shape;3634;g3b75ff0c716_0_353: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35" name="Google Shape;3635;g3b75ff0c716_0_35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6"/>
        <p:cNvGrpSpPr/>
        <p:nvPr/>
      </p:nvGrpSpPr>
      <p:grpSpPr>
        <a:xfrm>
          <a:off x="0" y="0"/>
          <a:ext cx="0" cy="0"/>
          <a:chOff x="0" y="0"/>
          <a:chExt cx="0" cy="0"/>
        </a:xfrm>
      </p:grpSpPr>
      <p:sp>
        <p:nvSpPr>
          <p:cNvPr id="3697" name="Google Shape;3697;g3b75ff0c716_0_41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98" name="Google Shape;3698;g3b75ff0c716_0_41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0"/>
        <p:cNvGrpSpPr/>
        <p:nvPr/>
      </p:nvGrpSpPr>
      <p:grpSpPr>
        <a:xfrm>
          <a:off x="0" y="0"/>
          <a:ext cx="0" cy="0"/>
          <a:chOff x="0" y="0"/>
          <a:chExt cx="0" cy="0"/>
        </a:xfrm>
      </p:grpSpPr>
      <p:sp>
        <p:nvSpPr>
          <p:cNvPr id="3761" name="Google Shape;3761;g3b75ff0c716_0_478: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62" name="Google Shape;3762;g3b75ff0c716_0_47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8"/>
        <p:cNvGrpSpPr/>
        <p:nvPr/>
      </p:nvGrpSpPr>
      <p:grpSpPr>
        <a:xfrm>
          <a:off x="0" y="0"/>
          <a:ext cx="0" cy="0"/>
          <a:chOff x="0" y="0"/>
          <a:chExt cx="0" cy="0"/>
        </a:xfrm>
      </p:grpSpPr>
      <p:sp>
        <p:nvSpPr>
          <p:cNvPr id="3849" name="Google Shape;3849;g3b75ff0c716_0_565: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50" name="Google Shape;3850;g3b75ff0c716_0_56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2"/>
        <p:cNvGrpSpPr/>
        <p:nvPr/>
      </p:nvGrpSpPr>
      <p:grpSpPr>
        <a:xfrm>
          <a:off x="0" y="0"/>
          <a:ext cx="0" cy="0"/>
          <a:chOff x="0" y="0"/>
          <a:chExt cx="0" cy="0"/>
        </a:xfrm>
      </p:grpSpPr>
      <p:sp>
        <p:nvSpPr>
          <p:cNvPr id="3933" name="Google Shape;3933;g3b75ff0c716_0_648: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34" name="Google Shape;3934;g3b75ff0c716_0_64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1"/>
        <p:cNvGrpSpPr/>
        <p:nvPr/>
      </p:nvGrpSpPr>
      <p:grpSpPr>
        <a:xfrm>
          <a:off x="0" y="0"/>
          <a:ext cx="0" cy="0"/>
          <a:chOff x="0" y="0"/>
          <a:chExt cx="0" cy="0"/>
        </a:xfrm>
      </p:grpSpPr>
      <p:sp>
        <p:nvSpPr>
          <p:cNvPr id="3952" name="Google Shape;3952;g3b75ff0c716_0_666:notes"/>
          <p:cNvSpPr txBox="1">
            <a:spLocks noGrp="1"/>
          </p:cNvSpPr>
          <p:nvPr>
            <p:ph type="body" idx="1"/>
          </p:nvPr>
        </p:nvSpPr>
        <p:spPr>
          <a:xfrm>
            <a:off x="576575" y="1541300"/>
            <a:ext cx="4612500" cy="14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53" name="Google Shape;3953;g3b75ff0c716_0_66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3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3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marR="0" lvl="0"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4"/>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700" b="0" i="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4"/>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050" b="0" i="0">
                <a:solidFill>
                  <a:srgbClr val="1B1472"/>
                </a:solidFill>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marR="0" lvl="0"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35"/>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700" b="0" i="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 name="Google Shape;25;p3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6" name="Google Shape;26;p3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marR="0" lvl="0"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9"/>
        <p:cNvGrpSpPr/>
        <p:nvPr/>
      </p:nvGrpSpPr>
      <p:grpSpPr>
        <a:xfrm>
          <a:off x="0" y="0"/>
          <a:ext cx="0" cy="0"/>
          <a:chOff x="0" y="0"/>
          <a:chExt cx="0" cy="0"/>
        </a:xfrm>
      </p:grpSpPr>
      <p:sp>
        <p:nvSpPr>
          <p:cNvPr id="30" name="Google Shape;30;p36"/>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700" b="0" i="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marR="0" lvl="0"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32"/>
          <p:cNvPicPr preferRelativeResize="0"/>
          <p:nvPr/>
        </p:nvPicPr>
        <p:blipFill rotWithShape="1">
          <a:blip r:embed="rId6">
            <a:alphaModFix/>
          </a:blip>
          <a:srcRect/>
          <a:stretch/>
        </p:blipFill>
        <p:spPr>
          <a:xfrm>
            <a:off x="126" y="80250"/>
            <a:ext cx="5759866" cy="3159748"/>
          </a:xfrm>
          <a:prstGeom prst="rect">
            <a:avLst/>
          </a:prstGeom>
          <a:noFill/>
          <a:ln>
            <a:noFill/>
          </a:ln>
        </p:spPr>
      </p:pic>
      <p:sp>
        <p:nvSpPr>
          <p:cNvPr id="7" name="Google Shape;7;p32"/>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700" b="0" i="0" u="none" strike="noStrike" cap="none">
                <a:solidFill>
                  <a:srgbClr val="1B147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32"/>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050" b="0" i="0" u="none" strike="noStrike" cap="none">
                <a:solidFill>
                  <a:srgbClr val="1B1472"/>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3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3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9.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10.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11.xml"/><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19" Type="http://schemas.openxmlformats.org/officeDocument/2006/relationships/image" Target="../media/image3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image" Target="../media/image36.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12.xml"/><Relationship Id="rId16" Type="http://schemas.openxmlformats.org/officeDocument/2006/relationships/image" Target="../media/image31.png"/><Relationship Id="rId20"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19" Type="http://schemas.openxmlformats.org/officeDocument/2006/relationships/image" Target="../media/image3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13.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14.xml"/><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19" Type="http://schemas.openxmlformats.org/officeDocument/2006/relationships/image" Target="../media/image3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image" Target="../media/image38.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15.xml"/><Relationship Id="rId16" Type="http://schemas.openxmlformats.org/officeDocument/2006/relationships/image" Target="../media/image31.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19" Type="http://schemas.openxmlformats.org/officeDocument/2006/relationships/image" Target="../media/image39.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16.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5" Type="http://schemas.openxmlformats.org/officeDocument/2006/relationships/image" Target="../media/image30.png"/><Relationship Id="rId10" Type="http://schemas.openxmlformats.org/officeDocument/2006/relationships/image" Target="../media/image4.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hyperlink" Target="http://ppt/slides/ppt/slides/slide1.xml" TargetMode="External"/><Relationship Id="rId7" Type="http://schemas.openxmlformats.org/officeDocument/2006/relationships/image" Target="../media/image22.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7.xml"/><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4.png"/><Relationship Id="rId5" Type="http://schemas.openxmlformats.org/officeDocument/2006/relationships/image" Target="../media/image20.png"/><Relationship Id="rId15" Type="http://schemas.openxmlformats.org/officeDocument/2006/relationships/image" Target="../media/image29.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26.png"/><Relationship Id="rId2" Type="http://schemas.openxmlformats.org/officeDocument/2006/relationships/notesSlide" Target="../notesSlides/notesSlide20.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4.png"/><Relationship Id="rId14"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4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44.png"/><Relationship Id="rId2" Type="http://schemas.openxmlformats.org/officeDocument/2006/relationships/notesSlide" Target="../notesSlides/notesSlide21.xml"/><Relationship Id="rId16" Type="http://schemas.openxmlformats.org/officeDocument/2006/relationships/image" Target="../media/image43.png"/><Relationship Id="rId20"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42.png"/><Relationship Id="rId4" Type="http://schemas.openxmlformats.org/officeDocument/2006/relationships/image" Target="../media/image21.png"/><Relationship Id="rId9" Type="http://schemas.openxmlformats.org/officeDocument/2006/relationships/image" Target="../media/image4.png"/><Relationship Id="rId14" Type="http://schemas.openxmlformats.org/officeDocument/2006/relationships/image" Target="../media/image31.png"/></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26.png"/><Relationship Id="rId2" Type="http://schemas.openxmlformats.org/officeDocument/2006/relationships/notesSlide" Target="../notesSlides/notesSlide22.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4.png"/><Relationship Id="rId14" Type="http://schemas.openxmlformats.org/officeDocument/2006/relationships/image" Target="../media/image31.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4.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26.png"/><Relationship Id="rId2" Type="http://schemas.openxmlformats.org/officeDocument/2006/relationships/notesSlide" Target="../notesSlides/notesSlide23.xml"/><Relationship Id="rId16" Type="http://schemas.openxmlformats.org/officeDocument/2006/relationships/image" Target="../media/image42.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46.png"/><Relationship Id="rId4" Type="http://schemas.openxmlformats.org/officeDocument/2006/relationships/image" Target="../media/image21.png"/><Relationship Id="rId9" Type="http://schemas.openxmlformats.org/officeDocument/2006/relationships/image" Target="../media/image4.png"/><Relationship Id="rId14" Type="http://schemas.openxmlformats.org/officeDocument/2006/relationships/image" Target="../media/image31.png"/></Relationships>
</file>

<file path=ppt/slides/_rels/slide2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48.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26.png"/><Relationship Id="rId2" Type="http://schemas.openxmlformats.org/officeDocument/2006/relationships/notesSlide" Target="../notesSlides/notesSlide24.xml"/><Relationship Id="rId16" Type="http://schemas.openxmlformats.org/officeDocument/2006/relationships/image" Target="../media/image42.png"/><Relationship Id="rId20"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49.png"/><Relationship Id="rId4" Type="http://schemas.openxmlformats.org/officeDocument/2006/relationships/image" Target="../media/image21.png"/><Relationship Id="rId9" Type="http://schemas.openxmlformats.org/officeDocument/2006/relationships/image" Target="../media/image4.png"/><Relationship Id="rId14" Type="http://schemas.openxmlformats.org/officeDocument/2006/relationships/image" Target="../media/image31.png"/></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48.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26.png"/><Relationship Id="rId2" Type="http://schemas.openxmlformats.org/officeDocument/2006/relationships/notesSlide" Target="../notesSlides/notesSlide25.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51.png"/><Relationship Id="rId4" Type="http://schemas.openxmlformats.org/officeDocument/2006/relationships/image" Target="../media/image21.png"/><Relationship Id="rId9" Type="http://schemas.openxmlformats.org/officeDocument/2006/relationships/image" Target="../media/image4.png"/><Relationship Id="rId14" Type="http://schemas.openxmlformats.org/officeDocument/2006/relationships/image" Target="../media/image31.png"/></Relationships>
</file>

<file path=ppt/slides/_rels/slide2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26.png"/><Relationship Id="rId2" Type="http://schemas.openxmlformats.org/officeDocument/2006/relationships/notesSlide" Target="../notesSlides/notesSlide26.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4.png"/><Relationship Id="rId1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4.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1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14.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3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3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3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38.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3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4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4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1.png"/><Relationship Id="rId7"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4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60.png"/><Relationship Id="rId7"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59.png"/></Relationships>
</file>

<file path=ppt/slides/_rels/slide4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4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4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4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5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5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5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5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5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5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5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10" Type="http://schemas.openxmlformats.org/officeDocument/2006/relationships/image" Target="../media/image61.png"/><Relationship Id="rId4" Type="http://schemas.openxmlformats.org/officeDocument/2006/relationships/image" Target="../media/image22.png"/><Relationship Id="rId9" Type="http://schemas.openxmlformats.org/officeDocument/2006/relationships/image" Target="../media/image60.png"/></Relationships>
</file>

<file path=ppt/slides/_rels/slide5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10" Type="http://schemas.openxmlformats.org/officeDocument/2006/relationships/image" Target="../media/image62.png"/><Relationship Id="rId4" Type="http://schemas.openxmlformats.org/officeDocument/2006/relationships/image" Target="../media/image22.png"/><Relationship Id="rId9" Type="http://schemas.openxmlformats.org/officeDocument/2006/relationships/image" Target="../media/image60.png"/></Relationships>
</file>

<file path=ppt/slides/_rels/slide5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10" Type="http://schemas.openxmlformats.org/officeDocument/2006/relationships/image" Target="../media/image63.png"/><Relationship Id="rId4" Type="http://schemas.openxmlformats.org/officeDocument/2006/relationships/image" Target="../media/image22.png"/><Relationship Id="rId9" Type="http://schemas.openxmlformats.org/officeDocument/2006/relationships/image" Target="../media/image60.png"/></Relationships>
</file>

<file path=ppt/slides/_rels/slide5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10" Type="http://schemas.openxmlformats.org/officeDocument/2006/relationships/image" Target="../media/image64.png"/><Relationship Id="rId4" Type="http://schemas.openxmlformats.org/officeDocument/2006/relationships/image" Target="../media/image22.png"/><Relationship Id="rId9" Type="http://schemas.openxmlformats.org/officeDocument/2006/relationships/image" Target="../media/image60.png"/></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6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6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60.png"/></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6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4.png"/><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11.png"/><Relationship Id="rId4" Type="http://schemas.openxmlformats.org/officeDocument/2006/relationships/image" Target="../media/image10.png"/></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74.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74.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74.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74.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5.png"/></Relationships>
</file>

<file path=ppt/slides/_rels/slide7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5.png"/></Relationships>
</file>

<file path=ppt/slides/_rels/slide7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5.png"/></Relationships>
</file>

<file path=ppt/slides/_rels/slide7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5.png"/></Relationships>
</file>

<file path=ppt/slides/_rels/slide7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5.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10" Type="http://schemas.openxmlformats.org/officeDocument/2006/relationships/image" Target="../media/image76.png"/><Relationship Id="rId4" Type="http://schemas.openxmlformats.org/officeDocument/2006/relationships/image" Target="../media/image22.png"/><Relationship Id="rId9" Type="http://schemas.openxmlformats.org/officeDocument/2006/relationships/image" Target="../media/image75.png"/></Relationships>
</file>

<file path=ppt/slides/_rels/slide8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10" Type="http://schemas.openxmlformats.org/officeDocument/2006/relationships/image" Target="../media/image76.png"/><Relationship Id="rId4" Type="http://schemas.openxmlformats.org/officeDocument/2006/relationships/image" Target="../media/image22.png"/><Relationship Id="rId9" Type="http://schemas.openxmlformats.org/officeDocument/2006/relationships/image" Target="../media/image75.png"/></Relationships>
</file>

<file path=ppt/slides/_rels/slide8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10" Type="http://schemas.openxmlformats.org/officeDocument/2006/relationships/image" Target="../media/image76.png"/><Relationship Id="rId4" Type="http://schemas.openxmlformats.org/officeDocument/2006/relationships/image" Target="../media/image22.png"/><Relationship Id="rId9" Type="http://schemas.openxmlformats.org/officeDocument/2006/relationships/image" Target="../media/image75.png"/></Relationships>
</file>

<file path=ppt/slides/_rels/slide8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10" Type="http://schemas.openxmlformats.org/officeDocument/2006/relationships/image" Target="../media/image76.png"/><Relationship Id="rId4" Type="http://schemas.openxmlformats.org/officeDocument/2006/relationships/image" Target="../media/image22.png"/><Relationship Id="rId9" Type="http://schemas.openxmlformats.org/officeDocument/2006/relationships/image" Target="../media/image75.png"/></Relationships>
</file>

<file path=ppt/slides/_rels/slide85.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1.png"/><Relationship Id="rId7" Type="http://schemas.openxmlformats.org/officeDocument/2006/relationships/image" Target="../media/image59.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23.png"/><Relationship Id="rId10" Type="http://schemas.openxmlformats.org/officeDocument/2006/relationships/image" Target="../media/image77.png"/><Relationship Id="rId4" Type="http://schemas.openxmlformats.org/officeDocument/2006/relationships/image" Target="../media/image22.png"/><Relationship Id="rId9" Type="http://schemas.openxmlformats.org/officeDocument/2006/relationships/image" Target="../media/image76.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8.png"/></Relationships>
</file>

<file path=ppt/slides/_rels/slide8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8.png"/></Relationships>
</file>

<file path=ppt/slides/_rels/slide8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8.png"/></Relationships>
</file>

<file path=ppt/slides/_rels/slide9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8.png"/></Relationships>
</file>

<file path=ppt/slides/_rels/slide9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58.png"/><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8.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1.png"/><Relationship Id="rId7" Type="http://schemas.openxmlformats.org/officeDocument/2006/relationships/image" Target="../media/image59.pn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79.png"/></Relationships>
</file>

<file path=ppt/slides/_rels/slide9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9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79.png"/></Relationships>
</file>

<file path=ppt/slides/_rels/slide95.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79.png"/></Relationships>
</file>

<file path=ppt/slides/_rels/slide9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79.png"/></Relationships>
</file>

<file path=ppt/slides/_rels/slide97.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79.png"/></Relationships>
</file>

<file path=ppt/slides/_rels/slide98.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80.png"/></Relationships>
</file>

<file path=ppt/slides/_rels/slide99.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65.png"/><Relationship Id="rId7" Type="http://schemas.openxmlformats.org/officeDocument/2006/relationships/image" Target="../media/image81.png"/><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0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69.png"/><Relationship Id="rId7" Type="http://schemas.openxmlformats.org/officeDocument/2006/relationships/image" Target="../media/image83.png"/><Relationship Id="rId12" Type="http://schemas.openxmlformats.org/officeDocument/2006/relationships/image" Target="../media/image87.png"/><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76.png"/><Relationship Id="rId5" Type="http://schemas.openxmlformats.org/officeDocument/2006/relationships/image" Target="../media/image71.png"/><Relationship Id="rId10" Type="http://schemas.openxmlformats.org/officeDocument/2006/relationships/image" Target="../media/image86.png"/><Relationship Id="rId4" Type="http://schemas.openxmlformats.org/officeDocument/2006/relationships/image" Target="../media/image70.png"/><Relationship Id="rId9"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37"/>
        <p:cNvGrpSpPr/>
        <p:nvPr/>
      </p:nvGrpSpPr>
      <p:grpSpPr>
        <a:xfrm>
          <a:off x="0" y="0"/>
          <a:ext cx="0" cy="0"/>
          <a:chOff x="0" y="0"/>
          <a:chExt cx="0" cy="0"/>
        </a:xfrm>
      </p:grpSpPr>
      <p:grpSp>
        <p:nvGrpSpPr>
          <p:cNvPr id="38" name="Google Shape;38;p1"/>
          <p:cNvGrpSpPr/>
          <p:nvPr/>
        </p:nvGrpSpPr>
        <p:grpSpPr>
          <a:xfrm>
            <a:off x="0" y="7"/>
            <a:ext cx="5759866" cy="3239902"/>
            <a:chOff x="0" y="7"/>
            <a:chExt cx="5759866" cy="3239902"/>
          </a:xfrm>
        </p:grpSpPr>
        <p:pic>
          <p:nvPicPr>
            <p:cNvPr id="39" name="Google Shape;39;p1"/>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0" name="Google Shape;40;p1"/>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1"/>
          <p:cNvSpPr txBox="1"/>
          <p:nvPr/>
        </p:nvSpPr>
        <p:spPr>
          <a:xfrm>
            <a:off x="1982523" y="1293502"/>
            <a:ext cx="3325495" cy="689927"/>
          </a:xfrm>
          <a:prstGeom prst="rect">
            <a:avLst/>
          </a:prstGeom>
          <a:solidFill>
            <a:srgbClr val="FFFFFF">
              <a:alpha val="79215"/>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429894" marR="422275" lvl="0" indent="-634" algn="ctr" rtl="0">
              <a:lnSpc>
                <a:spcPct val="84500"/>
              </a:lnSpc>
              <a:spcBef>
                <a:spcPts val="0"/>
              </a:spcBef>
              <a:spcAft>
                <a:spcPts val="0"/>
              </a:spcAft>
              <a:buNone/>
            </a:pPr>
            <a:r>
              <a:rPr lang="en-US" sz="1700" b="0" i="0" u="none" strike="noStrike" cap="none">
                <a:solidFill>
                  <a:srgbClr val="000000"/>
                </a:solidFill>
                <a:latin typeface="Cambria"/>
                <a:ea typeface="Cambria"/>
                <a:cs typeface="Cambria"/>
                <a:sym typeface="Cambria"/>
              </a:rPr>
              <a:t>D</a:t>
            </a:r>
            <a:r>
              <a:rPr lang="en-US" sz="1350" b="0" i="0" u="none" strike="noStrike" cap="none">
                <a:solidFill>
                  <a:srgbClr val="000000"/>
                </a:solidFill>
                <a:latin typeface="Cambria"/>
                <a:ea typeface="Cambria"/>
                <a:cs typeface="Cambria"/>
                <a:sym typeface="Cambria"/>
              </a:rPr>
              <a:t>EEP </a:t>
            </a:r>
            <a:r>
              <a:rPr lang="en-US" sz="1400" b="0" i="0" u="none" strike="noStrike" cap="none">
                <a:solidFill>
                  <a:srgbClr val="000000"/>
                </a:solidFill>
                <a:latin typeface="Cambria"/>
                <a:ea typeface="Cambria"/>
                <a:cs typeface="Cambria"/>
                <a:sym typeface="Cambria"/>
              </a:rPr>
              <a:t>R</a:t>
            </a:r>
            <a:r>
              <a:rPr lang="en-US" sz="1350" b="0" i="0" u="none" strike="noStrike" cap="none">
                <a:solidFill>
                  <a:srgbClr val="000000"/>
                </a:solidFill>
                <a:latin typeface="Cambria"/>
                <a:ea typeface="Cambria"/>
                <a:cs typeface="Cambria"/>
                <a:sym typeface="Cambria"/>
              </a:rPr>
              <a:t>EINFORCEMENT </a:t>
            </a:r>
            <a:r>
              <a:rPr lang="en-US" sz="1400" b="0" i="0" u="none" strike="noStrike" cap="none">
                <a:solidFill>
                  <a:srgbClr val="000000"/>
                </a:solidFill>
                <a:latin typeface="Cambria"/>
                <a:ea typeface="Cambria"/>
                <a:cs typeface="Cambria"/>
                <a:sym typeface="Cambria"/>
              </a:rPr>
              <a:t>L</a:t>
            </a:r>
            <a:r>
              <a:rPr lang="en-US" sz="1350" b="0" i="0" u="none" strike="noStrike" cap="none">
                <a:solidFill>
                  <a:srgbClr val="000000"/>
                </a:solidFill>
                <a:latin typeface="Cambria"/>
                <a:ea typeface="Cambria"/>
                <a:cs typeface="Cambria"/>
                <a:sym typeface="Cambria"/>
              </a:rPr>
              <a:t>EARNING </a:t>
            </a:r>
            <a:endParaRPr/>
          </a:p>
          <a:p>
            <a:pPr marL="429894" marR="422275" lvl="0" indent="-634" algn="ctr" rtl="0">
              <a:lnSpc>
                <a:spcPct val="84500"/>
              </a:lnSpc>
              <a:spcBef>
                <a:spcPts val="0"/>
              </a:spcBef>
              <a:spcAft>
                <a:spcPts val="0"/>
              </a:spcAft>
              <a:buNone/>
            </a:pPr>
            <a:r>
              <a:rPr lang="en-US" sz="1400" b="0" i="0" u="none" strike="noStrike" cap="none">
                <a:solidFill>
                  <a:srgbClr val="000000"/>
                </a:solidFill>
                <a:latin typeface="Cambria"/>
                <a:ea typeface="Cambria"/>
                <a:cs typeface="Cambria"/>
                <a:sym typeface="Cambria"/>
              </a:rPr>
              <a:t>Incremental Example</a:t>
            </a:r>
            <a:endParaRPr sz="1150" b="0" i="0" u="none" strike="noStrike" cap="none">
              <a:solidFill>
                <a:srgbClr val="000000"/>
              </a:solidFill>
              <a:latin typeface="Cambria"/>
              <a:ea typeface="Cambria"/>
              <a:cs typeface="Cambria"/>
              <a:sym typeface="Cambria"/>
            </a:endParaRPr>
          </a:p>
        </p:txBody>
      </p:sp>
      <p:sp>
        <p:nvSpPr>
          <p:cNvPr id="42" name="Google Shape;42;p1"/>
          <p:cNvSpPr txBox="1"/>
          <p:nvPr/>
        </p:nvSpPr>
        <p:spPr>
          <a:xfrm>
            <a:off x="4132173" y="2325276"/>
            <a:ext cx="1280795" cy="39243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Clr>
                <a:srgbClr val="000000"/>
              </a:buClr>
              <a:buSzPts val="950"/>
              <a:buFont typeface="Arial"/>
              <a:buNone/>
            </a:pPr>
            <a:r>
              <a:rPr lang="en-US" sz="950" b="0" i="0" u="none" strike="noStrike" cap="none">
                <a:solidFill>
                  <a:srgbClr val="1B1472"/>
                </a:solidFill>
                <a:latin typeface="Arial"/>
                <a:ea typeface="Arial"/>
                <a:cs typeface="Arial"/>
                <a:sym typeface="Arial"/>
              </a:rPr>
              <a:t>DRL Team</a:t>
            </a:r>
            <a:endParaRPr sz="950" b="0" i="0" u="none" strike="noStrike" cap="none">
              <a:solidFill>
                <a:srgbClr val="000000"/>
              </a:solidFill>
              <a:latin typeface="Arial"/>
              <a:ea typeface="Arial"/>
              <a:cs typeface="Arial"/>
              <a:sym typeface="Arial"/>
            </a:endParaRPr>
          </a:p>
          <a:p>
            <a:pPr marL="311150" marR="5080" lvl="0" indent="-299085" algn="l" rtl="0">
              <a:lnSpc>
                <a:spcPct val="126699"/>
              </a:lnSpc>
              <a:spcBef>
                <a:spcPts val="90"/>
              </a:spcBef>
              <a:spcAft>
                <a:spcPts val="0"/>
              </a:spcAft>
              <a:buClr>
                <a:srgbClr val="000000"/>
              </a:buClr>
              <a:buSzPts val="950"/>
              <a:buFont typeface="Arial"/>
              <a:buNone/>
            </a:pPr>
            <a:r>
              <a:rPr lang="en-US" sz="950" b="0" i="0" u="none" strike="noStrike" cap="none">
                <a:solidFill>
                  <a:srgbClr val="1B1472"/>
                </a:solidFill>
                <a:latin typeface="Arial"/>
                <a:ea typeface="Arial"/>
                <a:cs typeface="Arial"/>
                <a:sym typeface="Arial"/>
              </a:rPr>
              <a:t>BITS Pilani WILP</a:t>
            </a:r>
            <a:endParaRPr sz="1400" b="0" i="0" u="none" strike="noStrike" cap="none">
              <a:solidFill>
                <a:srgbClr val="000000"/>
              </a:solidFill>
              <a:latin typeface="Arial"/>
              <a:ea typeface="Arial"/>
              <a:cs typeface="Arial"/>
              <a:sym typeface="Arial"/>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2"/>
          <p:cNvSpPr txBox="1"/>
          <p:nvPr/>
        </p:nvSpPr>
        <p:spPr>
          <a:xfrm>
            <a:off x="1139868" y="967954"/>
            <a:ext cx="3220575" cy="918441"/>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The instructors is gratefully acknowledging the authors who made their course materials freely available online.</a:t>
            </a:r>
            <a:endParaRPr sz="1050" b="0" i="0" u="none" strike="noStrike" cap="none">
              <a:solidFill>
                <a:srgbClr val="000000"/>
              </a:solidFill>
              <a:latin typeface="Arial"/>
              <a:ea typeface="Arial"/>
              <a:cs typeface="Arial"/>
              <a:sym typeface="Arial"/>
            </a:endParaRPr>
          </a:p>
          <a:p>
            <a:pPr marL="0" marR="0" lvl="0" indent="0" algn="ctr" rtl="0">
              <a:lnSpc>
                <a:spcPct val="100000"/>
              </a:lnSpc>
              <a:spcBef>
                <a:spcPts val="18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This deck is designed by BITS WILP faculty team of course Deep Reinforcement Learning </a:t>
            </a:r>
            <a:endParaRPr sz="1050" b="0" i="0" u="none" strike="noStrike" cap="none">
              <a:solidFill>
                <a:srgbClr val="000000"/>
              </a:solidFill>
              <a:latin typeface="Arial"/>
              <a:ea typeface="Arial"/>
              <a:cs typeface="Arial"/>
              <a:sym typeface="Arial"/>
            </a:endParaRPr>
          </a:p>
        </p:txBody>
      </p:sp>
      <p:grpSp>
        <p:nvGrpSpPr>
          <p:cNvPr id="48" name="Google Shape;48;p2"/>
          <p:cNvGrpSpPr/>
          <p:nvPr/>
        </p:nvGrpSpPr>
        <p:grpSpPr>
          <a:xfrm>
            <a:off x="0" y="3141936"/>
            <a:ext cx="5760261" cy="92075"/>
            <a:chOff x="0" y="3141936"/>
            <a:chExt cx="5760261" cy="92075"/>
          </a:xfrm>
        </p:grpSpPr>
        <p:sp>
          <p:nvSpPr>
            <p:cNvPr id="49" name="Google Shape;49;p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53" name="Google Shape;53;p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SzPts val="600"/>
              <a:buNone/>
            </a:pPr>
            <a:r>
              <a:rPr lang="en-US"/>
              <a:t>2</a:t>
            </a:r>
            <a:endParaRPr/>
          </a:p>
        </p:txBody>
      </p:sp>
      <p:sp>
        <p:nvSpPr>
          <p:cNvPr id="54" name="Google Shape;54;p2"/>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7"/>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a:t>
            </a:r>
            <a:endParaRPr/>
          </a:p>
        </p:txBody>
      </p:sp>
      <p:sp>
        <p:nvSpPr>
          <p:cNvPr id="159" name="Google Shape;159;p7"/>
          <p:cNvSpPr/>
          <p:nvPr/>
        </p:nvSpPr>
        <p:spPr>
          <a:xfrm>
            <a:off x="82600" y="488261"/>
            <a:ext cx="5142230" cy="235259"/>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0" name="Google Shape;160;p7"/>
          <p:cNvPicPr preferRelativeResize="0"/>
          <p:nvPr/>
        </p:nvPicPr>
        <p:blipFill rotWithShape="1">
          <a:blip r:embed="rId3">
            <a:alphaModFix/>
          </a:blip>
          <a:srcRect/>
          <a:stretch/>
        </p:blipFill>
        <p:spPr>
          <a:xfrm>
            <a:off x="82600" y="708933"/>
            <a:ext cx="5141666" cy="317393"/>
          </a:xfrm>
          <a:prstGeom prst="rect">
            <a:avLst/>
          </a:prstGeom>
          <a:noFill/>
          <a:ln>
            <a:noFill/>
          </a:ln>
        </p:spPr>
      </p:pic>
      <p:sp>
        <p:nvSpPr>
          <p:cNvPr id="161" name="Google Shape;161;p7"/>
          <p:cNvSpPr/>
          <p:nvPr/>
        </p:nvSpPr>
        <p:spPr>
          <a:xfrm>
            <a:off x="82600" y="1012439"/>
            <a:ext cx="5142230" cy="439573"/>
          </a:xfrm>
          <a:custGeom>
            <a:avLst/>
            <a:gdLst/>
            <a:ahLst/>
            <a:cxnLst/>
            <a:rect l="l" t="t" r="r" b="b"/>
            <a:pathLst>
              <a:path w="5142230" h="200025" extrusionOk="0">
                <a:moveTo>
                  <a:pt x="5141666" y="0"/>
                </a:moveTo>
                <a:lnTo>
                  <a:pt x="0" y="0"/>
                </a:lnTo>
                <a:lnTo>
                  <a:pt x="0" y="149156"/>
                </a:lnTo>
                <a:lnTo>
                  <a:pt x="4008" y="168880"/>
                </a:lnTo>
                <a:lnTo>
                  <a:pt x="14922" y="185033"/>
                </a:lnTo>
                <a:lnTo>
                  <a:pt x="31075" y="195947"/>
                </a:lnTo>
                <a:lnTo>
                  <a:pt x="50800" y="199956"/>
                </a:lnTo>
                <a:lnTo>
                  <a:pt x="5090865" y="199956"/>
                </a:lnTo>
                <a:lnTo>
                  <a:pt x="5110590" y="195947"/>
                </a:lnTo>
                <a:lnTo>
                  <a:pt x="5126743" y="185033"/>
                </a:lnTo>
                <a:lnTo>
                  <a:pt x="5137657" y="168880"/>
                </a:lnTo>
                <a:lnTo>
                  <a:pt x="5141666" y="149156"/>
                </a:lnTo>
                <a:lnTo>
                  <a:pt x="5141666" y="0"/>
                </a:lnTo>
                <a:close/>
              </a:path>
            </a:pathLst>
          </a:custGeom>
          <a:solidFill>
            <a:srgbClr val="EAEA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7"/>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7"/>
          <p:cNvSpPr txBox="1"/>
          <p:nvPr/>
        </p:nvSpPr>
        <p:spPr>
          <a:xfrm>
            <a:off x="112249" y="478762"/>
            <a:ext cx="4985385" cy="1149674"/>
          </a:xfrm>
          <a:prstGeom prst="rect">
            <a:avLst/>
          </a:prstGeom>
          <a:noFill/>
          <a:ln>
            <a:noFill/>
          </a:ln>
        </p:spPr>
        <p:txBody>
          <a:bodyPr spcFirstLastPara="1" wrap="square" lIns="0" tIns="5397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3333B2"/>
                </a:solidFill>
                <a:latin typeface="Calibri"/>
                <a:ea typeface="Calibri"/>
                <a:cs typeface="Calibri"/>
                <a:sym typeface="Calibri"/>
              </a:rPr>
              <a:t>Scenario</a:t>
            </a:r>
            <a:endParaRPr sz="1200" b="0" i="0" u="none" strike="noStrike" cap="none">
              <a:solidFill>
                <a:srgbClr val="000000"/>
              </a:solidFill>
              <a:latin typeface="Calibri"/>
              <a:ea typeface="Calibri"/>
              <a:cs typeface="Calibri"/>
              <a:sym typeface="Calibri"/>
            </a:endParaRPr>
          </a:p>
          <a:p>
            <a:pPr marL="12700" marR="0" lvl="0" indent="0" algn="l" rtl="0">
              <a:lnSpc>
                <a:spcPct val="100000"/>
              </a:lnSpc>
              <a:spcBef>
                <a:spcPts val="254"/>
              </a:spcBef>
              <a:spcAft>
                <a:spcPts val="0"/>
              </a:spcAft>
              <a:buNone/>
            </a:pPr>
            <a:r>
              <a:rPr lang="en-US" sz="1000" b="0" i="0" u="none" strike="noStrike" cap="none">
                <a:solidFill>
                  <a:srgbClr val="000000"/>
                </a:solidFill>
                <a:latin typeface="Arial"/>
                <a:ea typeface="Arial"/>
                <a:cs typeface="Arial"/>
                <a:sym typeface="Arial"/>
              </a:rPr>
              <a:t>In a modified Race car, there is a training track where agent is given a known map and risk factors(dynamics) in advance. Agent knows exactly where it is and its action how actions result in engine state change (KNOWN MODEL).  </a:t>
            </a:r>
            <a:endParaRPr/>
          </a:p>
          <a:p>
            <a:pPr marL="12700" marR="0" lvl="0" indent="0" algn="l" rtl="0">
              <a:lnSpc>
                <a:spcPct val="100000"/>
              </a:lnSpc>
              <a:spcBef>
                <a:spcPts val="254"/>
              </a:spcBef>
              <a:spcAft>
                <a:spcPts val="0"/>
              </a:spcAft>
              <a:buNone/>
            </a:pPr>
            <a:r>
              <a:rPr lang="en-US" sz="1000" b="0" i="0" u="none" strike="noStrike" cap="none">
                <a:solidFill>
                  <a:srgbClr val="000000"/>
                </a:solidFill>
                <a:latin typeface="Arial"/>
                <a:ea typeface="Arial"/>
                <a:cs typeface="Arial"/>
                <a:sym typeface="Arial"/>
              </a:rPr>
              <a:t>With full knowledge, the agent can compute optimal policies by trying through all states.  </a:t>
            </a: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53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164" name="Google Shape;164;p7"/>
          <p:cNvSpPr txBox="1"/>
          <p:nvPr/>
        </p:nvSpPr>
        <p:spPr>
          <a:xfrm>
            <a:off x="5220322" y="1629732"/>
            <a:ext cx="192405" cy="189865"/>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000000"/>
                </a:solidFill>
                <a:latin typeface="Arial"/>
                <a:ea typeface="Arial"/>
                <a:cs typeface="Arial"/>
                <a:sym typeface="Arial"/>
              </a:rPr>
              <a:t>(1)</a:t>
            </a:r>
            <a:endParaRPr sz="1050" b="0" i="0" u="none" strike="noStrike" cap="none">
              <a:solidFill>
                <a:srgbClr val="000000"/>
              </a:solidFill>
              <a:latin typeface="Arial"/>
              <a:ea typeface="Arial"/>
              <a:cs typeface="Arial"/>
              <a:sym typeface="Arial"/>
            </a:endParaRPr>
          </a:p>
        </p:txBody>
      </p:sp>
      <p:grpSp>
        <p:nvGrpSpPr>
          <p:cNvPr id="165" name="Google Shape;165;p7"/>
          <p:cNvGrpSpPr/>
          <p:nvPr/>
        </p:nvGrpSpPr>
        <p:grpSpPr>
          <a:xfrm>
            <a:off x="0" y="3109250"/>
            <a:ext cx="5760261" cy="92075"/>
            <a:chOff x="0" y="3109250"/>
            <a:chExt cx="5760261" cy="92075"/>
          </a:xfrm>
        </p:grpSpPr>
        <p:sp>
          <p:nvSpPr>
            <p:cNvPr id="166" name="Google Shape;166;p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9" name="Google Shape;169;p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70" name="Google Shape;170;p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7</a:t>
            </a:r>
            <a:endParaRPr/>
          </a:p>
        </p:txBody>
      </p:sp>
      <p:pic>
        <p:nvPicPr>
          <p:cNvPr id="171" name="Google Shape;171;p7"/>
          <p:cNvPicPr preferRelativeResize="0"/>
          <p:nvPr/>
        </p:nvPicPr>
        <p:blipFill rotWithShape="1">
          <a:blip r:embed="rId4">
            <a:alphaModFix/>
          </a:blip>
          <a:srcRect/>
          <a:stretch/>
        </p:blipFill>
        <p:spPr>
          <a:xfrm>
            <a:off x="3413403" y="1539705"/>
            <a:ext cx="2346858" cy="1422731"/>
          </a:xfrm>
          <a:prstGeom prst="rect">
            <a:avLst/>
          </a:prstGeom>
          <a:noFill/>
          <a:ln>
            <a:noFill/>
          </a:ln>
        </p:spPr>
      </p:pic>
      <p:sp>
        <p:nvSpPr>
          <p:cNvPr id="172" name="Google Shape;172;p7"/>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0" name="Google Shape;60;p3"/>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1" name="Google Shape;61;p3"/>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EAEAF7"/>
                </a:solidFill>
                <a:latin typeface="Calibri"/>
                <a:ea typeface="Calibri"/>
                <a:cs typeface="Calibri"/>
                <a:sym typeface="Calibri"/>
              </a:rPr>
              <a:t>1</a:t>
            </a:r>
            <a:endParaRPr sz="800" b="0" i="0" u="none" strike="noStrike" cap="none">
              <a:solidFill>
                <a:srgbClr val="000000"/>
              </a:solidFill>
              <a:latin typeface="Calibri"/>
              <a:ea typeface="Calibri"/>
              <a:cs typeface="Calibri"/>
              <a:sym typeface="Calibri"/>
            </a:endParaRPr>
          </a:p>
        </p:txBody>
      </p:sp>
      <p:pic>
        <p:nvPicPr>
          <p:cNvPr id="62" name="Google Shape;62;p3"/>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63" name="Google Shape;63;p3"/>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2</a:t>
            </a:r>
            <a:endParaRPr sz="800" b="0" i="0" u="none" strike="noStrike" cap="none">
              <a:solidFill>
                <a:srgbClr val="000000"/>
              </a:solidFill>
              <a:latin typeface="Calibri"/>
              <a:ea typeface="Calibri"/>
              <a:cs typeface="Calibri"/>
              <a:sym typeface="Calibri"/>
            </a:endParaRPr>
          </a:p>
        </p:txBody>
      </p:sp>
      <p:pic>
        <p:nvPicPr>
          <p:cNvPr id="64" name="Google Shape;64;p3"/>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65" name="Google Shape;65;p3"/>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3</a:t>
            </a:r>
            <a:endParaRPr sz="800" b="0" i="0" u="none" strike="noStrike" cap="none">
              <a:solidFill>
                <a:srgbClr val="000000"/>
              </a:solidFill>
              <a:latin typeface="Calibri"/>
              <a:ea typeface="Calibri"/>
              <a:cs typeface="Calibri"/>
              <a:sym typeface="Calibri"/>
            </a:endParaRPr>
          </a:p>
        </p:txBody>
      </p:sp>
      <p:pic>
        <p:nvPicPr>
          <p:cNvPr id="66" name="Google Shape;66;p3"/>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67" name="Google Shape;67;p3"/>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4</a:t>
            </a:r>
            <a:endParaRPr sz="800" b="0" i="0" u="none" strike="noStrike" cap="none">
              <a:solidFill>
                <a:srgbClr val="000000"/>
              </a:solidFill>
              <a:latin typeface="Calibri"/>
              <a:ea typeface="Calibri"/>
              <a:cs typeface="Calibri"/>
              <a:sym typeface="Calibri"/>
            </a:endParaRPr>
          </a:p>
        </p:txBody>
      </p:sp>
      <p:sp>
        <p:nvSpPr>
          <p:cNvPr id="68" name="Google Shape;68;p3"/>
          <p:cNvSpPr txBox="1"/>
          <p:nvPr/>
        </p:nvSpPr>
        <p:spPr>
          <a:xfrm>
            <a:off x="563025" y="544082"/>
            <a:ext cx="3241800" cy="1486200"/>
          </a:xfrm>
          <a:prstGeom prst="rect">
            <a:avLst/>
          </a:prstGeom>
          <a:noFill/>
          <a:ln>
            <a:noFill/>
          </a:ln>
        </p:spPr>
        <p:txBody>
          <a:bodyPr spcFirstLastPara="1" wrap="square" lIns="0" tIns="9015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rPr>
              <a:t>MDP</a:t>
            </a:r>
            <a:endParaRPr sz="1400" b="0" i="0" u="none" strike="noStrike" cap="none">
              <a:solidFill>
                <a:srgbClr val="000000"/>
              </a:solidFill>
              <a:latin typeface="Calibri"/>
              <a:ea typeface="Calibri"/>
              <a:cs typeface="Calibri"/>
              <a:sym typeface="Calibri"/>
            </a:endParaRPr>
          </a:p>
          <a:p>
            <a:pPr marL="12700" marR="0" lvl="0" indent="0" algn="l" rtl="0">
              <a:lnSpc>
                <a:spcPct val="100000"/>
              </a:lnSpc>
              <a:spcBef>
                <a:spcPts val="62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rPr>
              <a:t>DP</a:t>
            </a:r>
            <a:endParaRPr sz="1400" b="0" i="0" u="none" strike="noStrike" cap="none">
              <a:solidFill>
                <a:srgbClr val="000000"/>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i="0" u="sng" strike="noStrike" cap="none">
                <a:solidFill>
                  <a:schemeClr val="hlink"/>
                </a:solidFill>
                <a:latin typeface="Calibri"/>
                <a:ea typeface="Calibri"/>
                <a:cs typeface="Calibri"/>
                <a:sym typeface="Calibri"/>
              </a:rPr>
              <a:t>MC </a:t>
            </a:r>
            <a:r>
              <a:rPr lang="en-US" sz="1400" b="0" i="0" u="none" strike="noStrike" cap="none">
                <a:solidFill>
                  <a:srgbClr val="D6D6EF"/>
                </a:solidFill>
                <a:latin typeface="Calibri"/>
                <a:ea typeface="Calibri"/>
                <a:cs typeface="Calibri"/>
                <a:sym typeface="Calibri"/>
              </a:rPr>
              <a:t> </a:t>
            </a:r>
            <a:endParaRPr sz="1400" b="0" i="0" u="none" strike="noStrike" cap="none">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i="0" u="sng" strike="noStrike" cap="none">
                <a:solidFill>
                  <a:schemeClr val="hlink"/>
                </a:solidFill>
                <a:latin typeface="Calibri"/>
                <a:ea typeface="Calibri"/>
                <a:cs typeface="Calibri"/>
                <a:sym typeface="Calibri"/>
              </a:rPr>
              <a:t>TD</a:t>
            </a:r>
            <a:endParaRPr sz="1400" b="0" i="0" u="none" strike="noStrike" cap="none">
              <a:solidFill>
                <a:srgbClr val="000000"/>
              </a:solidFill>
              <a:latin typeface="Calibri"/>
              <a:ea typeface="Calibri"/>
              <a:cs typeface="Calibri"/>
              <a:sym typeface="Calibri"/>
            </a:endParaRPr>
          </a:p>
          <a:p>
            <a:pPr marL="12700" marR="0" lvl="0" indent="0" algn="l" rtl="0">
              <a:lnSpc>
                <a:spcPct val="100000"/>
              </a:lnSpc>
              <a:spcBef>
                <a:spcPts val="62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grpSp>
        <p:nvGrpSpPr>
          <p:cNvPr id="69" name="Google Shape;69;p3"/>
          <p:cNvGrpSpPr/>
          <p:nvPr/>
        </p:nvGrpSpPr>
        <p:grpSpPr>
          <a:xfrm>
            <a:off x="0" y="3109250"/>
            <a:ext cx="5760261" cy="92075"/>
            <a:chOff x="0" y="3109250"/>
            <a:chExt cx="5760261" cy="92075"/>
          </a:xfrm>
        </p:grpSpPr>
        <p:sp>
          <p:nvSpPr>
            <p:cNvPr id="70" name="Google Shape;70;p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74" name="Google Shape;74;p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SzPts val="600"/>
              <a:buNone/>
            </a:pPr>
            <a:r>
              <a:rPr lang="en-US"/>
              <a:t>3</a:t>
            </a:r>
            <a:endParaRPr/>
          </a:p>
        </p:txBody>
      </p:sp>
      <p:sp>
        <p:nvSpPr>
          <p:cNvPr id="75" name="Google Shape;75;p3"/>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3C13CD05-23B2-A067-D5E1-EC45E28DD268}"/>
              </a:ext>
            </a:extLst>
          </p:cNvPr>
          <p:cNvPicPr>
            <a:picLocks noChangeAspect="1"/>
          </p:cNvPicPr>
          <p:nvPr/>
        </p:nvPicPr>
        <p:blipFill>
          <a:blip r:embed="rId7"/>
          <a:stretch>
            <a:fillRect/>
          </a:stretch>
        </p:blipFill>
        <p:spPr>
          <a:xfrm>
            <a:off x="1060021" y="637742"/>
            <a:ext cx="2693832" cy="1977121"/>
          </a:xfrm>
          <a:prstGeom prst="rect">
            <a:avLst/>
          </a:prstGeom>
        </p:spPr>
      </p:pic>
      <p:pic>
        <p:nvPicPr>
          <p:cNvPr id="4" name="Google Shape;98;p4">
            <a:extLst>
              <a:ext uri="{FF2B5EF4-FFF2-40B4-BE49-F238E27FC236}">
                <a16:creationId xmlns:a16="http://schemas.microsoft.com/office/drawing/2014/main" id="{BDA8D542-ABE3-ED53-DD63-A66B7AE5B53B}"/>
              </a:ext>
            </a:extLst>
          </p:cNvPr>
          <p:cNvPicPr preferRelativeResize="0"/>
          <p:nvPr/>
        </p:nvPicPr>
        <p:blipFill rotWithShape="1">
          <a:blip r:embed="rId8">
            <a:alphaModFix/>
          </a:blip>
          <a:srcRect/>
          <a:stretch/>
        </p:blipFill>
        <p:spPr>
          <a:xfrm>
            <a:off x="3128392" y="680198"/>
            <a:ext cx="2346858" cy="1422731"/>
          </a:xfrm>
          <a:prstGeom prst="rect">
            <a:avLst/>
          </a:prstGeom>
          <a:noFill/>
          <a:ln>
            <a:noFill/>
          </a:ln>
        </p:spPr>
      </p:pic>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Problem Definition</a:t>
            </a:r>
            <a:endParaRPr/>
          </a:p>
        </p:txBody>
      </p:sp>
      <p:sp>
        <p:nvSpPr>
          <p:cNvPr id="81" name="Google Shape;81;p4"/>
          <p:cNvSpPr/>
          <p:nvPr/>
        </p:nvSpPr>
        <p:spPr>
          <a:xfrm>
            <a:off x="81411" y="475127"/>
            <a:ext cx="5426982" cy="237333"/>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2" name="Google Shape;82;p4"/>
          <p:cNvPicPr preferRelativeResize="0"/>
          <p:nvPr/>
        </p:nvPicPr>
        <p:blipFill rotWithShape="1">
          <a:blip r:embed="rId3">
            <a:alphaModFix/>
          </a:blip>
          <a:srcRect/>
          <a:stretch/>
        </p:blipFill>
        <p:spPr>
          <a:xfrm>
            <a:off x="82600" y="938301"/>
            <a:ext cx="5426387" cy="128069"/>
          </a:xfrm>
          <a:prstGeom prst="rect">
            <a:avLst/>
          </a:prstGeom>
          <a:noFill/>
          <a:ln>
            <a:noFill/>
          </a:ln>
        </p:spPr>
      </p:pic>
      <p:sp>
        <p:nvSpPr>
          <p:cNvPr id="83" name="Google Shape;83;p4"/>
          <p:cNvSpPr/>
          <p:nvPr/>
        </p:nvSpPr>
        <p:spPr>
          <a:xfrm>
            <a:off x="80817" y="712460"/>
            <a:ext cx="5426982" cy="799561"/>
          </a:xfrm>
          <a:custGeom>
            <a:avLst/>
            <a:gdLst/>
            <a:ahLst/>
            <a:cxnLst/>
            <a:rect l="l" t="t" r="r" b="b"/>
            <a:pathLst>
              <a:path w="5142230" h="381000" extrusionOk="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
          <p:cNvSpPr/>
          <p:nvPr/>
        </p:nvSpPr>
        <p:spPr>
          <a:xfrm>
            <a:off x="5508987" y="714200"/>
            <a:ext cx="0" cy="29423"/>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4"/>
          <p:cNvSpPr/>
          <p:nvPr/>
        </p:nvSpPr>
        <p:spPr>
          <a:xfrm>
            <a:off x="5508987" y="684776"/>
            <a:ext cx="0" cy="29423"/>
          </a:xfrm>
          <a:custGeom>
            <a:avLst/>
            <a:gdLst/>
            <a:ahLst/>
            <a:cxnLst/>
            <a:rect l="l" t="t" r="r" b="b"/>
            <a:pathLst>
              <a:path w="120000" h="12700" extrusionOk="0">
                <a:moveTo>
                  <a:pt x="0" y="12699"/>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4"/>
          <p:cNvSpPr/>
          <p:nvPr/>
        </p:nvSpPr>
        <p:spPr>
          <a:xfrm>
            <a:off x="5508987" y="655353"/>
            <a:ext cx="0" cy="29423"/>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4"/>
          <p:cNvSpPr/>
          <p:nvPr/>
        </p:nvSpPr>
        <p:spPr>
          <a:xfrm>
            <a:off x="5508987" y="611218"/>
            <a:ext cx="0" cy="44135"/>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8" name="Google Shape;88;p4"/>
          <p:cNvPicPr preferRelativeResize="0"/>
          <p:nvPr/>
        </p:nvPicPr>
        <p:blipFill rotWithShape="1">
          <a:blip r:embed="rId4">
            <a:alphaModFix/>
          </a:blip>
          <a:srcRect/>
          <a:stretch/>
        </p:blipFill>
        <p:spPr>
          <a:xfrm>
            <a:off x="283194" y="1843601"/>
            <a:ext cx="97806" cy="82067"/>
          </a:xfrm>
          <a:prstGeom prst="rect">
            <a:avLst/>
          </a:prstGeom>
          <a:noFill/>
          <a:ln>
            <a:noFill/>
          </a:ln>
        </p:spPr>
      </p:pic>
      <p:pic>
        <p:nvPicPr>
          <p:cNvPr id="89" name="Google Shape;89;p4"/>
          <p:cNvPicPr preferRelativeResize="0"/>
          <p:nvPr/>
        </p:nvPicPr>
        <p:blipFill rotWithShape="1">
          <a:blip r:embed="rId5">
            <a:alphaModFix/>
          </a:blip>
          <a:srcRect/>
          <a:stretch/>
        </p:blipFill>
        <p:spPr>
          <a:xfrm>
            <a:off x="283194" y="2209822"/>
            <a:ext cx="97806" cy="82067"/>
          </a:xfrm>
          <a:prstGeom prst="rect">
            <a:avLst/>
          </a:prstGeom>
          <a:noFill/>
          <a:ln>
            <a:noFill/>
          </a:ln>
        </p:spPr>
      </p:pic>
      <p:sp>
        <p:nvSpPr>
          <p:cNvPr id="90" name="Google Shape;90;p4"/>
          <p:cNvSpPr txBox="1"/>
          <p:nvPr/>
        </p:nvSpPr>
        <p:spPr>
          <a:xfrm>
            <a:off x="80817" y="444904"/>
            <a:ext cx="5375100" cy="2232300"/>
          </a:xfrm>
          <a:prstGeom prst="rect">
            <a:avLst/>
          </a:prstGeom>
          <a:noFill/>
          <a:ln>
            <a:noFill/>
          </a:ln>
        </p:spPr>
        <p:txBody>
          <a:bodyPr spcFirstLastPara="1" wrap="square" lIns="0" tIns="52700" rIns="0" bIns="0" anchor="t" anchorCtr="0">
            <a:spAutoFit/>
          </a:bodyPr>
          <a:lstStyle/>
          <a:p>
            <a:pPr marL="50800" marR="0" lvl="0" indent="0" algn="just" rtl="0">
              <a:lnSpc>
                <a:spcPct val="100000"/>
              </a:lnSpc>
              <a:spcBef>
                <a:spcPts val="0"/>
              </a:spcBef>
              <a:spcAft>
                <a:spcPts val="0"/>
              </a:spcAft>
              <a:buClr>
                <a:srgbClr val="000000"/>
              </a:buClr>
              <a:buSzPts val="1200"/>
              <a:buFont typeface="Arial"/>
              <a:buNone/>
            </a:pPr>
            <a:r>
              <a:rPr lang="en-US" sz="1200" b="0" i="0" u="none" strike="noStrike" cap="none">
                <a:solidFill>
                  <a:srgbClr val="3333B2"/>
                </a:solidFill>
                <a:latin typeface="Calibri"/>
                <a:ea typeface="Calibri"/>
                <a:cs typeface="Calibri"/>
                <a:sym typeface="Calibri"/>
              </a:rPr>
              <a:t>Race Car Laps</a:t>
            </a:r>
            <a:endParaRPr sz="1200" b="0" i="0" u="none" strike="noStrike" cap="none">
              <a:solidFill>
                <a:srgbClr val="000000"/>
              </a:solidFill>
              <a:latin typeface="Calibri"/>
              <a:ea typeface="Calibri"/>
              <a:cs typeface="Calibri"/>
              <a:sym typeface="Calibri"/>
            </a:endParaRPr>
          </a:p>
          <a:p>
            <a:pPr marL="50800" marR="17780" lvl="0" indent="0" algn="just" rtl="0">
              <a:lnSpc>
                <a:spcPct val="114700"/>
              </a:lnSpc>
              <a:spcBef>
                <a:spcPts val="60"/>
              </a:spcBef>
              <a:spcAft>
                <a:spcPts val="0"/>
              </a:spcAft>
              <a:buNone/>
            </a:pPr>
            <a:r>
              <a:rPr lang="en-US" sz="900" b="0" i="0" u="none" strike="noStrike" cap="none">
                <a:solidFill>
                  <a:srgbClr val="000000"/>
                </a:solidFill>
                <a:latin typeface="Arial"/>
                <a:ea typeface="Arial"/>
                <a:cs typeface="Arial"/>
                <a:sym typeface="Arial"/>
              </a:rPr>
              <a:t>A race car completes laps while managing engine temperature and speed decisions. Here each step is a segment of a lap in the track where the car learns to trades off lap time against overheating risk. The more the lap the car completes it performance betters. Car shuts down only when its engine get overheated (optional terminal state). 	</a:t>
            </a:r>
            <a:endParaRPr/>
          </a:p>
          <a:p>
            <a:pPr marL="50800" marR="17780" lvl="0" indent="0" algn="just" rtl="0">
              <a:lnSpc>
                <a:spcPct val="114700"/>
              </a:lnSpc>
              <a:spcBef>
                <a:spcPts val="60"/>
              </a:spcBef>
              <a:spcAft>
                <a:spcPts val="0"/>
              </a:spcAft>
              <a:buNone/>
            </a:pPr>
            <a:endParaRPr sz="900" b="0" i="0" u="none" strike="noStrike" cap="none">
              <a:solidFill>
                <a:srgbClr val="000000"/>
              </a:solidFill>
              <a:latin typeface="Arial"/>
              <a:ea typeface="Arial"/>
              <a:cs typeface="Arial"/>
              <a:sym typeface="Arial"/>
            </a:endParaRPr>
          </a:p>
          <a:p>
            <a:pPr marL="50800" marR="0" lvl="0" indent="0" algn="just" rtl="0">
              <a:lnSpc>
                <a:spcPct val="100000"/>
              </a:lnSpc>
              <a:spcBef>
                <a:spcPts val="0"/>
              </a:spcBef>
              <a:spcAft>
                <a:spcPts val="0"/>
              </a:spcAft>
              <a:buClr>
                <a:srgbClr val="000000"/>
              </a:buClr>
              <a:buSzPts val="900"/>
              <a:buFont typeface="Arial"/>
              <a:buNone/>
            </a:pPr>
            <a:endParaRPr sz="900" b="0" i="0" u="none" strike="noStrike" cap="none">
              <a:solidFill>
                <a:srgbClr val="1B1472"/>
              </a:solidFill>
              <a:latin typeface="Arial"/>
              <a:ea typeface="Arial"/>
              <a:cs typeface="Arial"/>
              <a:sym typeface="Arial"/>
            </a:endParaRPr>
          </a:p>
          <a:p>
            <a:pPr marL="50800" marR="0" lvl="0" indent="0" algn="just" rtl="0">
              <a:lnSpc>
                <a:spcPct val="100000"/>
              </a:lnSpc>
              <a:spcBef>
                <a:spcPts val="0"/>
              </a:spcBef>
              <a:spcAft>
                <a:spcPts val="0"/>
              </a:spcAft>
              <a:buClr>
                <a:srgbClr val="000000"/>
              </a:buClr>
              <a:buSzPts val="900"/>
              <a:buFont typeface="Arial"/>
              <a:buNone/>
            </a:pPr>
            <a:r>
              <a:rPr lang="en-US" sz="900" b="0" i="0" u="none" strike="noStrike" cap="none">
                <a:solidFill>
                  <a:srgbClr val="1B1472"/>
                </a:solidFill>
                <a:latin typeface="Arial"/>
                <a:ea typeface="Arial"/>
                <a:cs typeface="Arial"/>
                <a:sym typeface="Arial"/>
              </a:rPr>
              <a:t>Key Characteristics:</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None/>
            </a:pPr>
            <a:r>
              <a:rPr lang="en-US" sz="900" b="0" i="0" u="none" strike="noStrike" cap="none">
                <a:solidFill>
                  <a:srgbClr val="000000"/>
                </a:solidFill>
                <a:latin typeface="Arial"/>
                <a:ea typeface="Arial"/>
                <a:cs typeface="Arial"/>
                <a:sym typeface="Arial"/>
              </a:rPr>
              <a:t>The agent must act under </a:t>
            </a:r>
            <a:r>
              <a:rPr lang="en-US" sz="900" b="1" i="0" u="none" strike="noStrike" cap="none">
                <a:solidFill>
                  <a:srgbClr val="000000"/>
                </a:solidFill>
                <a:latin typeface="Arial"/>
                <a:ea typeface="Arial"/>
                <a:cs typeface="Arial"/>
                <a:sym typeface="Arial"/>
              </a:rPr>
              <a:t>uncertainty</a:t>
            </a:r>
            <a:r>
              <a:rPr lang="en-US" sz="900" b="0" i="0" u="none" strike="noStrike" cap="none">
                <a:solidFill>
                  <a:srgbClr val="000000"/>
                </a:solidFill>
                <a:latin typeface="Arial"/>
                <a:ea typeface="Arial"/>
                <a:cs typeface="Arial"/>
                <a:sym typeface="Arial"/>
              </a:rPr>
              <a:t> — </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None/>
            </a:pPr>
            <a:r>
              <a:rPr lang="en-US" sz="900" b="0" i="0" u="none" strike="noStrike" cap="none">
                <a:solidFill>
                  <a:srgbClr val="000000"/>
                </a:solidFill>
                <a:latin typeface="Arial"/>
                <a:ea typeface="Arial"/>
                <a:cs typeface="Arial"/>
                <a:sym typeface="Arial"/>
              </a:rPr>
              <a:t>percepts are local, and the agent must reason about hidden dangers</a:t>
            </a:r>
            <a:endParaRPr/>
          </a:p>
          <a:p>
            <a:pPr marL="347980" marR="0" lvl="0" indent="0" algn="just" rtl="0">
              <a:lnSpc>
                <a:spcPct val="100000"/>
              </a:lnSpc>
              <a:spcBef>
                <a:spcPts val="335"/>
              </a:spcBef>
              <a:spcAft>
                <a:spcPts val="0"/>
              </a:spcAft>
              <a:buNone/>
            </a:pPr>
            <a:r>
              <a:rPr lang="en-US" sz="900" b="0" i="0" u="none" strike="noStrike" cap="none">
                <a:solidFill>
                  <a:srgbClr val="000000"/>
                </a:solidFill>
                <a:latin typeface="Tahoma"/>
                <a:ea typeface="Tahoma"/>
                <a:cs typeface="Tahoma"/>
                <a:sym typeface="Tahoma"/>
              </a:rPr>
              <a:t>Assume there is no fuel constraints or No.of.Laps to complete!</a:t>
            </a:r>
            <a:endParaRPr sz="1050" b="0" i="0" u="none" strike="noStrike" cap="none">
              <a:solidFill>
                <a:srgbClr val="000000"/>
              </a:solidFill>
              <a:latin typeface="Tahoma"/>
              <a:ea typeface="Tahoma"/>
              <a:cs typeface="Tahoma"/>
              <a:sym typeface="Tahoma"/>
            </a:endParaRPr>
          </a:p>
          <a:p>
            <a:pPr marL="347980" marR="0" lvl="0" indent="0" algn="just" rtl="0">
              <a:lnSpc>
                <a:spcPct val="100000"/>
              </a:lnSpc>
              <a:spcBef>
                <a:spcPts val="335"/>
              </a:spcBef>
              <a:spcAft>
                <a:spcPts val="0"/>
              </a:spcAft>
              <a:buNone/>
            </a:pPr>
            <a:r>
              <a:rPr lang="en-US" sz="900" b="0" i="0" u="none" strike="noStrike" cap="none">
                <a:solidFill>
                  <a:srgbClr val="000000"/>
                </a:solidFill>
                <a:latin typeface="Arial"/>
                <a:ea typeface="Arial"/>
                <a:cs typeface="Arial"/>
                <a:sym typeface="Arial"/>
              </a:rPr>
              <a:t>At every time step the next potential </a:t>
            </a:r>
            <a:r>
              <a:rPr lang="en-US" sz="900"/>
              <a:t>engine temperature</a:t>
            </a:r>
            <a:endParaRPr/>
          </a:p>
          <a:p>
            <a:pPr marL="347980" marR="0" lvl="0" indent="0" algn="just" rtl="0">
              <a:lnSpc>
                <a:spcPct val="100000"/>
              </a:lnSpc>
              <a:spcBef>
                <a:spcPts val="335"/>
              </a:spcBef>
              <a:spcAft>
                <a:spcPts val="0"/>
              </a:spcAft>
              <a:buNone/>
            </a:pPr>
            <a:r>
              <a:rPr lang="en-US" sz="900" b="0" i="0" u="none" strike="noStrike" cap="none">
                <a:solidFill>
                  <a:srgbClr val="000000"/>
                </a:solidFill>
                <a:latin typeface="Arial"/>
                <a:ea typeface="Arial"/>
                <a:cs typeface="Arial"/>
                <a:sym typeface="Arial"/>
              </a:rPr>
              <a:t>depends on the current </a:t>
            </a:r>
            <a:r>
              <a:rPr lang="en-US" sz="900"/>
              <a:t>engine state</a:t>
            </a:r>
            <a:r>
              <a:rPr lang="en-US" sz="900" b="0" i="0" u="none" strike="noStrike" cap="none">
                <a:solidFill>
                  <a:srgbClr val="000000"/>
                </a:solidFill>
                <a:latin typeface="Arial"/>
                <a:ea typeface="Arial"/>
                <a:cs typeface="Arial"/>
                <a:sym typeface="Arial"/>
              </a:rPr>
              <a:t> not the past history</a:t>
            </a:r>
            <a:endParaRPr sz="900" b="0" i="0" u="none" strike="noStrike" cap="none">
              <a:solidFill>
                <a:srgbClr val="000000"/>
              </a:solidFill>
              <a:latin typeface="Arial"/>
              <a:ea typeface="Arial"/>
              <a:cs typeface="Arial"/>
              <a:sym typeface="Arial"/>
            </a:endParaRPr>
          </a:p>
        </p:txBody>
      </p:sp>
      <p:grpSp>
        <p:nvGrpSpPr>
          <p:cNvPr id="91" name="Google Shape;91;p4"/>
          <p:cNvGrpSpPr/>
          <p:nvPr/>
        </p:nvGrpSpPr>
        <p:grpSpPr>
          <a:xfrm>
            <a:off x="0" y="3109250"/>
            <a:ext cx="5760261" cy="92075"/>
            <a:chOff x="0" y="3109250"/>
            <a:chExt cx="5760261" cy="92075"/>
          </a:xfrm>
        </p:grpSpPr>
        <p:sp>
          <p:nvSpPr>
            <p:cNvPr id="92" name="Google Shape;92;p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5" name="Google Shape;95;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96" name="Google Shape;96;p4"/>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97" name="Google Shape;97;p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SzPts val="600"/>
              <a:buNone/>
            </a:pPr>
            <a:r>
              <a:rPr lang="en-US"/>
              <a:t>4</a:t>
            </a:r>
            <a:endParaRPr/>
          </a:p>
        </p:txBody>
      </p:sp>
      <p:pic>
        <p:nvPicPr>
          <p:cNvPr id="98" name="Google Shape;98;p4"/>
          <p:cNvPicPr preferRelativeResize="0"/>
          <p:nvPr/>
        </p:nvPicPr>
        <p:blipFill rotWithShape="1">
          <a:blip r:embed="rId6">
            <a:alphaModFix/>
          </a:blip>
          <a:srcRect/>
          <a:stretch/>
        </p:blipFill>
        <p:spPr>
          <a:xfrm>
            <a:off x="3413403" y="1539705"/>
            <a:ext cx="2346858" cy="1422731"/>
          </a:xfrm>
          <a:prstGeom prst="rect">
            <a:avLst/>
          </a:prstGeom>
          <a:noFill/>
          <a:ln>
            <a:noFill/>
          </a:ln>
        </p:spPr>
      </p:pic>
      <p:pic>
        <p:nvPicPr>
          <p:cNvPr id="99" name="Google Shape;99;p4"/>
          <p:cNvPicPr preferRelativeResize="0"/>
          <p:nvPr/>
        </p:nvPicPr>
        <p:blipFill rotWithShape="1">
          <a:blip r:embed="rId5">
            <a:alphaModFix/>
          </a:blip>
          <a:srcRect/>
          <a:stretch/>
        </p:blipFill>
        <p:spPr>
          <a:xfrm>
            <a:off x="283194" y="2362222"/>
            <a:ext cx="97806" cy="82067"/>
          </a:xfrm>
          <a:prstGeom prst="rect">
            <a:avLst/>
          </a:prstGeom>
          <a:noFill/>
          <a:ln>
            <a:noFill/>
          </a:ln>
        </p:spPr>
      </p:pic>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5"/>
          <p:cNvPicPr preferRelativeResize="0"/>
          <p:nvPr/>
        </p:nvPicPr>
        <p:blipFill rotWithShape="1">
          <a:blip r:embed="rId3">
            <a:alphaModFix/>
          </a:blip>
          <a:srcRect/>
          <a:stretch/>
        </p:blipFill>
        <p:spPr>
          <a:xfrm>
            <a:off x="3413403" y="1539705"/>
            <a:ext cx="2346858" cy="1422731"/>
          </a:xfrm>
          <a:prstGeom prst="rect">
            <a:avLst/>
          </a:prstGeom>
          <a:noFill/>
          <a:ln>
            <a:noFill/>
          </a:ln>
        </p:spPr>
      </p:pic>
      <p:sp>
        <p:nvSpPr>
          <p:cNvPr id="105" name="Google Shape;105;p5"/>
          <p:cNvSpPr txBox="1">
            <a:spLocks noGrp="1"/>
          </p:cNvSpPr>
          <p:nvPr>
            <p:ph type="title"/>
          </p:nvPr>
        </p:nvSpPr>
        <p:spPr>
          <a:xfrm>
            <a:off x="82600" y="109545"/>
            <a:ext cx="5683200"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MARKOV DECISION PROCESS FORMALIZATION </a:t>
            </a:r>
            <a:r>
              <a:rPr lang="en-US" sz="1200">
                <a:solidFill>
                  <a:srgbClr val="FFFFFF"/>
                </a:solidFill>
              </a:rPr>
              <a:t>(Simplified)</a:t>
            </a:r>
            <a:endParaRPr sz="1200"/>
          </a:p>
        </p:txBody>
      </p:sp>
      <p:pic>
        <p:nvPicPr>
          <p:cNvPr id="106" name="Google Shape;106;p5"/>
          <p:cNvPicPr preferRelativeResize="0"/>
          <p:nvPr/>
        </p:nvPicPr>
        <p:blipFill rotWithShape="1">
          <a:blip r:embed="rId4">
            <a:alphaModFix/>
          </a:blip>
          <a:srcRect/>
          <a:stretch/>
        </p:blipFill>
        <p:spPr>
          <a:xfrm>
            <a:off x="182676" y="500049"/>
            <a:ext cx="121259" cy="121259"/>
          </a:xfrm>
          <a:prstGeom prst="rect">
            <a:avLst/>
          </a:prstGeom>
          <a:noFill/>
          <a:ln>
            <a:noFill/>
          </a:ln>
        </p:spPr>
      </p:pic>
      <p:sp>
        <p:nvSpPr>
          <p:cNvPr id="107" name="Google Shape;107;p5"/>
          <p:cNvSpPr txBox="1"/>
          <p:nvPr/>
        </p:nvSpPr>
        <p:spPr>
          <a:xfrm>
            <a:off x="209626" y="490199"/>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pic>
        <p:nvPicPr>
          <p:cNvPr id="108" name="Google Shape;108;p5"/>
          <p:cNvPicPr preferRelativeResize="0"/>
          <p:nvPr/>
        </p:nvPicPr>
        <p:blipFill rotWithShape="1">
          <a:blip r:embed="rId5">
            <a:alphaModFix/>
          </a:blip>
          <a:srcRect/>
          <a:stretch/>
        </p:blipFill>
        <p:spPr>
          <a:xfrm>
            <a:off x="182676" y="1079537"/>
            <a:ext cx="121259" cy="121259"/>
          </a:xfrm>
          <a:prstGeom prst="rect">
            <a:avLst/>
          </a:prstGeom>
          <a:noFill/>
          <a:ln>
            <a:noFill/>
          </a:ln>
        </p:spPr>
      </p:pic>
      <p:sp>
        <p:nvSpPr>
          <p:cNvPr id="109" name="Google Shape;109;p5"/>
          <p:cNvSpPr txBox="1"/>
          <p:nvPr/>
        </p:nvSpPr>
        <p:spPr>
          <a:xfrm>
            <a:off x="209626" y="1069688"/>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pic>
        <p:nvPicPr>
          <p:cNvPr id="110" name="Google Shape;110;p5"/>
          <p:cNvPicPr preferRelativeResize="0"/>
          <p:nvPr/>
        </p:nvPicPr>
        <p:blipFill rotWithShape="1">
          <a:blip r:embed="rId6">
            <a:alphaModFix/>
          </a:blip>
          <a:srcRect/>
          <a:stretch/>
        </p:blipFill>
        <p:spPr>
          <a:xfrm>
            <a:off x="182676" y="1659026"/>
            <a:ext cx="121259" cy="121259"/>
          </a:xfrm>
          <a:prstGeom prst="rect">
            <a:avLst/>
          </a:prstGeom>
          <a:noFill/>
          <a:ln>
            <a:noFill/>
          </a:ln>
        </p:spPr>
      </p:pic>
      <p:sp>
        <p:nvSpPr>
          <p:cNvPr id="111" name="Google Shape;111;p5"/>
          <p:cNvSpPr txBox="1"/>
          <p:nvPr/>
        </p:nvSpPr>
        <p:spPr>
          <a:xfrm>
            <a:off x="209626" y="1649176"/>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112" name="Google Shape;112;p5"/>
          <p:cNvSpPr txBox="1"/>
          <p:nvPr/>
        </p:nvSpPr>
        <p:spPr>
          <a:xfrm>
            <a:off x="330884" y="414950"/>
            <a:ext cx="4393516" cy="2581023"/>
          </a:xfrm>
          <a:prstGeom prst="rect">
            <a:avLst/>
          </a:prstGeom>
          <a:blipFill rotWithShape="1">
            <a:blip r:embed="rId7">
              <a:alphaModFix/>
            </a:blip>
            <a:stretch>
              <a:fillRect l="-1525" b="-5697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grpSp>
        <p:nvGrpSpPr>
          <p:cNvPr id="113" name="Google Shape;113;p5"/>
          <p:cNvGrpSpPr/>
          <p:nvPr/>
        </p:nvGrpSpPr>
        <p:grpSpPr>
          <a:xfrm>
            <a:off x="0" y="3109250"/>
            <a:ext cx="5760261" cy="92075"/>
            <a:chOff x="0" y="3109250"/>
            <a:chExt cx="5760261" cy="92075"/>
          </a:xfrm>
        </p:grpSpPr>
        <p:sp>
          <p:nvSpPr>
            <p:cNvPr id="114" name="Google Shape;114;p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7" name="Google Shape;117;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18" name="Google Shape;118;p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5</a:t>
            </a:r>
            <a:endParaRPr/>
          </a:p>
        </p:txBody>
      </p:sp>
      <p:grpSp>
        <p:nvGrpSpPr>
          <p:cNvPr id="119" name="Google Shape;119;p5"/>
          <p:cNvGrpSpPr/>
          <p:nvPr/>
        </p:nvGrpSpPr>
        <p:grpSpPr>
          <a:xfrm>
            <a:off x="182676" y="2243985"/>
            <a:ext cx="148209" cy="163936"/>
            <a:chOff x="134127" y="2262704"/>
            <a:chExt cx="266997" cy="178837"/>
          </a:xfrm>
        </p:grpSpPr>
        <p:pic>
          <p:nvPicPr>
            <p:cNvPr id="120" name="Google Shape;120;p5"/>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121" name="Google Shape;121;p5"/>
            <p:cNvSpPr txBox="1"/>
            <p:nvPr/>
          </p:nvSpPr>
          <p:spPr>
            <a:xfrm>
              <a:off x="209626" y="2275554"/>
              <a:ext cx="148208" cy="10450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grpSp>
        <p:nvGrpSpPr>
          <p:cNvPr id="122" name="Google Shape;122;p5"/>
          <p:cNvGrpSpPr/>
          <p:nvPr/>
        </p:nvGrpSpPr>
        <p:grpSpPr>
          <a:xfrm>
            <a:off x="519404" y="3558972"/>
            <a:ext cx="266997" cy="178837"/>
            <a:chOff x="286527" y="2415104"/>
            <a:chExt cx="266997" cy="178837"/>
          </a:xfrm>
        </p:grpSpPr>
        <p:pic>
          <p:nvPicPr>
            <p:cNvPr id="123" name="Google Shape;123;p5"/>
            <p:cNvPicPr preferRelativeResize="0"/>
            <p:nvPr/>
          </p:nvPicPr>
          <p:blipFill rotWithShape="1">
            <a:blip r:embed="rId6">
              <a:alphaModFix/>
            </a:blip>
            <a:srcRect/>
            <a:stretch/>
          </p:blipFill>
          <p:spPr>
            <a:xfrm>
              <a:off x="286527" y="2415104"/>
              <a:ext cx="266997" cy="178837"/>
            </a:xfrm>
            <a:prstGeom prst="rect">
              <a:avLst/>
            </a:prstGeom>
            <a:noFill/>
            <a:ln>
              <a:noFill/>
            </a:ln>
          </p:spPr>
        </p:pic>
        <p:sp>
          <p:nvSpPr>
            <p:cNvPr id="124" name="Google Shape;124;p5"/>
            <p:cNvSpPr txBox="1"/>
            <p:nvPr/>
          </p:nvSpPr>
          <p:spPr>
            <a:xfrm>
              <a:off x="362026" y="2427954"/>
              <a:ext cx="148208" cy="10450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5</a:t>
              </a:r>
              <a:endParaRPr sz="600" b="0" i="0" u="none" strike="noStrike" cap="none">
                <a:solidFill>
                  <a:srgbClr val="000000"/>
                </a:solidFill>
                <a:latin typeface="Calibri"/>
                <a:ea typeface="Calibri"/>
                <a:cs typeface="Calibri"/>
                <a:sym typeface="Calibri"/>
              </a:endParaRPr>
            </a:p>
          </p:txBody>
        </p:sp>
      </p:grpSp>
      <p:grpSp>
        <p:nvGrpSpPr>
          <p:cNvPr id="125" name="Google Shape;125;p5"/>
          <p:cNvGrpSpPr/>
          <p:nvPr/>
        </p:nvGrpSpPr>
        <p:grpSpPr>
          <a:xfrm>
            <a:off x="1032004" y="3531040"/>
            <a:ext cx="266997" cy="178837"/>
            <a:chOff x="438927" y="2567504"/>
            <a:chExt cx="266997" cy="178837"/>
          </a:xfrm>
        </p:grpSpPr>
        <p:pic>
          <p:nvPicPr>
            <p:cNvPr id="126" name="Google Shape;126;p5"/>
            <p:cNvPicPr preferRelativeResize="0"/>
            <p:nvPr/>
          </p:nvPicPr>
          <p:blipFill rotWithShape="1">
            <a:blip r:embed="rId6">
              <a:alphaModFix/>
            </a:blip>
            <a:srcRect/>
            <a:stretch/>
          </p:blipFill>
          <p:spPr>
            <a:xfrm>
              <a:off x="438927" y="2567504"/>
              <a:ext cx="266997" cy="178837"/>
            </a:xfrm>
            <a:prstGeom prst="rect">
              <a:avLst/>
            </a:prstGeom>
            <a:noFill/>
            <a:ln>
              <a:noFill/>
            </a:ln>
          </p:spPr>
        </p:pic>
        <p:sp>
          <p:nvSpPr>
            <p:cNvPr id="127" name="Google Shape;127;p5"/>
            <p:cNvSpPr txBox="1"/>
            <p:nvPr/>
          </p:nvSpPr>
          <p:spPr>
            <a:xfrm>
              <a:off x="514426" y="2580354"/>
              <a:ext cx="148208" cy="10450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6</a:t>
              </a:r>
              <a:endParaRPr sz="600" b="0" i="0" u="none" strike="noStrike" cap="none">
                <a:solidFill>
                  <a:srgbClr val="000000"/>
                </a:solidFill>
                <a:latin typeface="Calibri"/>
                <a:ea typeface="Calibri"/>
                <a:cs typeface="Calibri"/>
                <a:sym typeface="Calibri"/>
              </a:endParaRPr>
            </a:p>
          </p:txBody>
        </p:sp>
      </p:grpSp>
      <p:grpSp>
        <p:nvGrpSpPr>
          <p:cNvPr id="128" name="Google Shape;128;p5"/>
          <p:cNvGrpSpPr/>
          <p:nvPr/>
        </p:nvGrpSpPr>
        <p:grpSpPr>
          <a:xfrm>
            <a:off x="1544604" y="3571203"/>
            <a:ext cx="266997" cy="178837"/>
            <a:chOff x="1452387" y="2885403"/>
            <a:chExt cx="266997" cy="178837"/>
          </a:xfrm>
        </p:grpSpPr>
        <p:pic>
          <p:nvPicPr>
            <p:cNvPr id="129" name="Google Shape;129;p5"/>
            <p:cNvPicPr preferRelativeResize="0"/>
            <p:nvPr/>
          </p:nvPicPr>
          <p:blipFill rotWithShape="1">
            <a:blip r:embed="rId6">
              <a:alphaModFix/>
            </a:blip>
            <a:srcRect/>
            <a:stretch/>
          </p:blipFill>
          <p:spPr>
            <a:xfrm>
              <a:off x="1452387" y="2885403"/>
              <a:ext cx="266997" cy="178837"/>
            </a:xfrm>
            <a:prstGeom prst="rect">
              <a:avLst/>
            </a:prstGeom>
            <a:noFill/>
            <a:ln>
              <a:noFill/>
            </a:ln>
          </p:spPr>
        </p:pic>
        <p:sp>
          <p:nvSpPr>
            <p:cNvPr id="130" name="Google Shape;130;p5"/>
            <p:cNvSpPr txBox="1"/>
            <p:nvPr/>
          </p:nvSpPr>
          <p:spPr>
            <a:xfrm>
              <a:off x="1527886" y="2898253"/>
              <a:ext cx="148208" cy="10450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7</a:t>
              </a:r>
              <a:endParaRPr sz="600" b="0" i="0" u="none" strike="noStrike" cap="none">
                <a:solidFill>
                  <a:srgbClr val="000000"/>
                </a:solidFill>
                <a:latin typeface="Calibri"/>
                <a:ea typeface="Calibri"/>
                <a:cs typeface="Calibri"/>
                <a:sym typeface="Calibri"/>
              </a:endParaRPr>
            </a:p>
          </p:txBody>
        </p:sp>
      </p:grpSp>
      <p:sp>
        <p:nvSpPr>
          <p:cNvPr id="131" name="Google Shape;131;p5"/>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132" name="Google Shape;132;p5"/>
          <p:cNvSpPr txBox="1"/>
          <p:nvPr/>
        </p:nvSpPr>
        <p:spPr>
          <a:xfrm>
            <a:off x="1958398" y="1214854"/>
            <a:ext cx="384900" cy="3096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50" b="1">
                <a:solidFill>
                  <a:srgbClr val="1B1472"/>
                </a:solidFill>
              </a:rPr>
              <a:t>(F) }</a:t>
            </a:r>
            <a:endParaRPr sz="850" b="1">
              <a:solidFill>
                <a:srgbClr val="1B1472"/>
              </a:solidFill>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8"/>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a:t>
            </a:r>
            <a:endParaRPr/>
          </a:p>
        </p:txBody>
      </p:sp>
      <p:pic>
        <p:nvPicPr>
          <p:cNvPr id="178" name="Google Shape;178;p8"/>
          <p:cNvPicPr preferRelativeResize="0"/>
          <p:nvPr/>
        </p:nvPicPr>
        <p:blipFill rotWithShape="1">
          <a:blip r:embed="rId3">
            <a:alphaModFix/>
          </a:blip>
          <a:srcRect/>
          <a:stretch/>
        </p:blipFill>
        <p:spPr>
          <a:xfrm>
            <a:off x="219002" y="583532"/>
            <a:ext cx="121259" cy="121259"/>
          </a:xfrm>
          <a:prstGeom prst="rect">
            <a:avLst/>
          </a:prstGeom>
          <a:noFill/>
          <a:ln>
            <a:noFill/>
          </a:ln>
        </p:spPr>
      </p:pic>
      <p:sp>
        <p:nvSpPr>
          <p:cNvPr id="179" name="Google Shape;179;p8"/>
          <p:cNvSpPr txBox="1"/>
          <p:nvPr/>
        </p:nvSpPr>
        <p:spPr>
          <a:xfrm>
            <a:off x="245952" y="573682"/>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sp>
        <p:nvSpPr>
          <p:cNvPr id="180" name="Google Shape;180;p8"/>
          <p:cNvSpPr txBox="1"/>
          <p:nvPr/>
        </p:nvSpPr>
        <p:spPr>
          <a:xfrm>
            <a:off x="406632" y="537309"/>
            <a:ext cx="1062355"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Given</a:t>
            </a:r>
            <a:endParaRPr sz="1050" b="0" i="0" u="none" strike="noStrike" cap="none">
              <a:solidFill>
                <a:srgbClr val="000000"/>
              </a:solidFill>
              <a:latin typeface="Arial"/>
              <a:ea typeface="Arial"/>
              <a:cs typeface="Arial"/>
              <a:sym typeface="Arial"/>
            </a:endParaRPr>
          </a:p>
        </p:txBody>
      </p:sp>
      <p:sp>
        <p:nvSpPr>
          <p:cNvPr id="181" name="Google Shape;181;p8"/>
          <p:cNvSpPr txBox="1"/>
          <p:nvPr/>
        </p:nvSpPr>
        <p:spPr>
          <a:xfrm>
            <a:off x="536451" y="732781"/>
            <a:ext cx="2496185" cy="15773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P(s` | s, a) , R(s, a, s`) , P(s`, r | s, a) </a:t>
            </a:r>
            <a:endParaRPr sz="950" b="0" i="0" u="none" strike="noStrike" cap="none">
              <a:solidFill>
                <a:srgbClr val="000000"/>
              </a:solidFill>
              <a:latin typeface="Arial"/>
              <a:ea typeface="Arial"/>
              <a:cs typeface="Arial"/>
              <a:sym typeface="Arial"/>
            </a:endParaRPr>
          </a:p>
        </p:txBody>
      </p:sp>
      <p:grpSp>
        <p:nvGrpSpPr>
          <p:cNvPr id="182" name="Google Shape;182;p8"/>
          <p:cNvGrpSpPr/>
          <p:nvPr/>
        </p:nvGrpSpPr>
        <p:grpSpPr>
          <a:xfrm>
            <a:off x="219002" y="990948"/>
            <a:ext cx="121259" cy="528662"/>
            <a:chOff x="456996" y="1391780"/>
            <a:chExt cx="121259" cy="528662"/>
          </a:xfrm>
        </p:grpSpPr>
        <p:pic>
          <p:nvPicPr>
            <p:cNvPr id="183" name="Google Shape;183;p8"/>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184" name="Google Shape;184;p8"/>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185" name="Google Shape;185;p8"/>
          <p:cNvSpPr txBox="1"/>
          <p:nvPr/>
        </p:nvSpPr>
        <p:spPr>
          <a:xfrm>
            <a:off x="245952" y="981098"/>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sp>
        <p:nvSpPr>
          <p:cNvPr id="186" name="Google Shape;186;p8"/>
          <p:cNvSpPr txBox="1"/>
          <p:nvPr/>
        </p:nvSpPr>
        <p:spPr>
          <a:xfrm>
            <a:off x="406632" y="944712"/>
            <a:ext cx="1306195"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To find</a:t>
            </a:r>
            <a:endParaRPr sz="1050" b="0" i="0" u="none" strike="noStrike" cap="none">
              <a:solidFill>
                <a:srgbClr val="000000"/>
              </a:solidFill>
              <a:latin typeface="Arial"/>
              <a:ea typeface="Arial"/>
              <a:cs typeface="Arial"/>
              <a:sym typeface="Arial"/>
            </a:endParaRPr>
          </a:p>
        </p:txBody>
      </p:sp>
      <p:sp>
        <p:nvSpPr>
          <p:cNvPr id="187" name="Google Shape;187;p8"/>
          <p:cNvSpPr txBox="1"/>
          <p:nvPr/>
        </p:nvSpPr>
        <p:spPr>
          <a:xfrm>
            <a:off x="536451" y="1140197"/>
            <a:ext cx="2681605" cy="15773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π </a:t>
            </a:r>
            <a:endParaRPr sz="950" b="0" i="0" u="none" strike="noStrike" cap="none">
              <a:solidFill>
                <a:srgbClr val="000000"/>
              </a:solidFill>
              <a:latin typeface="Arial"/>
              <a:ea typeface="Arial"/>
              <a:cs typeface="Arial"/>
              <a:sym typeface="Arial"/>
            </a:endParaRPr>
          </a:p>
        </p:txBody>
      </p:sp>
      <p:sp>
        <p:nvSpPr>
          <p:cNvPr id="188" name="Google Shape;188;p8"/>
          <p:cNvSpPr txBox="1"/>
          <p:nvPr/>
        </p:nvSpPr>
        <p:spPr>
          <a:xfrm>
            <a:off x="245952" y="1388501"/>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189" name="Google Shape;189;p8"/>
          <p:cNvSpPr txBox="1"/>
          <p:nvPr/>
        </p:nvSpPr>
        <p:spPr>
          <a:xfrm>
            <a:off x="406632" y="1352128"/>
            <a:ext cx="1301750"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Solution</a:t>
            </a:r>
            <a:endParaRPr sz="1050" b="0" i="0" u="none" strike="noStrike" cap="none">
              <a:solidFill>
                <a:srgbClr val="000000"/>
              </a:solidFill>
              <a:latin typeface="Arial"/>
              <a:ea typeface="Arial"/>
              <a:cs typeface="Arial"/>
              <a:sym typeface="Arial"/>
            </a:endParaRPr>
          </a:p>
        </p:txBody>
      </p:sp>
      <p:sp>
        <p:nvSpPr>
          <p:cNvPr id="190" name="Google Shape;190;p8"/>
          <p:cNvSpPr txBox="1"/>
          <p:nvPr/>
        </p:nvSpPr>
        <p:spPr>
          <a:xfrm>
            <a:off x="83900" y="1547613"/>
            <a:ext cx="5358659" cy="1468346"/>
          </a:xfrm>
          <a:prstGeom prst="rect">
            <a:avLst/>
          </a:prstGeom>
          <a:noFill/>
          <a:ln>
            <a:noFill/>
          </a:ln>
        </p:spPr>
        <p:txBody>
          <a:bodyPr spcFirstLastPara="1" wrap="square" lIns="0" tIns="11425" rIns="0" bIns="0" anchor="t" anchorCtr="0">
            <a:spAutoFit/>
          </a:bodyPr>
          <a:lstStyle/>
          <a:p>
            <a:pPr marL="490219"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Iteration (PI): Prefer this in a relatively smaller state space where intermediate termination provides explicit interpretable policy</a:t>
            </a:r>
            <a:endParaRPr/>
          </a:p>
          <a:p>
            <a:pPr marL="490219"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Value Iteration (VI): Prefer this in a relatively larger state space where fast convergence to optimal policy is obtained at the end</a:t>
            </a:r>
            <a:endParaRPr/>
          </a:p>
          <a:p>
            <a:pPr marL="490219"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490219"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r>
              <a:rPr lang="en-US" sz="1050" b="0" i="0" u="none" strike="noStrike" cap="none">
                <a:solidFill>
                  <a:srgbClr val="000000"/>
                </a:solidFill>
                <a:latin typeface="Arial"/>
                <a:ea typeface="Arial"/>
                <a:cs typeface="Arial"/>
                <a:sym typeface="Arial"/>
              </a:rPr>
              <a:t>VI can be thought of truncated PI where evaluation is done fully before improvement.</a:t>
            </a:r>
            <a:endParaRPr sz="1050" b="0" i="0" u="none" strike="noStrike" cap="none">
              <a:solidFill>
                <a:srgbClr val="000000"/>
              </a:solidFill>
              <a:latin typeface="Arial"/>
              <a:ea typeface="Arial"/>
              <a:cs typeface="Arial"/>
              <a:sym typeface="Arial"/>
            </a:endParaRPr>
          </a:p>
        </p:txBody>
      </p:sp>
      <p:grpSp>
        <p:nvGrpSpPr>
          <p:cNvPr id="191" name="Google Shape;191;p8"/>
          <p:cNvGrpSpPr/>
          <p:nvPr/>
        </p:nvGrpSpPr>
        <p:grpSpPr>
          <a:xfrm>
            <a:off x="0" y="3109250"/>
            <a:ext cx="5760261" cy="92075"/>
            <a:chOff x="0" y="3109250"/>
            <a:chExt cx="5760261" cy="92075"/>
          </a:xfrm>
        </p:grpSpPr>
        <p:sp>
          <p:nvSpPr>
            <p:cNvPr id="192" name="Google Shape;192;p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5" name="Google Shape;195;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96" name="Google Shape;196;p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8</a:t>
            </a:r>
            <a:endParaRPr/>
          </a:p>
        </p:txBody>
      </p:sp>
      <p:grpSp>
        <p:nvGrpSpPr>
          <p:cNvPr id="197" name="Google Shape;197;p8"/>
          <p:cNvGrpSpPr/>
          <p:nvPr/>
        </p:nvGrpSpPr>
        <p:grpSpPr>
          <a:xfrm>
            <a:off x="201907" y="2191323"/>
            <a:ext cx="148209" cy="163936"/>
            <a:chOff x="134127" y="2262704"/>
            <a:chExt cx="266997" cy="178837"/>
          </a:xfrm>
        </p:grpSpPr>
        <p:pic>
          <p:nvPicPr>
            <p:cNvPr id="198" name="Google Shape;198;p8"/>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199" name="Google Shape;199;p8"/>
            <p:cNvSpPr txBox="1"/>
            <p:nvPr/>
          </p:nvSpPr>
          <p:spPr>
            <a:xfrm>
              <a:off x="209626" y="2275554"/>
              <a:ext cx="148208" cy="10450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sp>
        <p:nvSpPr>
          <p:cNvPr id="200" name="Google Shape;200;p8"/>
          <p:cNvSpPr txBox="1"/>
          <p:nvPr/>
        </p:nvSpPr>
        <p:spPr>
          <a:xfrm>
            <a:off x="421246" y="2174040"/>
            <a:ext cx="1062355"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Idea</a:t>
            </a:r>
            <a:endParaRPr sz="1050" b="0" i="0" u="none" strike="noStrike" cap="none">
              <a:solidFill>
                <a:srgbClr val="000000"/>
              </a:solidFill>
              <a:latin typeface="Arial"/>
              <a:ea typeface="Arial"/>
              <a:cs typeface="Arial"/>
              <a:sym typeface="Arial"/>
            </a:endParaRPr>
          </a:p>
        </p:txBody>
      </p:sp>
      <p:sp>
        <p:nvSpPr>
          <p:cNvPr id="201" name="Google Shape;201;p8"/>
          <p:cNvSpPr txBox="1"/>
          <p:nvPr/>
        </p:nvSpPr>
        <p:spPr>
          <a:xfrm>
            <a:off x="551065" y="2369512"/>
            <a:ext cx="3112798" cy="450118"/>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PI : One Step Look ahead 🡪 Evaluate 🡪 Improve</a:t>
            </a:r>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VI : One Step Look ahead 🡪 Control </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202" name="Google Shape;202;p8"/>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9"/>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208" name="Google Shape;208;p9"/>
          <p:cNvSpPr txBox="1">
            <a:spLocks noGrp="1"/>
          </p:cNvSpPr>
          <p:nvPr>
            <p:ph type="body" idx="1"/>
          </p:nvPr>
        </p:nvSpPr>
        <p:spPr>
          <a:xfrm>
            <a:off x="891520" y="516129"/>
            <a:ext cx="3812540" cy="2215991"/>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Dynamic Programming Solution </a:t>
            </a:r>
            <a:endParaRPr/>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Value Iteration Algorithm</a:t>
            </a:r>
            <a:endParaRPr sz="1600" b="1">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0"/>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214" name="Google Shape;214;p10"/>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5" name="Google Shape;215;p10"/>
          <p:cNvGrpSpPr/>
          <p:nvPr/>
        </p:nvGrpSpPr>
        <p:grpSpPr>
          <a:xfrm>
            <a:off x="0" y="3109250"/>
            <a:ext cx="5760261" cy="92075"/>
            <a:chOff x="0" y="3109250"/>
            <a:chExt cx="5760261" cy="92075"/>
          </a:xfrm>
        </p:grpSpPr>
        <p:sp>
          <p:nvSpPr>
            <p:cNvPr id="216" name="Google Shape;216;p1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9" name="Google Shape;219;p1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20" name="Google Shape;220;p1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10</a:t>
            </a:r>
            <a:endParaRPr/>
          </a:p>
        </p:txBody>
      </p:sp>
      <p:pic>
        <p:nvPicPr>
          <p:cNvPr id="221" name="Google Shape;221;p10"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222" name="Google Shape;222;p10"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223" name="Google Shape;223;p10"/>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224" name="Google Shape;224;p10"/>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225" name="Google Shape;225;p10"/>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226" name="Google Shape;226;p10"/>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7" name="Google Shape;227;p10"/>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8" name="Google Shape;228;p10"/>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229" name="Google Shape;229;p10"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230" name="Google Shape;230;p10"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231" name="Google Shape;231;p10"/>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232" name="Google Shape;232;p10"/>
          <p:cNvSpPr/>
          <p:nvPr/>
        </p:nvSpPr>
        <p:spPr>
          <a:xfrm>
            <a:off x="4063751" y="251460"/>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33" name="Google Shape;233;p10"/>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234" name="Google Shape;234;p10"/>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235" name="Google Shape;235;p10"/>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0"/>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37" name="Google Shape;237;p10"/>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0"/>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39" name="Google Shape;239;p10"/>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40" name="Google Shape;240;p10"/>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241" name="Google Shape;241;p10"/>
          <p:cNvCxnSpPr>
            <a:stCxn id="235" idx="3"/>
            <a:endCxn id="237"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242" name="Google Shape;242;p10"/>
          <p:cNvCxnSpPr>
            <a:stCxn id="235" idx="3"/>
            <a:endCxn id="236"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243" name="Google Shape;243;p10"/>
          <p:cNvCxnSpPr>
            <a:stCxn id="237" idx="4"/>
            <a:endCxn id="238"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244" name="Google Shape;244;p10"/>
          <p:cNvCxnSpPr>
            <a:stCxn id="236" idx="4"/>
            <a:endCxn id="240"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245" name="Google Shape;245;p10"/>
          <p:cNvCxnSpPr>
            <a:stCxn id="236" idx="4"/>
            <a:endCxn id="239"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246" name="Google Shape;246;p10"/>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247" name="Google Shape;247;p10"/>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248" name="Google Shape;248;p10"/>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249" name="Google Shape;249;p10"/>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250" name="Google Shape;250;p10"/>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251" name="Google Shape;251;p10"/>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252" name="Google Shape;252;p10"/>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253" name="Google Shape;253;p10"/>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254" name="Google Shape;254;p10"/>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255" name="Google Shape;255;p10"/>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256" name="Google Shape;256;p10"/>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257" name="Google Shape;257;p10"/>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258" name="Google Shape;258;p10"/>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59" name="Google Shape;259;p10"/>
          <p:cNvSpPr txBox="1"/>
          <p:nvPr/>
        </p:nvSpPr>
        <p:spPr>
          <a:xfrm>
            <a:off x="1958398" y="1214854"/>
            <a:ext cx="384900" cy="3096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50" b="1">
                <a:solidFill>
                  <a:srgbClr val="1B1472"/>
                </a:solidFill>
              </a:rPr>
              <a:t>(F) }</a:t>
            </a:r>
            <a:endParaRPr sz="850" b="1">
              <a:solidFill>
                <a:srgbClr val="1B1472"/>
              </a:solidFill>
            </a:endParaRPr>
          </a:p>
        </p:txBody>
      </p:sp>
      <p:sp>
        <p:nvSpPr>
          <p:cNvPr id="260" name="Google Shape;260;p10"/>
          <p:cNvSpPr txBox="1"/>
          <p:nvPr/>
        </p:nvSpPr>
        <p:spPr>
          <a:xfrm>
            <a:off x="4521763" y="2786200"/>
            <a:ext cx="1205700" cy="2769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Synchronous Updates</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fade">
                                      <p:cBhvr>
                                        <p:cTn id="15" dur="500"/>
                                        <p:tgtEl>
                                          <p:spTgt spid="25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7"/>
                                        </p:tgtEl>
                                        <p:attrNameLst>
                                          <p:attrName>style.visibility</p:attrName>
                                        </p:attrNameLst>
                                      </p:cBhvr>
                                      <p:to>
                                        <p:strVal val="visible"/>
                                      </p:to>
                                    </p:set>
                                    <p:animEffect transition="in" filter="fade">
                                      <p:cBhvr>
                                        <p:cTn id="20" dur="500"/>
                                        <p:tgtEl>
                                          <p:spTgt spid="25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54"/>
                                        </p:tgtEl>
                                        <p:attrNameLst>
                                          <p:attrName>style.visibility</p:attrName>
                                        </p:attrNameLst>
                                      </p:cBhvr>
                                      <p:to>
                                        <p:strVal val="visible"/>
                                      </p:to>
                                    </p:set>
                                    <p:animEffect transition="in" filter="fade">
                                      <p:cBhvr>
                                        <p:cTn id="51" dur="500"/>
                                        <p:tgtEl>
                                          <p:spTgt spid="25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46"/>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47"/>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248"/>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49"/>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250"/>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25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52"/>
                                        </p:tgtEl>
                                        <p:attrNameLst>
                                          <p:attrName>style.visibility</p:attrName>
                                        </p:attrNameLst>
                                      </p:cBhvr>
                                      <p:to>
                                        <p:strVal val="visible"/>
                                      </p:to>
                                    </p:set>
                                    <p:animEffect transition="in" filter="fade">
                                      <p:cBhvr>
                                        <p:cTn id="70" dur="500"/>
                                        <p:tgtEl>
                                          <p:spTgt spid="25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53"/>
                                        </p:tgtEl>
                                        <p:attrNameLst>
                                          <p:attrName>style.visibility</p:attrName>
                                        </p:attrNameLst>
                                      </p:cBhvr>
                                      <p:to>
                                        <p:strVal val="visible"/>
                                      </p:to>
                                    </p:set>
                                    <p:animEffect transition="in" filter="fade">
                                      <p:cBhvr>
                                        <p:cTn id="75" dur="5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1"/>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266" name="Google Shape;266;p11"/>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67" name="Google Shape;267;p11"/>
          <p:cNvGrpSpPr/>
          <p:nvPr/>
        </p:nvGrpSpPr>
        <p:grpSpPr>
          <a:xfrm>
            <a:off x="0" y="3109250"/>
            <a:ext cx="5760261" cy="92075"/>
            <a:chOff x="0" y="3109250"/>
            <a:chExt cx="5760261" cy="92075"/>
          </a:xfrm>
        </p:grpSpPr>
        <p:sp>
          <p:nvSpPr>
            <p:cNvPr id="268" name="Google Shape;268;p1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1" name="Google Shape;271;p1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72" name="Google Shape;272;p1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11</a:t>
            </a:r>
            <a:endParaRPr/>
          </a:p>
        </p:txBody>
      </p:sp>
      <p:pic>
        <p:nvPicPr>
          <p:cNvPr id="273" name="Google Shape;273;p11"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274" name="Google Shape;274;p11"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275" name="Google Shape;275;p11"/>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276" name="Google Shape;276;p11"/>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277" name="Google Shape;277;p11"/>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278" name="Google Shape;278;p11"/>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9" name="Google Shape;279;p11"/>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80" name="Google Shape;280;p11"/>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281" name="Google Shape;281;p11"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282" name="Google Shape;282;p11"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283" name="Google Shape;283;p11"/>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284" name="Google Shape;284;p11"/>
          <p:cNvSpPr/>
          <p:nvPr/>
        </p:nvSpPr>
        <p:spPr>
          <a:xfrm>
            <a:off x="4063751" y="541131"/>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85" name="Google Shape;285;p11"/>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286" name="Google Shape;286;p11"/>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287" name="Google Shape;287;p11"/>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11"/>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89" name="Google Shape;289;p11"/>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11"/>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1" name="Google Shape;291;p11"/>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92" name="Google Shape;292;p11"/>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293" name="Google Shape;293;p11"/>
          <p:cNvCxnSpPr>
            <a:stCxn id="287" idx="3"/>
            <a:endCxn id="289"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294" name="Google Shape;294;p11"/>
          <p:cNvCxnSpPr>
            <a:stCxn id="287" idx="3"/>
            <a:endCxn id="288"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295" name="Google Shape;295;p11"/>
          <p:cNvCxnSpPr>
            <a:stCxn id="289" idx="4"/>
            <a:endCxn id="290"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296" name="Google Shape;296;p11"/>
          <p:cNvCxnSpPr>
            <a:stCxn id="288" idx="4"/>
            <a:endCxn id="292"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297" name="Google Shape;297;p11"/>
          <p:cNvCxnSpPr>
            <a:stCxn id="288" idx="4"/>
            <a:endCxn id="291"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298" name="Google Shape;298;p11"/>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299" name="Google Shape;299;p11"/>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300" name="Google Shape;300;p11"/>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301" name="Google Shape;301;p11"/>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302" name="Google Shape;302;p11"/>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303" name="Google Shape;303;p11"/>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304" name="Google Shape;304;p11"/>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305" name="Google Shape;305;p11"/>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306" name="Google Shape;306;p11"/>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307" name="Google Shape;307;p11"/>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308" name="Google Shape;308;p11"/>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309" name="Google Shape;309;p11"/>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310" name="Google Shape;310;p11"/>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311" name="Google Shape;311;p11"/>
          <p:cNvSpPr txBox="1"/>
          <p:nvPr/>
        </p:nvSpPr>
        <p:spPr>
          <a:xfrm>
            <a:off x="4521763" y="2786200"/>
            <a:ext cx="1205700" cy="2769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Synchronous Updates</a:t>
            </a:r>
            <a:endParaRPr sz="750" b="1">
              <a:solidFill>
                <a:srgbClr val="1B1472"/>
              </a:solidFill>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2"/>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317" name="Google Shape;317;p12"/>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8" name="Google Shape;318;p12"/>
          <p:cNvGrpSpPr/>
          <p:nvPr/>
        </p:nvGrpSpPr>
        <p:grpSpPr>
          <a:xfrm>
            <a:off x="0" y="3109250"/>
            <a:ext cx="5760261" cy="92075"/>
            <a:chOff x="0" y="3109250"/>
            <a:chExt cx="5760261" cy="92075"/>
          </a:xfrm>
        </p:grpSpPr>
        <p:sp>
          <p:nvSpPr>
            <p:cNvPr id="319" name="Google Shape;319;p1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1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1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2" name="Google Shape;322;p1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23" name="Google Shape;323;p1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12</a:t>
            </a:r>
            <a:endParaRPr/>
          </a:p>
        </p:txBody>
      </p:sp>
      <p:pic>
        <p:nvPicPr>
          <p:cNvPr id="324" name="Google Shape;324;p12"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325" name="Google Shape;325;p12"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326" name="Google Shape;326;p12"/>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327" name="Google Shape;327;p12"/>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328" name="Google Shape;328;p12"/>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329" name="Google Shape;329;p12"/>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0" name="Google Shape;330;p12"/>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1" name="Google Shape;331;p12"/>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332" name="Google Shape;332;p12"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333" name="Google Shape;333;p12"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334" name="Google Shape;334;p12"/>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335" name="Google Shape;335;p12"/>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2             1             0……….</a:t>
            </a:r>
            <a:endParaRPr sz="300" b="0" i="0" u="none" strike="noStrike" cap="none">
              <a:solidFill>
                <a:srgbClr val="000000"/>
              </a:solidFill>
              <a:latin typeface="Arial"/>
              <a:ea typeface="Arial"/>
              <a:cs typeface="Arial"/>
              <a:sym typeface="Arial"/>
            </a:endParaRPr>
          </a:p>
        </p:txBody>
      </p:sp>
      <p:sp>
        <p:nvSpPr>
          <p:cNvPr id="336" name="Google Shape;336;p12"/>
          <p:cNvSpPr/>
          <p:nvPr/>
        </p:nvSpPr>
        <p:spPr>
          <a:xfrm>
            <a:off x="4063751" y="823617"/>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37" name="Google Shape;337;p12"/>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338" name="Google Shape;338;p12"/>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339" name="Google Shape;339;p12"/>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12"/>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1" name="Google Shape;341;p12"/>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12"/>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3" name="Google Shape;343;p12"/>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44" name="Google Shape;344;p12"/>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345" name="Google Shape;345;p12"/>
          <p:cNvCxnSpPr>
            <a:stCxn id="339" idx="3"/>
            <a:endCxn id="341"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346" name="Google Shape;346;p12"/>
          <p:cNvCxnSpPr>
            <a:stCxn id="339" idx="3"/>
            <a:endCxn id="340"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347" name="Google Shape;347;p12"/>
          <p:cNvCxnSpPr>
            <a:stCxn id="341" idx="4"/>
            <a:endCxn id="342"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348" name="Google Shape;348;p12"/>
          <p:cNvCxnSpPr>
            <a:stCxn id="340" idx="4"/>
            <a:endCxn id="344"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349" name="Google Shape;349;p12"/>
          <p:cNvCxnSpPr>
            <a:stCxn id="340" idx="4"/>
            <a:endCxn id="343"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350" name="Google Shape;350;p12"/>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351" name="Google Shape;351;p12"/>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352" name="Google Shape;352;p12"/>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353" name="Google Shape;353;p12"/>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354" name="Google Shape;354;p12"/>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355" name="Google Shape;355;p12"/>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356" name="Google Shape;356;p12"/>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357" name="Google Shape;357;p12"/>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358" name="Google Shape;358;p12"/>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359" name="Google Shape;359;p12"/>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360" name="Google Shape;360;p12"/>
          <p:cNvSpPr txBox="1"/>
          <p:nvPr/>
        </p:nvSpPr>
        <p:spPr>
          <a:xfrm>
            <a:off x="3453" y="1844831"/>
            <a:ext cx="1415579" cy="360483"/>
          </a:xfrm>
          <a:prstGeom prst="rect">
            <a:avLst/>
          </a:prstGeom>
          <a:blipFill rotWithShape="1">
            <a:blip r:embed="rId18">
              <a:alphaModFix/>
            </a:blip>
            <a:stretch>
              <a:fillRect l="-1722" t="-235566" r="-28447"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361" name="Google Shape;361;p12"/>
          <p:cNvSpPr txBox="1"/>
          <p:nvPr/>
        </p:nvSpPr>
        <p:spPr>
          <a:xfrm>
            <a:off x="0" y="2747059"/>
            <a:ext cx="5074594" cy="360483"/>
          </a:xfrm>
          <a:prstGeom prst="rect">
            <a:avLst/>
          </a:prstGeom>
          <a:blipFill rotWithShape="1">
            <a:blip r:embed="rId19">
              <a:alphaModFix/>
            </a:blip>
            <a:stretch>
              <a:fillRect l="-480" t="-23556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362" name="Google Shape;362;p12"/>
          <p:cNvSpPr txBox="1"/>
          <p:nvPr/>
        </p:nvSpPr>
        <p:spPr>
          <a:xfrm>
            <a:off x="-3002" y="2288001"/>
            <a:ext cx="3285451" cy="360483"/>
          </a:xfrm>
          <a:prstGeom prst="rect">
            <a:avLst/>
          </a:prstGeom>
          <a:blipFill rotWithShape="1">
            <a:blip r:embed="rId20">
              <a:alphaModFix/>
            </a:blip>
            <a:stretch>
              <a:fillRect l="-371" t="-233875"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363" name="Google Shape;363;p12"/>
          <p:cNvSpPr txBox="1"/>
          <p:nvPr/>
        </p:nvSpPr>
        <p:spPr>
          <a:xfrm>
            <a:off x="38040" y="1640085"/>
            <a:ext cx="2196226" cy="22698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700" b="0" i="0" u="none" strike="noStrike" cap="none">
                <a:solidFill>
                  <a:srgbClr val="0070C0"/>
                </a:solidFill>
                <a:latin typeface="Arial"/>
                <a:ea typeface="Arial"/>
                <a:cs typeface="Arial"/>
                <a:sym typeface="Arial"/>
              </a:rPr>
              <a:t>Below is done only for state : “Cool”. Repeat this for all the states “Warm”, “Overheated” per iteration</a:t>
            </a:r>
            <a:endParaRPr sz="700" b="0" i="0" u="none" strike="noStrike" cap="none">
              <a:solidFill>
                <a:srgbClr val="0070C0"/>
              </a:solidFill>
              <a:latin typeface="Arial"/>
              <a:ea typeface="Arial"/>
              <a:cs typeface="Arial"/>
              <a:sym typeface="Arial"/>
            </a:endParaRPr>
          </a:p>
        </p:txBody>
      </p:sp>
      <p:sp>
        <p:nvSpPr>
          <p:cNvPr id="364" name="Google Shape;364;p12"/>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365" name="Google Shape;365;p12"/>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366" name="Google Shape;366;p12"/>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367" name="Google Shape;367;p12"/>
          <p:cNvSpPr txBox="1"/>
          <p:nvPr/>
        </p:nvSpPr>
        <p:spPr>
          <a:xfrm>
            <a:off x="4521763" y="2648475"/>
            <a:ext cx="1205700" cy="2769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Synchronous Updates</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13"/>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373" name="Google Shape;373;p13"/>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74" name="Google Shape;374;p13"/>
          <p:cNvGrpSpPr/>
          <p:nvPr/>
        </p:nvGrpSpPr>
        <p:grpSpPr>
          <a:xfrm>
            <a:off x="0" y="3109250"/>
            <a:ext cx="5760261" cy="92075"/>
            <a:chOff x="0" y="3109250"/>
            <a:chExt cx="5760261" cy="92075"/>
          </a:xfrm>
        </p:grpSpPr>
        <p:sp>
          <p:nvSpPr>
            <p:cNvPr id="375" name="Google Shape;375;p1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1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1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8" name="Google Shape;378;p1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79" name="Google Shape;379;p1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13</a:t>
            </a:r>
            <a:endParaRPr/>
          </a:p>
        </p:txBody>
      </p:sp>
      <p:pic>
        <p:nvPicPr>
          <p:cNvPr id="380" name="Google Shape;380;p13"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381" name="Google Shape;381;p13"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382" name="Google Shape;382;p13"/>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383" name="Google Shape;383;p13"/>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384" name="Google Shape;384;p13"/>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385" name="Google Shape;385;p13"/>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86" name="Google Shape;386;p13"/>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87" name="Google Shape;387;p13"/>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388" name="Google Shape;388;p13"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389" name="Google Shape;389;p13"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390" name="Google Shape;390;p13"/>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391" name="Google Shape;391;p13"/>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2             1             0……….</a:t>
            </a:r>
            <a:endParaRPr sz="300" b="0" i="0" u="none" strike="noStrike" cap="none">
              <a:solidFill>
                <a:srgbClr val="000000"/>
              </a:solidFill>
              <a:latin typeface="Arial"/>
              <a:ea typeface="Arial"/>
              <a:cs typeface="Arial"/>
              <a:sym typeface="Arial"/>
            </a:endParaRPr>
          </a:p>
        </p:txBody>
      </p:sp>
      <p:sp>
        <p:nvSpPr>
          <p:cNvPr id="392" name="Google Shape;392;p13"/>
          <p:cNvSpPr txBox="1"/>
          <p:nvPr/>
        </p:nvSpPr>
        <p:spPr>
          <a:xfrm>
            <a:off x="500340" y="139615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3.35</a:t>
            </a:r>
            <a:r>
              <a:rPr lang="en-US" sz="800" b="0" i="0" u="none" strike="noStrike" cap="none">
                <a:solidFill>
                  <a:schemeClr val="dk1"/>
                </a:solidFill>
                <a:latin typeface="Calibri"/>
                <a:ea typeface="Calibri"/>
                <a:cs typeface="Calibri"/>
                <a:sym typeface="Calibri"/>
              </a:rPr>
              <a:t>        2.35        0 ………</a:t>
            </a:r>
            <a:endParaRPr sz="300" b="0" i="0" u="none" strike="noStrike" cap="none">
              <a:solidFill>
                <a:srgbClr val="000000"/>
              </a:solidFill>
              <a:latin typeface="Arial"/>
              <a:ea typeface="Arial"/>
              <a:cs typeface="Arial"/>
              <a:sym typeface="Arial"/>
            </a:endParaRPr>
          </a:p>
        </p:txBody>
      </p:sp>
      <p:sp>
        <p:nvSpPr>
          <p:cNvPr id="393" name="Google Shape;393;p13"/>
          <p:cNvSpPr/>
          <p:nvPr/>
        </p:nvSpPr>
        <p:spPr>
          <a:xfrm>
            <a:off x="4063751" y="472891"/>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94" name="Google Shape;394;p13"/>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395" name="Google Shape;395;p13"/>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396" name="Google Shape;396;p13"/>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13"/>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398" name="Google Shape;398;p13"/>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13"/>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0" name="Google Shape;400;p13"/>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01" name="Google Shape;401;p13"/>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02" name="Google Shape;402;p13"/>
          <p:cNvCxnSpPr>
            <a:stCxn id="396" idx="3"/>
            <a:endCxn id="398"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403" name="Google Shape;403;p13"/>
          <p:cNvCxnSpPr>
            <a:stCxn id="396" idx="3"/>
            <a:endCxn id="397"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404" name="Google Shape;404;p13"/>
          <p:cNvCxnSpPr>
            <a:stCxn id="398" idx="4"/>
            <a:endCxn id="399"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405" name="Google Shape;405;p13"/>
          <p:cNvCxnSpPr>
            <a:stCxn id="397" idx="4"/>
            <a:endCxn id="401"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406" name="Google Shape;406;p13"/>
          <p:cNvCxnSpPr>
            <a:stCxn id="397" idx="4"/>
            <a:endCxn id="400"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407" name="Google Shape;407;p13"/>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408" name="Google Shape;408;p13"/>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409" name="Google Shape;409;p13"/>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410" name="Google Shape;410;p13"/>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411" name="Google Shape;411;p13"/>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412" name="Google Shape;412;p13"/>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413" name="Google Shape;413;p13"/>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414" name="Google Shape;414;p13"/>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415" name="Google Shape;415;p13"/>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416" name="Google Shape;416;p13"/>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417" name="Google Shape;417;p13"/>
          <p:cNvSpPr txBox="1"/>
          <p:nvPr/>
        </p:nvSpPr>
        <p:spPr>
          <a:xfrm>
            <a:off x="3453" y="1844831"/>
            <a:ext cx="1579984" cy="360483"/>
          </a:xfrm>
          <a:prstGeom prst="rect">
            <a:avLst/>
          </a:prstGeom>
          <a:blipFill rotWithShape="1">
            <a:blip r:embed="rId18">
              <a:alphaModFix/>
            </a:blip>
            <a:stretch>
              <a:fillRect l="-1543" t="-235566" r="-1505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418" name="Google Shape;418;p13"/>
          <p:cNvSpPr txBox="1"/>
          <p:nvPr/>
        </p:nvSpPr>
        <p:spPr>
          <a:xfrm>
            <a:off x="0" y="2747059"/>
            <a:ext cx="5074594" cy="360483"/>
          </a:xfrm>
          <a:prstGeom prst="rect">
            <a:avLst/>
          </a:prstGeom>
          <a:blipFill rotWithShape="1">
            <a:blip r:embed="rId19">
              <a:alphaModFix/>
            </a:blip>
            <a:stretch>
              <a:fillRect l="-480" t="-23556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419" name="Google Shape;419;p13"/>
          <p:cNvSpPr txBox="1"/>
          <p:nvPr/>
        </p:nvSpPr>
        <p:spPr>
          <a:xfrm>
            <a:off x="-3002" y="2288001"/>
            <a:ext cx="3285451" cy="360483"/>
          </a:xfrm>
          <a:prstGeom prst="rect">
            <a:avLst/>
          </a:prstGeom>
          <a:blipFill rotWithShape="1">
            <a:blip r:embed="rId20">
              <a:alphaModFix/>
            </a:blip>
            <a:stretch>
              <a:fillRect l="-371" t="-233875"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420" name="Google Shape;420;p13"/>
          <p:cNvSpPr txBox="1"/>
          <p:nvPr/>
        </p:nvSpPr>
        <p:spPr>
          <a:xfrm>
            <a:off x="38040" y="1640085"/>
            <a:ext cx="2196226" cy="22698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700" b="0" i="0" u="none" strike="noStrike" cap="none">
                <a:solidFill>
                  <a:srgbClr val="0070C0"/>
                </a:solidFill>
                <a:latin typeface="Arial"/>
                <a:ea typeface="Arial"/>
                <a:cs typeface="Arial"/>
                <a:sym typeface="Arial"/>
              </a:rPr>
              <a:t>Below is done only for state : “Cool”. Repeat this for all the states “Warm”, “Overheated” per iteration</a:t>
            </a:r>
            <a:endParaRPr sz="700" b="0" i="0" u="none" strike="noStrike" cap="none">
              <a:solidFill>
                <a:srgbClr val="0070C0"/>
              </a:solidFill>
              <a:latin typeface="Arial"/>
              <a:ea typeface="Arial"/>
              <a:cs typeface="Arial"/>
              <a:sym typeface="Arial"/>
            </a:endParaRPr>
          </a:p>
        </p:txBody>
      </p:sp>
      <p:sp>
        <p:nvSpPr>
          <p:cNvPr id="421" name="Google Shape;421;p13"/>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422" name="Google Shape;422;p13"/>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423" name="Google Shape;423;p13"/>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424" name="Google Shape;424;p13"/>
          <p:cNvSpPr txBox="1"/>
          <p:nvPr/>
        </p:nvSpPr>
        <p:spPr>
          <a:xfrm>
            <a:off x="4521763" y="2648475"/>
            <a:ext cx="1205700" cy="2769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Synchronous Updates</a:t>
            </a:r>
            <a:endParaRPr sz="750" b="1">
              <a:solidFill>
                <a:srgbClr val="1B1472"/>
              </a:solidFill>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14"/>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430" name="Google Shape;430;p14"/>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31" name="Google Shape;431;p14"/>
          <p:cNvGrpSpPr/>
          <p:nvPr/>
        </p:nvGrpSpPr>
        <p:grpSpPr>
          <a:xfrm>
            <a:off x="0" y="3109250"/>
            <a:ext cx="5760261" cy="92075"/>
            <a:chOff x="0" y="3109250"/>
            <a:chExt cx="5760261" cy="92075"/>
          </a:xfrm>
        </p:grpSpPr>
        <p:sp>
          <p:nvSpPr>
            <p:cNvPr id="432" name="Google Shape;432;p1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1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1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5" name="Google Shape;435;p1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436" name="Google Shape;436;p1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14</a:t>
            </a:r>
            <a:endParaRPr/>
          </a:p>
        </p:txBody>
      </p:sp>
      <p:pic>
        <p:nvPicPr>
          <p:cNvPr id="437" name="Google Shape;437;p14"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438" name="Google Shape;438;p14"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439" name="Google Shape;439;p14"/>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440" name="Google Shape;440;p14"/>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441" name="Google Shape;441;p14"/>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442" name="Google Shape;442;p14"/>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443" name="Google Shape;443;p14"/>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444" name="Google Shape;444;p14"/>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445" name="Google Shape;445;p14"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446" name="Google Shape;446;p14"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447" name="Google Shape;447;p14"/>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448" name="Google Shape;448;p14"/>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2             1             0……….</a:t>
            </a:r>
            <a:endParaRPr sz="300" b="0" i="0" u="none" strike="noStrike" cap="none">
              <a:solidFill>
                <a:srgbClr val="000000"/>
              </a:solidFill>
              <a:latin typeface="Arial"/>
              <a:ea typeface="Arial"/>
              <a:cs typeface="Arial"/>
              <a:sym typeface="Arial"/>
            </a:endParaRPr>
          </a:p>
        </p:txBody>
      </p:sp>
      <p:sp>
        <p:nvSpPr>
          <p:cNvPr id="449" name="Google Shape;449;p14"/>
          <p:cNvSpPr txBox="1"/>
          <p:nvPr/>
        </p:nvSpPr>
        <p:spPr>
          <a:xfrm>
            <a:off x="500340" y="1396155"/>
            <a:ext cx="124139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3.35</a:t>
            </a:r>
            <a:r>
              <a:rPr lang="en-US" sz="800" b="0" i="0" u="none" strike="noStrike" cap="none">
                <a:solidFill>
                  <a:schemeClr val="dk1"/>
                </a:solidFill>
                <a:latin typeface="Calibri"/>
                <a:ea typeface="Calibri"/>
                <a:cs typeface="Calibri"/>
                <a:sym typeface="Calibri"/>
              </a:rPr>
              <a:t>        2.35        0 ………</a:t>
            </a:r>
            <a:endParaRPr/>
          </a:p>
          <a:p>
            <a:pPr marL="0" marR="0" lvl="0" indent="0" algn="l" rtl="0">
              <a:lnSpc>
                <a:spcPct val="100000"/>
              </a:lnSpc>
              <a:spcBef>
                <a:spcPts val="0"/>
              </a:spcBef>
              <a:spcAft>
                <a:spcPts val="0"/>
              </a:spcAft>
              <a:buClr>
                <a:srgbClr val="000000"/>
              </a:buClr>
              <a:buSzPts val="2800"/>
              <a:buFont typeface="Arial"/>
              <a:buNone/>
            </a:pPr>
            <a:endParaRPr sz="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a:t>
            </a:r>
            <a:endParaRPr sz="300" b="0" i="0" u="none" strike="noStrike" cap="none">
              <a:solidFill>
                <a:srgbClr val="000000"/>
              </a:solidFill>
              <a:latin typeface="Arial"/>
              <a:ea typeface="Arial"/>
              <a:cs typeface="Arial"/>
              <a:sym typeface="Arial"/>
            </a:endParaRPr>
          </a:p>
        </p:txBody>
      </p:sp>
      <p:sp>
        <p:nvSpPr>
          <p:cNvPr id="450" name="Google Shape;450;p14"/>
          <p:cNvSpPr/>
          <p:nvPr/>
        </p:nvSpPr>
        <p:spPr>
          <a:xfrm>
            <a:off x="4043506" y="1045850"/>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51" name="Google Shape;451;p14"/>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452" name="Google Shape;452;p14"/>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453" name="Google Shape;453;p14"/>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14"/>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5" name="Google Shape;455;p14"/>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14"/>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7" name="Google Shape;457;p14"/>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58" name="Google Shape;458;p14"/>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459" name="Google Shape;459;p14"/>
          <p:cNvCxnSpPr>
            <a:stCxn id="453" idx="3"/>
            <a:endCxn id="455"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460" name="Google Shape;460;p14"/>
          <p:cNvCxnSpPr>
            <a:stCxn id="453" idx="3"/>
            <a:endCxn id="454"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461" name="Google Shape;461;p14"/>
          <p:cNvCxnSpPr>
            <a:stCxn id="455" idx="4"/>
            <a:endCxn id="456"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462" name="Google Shape;462;p14"/>
          <p:cNvCxnSpPr>
            <a:stCxn id="454" idx="4"/>
            <a:endCxn id="458"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463" name="Google Shape;463;p14"/>
          <p:cNvCxnSpPr>
            <a:stCxn id="454" idx="4"/>
            <a:endCxn id="457"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464" name="Google Shape;464;p14"/>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465" name="Google Shape;465;p14"/>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466" name="Google Shape;466;p14"/>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467" name="Google Shape;467;p14"/>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468" name="Google Shape;468;p14"/>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469" name="Google Shape;469;p14"/>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470" name="Google Shape;470;p14"/>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471" name="Google Shape;471;p14"/>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472" name="Google Shape;472;p14"/>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473" name="Google Shape;473;p14"/>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474" name="Google Shape;474;p14"/>
          <p:cNvSpPr/>
          <p:nvPr/>
        </p:nvSpPr>
        <p:spPr>
          <a:xfrm>
            <a:off x="323093" y="1859293"/>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475" name="Google Shape;475;p14"/>
          <p:cNvSpPr txBox="1"/>
          <p:nvPr/>
        </p:nvSpPr>
        <p:spPr>
          <a:xfrm>
            <a:off x="403302" y="1833491"/>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15.41</a:t>
            </a:r>
            <a:r>
              <a:rPr lang="en-US" sz="800" b="0" i="0" u="none" strike="noStrike" cap="none">
                <a:solidFill>
                  <a:schemeClr val="dk1"/>
                </a:solidFill>
                <a:latin typeface="Calibri"/>
                <a:ea typeface="Calibri"/>
                <a:cs typeface="Calibri"/>
                <a:sym typeface="Calibri"/>
              </a:rPr>
              <a:t>        ~14.41        0</a:t>
            </a:r>
            <a:endParaRPr sz="300" b="0" i="0" u="none" strike="noStrike" cap="none">
              <a:solidFill>
                <a:srgbClr val="000000"/>
              </a:solidFill>
              <a:latin typeface="Arial"/>
              <a:ea typeface="Arial"/>
              <a:cs typeface="Arial"/>
              <a:sym typeface="Arial"/>
            </a:endParaRPr>
          </a:p>
        </p:txBody>
      </p:sp>
      <p:sp>
        <p:nvSpPr>
          <p:cNvPr id="476" name="Google Shape;476;p14"/>
          <p:cNvSpPr txBox="1"/>
          <p:nvPr/>
        </p:nvSpPr>
        <p:spPr>
          <a:xfrm>
            <a:off x="225763" y="2155052"/>
            <a:ext cx="3135600" cy="8889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 = ~0.009 less than threshold ɵ = 0.01</a:t>
            </a:r>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Algorithm converges slowly. Without ɵ converges ~208</a:t>
            </a:r>
            <a:r>
              <a:rPr lang="en-US" sz="950" b="0" i="0" u="none" strike="noStrike" cap="none" baseline="30000">
                <a:solidFill>
                  <a:srgbClr val="000000"/>
                </a:solidFill>
                <a:latin typeface="Arial"/>
                <a:ea typeface="Arial"/>
                <a:cs typeface="Arial"/>
                <a:sym typeface="Arial"/>
              </a:rPr>
              <a:t>th</a:t>
            </a:r>
            <a:r>
              <a:rPr lang="en-US" sz="950" b="0" i="0" u="none" strike="noStrike" cap="none">
                <a:solidFill>
                  <a:srgbClr val="000000"/>
                </a:solidFill>
                <a:latin typeface="Arial"/>
                <a:ea typeface="Arial"/>
                <a:cs typeface="Arial"/>
                <a:sym typeface="Arial"/>
              </a:rPr>
              <a:t> </a:t>
            </a:r>
            <a:endParaRPr/>
          </a:p>
          <a:p>
            <a:pPr marL="38100" marR="0" lvl="0" indent="-60325" algn="l" rtl="0">
              <a:lnSpc>
                <a:spcPct val="100000"/>
              </a:lnSpc>
              <a:spcBef>
                <a:spcPts val="0"/>
              </a:spcBef>
              <a:spcAft>
                <a:spcPts val="0"/>
              </a:spcAft>
              <a:buClr>
                <a:srgbClr val="000000"/>
              </a:buClr>
              <a:buSzPts val="950"/>
              <a:buChar char="•"/>
            </a:pPr>
            <a:r>
              <a:rPr lang="en-US" sz="950" b="1" i="0" u="none" strike="noStrike" cap="none">
                <a:solidFill>
                  <a:srgbClr val="000000"/>
                </a:solidFill>
              </a:rPr>
              <a:t>Can faster convergence possible ?  Yes via Asynchronous Value Updates. Idea is to use the recent values V(S`) even within the same iteration ! One iteration is shown in next slide</a:t>
            </a:r>
            <a:endParaRPr b="1"/>
          </a:p>
        </p:txBody>
      </p:sp>
      <p:sp>
        <p:nvSpPr>
          <p:cNvPr id="477" name="Google Shape;477;p14"/>
          <p:cNvSpPr txBox="1"/>
          <p:nvPr/>
        </p:nvSpPr>
        <p:spPr>
          <a:xfrm>
            <a:off x="89716" y="1849439"/>
            <a:ext cx="41774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V</a:t>
            </a:r>
            <a:r>
              <a:rPr lang="en-US" sz="800" b="0" i="0" u="none" strike="noStrike" cap="none" baseline="-25000">
                <a:solidFill>
                  <a:srgbClr val="000000"/>
                </a:solidFill>
                <a:latin typeface="Arial"/>
                <a:ea typeface="Arial"/>
                <a:cs typeface="Arial"/>
                <a:sym typeface="Arial"/>
              </a:rPr>
              <a:t>49</a:t>
            </a:r>
            <a:endParaRPr sz="800" b="0" i="0" u="none" strike="noStrike" cap="none" baseline="-25000">
              <a:solidFill>
                <a:srgbClr val="000000"/>
              </a:solidFill>
              <a:latin typeface="Arial"/>
              <a:ea typeface="Arial"/>
              <a:cs typeface="Arial"/>
              <a:sym typeface="Arial"/>
            </a:endParaRPr>
          </a:p>
        </p:txBody>
      </p:sp>
      <p:sp>
        <p:nvSpPr>
          <p:cNvPr id="478" name="Google Shape;478;p14"/>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479" name="Google Shape;479;p14"/>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480" name="Google Shape;480;p14"/>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481" name="Google Shape;481;p14"/>
          <p:cNvSpPr txBox="1"/>
          <p:nvPr/>
        </p:nvSpPr>
        <p:spPr>
          <a:xfrm>
            <a:off x="4483338" y="2832350"/>
            <a:ext cx="1205700" cy="2769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Synchronous Updates</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15"/>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487" name="Google Shape;487;p15"/>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8" name="Google Shape;488;p15"/>
          <p:cNvGrpSpPr/>
          <p:nvPr/>
        </p:nvGrpSpPr>
        <p:grpSpPr>
          <a:xfrm>
            <a:off x="0" y="3109250"/>
            <a:ext cx="5760261" cy="92075"/>
            <a:chOff x="0" y="3109250"/>
            <a:chExt cx="5760261" cy="92075"/>
          </a:xfrm>
        </p:grpSpPr>
        <p:sp>
          <p:nvSpPr>
            <p:cNvPr id="489" name="Google Shape;489;p1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1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1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2" name="Google Shape;492;p1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493" name="Google Shape;493;p1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15</a:t>
            </a:r>
            <a:endParaRPr/>
          </a:p>
        </p:txBody>
      </p:sp>
      <p:pic>
        <p:nvPicPr>
          <p:cNvPr id="494" name="Google Shape;494;p15"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495" name="Google Shape;495;p15"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496" name="Google Shape;496;p15"/>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497" name="Google Shape;497;p15"/>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498" name="Google Shape;498;p15"/>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499" name="Google Shape;499;p15"/>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500" name="Google Shape;500;p15"/>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501" name="Google Shape;501;p15"/>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502" name="Google Shape;502;p15"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503" name="Google Shape;503;p15"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504" name="Google Shape;504;p15"/>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505" name="Google Shape;505;p15"/>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 2</a:t>
            </a:r>
            <a:endParaRPr sz="300" b="1" i="0" u="none" strike="noStrike" cap="none">
              <a:solidFill>
                <a:srgbClr val="000000"/>
              </a:solidFill>
              <a:latin typeface="Arial"/>
              <a:ea typeface="Arial"/>
              <a:cs typeface="Arial"/>
              <a:sym typeface="Arial"/>
            </a:endParaRPr>
          </a:p>
        </p:txBody>
      </p:sp>
      <p:sp>
        <p:nvSpPr>
          <p:cNvPr id="506" name="Google Shape;506;p15"/>
          <p:cNvSpPr/>
          <p:nvPr/>
        </p:nvSpPr>
        <p:spPr>
          <a:xfrm>
            <a:off x="4063751" y="823617"/>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07" name="Google Shape;507;p15"/>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508" name="Google Shape;508;p15"/>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509" name="Google Shape;509;p15"/>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15"/>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11" name="Google Shape;511;p15"/>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15"/>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13" name="Google Shape;513;p15"/>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14" name="Google Shape;514;p15"/>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515" name="Google Shape;515;p15"/>
          <p:cNvCxnSpPr>
            <a:stCxn id="509" idx="3"/>
            <a:endCxn id="511"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516" name="Google Shape;516;p15"/>
          <p:cNvCxnSpPr>
            <a:stCxn id="509" idx="3"/>
            <a:endCxn id="510"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517" name="Google Shape;517;p15"/>
          <p:cNvCxnSpPr>
            <a:stCxn id="511" idx="4"/>
            <a:endCxn id="512"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518" name="Google Shape;518;p15"/>
          <p:cNvCxnSpPr>
            <a:stCxn id="510" idx="4"/>
            <a:endCxn id="514"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519" name="Google Shape;519;p15"/>
          <p:cNvCxnSpPr>
            <a:stCxn id="510" idx="4"/>
            <a:endCxn id="513"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520" name="Google Shape;520;p15"/>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521" name="Google Shape;521;p15"/>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522" name="Google Shape;522;p15"/>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523" name="Google Shape;523;p15"/>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524" name="Google Shape;524;p15"/>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525" name="Google Shape;525;p15"/>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526" name="Google Shape;526;p15"/>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527" name="Google Shape;527;p15"/>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528" name="Google Shape;528;p15"/>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529" name="Google Shape;529;p15"/>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530" name="Google Shape;530;p15"/>
          <p:cNvSpPr txBox="1"/>
          <p:nvPr/>
        </p:nvSpPr>
        <p:spPr>
          <a:xfrm>
            <a:off x="3453" y="1844831"/>
            <a:ext cx="1415579" cy="360483"/>
          </a:xfrm>
          <a:prstGeom prst="rect">
            <a:avLst/>
          </a:prstGeom>
          <a:blipFill rotWithShape="1">
            <a:blip r:embed="rId18">
              <a:alphaModFix/>
            </a:blip>
            <a:stretch>
              <a:fillRect l="-1722" t="-235566" r="-28447"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531" name="Google Shape;531;p15"/>
          <p:cNvSpPr txBox="1"/>
          <p:nvPr/>
        </p:nvSpPr>
        <p:spPr>
          <a:xfrm>
            <a:off x="0" y="2747059"/>
            <a:ext cx="5074594" cy="360483"/>
          </a:xfrm>
          <a:prstGeom prst="rect">
            <a:avLst/>
          </a:prstGeom>
          <a:blipFill rotWithShape="1">
            <a:blip r:embed="rId19">
              <a:alphaModFix/>
            </a:blip>
            <a:stretch>
              <a:fillRect l="-480" t="-23556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532" name="Google Shape;532;p15"/>
          <p:cNvSpPr txBox="1"/>
          <p:nvPr/>
        </p:nvSpPr>
        <p:spPr>
          <a:xfrm>
            <a:off x="-3002" y="2288001"/>
            <a:ext cx="3285451" cy="360483"/>
          </a:xfrm>
          <a:prstGeom prst="rect">
            <a:avLst/>
          </a:prstGeom>
          <a:blipFill rotWithShape="1">
            <a:blip r:embed="rId20">
              <a:alphaModFix/>
            </a:blip>
            <a:stretch>
              <a:fillRect l="-371" t="-233875"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533" name="Google Shape;533;p15"/>
          <p:cNvSpPr txBox="1"/>
          <p:nvPr/>
        </p:nvSpPr>
        <p:spPr>
          <a:xfrm>
            <a:off x="38040" y="1640085"/>
            <a:ext cx="2196226" cy="334702"/>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700" b="0" i="0" u="none" strike="noStrike" cap="none">
                <a:solidFill>
                  <a:srgbClr val="0070C0"/>
                </a:solidFill>
                <a:latin typeface="Arial"/>
                <a:ea typeface="Arial"/>
                <a:cs typeface="Arial"/>
                <a:sym typeface="Arial"/>
              </a:rPr>
              <a:t>Below is done only for state : “Cool”. In this same iteration while updating the V(Warm) use recent value of V(Cool) = 2 not 0 .</a:t>
            </a:r>
            <a:endParaRPr sz="700" b="0" i="0" u="none" strike="noStrike" cap="none">
              <a:solidFill>
                <a:srgbClr val="0070C0"/>
              </a:solidFill>
              <a:latin typeface="Arial"/>
              <a:ea typeface="Arial"/>
              <a:cs typeface="Arial"/>
              <a:sym typeface="Arial"/>
            </a:endParaRPr>
          </a:p>
        </p:txBody>
      </p:sp>
      <p:sp>
        <p:nvSpPr>
          <p:cNvPr id="534" name="Google Shape;534;p15"/>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535" name="Google Shape;535;p15"/>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536" name="Google Shape;536;p15"/>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537" name="Google Shape;537;p15"/>
          <p:cNvSpPr txBox="1"/>
          <p:nvPr/>
        </p:nvSpPr>
        <p:spPr>
          <a:xfrm>
            <a:off x="4433676" y="2694525"/>
            <a:ext cx="1293900" cy="2310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Asynchronous Updates</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500"/>
                                        <p:tgtEl>
                                          <p:spTgt spid="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16"/>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543" name="Google Shape;543;p16"/>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44" name="Google Shape;544;p16"/>
          <p:cNvGrpSpPr/>
          <p:nvPr/>
        </p:nvGrpSpPr>
        <p:grpSpPr>
          <a:xfrm>
            <a:off x="0" y="3109250"/>
            <a:ext cx="5760261" cy="92075"/>
            <a:chOff x="0" y="3109250"/>
            <a:chExt cx="5760261" cy="92075"/>
          </a:xfrm>
        </p:grpSpPr>
        <p:sp>
          <p:nvSpPr>
            <p:cNvPr id="545" name="Google Shape;545;p1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1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1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48" name="Google Shape;548;p1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549" name="Google Shape;549;p1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16</a:t>
            </a:r>
            <a:endParaRPr/>
          </a:p>
        </p:txBody>
      </p:sp>
      <p:pic>
        <p:nvPicPr>
          <p:cNvPr id="550" name="Google Shape;550;p16"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551" name="Google Shape;551;p16"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552" name="Google Shape;552;p16"/>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553" name="Google Shape;553;p16"/>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554" name="Google Shape;554;p16"/>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555" name="Google Shape;555;p16"/>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556" name="Google Shape;556;p16"/>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557" name="Google Shape;557;p16"/>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558" name="Google Shape;558;p16"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559" name="Google Shape;559;p16"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560" name="Google Shape;560;p16"/>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561" name="Google Shape;561;p16"/>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 2            </a:t>
            </a:r>
            <a:r>
              <a:rPr lang="en-US" sz="800" b="1" i="0" u="none" strike="noStrike" cap="none">
                <a:solidFill>
                  <a:srgbClr val="FF0000"/>
                </a:solidFill>
                <a:latin typeface="Calibri"/>
                <a:ea typeface="Calibri"/>
                <a:cs typeface="Calibri"/>
                <a:sym typeface="Calibri"/>
              </a:rPr>
              <a:t> 1.9  </a:t>
            </a:r>
            <a:r>
              <a:rPr lang="en-US" sz="800" b="1" i="0" u="none" strike="noStrike" cap="none">
                <a:solidFill>
                  <a:schemeClr val="dk1"/>
                </a:solidFill>
                <a:latin typeface="Calibri"/>
                <a:ea typeface="Calibri"/>
                <a:cs typeface="Calibri"/>
                <a:sym typeface="Calibri"/>
              </a:rPr>
              <a:t>        0</a:t>
            </a:r>
            <a:endParaRPr sz="300" b="1" i="0" u="none" strike="noStrike" cap="none">
              <a:solidFill>
                <a:srgbClr val="000000"/>
              </a:solidFill>
              <a:latin typeface="Arial"/>
              <a:ea typeface="Arial"/>
              <a:cs typeface="Arial"/>
              <a:sym typeface="Arial"/>
            </a:endParaRPr>
          </a:p>
        </p:txBody>
      </p:sp>
      <p:sp>
        <p:nvSpPr>
          <p:cNvPr id="562" name="Google Shape;562;p16"/>
          <p:cNvSpPr/>
          <p:nvPr/>
        </p:nvSpPr>
        <p:spPr>
          <a:xfrm>
            <a:off x="4063751" y="823617"/>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63" name="Google Shape;563;p16"/>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564" name="Google Shape;564;p16"/>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565" name="Google Shape;565;p16"/>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16"/>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67" name="Google Shape;567;p16"/>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16"/>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69" name="Google Shape;569;p16"/>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70" name="Google Shape;570;p16"/>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571" name="Google Shape;571;p16"/>
          <p:cNvCxnSpPr>
            <a:stCxn id="565" idx="3"/>
            <a:endCxn id="567"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572" name="Google Shape;572;p16"/>
          <p:cNvCxnSpPr>
            <a:stCxn id="565" idx="3"/>
            <a:endCxn id="566"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573" name="Google Shape;573;p16"/>
          <p:cNvCxnSpPr>
            <a:stCxn id="567" idx="4"/>
            <a:endCxn id="568"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574" name="Google Shape;574;p16"/>
          <p:cNvCxnSpPr>
            <a:stCxn id="566" idx="4"/>
            <a:endCxn id="570"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575" name="Google Shape;575;p16"/>
          <p:cNvCxnSpPr>
            <a:stCxn id="566" idx="4"/>
            <a:endCxn id="569"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576" name="Google Shape;576;p16"/>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577" name="Google Shape;577;p16"/>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578" name="Google Shape;578;p16"/>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579" name="Google Shape;579;p16"/>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580" name="Google Shape;580;p16"/>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581" name="Google Shape;581;p16"/>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582" name="Google Shape;582;p16"/>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583" name="Google Shape;583;p16"/>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584" name="Google Shape;584;p16"/>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585" name="Google Shape;585;p16"/>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586" name="Google Shape;586;p16"/>
          <p:cNvSpPr txBox="1"/>
          <p:nvPr/>
        </p:nvSpPr>
        <p:spPr>
          <a:xfrm>
            <a:off x="3453" y="1844831"/>
            <a:ext cx="1677382" cy="360483"/>
          </a:xfrm>
          <a:prstGeom prst="rect">
            <a:avLst/>
          </a:prstGeom>
          <a:blipFill rotWithShape="1">
            <a:blip r:embed="rId18">
              <a:alphaModFix/>
            </a:blip>
            <a:stretch>
              <a:fillRect l="-1453" t="-235566" r="-14180"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587" name="Google Shape;587;p16"/>
          <p:cNvSpPr txBox="1"/>
          <p:nvPr/>
        </p:nvSpPr>
        <p:spPr>
          <a:xfrm>
            <a:off x="0" y="2747059"/>
            <a:ext cx="5270802" cy="360483"/>
          </a:xfrm>
          <a:prstGeom prst="rect">
            <a:avLst/>
          </a:prstGeom>
          <a:blipFill rotWithShape="1">
            <a:blip r:embed="rId19">
              <a:alphaModFix/>
            </a:blip>
            <a:stretch>
              <a:fillRect l="-461" t="-23556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588" name="Google Shape;588;p16"/>
          <p:cNvSpPr txBox="1"/>
          <p:nvPr/>
        </p:nvSpPr>
        <p:spPr>
          <a:xfrm>
            <a:off x="-3002" y="2288001"/>
            <a:ext cx="3384453" cy="360483"/>
          </a:xfrm>
          <a:prstGeom prst="rect">
            <a:avLst/>
          </a:prstGeom>
          <a:blipFill rotWithShape="1">
            <a:blip r:embed="rId20">
              <a:alphaModFix/>
            </a:blip>
            <a:stretch>
              <a:fillRect l="-358" t="-233875"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589" name="Google Shape;589;p16"/>
          <p:cNvSpPr txBox="1"/>
          <p:nvPr/>
        </p:nvSpPr>
        <p:spPr>
          <a:xfrm>
            <a:off x="38040" y="1640085"/>
            <a:ext cx="2196226" cy="334702"/>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700" b="0" i="0" u="none" strike="noStrike" cap="none">
                <a:solidFill>
                  <a:srgbClr val="0070C0"/>
                </a:solidFill>
                <a:latin typeface="Arial"/>
                <a:ea typeface="Arial"/>
                <a:cs typeface="Arial"/>
                <a:sym typeface="Arial"/>
              </a:rPr>
              <a:t>Below is done only for state : “Cool”. In this same iteration while updating the V(Warm) use recent value of V(Cool) = 2 .</a:t>
            </a:r>
            <a:endParaRPr sz="700" b="0" i="0" u="none" strike="noStrike" cap="none">
              <a:solidFill>
                <a:srgbClr val="0070C0"/>
              </a:solidFill>
              <a:latin typeface="Arial"/>
              <a:ea typeface="Arial"/>
              <a:cs typeface="Arial"/>
              <a:sym typeface="Arial"/>
            </a:endParaRPr>
          </a:p>
        </p:txBody>
      </p:sp>
      <p:sp>
        <p:nvSpPr>
          <p:cNvPr id="590" name="Google Shape;590;p16"/>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591" name="Google Shape;591;p16"/>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592" name="Google Shape;592;p16"/>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593" name="Google Shape;593;p16"/>
          <p:cNvSpPr txBox="1"/>
          <p:nvPr/>
        </p:nvSpPr>
        <p:spPr>
          <a:xfrm>
            <a:off x="4433676" y="2701564"/>
            <a:ext cx="1293900" cy="2310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Asynchronous Updates</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7"/>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599" name="Google Shape;599;p17"/>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0" name="Google Shape;600;p17"/>
          <p:cNvGrpSpPr/>
          <p:nvPr/>
        </p:nvGrpSpPr>
        <p:grpSpPr>
          <a:xfrm>
            <a:off x="0" y="3109250"/>
            <a:ext cx="5760261" cy="92075"/>
            <a:chOff x="0" y="3109250"/>
            <a:chExt cx="5760261" cy="92075"/>
          </a:xfrm>
        </p:grpSpPr>
        <p:sp>
          <p:nvSpPr>
            <p:cNvPr id="601" name="Google Shape;601;p1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1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1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04" name="Google Shape;604;p1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605" name="Google Shape;605;p1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17</a:t>
            </a:r>
            <a:endParaRPr/>
          </a:p>
        </p:txBody>
      </p:sp>
      <p:pic>
        <p:nvPicPr>
          <p:cNvPr id="606" name="Google Shape;606;p17" descr="A screenshot of a cell phone&#10;&#10;Description automatically generated"/>
          <p:cNvPicPr preferRelativeResize="0">
            <a:picLocks noGrp="1"/>
          </p:cNvPicPr>
          <p:nvPr>
            <p:ph type="body" idx="1"/>
          </p:nvPr>
        </p:nvPicPr>
        <p:blipFill rotWithShape="1">
          <a:blip r:embed="rId3">
            <a:alphaModFix/>
          </a:blip>
          <a:srcRect l="1654" t="2135" r="39745" b="2438"/>
          <a:stretch/>
        </p:blipFill>
        <p:spPr>
          <a:xfrm>
            <a:off x="4251387" y="84493"/>
            <a:ext cx="1507917" cy="1350140"/>
          </a:xfrm>
          <a:prstGeom prst="rect">
            <a:avLst/>
          </a:prstGeom>
          <a:noFill/>
          <a:ln>
            <a:noFill/>
          </a:ln>
        </p:spPr>
      </p:pic>
      <p:pic>
        <p:nvPicPr>
          <p:cNvPr id="607" name="Google Shape;607;p17" descr="TP_tmp.png"/>
          <p:cNvPicPr preferRelativeResize="0"/>
          <p:nvPr/>
        </p:nvPicPr>
        <p:blipFill rotWithShape="1">
          <a:blip r:embed="rId4">
            <a:alphaModFix/>
          </a:blip>
          <a:srcRect/>
          <a:stretch/>
        </p:blipFill>
        <p:spPr>
          <a:xfrm>
            <a:off x="171102" y="831044"/>
            <a:ext cx="96498" cy="152599"/>
          </a:xfrm>
          <a:prstGeom prst="rect">
            <a:avLst/>
          </a:prstGeom>
          <a:noFill/>
          <a:ln>
            <a:noFill/>
          </a:ln>
        </p:spPr>
      </p:pic>
      <p:pic>
        <p:nvPicPr>
          <p:cNvPr id="608" name="Google Shape;608;p17"/>
          <p:cNvPicPr preferRelativeResize="0"/>
          <p:nvPr/>
        </p:nvPicPr>
        <p:blipFill rotWithShape="1">
          <a:blip r:embed="rId5">
            <a:alphaModFix/>
          </a:blip>
          <a:srcRect/>
          <a:stretch/>
        </p:blipFill>
        <p:spPr>
          <a:xfrm>
            <a:off x="530051" y="527637"/>
            <a:ext cx="253340" cy="263412"/>
          </a:xfrm>
          <a:prstGeom prst="rect">
            <a:avLst/>
          </a:prstGeom>
          <a:noFill/>
          <a:ln>
            <a:noFill/>
          </a:ln>
        </p:spPr>
      </p:pic>
      <p:pic>
        <p:nvPicPr>
          <p:cNvPr id="609" name="Google Shape;609;p17"/>
          <p:cNvPicPr preferRelativeResize="0"/>
          <p:nvPr/>
        </p:nvPicPr>
        <p:blipFill rotWithShape="1">
          <a:blip r:embed="rId6">
            <a:alphaModFix/>
          </a:blip>
          <a:srcRect/>
          <a:stretch/>
        </p:blipFill>
        <p:spPr>
          <a:xfrm>
            <a:off x="1186084" y="490008"/>
            <a:ext cx="268790" cy="301041"/>
          </a:xfrm>
          <a:prstGeom prst="rect">
            <a:avLst/>
          </a:prstGeom>
          <a:noFill/>
          <a:ln>
            <a:noFill/>
          </a:ln>
        </p:spPr>
      </p:pic>
      <p:pic>
        <p:nvPicPr>
          <p:cNvPr id="610" name="Google Shape;610;p17"/>
          <p:cNvPicPr preferRelativeResize="0"/>
          <p:nvPr/>
        </p:nvPicPr>
        <p:blipFill rotWithShape="1">
          <a:blip r:embed="rId7">
            <a:alphaModFix/>
          </a:blip>
          <a:srcRect/>
          <a:stretch/>
        </p:blipFill>
        <p:spPr>
          <a:xfrm>
            <a:off x="860539" y="509793"/>
            <a:ext cx="276927" cy="275955"/>
          </a:xfrm>
          <a:prstGeom prst="rect">
            <a:avLst/>
          </a:prstGeom>
          <a:noFill/>
          <a:ln>
            <a:noFill/>
          </a:ln>
        </p:spPr>
      </p:pic>
      <p:sp>
        <p:nvSpPr>
          <p:cNvPr id="611" name="Google Shape;611;p17"/>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612" name="Google Shape;612;p17"/>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613" name="Google Shape;613;p17"/>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614" name="Google Shape;614;p17" descr="TP_tmp.png"/>
          <p:cNvPicPr preferRelativeResize="0"/>
          <p:nvPr/>
        </p:nvPicPr>
        <p:blipFill rotWithShape="1">
          <a:blip r:embed="rId8">
            <a:alphaModFix/>
          </a:blip>
          <a:srcRect/>
          <a:stretch/>
        </p:blipFill>
        <p:spPr>
          <a:xfrm>
            <a:off x="162560" y="1124121"/>
            <a:ext cx="86884" cy="152968"/>
          </a:xfrm>
          <a:prstGeom prst="rect">
            <a:avLst/>
          </a:prstGeom>
          <a:noFill/>
          <a:ln>
            <a:noFill/>
          </a:ln>
        </p:spPr>
      </p:pic>
      <p:pic>
        <p:nvPicPr>
          <p:cNvPr id="615" name="Google Shape;615;p17" descr="TP_tmp.png"/>
          <p:cNvPicPr preferRelativeResize="0"/>
          <p:nvPr/>
        </p:nvPicPr>
        <p:blipFill rotWithShape="1">
          <a:blip r:embed="rId9">
            <a:alphaModFix/>
          </a:blip>
          <a:srcRect/>
          <a:stretch/>
        </p:blipFill>
        <p:spPr>
          <a:xfrm>
            <a:off x="166022" y="1427874"/>
            <a:ext cx="96731" cy="152968"/>
          </a:xfrm>
          <a:prstGeom prst="rect">
            <a:avLst/>
          </a:prstGeom>
          <a:noFill/>
          <a:ln>
            <a:noFill/>
          </a:ln>
        </p:spPr>
      </p:pic>
      <p:sp>
        <p:nvSpPr>
          <p:cNvPr id="616" name="Google Shape;616;p17"/>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617" name="Google Shape;617;p17"/>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2             1.9             0……….</a:t>
            </a:r>
            <a:endParaRPr sz="300" b="0" i="0" u="none" strike="noStrike" cap="none">
              <a:solidFill>
                <a:srgbClr val="000000"/>
              </a:solidFill>
              <a:latin typeface="Arial"/>
              <a:ea typeface="Arial"/>
              <a:cs typeface="Arial"/>
              <a:sym typeface="Arial"/>
            </a:endParaRPr>
          </a:p>
        </p:txBody>
      </p:sp>
      <p:sp>
        <p:nvSpPr>
          <p:cNvPr id="618" name="Google Shape;618;p17"/>
          <p:cNvSpPr txBox="1"/>
          <p:nvPr/>
        </p:nvSpPr>
        <p:spPr>
          <a:xfrm>
            <a:off x="500340" y="1396155"/>
            <a:ext cx="124139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3.</a:t>
            </a:r>
            <a:r>
              <a:rPr lang="en-US" sz="800">
                <a:solidFill>
                  <a:schemeClr val="dk1"/>
                </a:solidFill>
                <a:highlight>
                  <a:srgbClr val="FFFF00"/>
                </a:highlight>
                <a:latin typeface="Calibri"/>
                <a:ea typeface="Calibri"/>
                <a:cs typeface="Calibri"/>
                <a:sym typeface="Calibri"/>
              </a:rPr>
              <a:t>75</a:t>
            </a:r>
            <a:r>
              <a:rPr lang="en-US" sz="800" b="0" i="0" u="none" strike="noStrike" cap="none">
                <a:solidFill>
                  <a:schemeClr val="dk1"/>
                </a:solidFill>
                <a:latin typeface="Calibri"/>
                <a:ea typeface="Calibri"/>
                <a:cs typeface="Calibri"/>
                <a:sym typeface="Calibri"/>
              </a:rPr>
              <a:t>        </a:t>
            </a:r>
            <a:r>
              <a:rPr lang="en-US" sz="800">
                <a:solidFill>
                  <a:schemeClr val="dk1"/>
                </a:solidFill>
                <a:latin typeface="Calibri"/>
                <a:ea typeface="Calibri"/>
                <a:cs typeface="Calibri"/>
                <a:sym typeface="Calibri"/>
              </a:rPr>
              <a:t>3</a:t>
            </a:r>
            <a:r>
              <a:rPr lang="en-US" sz="800" b="0" i="0" u="none" strike="noStrike" cap="none">
                <a:solidFill>
                  <a:schemeClr val="dk1"/>
                </a:solidFill>
                <a:latin typeface="Calibri"/>
                <a:ea typeface="Calibri"/>
                <a:cs typeface="Calibri"/>
                <a:sym typeface="Calibri"/>
              </a:rPr>
              <a:t>.</a:t>
            </a:r>
            <a:r>
              <a:rPr lang="en-US" sz="800">
                <a:solidFill>
                  <a:schemeClr val="dk1"/>
                </a:solidFill>
                <a:latin typeface="Calibri"/>
                <a:ea typeface="Calibri"/>
                <a:cs typeface="Calibri"/>
                <a:sym typeface="Calibri"/>
              </a:rPr>
              <a:t>54</a:t>
            </a:r>
            <a:r>
              <a:rPr lang="en-US" sz="800" b="0" i="0" u="none" strike="noStrike" cap="none">
                <a:solidFill>
                  <a:schemeClr val="dk1"/>
                </a:solidFill>
                <a:latin typeface="Calibri"/>
                <a:ea typeface="Calibri"/>
                <a:cs typeface="Calibri"/>
                <a:sym typeface="Calibri"/>
              </a:rPr>
              <a:t>        0 ………</a:t>
            </a:r>
            <a:endParaRPr/>
          </a:p>
          <a:p>
            <a:pPr marL="0" marR="0" lvl="0" indent="0" algn="l" rtl="0">
              <a:lnSpc>
                <a:spcPct val="100000"/>
              </a:lnSpc>
              <a:spcBef>
                <a:spcPts val="0"/>
              </a:spcBef>
              <a:spcAft>
                <a:spcPts val="0"/>
              </a:spcAft>
              <a:buClr>
                <a:srgbClr val="000000"/>
              </a:buClr>
              <a:buSzPts val="2800"/>
              <a:buFont typeface="Arial"/>
              <a:buNone/>
            </a:pPr>
            <a:endParaRPr sz="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a:t>
            </a:r>
            <a:endParaRPr sz="300" b="0" i="0" u="none" strike="noStrike" cap="none">
              <a:solidFill>
                <a:srgbClr val="000000"/>
              </a:solidFill>
              <a:latin typeface="Arial"/>
              <a:ea typeface="Arial"/>
              <a:cs typeface="Arial"/>
              <a:sym typeface="Arial"/>
            </a:endParaRPr>
          </a:p>
        </p:txBody>
      </p:sp>
      <p:sp>
        <p:nvSpPr>
          <p:cNvPr id="619" name="Google Shape;619;p17"/>
          <p:cNvSpPr/>
          <p:nvPr/>
        </p:nvSpPr>
        <p:spPr>
          <a:xfrm>
            <a:off x="4043506" y="1045850"/>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620" name="Google Shape;620;p17"/>
          <p:cNvPicPr preferRelativeResize="0"/>
          <p:nvPr/>
        </p:nvPicPr>
        <p:blipFill rotWithShape="1">
          <a:blip r:embed="rId10">
            <a:alphaModFix/>
          </a:blip>
          <a:srcRect/>
          <a:stretch/>
        </p:blipFill>
        <p:spPr>
          <a:xfrm>
            <a:off x="3413403" y="1539705"/>
            <a:ext cx="2346858" cy="1422731"/>
          </a:xfrm>
          <a:prstGeom prst="rect">
            <a:avLst/>
          </a:prstGeom>
          <a:noFill/>
          <a:ln>
            <a:noFill/>
          </a:ln>
        </p:spPr>
      </p:pic>
      <p:pic>
        <p:nvPicPr>
          <p:cNvPr id="621" name="Google Shape;621;p17"/>
          <p:cNvPicPr preferRelativeResize="0"/>
          <p:nvPr/>
        </p:nvPicPr>
        <p:blipFill rotWithShape="1">
          <a:blip r:embed="rId11">
            <a:alphaModFix/>
          </a:blip>
          <a:srcRect/>
          <a:stretch/>
        </p:blipFill>
        <p:spPr>
          <a:xfrm>
            <a:off x="4687045" y="324024"/>
            <a:ext cx="318300" cy="124137"/>
          </a:xfrm>
          <a:prstGeom prst="rect">
            <a:avLst/>
          </a:prstGeom>
          <a:noFill/>
          <a:ln>
            <a:noFill/>
          </a:ln>
        </p:spPr>
      </p:pic>
      <p:sp>
        <p:nvSpPr>
          <p:cNvPr id="622" name="Google Shape;622;p17"/>
          <p:cNvSpPr/>
          <p:nvPr/>
        </p:nvSpPr>
        <p:spPr>
          <a:xfrm>
            <a:off x="2861351" y="398202"/>
            <a:ext cx="368572" cy="242326"/>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17"/>
          <p:cNvSpPr/>
          <p:nvPr/>
        </p:nvSpPr>
        <p:spPr>
          <a:xfrm>
            <a:off x="3259782" y="858040"/>
            <a:ext cx="295936" cy="207168"/>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24" name="Google Shape;624;p17"/>
          <p:cNvSpPr/>
          <p:nvPr/>
        </p:nvSpPr>
        <p:spPr>
          <a:xfrm>
            <a:off x="2386937" y="865657"/>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17"/>
          <p:cNvSpPr/>
          <p:nvPr/>
        </p:nvSpPr>
        <p:spPr>
          <a:xfrm>
            <a:off x="2234265" y="124363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26" name="Google Shape;626;p17"/>
          <p:cNvSpPr/>
          <p:nvPr/>
        </p:nvSpPr>
        <p:spPr>
          <a:xfrm>
            <a:off x="3038607" y="1243635"/>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27" name="Google Shape;627;p17"/>
          <p:cNvSpPr/>
          <p:nvPr/>
        </p:nvSpPr>
        <p:spPr>
          <a:xfrm>
            <a:off x="3610273" y="1247166"/>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628" name="Google Shape;628;p17"/>
          <p:cNvCxnSpPr>
            <a:stCxn id="622" idx="3"/>
            <a:endCxn id="624"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629" name="Google Shape;629;p17"/>
          <p:cNvCxnSpPr>
            <a:stCxn id="622" idx="3"/>
            <a:endCxn id="623"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630" name="Google Shape;630;p17"/>
          <p:cNvCxnSpPr>
            <a:stCxn id="624" idx="4"/>
            <a:endCxn id="625"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631" name="Google Shape;631;p17"/>
          <p:cNvCxnSpPr>
            <a:stCxn id="623" idx="4"/>
            <a:endCxn id="627"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632" name="Google Shape;632;p17"/>
          <p:cNvCxnSpPr>
            <a:stCxn id="623" idx="4"/>
            <a:endCxn id="626"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633" name="Google Shape;633;p17"/>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634" name="Google Shape;634;p17"/>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635" name="Google Shape;635;p17"/>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636" name="Google Shape;636;p17"/>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637" name="Google Shape;637;p17"/>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638" name="Google Shape;638;p17"/>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639" name="Google Shape;639;p17"/>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640" name="Google Shape;640;p17"/>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641" name="Google Shape;641;p17"/>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642" name="Google Shape;642;p17"/>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643" name="Google Shape;643;p17"/>
          <p:cNvSpPr/>
          <p:nvPr/>
        </p:nvSpPr>
        <p:spPr>
          <a:xfrm>
            <a:off x="323093" y="1859293"/>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644" name="Google Shape;644;p17"/>
          <p:cNvSpPr txBox="1"/>
          <p:nvPr/>
        </p:nvSpPr>
        <p:spPr>
          <a:xfrm>
            <a:off x="403302" y="1833491"/>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15.44</a:t>
            </a:r>
            <a:r>
              <a:rPr lang="en-US" sz="800" b="0" i="0" u="none" strike="noStrike" cap="none">
                <a:solidFill>
                  <a:schemeClr val="dk1"/>
                </a:solidFill>
                <a:latin typeface="Calibri"/>
                <a:ea typeface="Calibri"/>
                <a:cs typeface="Calibri"/>
                <a:sym typeface="Calibri"/>
              </a:rPr>
              <a:t>        ~14.44        0</a:t>
            </a:r>
            <a:endParaRPr sz="300" b="0" i="0" u="none" strike="noStrike" cap="none">
              <a:solidFill>
                <a:srgbClr val="000000"/>
              </a:solidFill>
              <a:latin typeface="Arial"/>
              <a:ea typeface="Arial"/>
              <a:cs typeface="Arial"/>
              <a:sym typeface="Arial"/>
            </a:endParaRPr>
          </a:p>
        </p:txBody>
      </p:sp>
      <p:sp>
        <p:nvSpPr>
          <p:cNvPr id="645" name="Google Shape;645;p17"/>
          <p:cNvSpPr txBox="1"/>
          <p:nvPr/>
        </p:nvSpPr>
        <p:spPr>
          <a:xfrm>
            <a:off x="225763" y="2155052"/>
            <a:ext cx="3135724" cy="596312"/>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 = ~0.008 less than threshold ɵ = 0.01</a:t>
            </a:r>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Algorithm converges fast. Without ɵ converges at ~157</a:t>
            </a:r>
            <a:r>
              <a:rPr lang="en-US" sz="950" b="0" i="0" u="none" strike="noStrike" cap="none" baseline="30000">
                <a:solidFill>
                  <a:srgbClr val="000000"/>
                </a:solidFill>
                <a:latin typeface="Arial"/>
                <a:ea typeface="Arial"/>
                <a:cs typeface="Arial"/>
                <a:sym typeface="Arial"/>
              </a:rPr>
              <a:t>th</a:t>
            </a:r>
            <a:r>
              <a:rPr lang="en-US" sz="950" b="0" i="0" u="none" strike="noStrike" cap="none">
                <a:solidFill>
                  <a:srgbClr val="000000"/>
                </a:solidFill>
                <a:latin typeface="Arial"/>
                <a:ea typeface="Arial"/>
                <a:cs typeface="Arial"/>
                <a:sym typeface="Arial"/>
              </a:rPr>
              <a:t> iteration!</a:t>
            </a:r>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646" name="Google Shape;646;p17"/>
          <p:cNvSpPr txBox="1"/>
          <p:nvPr/>
        </p:nvSpPr>
        <p:spPr>
          <a:xfrm>
            <a:off x="89716" y="1849439"/>
            <a:ext cx="41774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V</a:t>
            </a:r>
            <a:r>
              <a:rPr lang="en-US" sz="800" b="0" i="0" u="none" strike="noStrike" cap="none" baseline="-25000">
                <a:solidFill>
                  <a:srgbClr val="000000"/>
                </a:solidFill>
                <a:latin typeface="Arial"/>
                <a:ea typeface="Arial"/>
                <a:cs typeface="Arial"/>
                <a:sym typeface="Arial"/>
              </a:rPr>
              <a:t>40</a:t>
            </a:r>
            <a:endParaRPr sz="800" b="0" i="0" u="none" strike="noStrike" cap="none" baseline="-25000">
              <a:solidFill>
                <a:srgbClr val="000000"/>
              </a:solidFill>
              <a:latin typeface="Arial"/>
              <a:ea typeface="Arial"/>
              <a:cs typeface="Arial"/>
              <a:sym typeface="Arial"/>
            </a:endParaRPr>
          </a:p>
        </p:txBody>
      </p:sp>
      <p:sp>
        <p:nvSpPr>
          <p:cNvPr id="647" name="Google Shape;647;p17"/>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sp>
        <p:nvSpPr>
          <p:cNvPr id="648" name="Google Shape;648;p17"/>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649" name="Google Shape;649;p17"/>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650" name="Google Shape;650;p17"/>
          <p:cNvSpPr txBox="1"/>
          <p:nvPr/>
        </p:nvSpPr>
        <p:spPr>
          <a:xfrm>
            <a:off x="4433676" y="2694525"/>
            <a:ext cx="1293900" cy="2310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Asynchronous Updates</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18"/>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Value Iteration</a:t>
            </a:r>
            <a:endParaRPr/>
          </a:p>
        </p:txBody>
      </p:sp>
      <p:sp>
        <p:nvSpPr>
          <p:cNvPr id="656" name="Google Shape;656;p18"/>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57" name="Google Shape;657;p18"/>
          <p:cNvGrpSpPr/>
          <p:nvPr/>
        </p:nvGrpSpPr>
        <p:grpSpPr>
          <a:xfrm>
            <a:off x="0" y="3109250"/>
            <a:ext cx="5760261" cy="92075"/>
            <a:chOff x="0" y="3109250"/>
            <a:chExt cx="5760261" cy="92075"/>
          </a:xfrm>
        </p:grpSpPr>
        <p:sp>
          <p:nvSpPr>
            <p:cNvPr id="658" name="Google Shape;658;p1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1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0" name="Google Shape;660;p1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1" name="Google Shape;661;p1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662" name="Google Shape;662;p1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hlinkClick r:id="rId3"/>
              </a:rPr>
              <a:t>D</a:t>
            </a:r>
            <a:r>
              <a:rPr lang="en-US" sz="600" b="0" i="0" u="sng" strike="noStrike" cap="small">
                <a:solidFill>
                  <a:schemeClr val="hlink"/>
                </a:solidFill>
                <a:latin typeface="Calibri"/>
                <a:ea typeface="Calibri"/>
                <a:cs typeface="Calibri"/>
                <a:sym typeface="Calibri"/>
                <a:hlinkClick r:id="rId3"/>
              </a:rPr>
              <a:t>eep</a:t>
            </a:r>
            <a:r>
              <a:rPr lang="en-US" sz="600" b="0" i="0" u="sng" strike="noStrike" cap="none">
                <a:solidFill>
                  <a:schemeClr val="hlink"/>
                </a:solidFill>
                <a:latin typeface="Calibri"/>
                <a:ea typeface="Calibri"/>
                <a:cs typeface="Calibri"/>
                <a:sym typeface="Calibri"/>
                <a:hlinkClick r:id="rId3"/>
              </a:rPr>
              <a:t> L</a:t>
            </a:r>
            <a:r>
              <a:rPr lang="en-US" sz="600" b="0" i="0" u="sng" strike="noStrike" cap="small">
                <a:solidFill>
                  <a:schemeClr val="hlink"/>
                </a:solidFill>
                <a:latin typeface="Calibri"/>
                <a:ea typeface="Calibri"/>
                <a:cs typeface="Calibri"/>
                <a:sym typeface="Calibri"/>
                <a:hlinkClick r:id="rId3"/>
              </a:rPr>
              <a:t>earning</a:t>
            </a:r>
            <a:endParaRPr sz="600" b="0" i="0" u="none" strike="noStrike" cap="none">
              <a:solidFill>
                <a:srgbClr val="000000"/>
              </a:solidFill>
              <a:latin typeface="Calibri"/>
              <a:ea typeface="Calibri"/>
              <a:cs typeface="Calibri"/>
              <a:sym typeface="Calibri"/>
            </a:endParaRPr>
          </a:p>
        </p:txBody>
      </p:sp>
      <p:sp>
        <p:nvSpPr>
          <p:cNvPr id="663" name="Google Shape;663;p1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18</a:t>
            </a:r>
            <a:endParaRPr/>
          </a:p>
        </p:txBody>
      </p:sp>
      <p:pic>
        <p:nvPicPr>
          <p:cNvPr id="664" name="Google Shape;664;p18" descr="A screenshot of a cell phone&#10;&#10;Description automatically generated"/>
          <p:cNvPicPr preferRelativeResize="0">
            <a:picLocks noGrp="1"/>
          </p:cNvPicPr>
          <p:nvPr>
            <p:ph type="body" idx="1"/>
          </p:nvPr>
        </p:nvPicPr>
        <p:blipFill rotWithShape="1">
          <a:blip r:embed="rId4">
            <a:alphaModFix/>
          </a:blip>
          <a:srcRect l="1654" t="2135" r="39745" b="2438"/>
          <a:stretch/>
        </p:blipFill>
        <p:spPr>
          <a:xfrm>
            <a:off x="4251387" y="84493"/>
            <a:ext cx="1507917" cy="1350140"/>
          </a:xfrm>
          <a:prstGeom prst="rect">
            <a:avLst/>
          </a:prstGeom>
          <a:noFill/>
          <a:ln>
            <a:noFill/>
          </a:ln>
        </p:spPr>
      </p:pic>
      <p:pic>
        <p:nvPicPr>
          <p:cNvPr id="665" name="Google Shape;665;p18" descr="TP_tmp.png"/>
          <p:cNvPicPr preferRelativeResize="0"/>
          <p:nvPr/>
        </p:nvPicPr>
        <p:blipFill rotWithShape="1">
          <a:blip r:embed="rId5">
            <a:alphaModFix/>
          </a:blip>
          <a:srcRect/>
          <a:stretch/>
        </p:blipFill>
        <p:spPr>
          <a:xfrm>
            <a:off x="171102" y="831044"/>
            <a:ext cx="96498" cy="152599"/>
          </a:xfrm>
          <a:prstGeom prst="rect">
            <a:avLst/>
          </a:prstGeom>
          <a:noFill/>
          <a:ln>
            <a:noFill/>
          </a:ln>
        </p:spPr>
      </p:pic>
      <p:pic>
        <p:nvPicPr>
          <p:cNvPr id="666" name="Google Shape;666;p18"/>
          <p:cNvPicPr preferRelativeResize="0"/>
          <p:nvPr/>
        </p:nvPicPr>
        <p:blipFill rotWithShape="1">
          <a:blip r:embed="rId6">
            <a:alphaModFix/>
          </a:blip>
          <a:srcRect/>
          <a:stretch/>
        </p:blipFill>
        <p:spPr>
          <a:xfrm>
            <a:off x="530051" y="527637"/>
            <a:ext cx="253340" cy="263412"/>
          </a:xfrm>
          <a:prstGeom prst="rect">
            <a:avLst/>
          </a:prstGeom>
          <a:noFill/>
          <a:ln>
            <a:noFill/>
          </a:ln>
        </p:spPr>
      </p:pic>
      <p:pic>
        <p:nvPicPr>
          <p:cNvPr id="667" name="Google Shape;667;p18"/>
          <p:cNvPicPr preferRelativeResize="0"/>
          <p:nvPr/>
        </p:nvPicPr>
        <p:blipFill rotWithShape="1">
          <a:blip r:embed="rId7">
            <a:alphaModFix/>
          </a:blip>
          <a:srcRect/>
          <a:stretch/>
        </p:blipFill>
        <p:spPr>
          <a:xfrm>
            <a:off x="1186084" y="490008"/>
            <a:ext cx="268790" cy="301041"/>
          </a:xfrm>
          <a:prstGeom prst="rect">
            <a:avLst/>
          </a:prstGeom>
          <a:noFill/>
          <a:ln>
            <a:noFill/>
          </a:ln>
        </p:spPr>
      </p:pic>
      <p:pic>
        <p:nvPicPr>
          <p:cNvPr id="668" name="Google Shape;668;p18"/>
          <p:cNvPicPr preferRelativeResize="0"/>
          <p:nvPr/>
        </p:nvPicPr>
        <p:blipFill rotWithShape="1">
          <a:blip r:embed="rId8">
            <a:alphaModFix/>
          </a:blip>
          <a:srcRect/>
          <a:stretch/>
        </p:blipFill>
        <p:spPr>
          <a:xfrm>
            <a:off x="860539" y="509793"/>
            <a:ext cx="276927" cy="275955"/>
          </a:xfrm>
          <a:prstGeom prst="rect">
            <a:avLst/>
          </a:prstGeom>
          <a:noFill/>
          <a:ln>
            <a:noFill/>
          </a:ln>
        </p:spPr>
      </p:pic>
      <p:sp>
        <p:nvSpPr>
          <p:cNvPr id="669" name="Google Shape;669;p18"/>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670" name="Google Shape;670;p18"/>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671" name="Google Shape;671;p18"/>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672" name="Google Shape;672;p18" descr="TP_tmp.png"/>
          <p:cNvPicPr preferRelativeResize="0"/>
          <p:nvPr/>
        </p:nvPicPr>
        <p:blipFill rotWithShape="1">
          <a:blip r:embed="rId9">
            <a:alphaModFix/>
          </a:blip>
          <a:srcRect/>
          <a:stretch/>
        </p:blipFill>
        <p:spPr>
          <a:xfrm>
            <a:off x="162560" y="1124121"/>
            <a:ext cx="86884" cy="152968"/>
          </a:xfrm>
          <a:prstGeom prst="rect">
            <a:avLst/>
          </a:prstGeom>
          <a:noFill/>
          <a:ln>
            <a:noFill/>
          </a:ln>
        </p:spPr>
      </p:pic>
      <p:pic>
        <p:nvPicPr>
          <p:cNvPr id="673" name="Google Shape;673;p18" descr="TP_tmp.png"/>
          <p:cNvPicPr preferRelativeResize="0"/>
          <p:nvPr/>
        </p:nvPicPr>
        <p:blipFill rotWithShape="1">
          <a:blip r:embed="rId10">
            <a:alphaModFix/>
          </a:blip>
          <a:srcRect/>
          <a:stretch/>
        </p:blipFill>
        <p:spPr>
          <a:xfrm>
            <a:off x="166022" y="1427874"/>
            <a:ext cx="96731" cy="152968"/>
          </a:xfrm>
          <a:prstGeom prst="rect">
            <a:avLst/>
          </a:prstGeom>
          <a:noFill/>
          <a:ln>
            <a:noFill/>
          </a:ln>
        </p:spPr>
      </p:pic>
      <p:sp>
        <p:nvSpPr>
          <p:cNvPr id="674" name="Google Shape;674;p18"/>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675" name="Google Shape;675;p18"/>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2             1.9            0……….</a:t>
            </a:r>
            <a:endParaRPr sz="300" b="0" i="0" u="none" strike="noStrike" cap="none">
              <a:solidFill>
                <a:srgbClr val="000000"/>
              </a:solidFill>
              <a:latin typeface="Arial"/>
              <a:ea typeface="Arial"/>
              <a:cs typeface="Arial"/>
              <a:sym typeface="Arial"/>
            </a:endParaRPr>
          </a:p>
        </p:txBody>
      </p:sp>
      <p:sp>
        <p:nvSpPr>
          <p:cNvPr id="676" name="Google Shape;676;p18"/>
          <p:cNvSpPr txBox="1"/>
          <p:nvPr/>
        </p:nvSpPr>
        <p:spPr>
          <a:xfrm>
            <a:off x="500340" y="1396155"/>
            <a:ext cx="1241400" cy="5850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2800"/>
              <a:buFont typeface="Arial"/>
              <a:buNone/>
            </a:pPr>
            <a:r>
              <a:rPr lang="en-US" sz="800">
                <a:solidFill>
                  <a:schemeClr val="dk1"/>
                </a:solidFill>
                <a:latin typeface="Calibri"/>
                <a:ea typeface="Calibri"/>
                <a:cs typeface="Calibri"/>
                <a:sym typeface="Calibri"/>
              </a:rPr>
              <a:t>  </a:t>
            </a:r>
            <a:r>
              <a:rPr lang="en-US" sz="800">
                <a:solidFill>
                  <a:schemeClr val="dk1"/>
                </a:solidFill>
                <a:highlight>
                  <a:srgbClr val="FFFF00"/>
                </a:highlight>
                <a:latin typeface="Calibri"/>
                <a:ea typeface="Calibri"/>
                <a:cs typeface="Calibri"/>
                <a:sym typeface="Calibri"/>
              </a:rPr>
              <a:t>3.75</a:t>
            </a:r>
            <a:r>
              <a:rPr lang="en-US" sz="800">
                <a:solidFill>
                  <a:schemeClr val="dk1"/>
                </a:solidFill>
                <a:latin typeface="Calibri"/>
                <a:ea typeface="Calibri"/>
                <a:cs typeface="Calibri"/>
                <a:sym typeface="Calibri"/>
              </a:rPr>
              <a:t>        3.54        0 ………</a:t>
            </a:r>
            <a:endParaRPr>
              <a:solidFill>
                <a:schemeClr val="dk1"/>
              </a:solidFill>
            </a:endParaRPr>
          </a:p>
          <a:p>
            <a:pPr marL="0" lvl="0" indent="0" algn="l" rtl="0">
              <a:spcBef>
                <a:spcPts val="0"/>
              </a:spcBef>
              <a:spcAft>
                <a:spcPts val="0"/>
              </a:spcAft>
              <a:buClr>
                <a:schemeClr val="dk1"/>
              </a:buClr>
              <a:buSzPts val="2800"/>
              <a:buFont typeface="Arial"/>
              <a:buNone/>
            </a:pPr>
            <a:endParaRPr sz="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800"/>
              <a:buFont typeface="Arial"/>
              <a:buNone/>
            </a:pPr>
            <a:r>
              <a:rPr lang="en-US" sz="800">
                <a:solidFill>
                  <a:schemeClr val="dk1"/>
                </a:solidFill>
                <a:latin typeface="Calibri"/>
                <a:ea typeface="Calibri"/>
                <a:cs typeface="Calibri"/>
                <a:sym typeface="Calibri"/>
              </a:rPr>
              <a:t>…….</a:t>
            </a:r>
            <a:endParaRPr sz="300">
              <a:solidFill>
                <a:schemeClr val="dk1"/>
              </a:solidFill>
            </a:endParaRPr>
          </a:p>
          <a:p>
            <a:pPr marL="0" marR="0" lvl="0" indent="0" algn="l" rtl="0">
              <a:lnSpc>
                <a:spcPct val="100000"/>
              </a:lnSpc>
              <a:spcBef>
                <a:spcPts val="0"/>
              </a:spcBef>
              <a:spcAft>
                <a:spcPts val="0"/>
              </a:spcAft>
              <a:buClr>
                <a:srgbClr val="000000"/>
              </a:buClr>
              <a:buSzPts val="2800"/>
              <a:buFont typeface="Arial"/>
              <a:buNone/>
            </a:pPr>
            <a:endParaRPr sz="800">
              <a:solidFill>
                <a:schemeClr val="dk1"/>
              </a:solidFill>
              <a:latin typeface="Calibri"/>
              <a:ea typeface="Calibri"/>
              <a:cs typeface="Calibri"/>
              <a:sym typeface="Calibri"/>
            </a:endParaRPr>
          </a:p>
        </p:txBody>
      </p:sp>
      <p:sp>
        <p:nvSpPr>
          <p:cNvPr id="677" name="Google Shape;677;p18"/>
          <p:cNvSpPr/>
          <p:nvPr/>
        </p:nvSpPr>
        <p:spPr>
          <a:xfrm>
            <a:off x="4043506" y="1304264"/>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678" name="Google Shape;678;p18"/>
          <p:cNvPicPr preferRelativeResize="0"/>
          <p:nvPr/>
        </p:nvPicPr>
        <p:blipFill rotWithShape="1">
          <a:blip r:embed="rId11">
            <a:alphaModFix/>
          </a:blip>
          <a:srcRect/>
          <a:stretch/>
        </p:blipFill>
        <p:spPr>
          <a:xfrm>
            <a:off x="3413403" y="1539705"/>
            <a:ext cx="2346858" cy="1422731"/>
          </a:xfrm>
          <a:prstGeom prst="rect">
            <a:avLst/>
          </a:prstGeom>
          <a:noFill/>
          <a:ln>
            <a:noFill/>
          </a:ln>
        </p:spPr>
      </p:pic>
      <p:pic>
        <p:nvPicPr>
          <p:cNvPr id="679" name="Google Shape;679;p18"/>
          <p:cNvPicPr preferRelativeResize="0"/>
          <p:nvPr/>
        </p:nvPicPr>
        <p:blipFill rotWithShape="1">
          <a:blip r:embed="rId12">
            <a:alphaModFix/>
          </a:blip>
          <a:srcRect/>
          <a:stretch/>
        </p:blipFill>
        <p:spPr>
          <a:xfrm>
            <a:off x="4687045" y="324024"/>
            <a:ext cx="318300" cy="124137"/>
          </a:xfrm>
          <a:prstGeom prst="rect">
            <a:avLst/>
          </a:prstGeom>
          <a:noFill/>
          <a:ln>
            <a:noFill/>
          </a:ln>
        </p:spPr>
      </p:pic>
      <p:sp>
        <p:nvSpPr>
          <p:cNvPr id="680" name="Google Shape;680;p18"/>
          <p:cNvSpPr/>
          <p:nvPr/>
        </p:nvSpPr>
        <p:spPr>
          <a:xfrm>
            <a:off x="2861351" y="398202"/>
            <a:ext cx="368572" cy="242326"/>
          </a:xfrm>
          <a:prstGeom prst="triangle">
            <a:avLst>
              <a:gd name="adj" fmla="val 50000"/>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18"/>
          <p:cNvSpPr/>
          <p:nvPr/>
        </p:nvSpPr>
        <p:spPr>
          <a:xfrm>
            <a:off x="3259782" y="858040"/>
            <a:ext cx="295936" cy="207168"/>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82" name="Google Shape;682;p18"/>
          <p:cNvSpPr/>
          <p:nvPr/>
        </p:nvSpPr>
        <p:spPr>
          <a:xfrm>
            <a:off x="2386937" y="865657"/>
            <a:ext cx="295936" cy="207168"/>
          </a:xfrm>
          <a:prstGeom prst="ellipse">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18"/>
          <p:cNvSpPr/>
          <p:nvPr/>
        </p:nvSpPr>
        <p:spPr>
          <a:xfrm>
            <a:off x="2234265" y="1243636"/>
            <a:ext cx="279252" cy="197495"/>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84" name="Google Shape;684;p18"/>
          <p:cNvSpPr/>
          <p:nvPr/>
        </p:nvSpPr>
        <p:spPr>
          <a:xfrm>
            <a:off x="3038607" y="1243635"/>
            <a:ext cx="279252" cy="197495"/>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85" name="Google Shape;685;p18"/>
          <p:cNvSpPr/>
          <p:nvPr/>
        </p:nvSpPr>
        <p:spPr>
          <a:xfrm>
            <a:off x="3610273" y="1247166"/>
            <a:ext cx="279252" cy="197495"/>
          </a:xfrm>
          <a:prstGeom prst="rect">
            <a:avLst/>
          </a:prstGeom>
          <a:blipFill rotWithShape="1">
            <a:blip r:embed="rId18">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686" name="Google Shape;686;p18"/>
          <p:cNvCxnSpPr>
            <a:stCxn id="680" idx="3"/>
            <a:endCxn id="682"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687" name="Google Shape;687;p18"/>
          <p:cNvCxnSpPr>
            <a:stCxn id="680" idx="3"/>
            <a:endCxn id="681"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688" name="Google Shape;688;p18"/>
          <p:cNvCxnSpPr>
            <a:stCxn id="682" idx="4"/>
            <a:endCxn id="683"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689" name="Google Shape;689;p18"/>
          <p:cNvCxnSpPr>
            <a:stCxn id="681" idx="4"/>
            <a:endCxn id="685"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690" name="Google Shape;690;p18"/>
          <p:cNvCxnSpPr>
            <a:stCxn id="681" idx="4"/>
            <a:endCxn id="684"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691" name="Google Shape;691;p18"/>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692" name="Google Shape;692;p18"/>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693" name="Google Shape;693;p18"/>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694" name="Google Shape;694;p18"/>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695" name="Google Shape;695;p18"/>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696" name="Google Shape;696;p18"/>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697" name="Google Shape;697;p18"/>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698" name="Google Shape;698;p18"/>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699" name="Google Shape;699;p18"/>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700" name="Google Shape;700;p18"/>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701" name="Google Shape;701;p18"/>
          <p:cNvSpPr/>
          <p:nvPr/>
        </p:nvSpPr>
        <p:spPr>
          <a:xfrm>
            <a:off x="323093" y="1859293"/>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702" name="Google Shape;702;p18"/>
          <p:cNvSpPr txBox="1"/>
          <p:nvPr/>
        </p:nvSpPr>
        <p:spPr>
          <a:xfrm>
            <a:off x="403302" y="1833491"/>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15.44</a:t>
            </a:r>
            <a:r>
              <a:rPr lang="en-US" sz="800" b="0" i="0" u="none" strike="noStrike" cap="none">
                <a:solidFill>
                  <a:schemeClr val="dk1"/>
                </a:solidFill>
                <a:latin typeface="Calibri"/>
                <a:ea typeface="Calibri"/>
                <a:cs typeface="Calibri"/>
                <a:sym typeface="Calibri"/>
              </a:rPr>
              <a:t>        ~14.44        0</a:t>
            </a:r>
            <a:endParaRPr sz="300" b="0" i="0" u="none" strike="noStrike" cap="none">
              <a:solidFill>
                <a:srgbClr val="000000"/>
              </a:solidFill>
              <a:latin typeface="Arial"/>
              <a:ea typeface="Arial"/>
              <a:cs typeface="Arial"/>
              <a:sym typeface="Arial"/>
            </a:endParaRPr>
          </a:p>
        </p:txBody>
      </p:sp>
      <p:sp>
        <p:nvSpPr>
          <p:cNvPr id="703" name="Google Shape;703;p18"/>
          <p:cNvSpPr txBox="1"/>
          <p:nvPr/>
        </p:nvSpPr>
        <p:spPr>
          <a:xfrm>
            <a:off x="1794449" y="2141375"/>
            <a:ext cx="1676400" cy="8889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After convergence extract the policy</a:t>
            </a:r>
            <a:r>
              <a:rPr lang="en-US" sz="950"/>
              <a:t> by c</a:t>
            </a:r>
            <a:r>
              <a:rPr lang="en-US" sz="950" b="0" i="0" u="none" strike="noStrike" cap="none">
                <a:solidFill>
                  <a:srgbClr val="000000"/>
                </a:solidFill>
                <a:latin typeface="Arial"/>
                <a:ea typeface="Arial"/>
                <a:cs typeface="Arial"/>
                <a:sym typeface="Arial"/>
              </a:rPr>
              <a:t>hoos</a:t>
            </a:r>
            <a:r>
              <a:rPr lang="en-US" sz="950"/>
              <a:t>ing</a:t>
            </a:r>
            <a:r>
              <a:rPr lang="en-US" sz="950" b="0" i="0" u="none" strike="noStrike" cap="none">
                <a:solidFill>
                  <a:srgbClr val="000000"/>
                </a:solidFill>
                <a:latin typeface="Arial"/>
                <a:ea typeface="Arial"/>
                <a:cs typeface="Arial"/>
                <a:sym typeface="Arial"/>
              </a:rPr>
              <a:t> the action that lead to </a:t>
            </a:r>
            <a:r>
              <a:rPr lang="en-US" sz="950"/>
              <a:t>the </a:t>
            </a:r>
            <a:r>
              <a:rPr lang="en-US" sz="950" b="0" i="0" u="none" strike="noStrike" cap="none">
                <a:solidFill>
                  <a:srgbClr val="000000"/>
                </a:solidFill>
                <a:latin typeface="Arial"/>
                <a:ea typeface="Arial"/>
                <a:cs typeface="Arial"/>
                <a:sym typeface="Arial"/>
              </a:rPr>
              <a:t>converged</a:t>
            </a:r>
            <a:r>
              <a:rPr lang="en-US" sz="950"/>
              <a:t> maximum value here from V40th iteration</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704" name="Google Shape;704;p18"/>
          <p:cNvSpPr txBox="1"/>
          <p:nvPr/>
        </p:nvSpPr>
        <p:spPr>
          <a:xfrm>
            <a:off x="89716" y="1849439"/>
            <a:ext cx="41774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V</a:t>
            </a:r>
            <a:r>
              <a:rPr lang="en-US" sz="800" b="0" i="0" u="none" strike="noStrike" cap="none" baseline="-25000">
                <a:solidFill>
                  <a:srgbClr val="000000"/>
                </a:solidFill>
                <a:latin typeface="Arial"/>
                <a:ea typeface="Arial"/>
                <a:cs typeface="Arial"/>
                <a:sym typeface="Arial"/>
              </a:rPr>
              <a:t>40</a:t>
            </a:r>
            <a:endParaRPr sz="800" b="0" i="0" u="none" strike="noStrike" cap="none" baseline="-25000">
              <a:solidFill>
                <a:srgbClr val="000000"/>
              </a:solidFill>
              <a:latin typeface="Arial"/>
              <a:ea typeface="Arial"/>
              <a:cs typeface="Arial"/>
              <a:sym typeface="Arial"/>
            </a:endParaRPr>
          </a:p>
        </p:txBody>
      </p:sp>
      <p:sp>
        <p:nvSpPr>
          <p:cNvPr id="705" name="Google Shape;705;p18"/>
          <p:cNvSpPr/>
          <p:nvPr/>
        </p:nvSpPr>
        <p:spPr>
          <a:xfrm>
            <a:off x="4599958" y="346809"/>
            <a:ext cx="604653"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Arial"/>
                <a:ea typeface="Arial"/>
                <a:cs typeface="Arial"/>
                <a:sym typeface="Arial"/>
              </a:rPr>
              <a:t>ɵ = 0.01</a:t>
            </a:r>
            <a:endParaRPr sz="900" b="0" i="0" u="none" strike="noStrike" cap="none">
              <a:solidFill>
                <a:srgbClr val="000000"/>
              </a:solidFill>
              <a:latin typeface="Arial"/>
              <a:ea typeface="Arial"/>
              <a:cs typeface="Arial"/>
              <a:sym typeface="Arial"/>
            </a:endParaRPr>
          </a:p>
        </p:txBody>
      </p:sp>
      <p:graphicFrame>
        <p:nvGraphicFramePr>
          <p:cNvPr id="706" name="Google Shape;706;p18"/>
          <p:cNvGraphicFramePr/>
          <p:nvPr/>
        </p:nvGraphicFramePr>
        <p:xfrm>
          <a:off x="298141" y="2296275"/>
          <a:ext cx="1397450" cy="792520"/>
        </p:xfrm>
        <a:graphic>
          <a:graphicData uri="http://schemas.openxmlformats.org/drawingml/2006/table">
            <a:tbl>
              <a:tblPr firstRow="1" bandRow="1">
                <a:noFill/>
                <a:tableStyleId>{2A8AA219-CA89-41A0-AA6F-2D93B60182F7}</a:tableStyleId>
              </a:tblPr>
              <a:tblGrid>
                <a:gridCol w="698725">
                  <a:extLst>
                    <a:ext uri="{9D8B030D-6E8A-4147-A177-3AD203B41FA5}">
                      <a16:colId xmlns:a16="http://schemas.microsoft.com/office/drawing/2014/main" val="20000"/>
                    </a:ext>
                  </a:extLst>
                </a:gridCol>
                <a:gridCol w="698725">
                  <a:extLst>
                    <a:ext uri="{9D8B030D-6E8A-4147-A177-3AD203B41FA5}">
                      <a16:colId xmlns:a16="http://schemas.microsoft.com/office/drawing/2014/main" val="20001"/>
                    </a:ext>
                  </a:extLst>
                </a:gridCol>
              </a:tblGrid>
              <a:tr h="187050">
                <a:tc>
                  <a:txBody>
                    <a:bodyPr/>
                    <a:lstStyle/>
                    <a:p>
                      <a:pPr marL="0" marR="0" lvl="0" indent="0" algn="l" rtl="0">
                        <a:lnSpc>
                          <a:spcPct val="100000"/>
                        </a:lnSpc>
                        <a:spcBef>
                          <a:spcPts val="0"/>
                        </a:spcBef>
                        <a:spcAft>
                          <a:spcPts val="0"/>
                        </a:spcAft>
                        <a:buNone/>
                      </a:pPr>
                      <a:r>
                        <a:rPr lang="en-US" sz="700" u="none" strike="noStrike" cap="none"/>
                        <a:t>State</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Best Action</a:t>
                      </a:r>
                      <a:endParaRPr sz="7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None/>
                      </a:pPr>
                      <a:r>
                        <a:rPr lang="en-US" sz="700" u="none" strike="noStrike" cap="none"/>
                        <a:t>Cool</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Fast</a:t>
                      </a:r>
                      <a:endParaRPr sz="7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None/>
                      </a:pPr>
                      <a:r>
                        <a:rPr lang="en-US" sz="700" u="none" strike="noStrike" cap="none"/>
                        <a:t>Warm</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Slow</a:t>
                      </a:r>
                      <a:endParaRPr sz="7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None/>
                      </a:pPr>
                      <a:r>
                        <a:rPr lang="en-US" sz="700" u="none" strike="noStrike" cap="none"/>
                        <a:t>Overheated</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a:t>
                      </a:r>
                      <a:endParaRPr sz="7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707" name="Google Shape;707;p18"/>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708" name="Google Shape;708;p18"/>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709" name="Google Shape;709;p18"/>
          <p:cNvSpPr txBox="1"/>
          <p:nvPr/>
        </p:nvSpPr>
        <p:spPr>
          <a:xfrm>
            <a:off x="4433676" y="2694525"/>
            <a:ext cx="1293900" cy="2310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Asynchronous Updates</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6"/>
                                        </p:tgtEl>
                                        <p:attrNameLst>
                                          <p:attrName>style.visibility</p:attrName>
                                        </p:attrNameLst>
                                      </p:cBhvr>
                                      <p:to>
                                        <p:strVal val="visible"/>
                                      </p:to>
                                    </p:set>
                                    <p:animEffect transition="in" filter="fade">
                                      <p:cBhvr>
                                        <p:cTn id="7" dur="500"/>
                                        <p:tgtEl>
                                          <p:spTgt spid="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9"/>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715" name="Google Shape;715;p19"/>
          <p:cNvSpPr txBox="1">
            <a:spLocks noGrp="1"/>
          </p:cNvSpPr>
          <p:nvPr>
            <p:ph type="body" idx="1"/>
          </p:nvPr>
        </p:nvSpPr>
        <p:spPr>
          <a:xfrm>
            <a:off x="891520" y="516129"/>
            <a:ext cx="3812540" cy="2215991"/>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Dynamic Programming Solution </a:t>
            </a:r>
            <a:endParaRPr/>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Policy Iteration Algorithm</a:t>
            </a:r>
            <a:endParaRPr sz="1600" b="1">
              <a:solidFill>
                <a:schemeClr val="dk1"/>
              </a:solidFill>
            </a:endParaRPr>
          </a:p>
        </p:txBody>
      </p:sp>
      <p:pic>
        <p:nvPicPr>
          <p:cNvPr id="716" name="Google Shape;716;p19"/>
          <p:cNvPicPr preferRelativeResize="0"/>
          <p:nvPr/>
        </p:nvPicPr>
        <p:blipFill rotWithShape="1">
          <a:blip r:embed="rId3">
            <a:alphaModFix/>
          </a:blip>
          <a:srcRect/>
          <a:stretch/>
        </p:blipFill>
        <p:spPr>
          <a:xfrm>
            <a:off x="891520" y="2732120"/>
            <a:ext cx="4257675" cy="457200"/>
          </a:xfrm>
          <a:prstGeom prst="rect">
            <a:avLst/>
          </a:prstGeom>
          <a:noFill/>
          <a:ln>
            <a:noFill/>
          </a:ln>
        </p:spPr>
      </p:pic>
      <p:sp>
        <p:nvSpPr>
          <p:cNvPr id="717" name="Google Shape;717;p19"/>
          <p:cNvSpPr txBox="1"/>
          <p:nvPr/>
        </p:nvSpPr>
        <p:spPr>
          <a:xfrm>
            <a:off x="132522" y="1134090"/>
            <a:ext cx="1868557" cy="101566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In many cases, sometimes policies is observed to converge faster than value! </a:t>
            </a:r>
            <a:endParaRPr/>
          </a:p>
          <a:p>
            <a:pPr marL="0" marR="0" lvl="0" indent="0" algn="just" rtl="0">
              <a:lnSpc>
                <a:spcPct val="100000"/>
              </a:lnSpc>
              <a:spcBef>
                <a:spcPts val="0"/>
              </a:spcBef>
              <a:spcAft>
                <a:spcPts val="0"/>
              </a:spcAft>
              <a:buNone/>
            </a:pPr>
            <a:endParaRPr sz="1000" b="0" i="0" u="none" strike="noStrike" cap="none">
              <a:solidFill>
                <a:srgbClr val="0070C0"/>
              </a:solidFill>
              <a:latin typeface="Arial"/>
              <a:ea typeface="Arial"/>
              <a:cs typeface="Arial"/>
              <a:sym typeface="Arial"/>
            </a:endParaRPr>
          </a:p>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So why wait for entire value updates?</a:t>
            </a:r>
            <a:endParaRPr sz="1000" b="0" i="0" u="none" strike="noStrike" cap="none">
              <a:solidFill>
                <a:srgbClr val="0070C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20"/>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a:t>
            </a:r>
            <a:endParaRPr/>
          </a:p>
        </p:txBody>
      </p:sp>
      <p:pic>
        <p:nvPicPr>
          <p:cNvPr id="723" name="Google Shape;723;p20"/>
          <p:cNvPicPr preferRelativeResize="0"/>
          <p:nvPr/>
        </p:nvPicPr>
        <p:blipFill rotWithShape="1">
          <a:blip r:embed="rId3">
            <a:alphaModFix/>
          </a:blip>
          <a:srcRect/>
          <a:stretch/>
        </p:blipFill>
        <p:spPr>
          <a:xfrm>
            <a:off x="219002" y="583532"/>
            <a:ext cx="121259" cy="121259"/>
          </a:xfrm>
          <a:prstGeom prst="rect">
            <a:avLst/>
          </a:prstGeom>
          <a:noFill/>
          <a:ln>
            <a:noFill/>
          </a:ln>
        </p:spPr>
      </p:pic>
      <p:sp>
        <p:nvSpPr>
          <p:cNvPr id="724" name="Google Shape;724;p20"/>
          <p:cNvSpPr txBox="1"/>
          <p:nvPr/>
        </p:nvSpPr>
        <p:spPr>
          <a:xfrm>
            <a:off x="245952" y="573682"/>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sp>
        <p:nvSpPr>
          <p:cNvPr id="725" name="Google Shape;725;p20"/>
          <p:cNvSpPr txBox="1"/>
          <p:nvPr/>
        </p:nvSpPr>
        <p:spPr>
          <a:xfrm>
            <a:off x="406632" y="537309"/>
            <a:ext cx="1062355"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Given</a:t>
            </a:r>
            <a:endParaRPr sz="1050" b="0" i="0" u="none" strike="noStrike" cap="none">
              <a:solidFill>
                <a:srgbClr val="000000"/>
              </a:solidFill>
              <a:latin typeface="Arial"/>
              <a:ea typeface="Arial"/>
              <a:cs typeface="Arial"/>
              <a:sym typeface="Arial"/>
            </a:endParaRPr>
          </a:p>
        </p:txBody>
      </p:sp>
      <p:sp>
        <p:nvSpPr>
          <p:cNvPr id="726" name="Google Shape;726;p20"/>
          <p:cNvSpPr txBox="1"/>
          <p:nvPr/>
        </p:nvSpPr>
        <p:spPr>
          <a:xfrm>
            <a:off x="536451" y="732781"/>
            <a:ext cx="2496185" cy="15773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P(s` | s, a) , R(s, a, s`) , P(s`, r | s, a) </a:t>
            </a:r>
            <a:endParaRPr sz="950" b="0" i="0" u="none" strike="noStrike" cap="none">
              <a:solidFill>
                <a:srgbClr val="000000"/>
              </a:solidFill>
              <a:latin typeface="Arial"/>
              <a:ea typeface="Arial"/>
              <a:cs typeface="Arial"/>
              <a:sym typeface="Arial"/>
            </a:endParaRPr>
          </a:p>
        </p:txBody>
      </p:sp>
      <p:grpSp>
        <p:nvGrpSpPr>
          <p:cNvPr id="727" name="Google Shape;727;p20"/>
          <p:cNvGrpSpPr/>
          <p:nvPr/>
        </p:nvGrpSpPr>
        <p:grpSpPr>
          <a:xfrm>
            <a:off x="219002" y="990948"/>
            <a:ext cx="121259" cy="528662"/>
            <a:chOff x="456996" y="1391780"/>
            <a:chExt cx="121259" cy="528662"/>
          </a:xfrm>
        </p:grpSpPr>
        <p:pic>
          <p:nvPicPr>
            <p:cNvPr id="728" name="Google Shape;728;p20"/>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729" name="Google Shape;729;p20"/>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730" name="Google Shape;730;p20"/>
          <p:cNvSpPr txBox="1"/>
          <p:nvPr/>
        </p:nvSpPr>
        <p:spPr>
          <a:xfrm>
            <a:off x="245952" y="981098"/>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sp>
        <p:nvSpPr>
          <p:cNvPr id="731" name="Google Shape;731;p20"/>
          <p:cNvSpPr txBox="1"/>
          <p:nvPr/>
        </p:nvSpPr>
        <p:spPr>
          <a:xfrm>
            <a:off x="406632" y="944712"/>
            <a:ext cx="1306195"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To find</a:t>
            </a:r>
            <a:endParaRPr sz="1050" b="0" i="0" u="none" strike="noStrike" cap="none">
              <a:solidFill>
                <a:srgbClr val="000000"/>
              </a:solidFill>
              <a:latin typeface="Arial"/>
              <a:ea typeface="Arial"/>
              <a:cs typeface="Arial"/>
              <a:sym typeface="Arial"/>
            </a:endParaRPr>
          </a:p>
        </p:txBody>
      </p:sp>
      <p:sp>
        <p:nvSpPr>
          <p:cNvPr id="732" name="Google Shape;732;p20"/>
          <p:cNvSpPr txBox="1"/>
          <p:nvPr/>
        </p:nvSpPr>
        <p:spPr>
          <a:xfrm>
            <a:off x="536451" y="1140197"/>
            <a:ext cx="2681605" cy="15773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π </a:t>
            </a:r>
            <a:endParaRPr sz="950" b="0" i="0" u="none" strike="noStrike" cap="none">
              <a:solidFill>
                <a:srgbClr val="000000"/>
              </a:solidFill>
              <a:latin typeface="Arial"/>
              <a:ea typeface="Arial"/>
              <a:cs typeface="Arial"/>
              <a:sym typeface="Arial"/>
            </a:endParaRPr>
          </a:p>
        </p:txBody>
      </p:sp>
      <p:sp>
        <p:nvSpPr>
          <p:cNvPr id="733" name="Google Shape;733;p20"/>
          <p:cNvSpPr txBox="1"/>
          <p:nvPr/>
        </p:nvSpPr>
        <p:spPr>
          <a:xfrm>
            <a:off x="245952" y="1388501"/>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734" name="Google Shape;734;p20"/>
          <p:cNvSpPr txBox="1"/>
          <p:nvPr/>
        </p:nvSpPr>
        <p:spPr>
          <a:xfrm>
            <a:off x="406632" y="1352128"/>
            <a:ext cx="1301750"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Solution</a:t>
            </a:r>
            <a:endParaRPr sz="1050" b="0" i="0" u="none" strike="noStrike" cap="none">
              <a:solidFill>
                <a:srgbClr val="000000"/>
              </a:solidFill>
              <a:latin typeface="Arial"/>
              <a:ea typeface="Arial"/>
              <a:cs typeface="Arial"/>
              <a:sym typeface="Arial"/>
            </a:endParaRPr>
          </a:p>
        </p:txBody>
      </p:sp>
      <p:sp>
        <p:nvSpPr>
          <p:cNvPr id="735" name="Google Shape;735;p20"/>
          <p:cNvSpPr txBox="1"/>
          <p:nvPr/>
        </p:nvSpPr>
        <p:spPr>
          <a:xfrm>
            <a:off x="83900" y="1547613"/>
            <a:ext cx="5358659" cy="1468346"/>
          </a:xfrm>
          <a:prstGeom prst="rect">
            <a:avLst/>
          </a:prstGeom>
          <a:noFill/>
          <a:ln>
            <a:noFill/>
          </a:ln>
        </p:spPr>
        <p:txBody>
          <a:bodyPr spcFirstLastPara="1" wrap="square" lIns="0" tIns="11425" rIns="0" bIns="0" anchor="t" anchorCtr="0">
            <a:spAutoFit/>
          </a:bodyPr>
          <a:lstStyle/>
          <a:p>
            <a:pPr marL="490219"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Iteration (PI): Prefer this in a relatively smaller state space where intermediate termination provides explicit interpretable policy</a:t>
            </a:r>
            <a:endParaRPr/>
          </a:p>
          <a:p>
            <a:pPr marL="490219"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Value Iteration (VI): Prefer this in a relatively larger state space where fast convergence to optimal policy is obtained at the end</a:t>
            </a:r>
            <a:endParaRPr/>
          </a:p>
          <a:p>
            <a:pPr marL="490219"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490219"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r>
              <a:rPr lang="en-US" sz="1050" b="0" i="0" u="none" strike="noStrike" cap="none">
                <a:solidFill>
                  <a:srgbClr val="000000"/>
                </a:solidFill>
                <a:latin typeface="Arial"/>
                <a:ea typeface="Arial"/>
                <a:cs typeface="Arial"/>
                <a:sym typeface="Arial"/>
              </a:rPr>
              <a:t>VI can be thought of truncated PI where evaluation is done fully before improvement.</a:t>
            </a:r>
            <a:endParaRPr sz="1050" b="0" i="0" u="none" strike="noStrike" cap="none">
              <a:solidFill>
                <a:srgbClr val="000000"/>
              </a:solidFill>
              <a:latin typeface="Arial"/>
              <a:ea typeface="Arial"/>
              <a:cs typeface="Arial"/>
              <a:sym typeface="Arial"/>
            </a:endParaRPr>
          </a:p>
        </p:txBody>
      </p:sp>
      <p:grpSp>
        <p:nvGrpSpPr>
          <p:cNvPr id="736" name="Google Shape;736;p20"/>
          <p:cNvGrpSpPr/>
          <p:nvPr/>
        </p:nvGrpSpPr>
        <p:grpSpPr>
          <a:xfrm>
            <a:off x="0" y="3109250"/>
            <a:ext cx="5760261" cy="92075"/>
            <a:chOff x="0" y="3109250"/>
            <a:chExt cx="5760261" cy="92075"/>
          </a:xfrm>
        </p:grpSpPr>
        <p:sp>
          <p:nvSpPr>
            <p:cNvPr id="737" name="Google Shape;737;p2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2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2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0" name="Google Shape;740;p2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741" name="Google Shape;741;p2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20</a:t>
            </a:r>
            <a:endParaRPr/>
          </a:p>
        </p:txBody>
      </p:sp>
      <p:grpSp>
        <p:nvGrpSpPr>
          <p:cNvPr id="742" name="Google Shape;742;p20"/>
          <p:cNvGrpSpPr/>
          <p:nvPr/>
        </p:nvGrpSpPr>
        <p:grpSpPr>
          <a:xfrm>
            <a:off x="201907" y="2191323"/>
            <a:ext cx="148209" cy="163936"/>
            <a:chOff x="134127" y="2262704"/>
            <a:chExt cx="266997" cy="178837"/>
          </a:xfrm>
        </p:grpSpPr>
        <p:pic>
          <p:nvPicPr>
            <p:cNvPr id="743" name="Google Shape;743;p20"/>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744" name="Google Shape;744;p20"/>
            <p:cNvSpPr txBox="1"/>
            <p:nvPr/>
          </p:nvSpPr>
          <p:spPr>
            <a:xfrm>
              <a:off x="209626" y="2275554"/>
              <a:ext cx="148208" cy="10450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sp>
        <p:nvSpPr>
          <p:cNvPr id="745" name="Google Shape;745;p20"/>
          <p:cNvSpPr txBox="1"/>
          <p:nvPr/>
        </p:nvSpPr>
        <p:spPr>
          <a:xfrm>
            <a:off x="421246" y="2174040"/>
            <a:ext cx="1062355"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Idea</a:t>
            </a:r>
            <a:endParaRPr sz="1050" b="0" i="0" u="none" strike="noStrike" cap="none">
              <a:solidFill>
                <a:srgbClr val="000000"/>
              </a:solidFill>
              <a:latin typeface="Arial"/>
              <a:ea typeface="Arial"/>
              <a:cs typeface="Arial"/>
              <a:sym typeface="Arial"/>
            </a:endParaRPr>
          </a:p>
        </p:txBody>
      </p:sp>
      <p:sp>
        <p:nvSpPr>
          <p:cNvPr id="746" name="Google Shape;746;p20"/>
          <p:cNvSpPr txBox="1"/>
          <p:nvPr/>
        </p:nvSpPr>
        <p:spPr>
          <a:xfrm>
            <a:off x="551065" y="2369512"/>
            <a:ext cx="3112798" cy="450118"/>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PI : One Step Look ahead 🡪 Evaluate 🡪 Improve</a:t>
            </a:r>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VI : One Step Look ahead 🡪 Control </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747" name="Google Shape;747;p20"/>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748" name="Google Shape;748;p20"/>
          <p:cNvSpPr/>
          <p:nvPr/>
        </p:nvSpPr>
        <p:spPr>
          <a:xfrm>
            <a:off x="340261" y="1505340"/>
            <a:ext cx="4891306" cy="360935"/>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49" name="Google Shape;749;p20"/>
          <p:cNvSpPr/>
          <p:nvPr/>
        </p:nvSpPr>
        <p:spPr>
          <a:xfrm>
            <a:off x="468123" y="2379656"/>
            <a:ext cx="2822218" cy="156113"/>
          </a:xfrm>
          <a:prstGeom prst="rect">
            <a:avLst/>
          </a:prstGeom>
          <a:no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50" name="Google Shape;750;p20"/>
          <p:cNvSpPr txBox="1"/>
          <p:nvPr/>
        </p:nvSpPr>
        <p:spPr>
          <a:xfrm>
            <a:off x="3373283" y="2329739"/>
            <a:ext cx="23754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1" u="none" strike="noStrike" cap="none">
                <a:solidFill>
                  <a:srgbClr val="0070C0"/>
                </a:solidFill>
                <a:latin typeface="Arial"/>
                <a:ea typeface="Arial"/>
                <a:cs typeface="Arial"/>
                <a:sym typeface="Arial"/>
              </a:rPr>
              <a:t>🡨 Number of state sweeps (updates) can be controlled if required (similar to mini-batch /stochastic processing). Evaluate &amp; Imp</a:t>
            </a:r>
            <a:r>
              <a:rPr lang="en-US" sz="800" i="1">
                <a:solidFill>
                  <a:srgbClr val="0070C0"/>
                </a:solidFill>
              </a:rPr>
              <a:t>rove steps are alternatively are done .</a:t>
            </a:r>
            <a:endParaRPr sz="800" b="0" i="1" u="none" strike="noStrike" cap="none">
              <a:solidFill>
                <a:srgbClr val="0070C0"/>
              </a:solidFill>
              <a:latin typeface="Arial"/>
              <a:ea typeface="Arial"/>
              <a:cs typeface="Arial"/>
              <a:sym typeface="Arial"/>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21"/>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sp>
        <p:nvSpPr>
          <p:cNvPr id="756" name="Google Shape;756;p21"/>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7" name="Google Shape;757;p21"/>
          <p:cNvGrpSpPr/>
          <p:nvPr/>
        </p:nvGrpSpPr>
        <p:grpSpPr>
          <a:xfrm>
            <a:off x="0" y="3109250"/>
            <a:ext cx="5760261" cy="92075"/>
            <a:chOff x="0" y="3109250"/>
            <a:chExt cx="5760261" cy="92075"/>
          </a:xfrm>
        </p:grpSpPr>
        <p:sp>
          <p:nvSpPr>
            <p:cNvPr id="758" name="Google Shape;758;p2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2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2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61" name="Google Shape;761;p2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762" name="Google Shape;762;p2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21</a:t>
            </a:r>
            <a:endParaRPr/>
          </a:p>
        </p:txBody>
      </p:sp>
      <p:pic>
        <p:nvPicPr>
          <p:cNvPr id="763" name="Google Shape;763;p21" descr="TP_tmp.png"/>
          <p:cNvPicPr preferRelativeResize="0"/>
          <p:nvPr/>
        </p:nvPicPr>
        <p:blipFill rotWithShape="1">
          <a:blip r:embed="rId3">
            <a:alphaModFix/>
          </a:blip>
          <a:srcRect/>
          <a:stretch/>
        </p:blipFill>
        <p:spPr>
          <a:xfrm>
            <a:off x="171102" y="831044"/>
            <a:ext cx="96498" cy="152599"/>
          </a:xfrm>
          <a:prstGeom prst="rect">
            <a:avLst/>
          </a:prstGeom>
          <a:noFill/>
          <a:ln>
            <a:noFill/>
          </a:ln>
        </p:spPr>
      </p:pic>
      <p:pic>
        <p:nvPicPr>
          <p:cNvPr id="764" name="Google Shape;764;p21"/>
          <p:cNvPicPr preferRelativeResize="0"/>
          <p:nvPr/>
        </p:nvPicPr>
        <p:blipFill rotWithShape="1">
          <a:blip r:embed="rId4">
            <a:alphaModFix/>
          </a:blip>
          <a:srcRect/>
          <a:stretch/>
        </p:blipFill>
        <p:spPr>
          <a:xfrm>
            <a:off x="530051" y="527637"/>
            <a:ext cx="253340" cy="263412"/>
          </a:xfrm>
          <a:prstGeom prst="rect">
            <a:avLst/>
          </a:prstGeom>
          <a:noFill/>
          <a:ln>
            <a:noFill/>
          </a:ln>
        </p:spPr>
      </p:pic>
      <p:pic>
        <p:nvPicPr>
          <p:cNvPr id="765" name="Google Shape;765;p21"/>
          <p:cNvPicPr preferRelativeResize="0"/>
          <p:nvPr/>
        </p:nvPicPr>
        <p:blipFill rotWithShape="1">
          <a:blip r:embed="rId5">
            <a:alphaModFix/>
          </a:blip>
          <a:srcRect/>
          <a:stretch/>
        </p:blipFill>
        <p:spPr>
          <a:xfrm>
            <a:off x="1186084" y="490008"/>
            <a:ext cx="268790" cy="301041"/>
          </a:xfrm>
          <a:prstGeom prst="rect">
            <a:avLst/>
          </a:prstGeom>
          <a:noFill/>
          <a:ln>
            <a:noFill/>
          </a:ln>
        </p:spPr>
      </p:pic>
      <p:pic>
        <p:nvPicPr>
          <p:cNvPr id="766" name="Google Shape;766;p21"/>
          <p:cNvPicPr preferRelativeResize="0"/>
          <p:nvPr/>
        </p:nvPicPr>
        <p:blipFill rotWithShape="1">
          <a:blip r:embed="rId6">
            <a:alphaModFix/>
          </a:blip>
          <a:srcRect/>
          <a:stretch/>
        </p:blipFill>
        <p:spPr>
          <a:xfrm>
            <a:off x="860539" y="509793"/>
            <a:ext cx="276927" cy="275955"/>
          </a:xfrm>
          <a:prstGeom prst="rect">
            <a:avLst/>
          </a:prstGeom>
          <a:noFill/>
          <a:ln>
            <a:noFill/>
          </a:ln>
        </p:spPr>
      </p:pic>
      <p:sp>
        <p:nvSpPr>
          <p:cNvPr id="767" name="Google Shape;767;p21"/>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768" name="Google Shape;768;p21"/>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769" name="Google Shape;769;p21"/>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770" name="Google Shape;770;p21" descr="TP_tmp.png"/>
          <p:cNvPicPr preferRelativeResize="0"/>
          <p:nvPr/>
        </p:nvPicPr>
        <p:blipFill rotWithShape="1">
          <a:blip r:embed="rId7">
            <a:alphaModFix/>
          </a:blip>
          <a:srcRect/>
          <a:stretch/>
        </p:blipFill>
        <p:spPr>
          <a:xfrm>
            <a:off x="162560" y="1124121"/>
            <a:ext cx="86884" cy="152968"/>
          </a:xfrm>
          <a:prstGeom prst="rect">
            <a:avLst/>
          </a:prstGeom>
          <a:noFill/>
          <a:ln>
            <a:noFill/>
          </a:ln>
        </p:spPr>
      </p:pic>
      <p:pic>
        <p:nvPicPr>
          <p:cNvPr id="771" name="Google Shape;771;p21" descr="TP_tmp.png"/>
          <p:cNvPicPr preferRelativeResize="0"/>
          <p:nvPr/>
        </p:nvPicPr>
        <p:blipFill rotWithShape="1">
          <a:blip r:embed="rId8">
            <a:alphaModFix/>
          </a:blip>
          <a:srcRect/>
          <a:stretch/>
        </p:blipFill>
        <p:spPr>
          <a:xfrm>
            <a:off x="166022" y="1427874"/>
            <a:ext cx="96731" cy="152968"/>
          </a:xfrm>
          <a:prstGeom prst="rect">
            <a:avLst/>
          </a:prstGeom>
          <a:noFill/>
          <a:ln>
            <a:noFill/>
          </a:ln>
        </p:spPr>
      </p:pic>
      <p:sp>
        <p:nvSpPr>
          <p:cNvPr id="772" name="Google Shape;772;p21"/>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pic>
        <p:nvPicPr>
          <p:cNvPr id="773" name="Google Shape;773;p21"/>
          <p:cNvPicPr preferRelativeResize="0"/>
          <p:nvPr/>
        </p:nvPicPr>
        <p:blipFill rotWithShape="1">
          <a:blip r:embed="rId9">
            <a:alphaModFix/>
          </a:blip>
          <a:srcRect/>
          <a:stretch/>
        </p:blipFill>
        <p:spPr>
          <a:xfrm>
            <a:off x="3413403" y="1539705"/>
            <a:ext cx="2346858" cy="1422731"/>
          </a:xfrm>
          <a:prstGeom prst="rect">
            <a:avLst/>
          </a:prstGeom>
          <a:noFill/>
          <a:ln>
            <a:noFill/>
          </a:ln>
        </p:spPr>
      </p:pic>
      <p:sp>
        <p:nvSpPr>
          <p:cNvPr id="774" name="Google Shape;774;p21"/>
          <p:cNvSpPr/>
          <p:nvPr/>
        </p:nvSpPr>
        <p:spPr>
          <a:xfrm>
            <a:off x="2861351" y="398202"/>
            <a:ext cx="368572" cy="242326"/>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775" name="Google Shape;775;p21"/>
          <p:cNvSpPr/>
          <p:nvPr/>
        </p:nvSpPr>
        <p:spPr>
          <a:xfrm>
            <a:off x="3259782" y="858040"/>
            <a:ext cx="295936" cy="207168"/>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776" name="Google Shape;776;p21"/>
          <p:cNvSpPr/>
          <p:nvPr/>
        </p:nvSpPr>
        <p:spPr>
          <a:xfrm>
            <a:off x="2386937" y="865657"/>
            <a:ext cx="295936" cy="207168"/>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21"/>
          <p:cNvSpPr/>
          <p:nvPr/>
        </p:nvSpPr>
        <p:spPr>
          <a:xfrm>
            <a:off x="2234265" y="1243636"/>
            <a:ext cx="279252" cy="197495"/>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778" name="Google Shape;778;p21"/>
          <p:cNvSpPr/>
          <p:nvPr/>
        </p:nvSpPr>
        <p:spPr>
          <a:xfrm>
            <a:off x="3038607" y="1243635"/>
            <a:ext cx="279252" cy="197495"/>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779" name="Google Shape;779;p21"/>
          <p:cNvSpPr/>
          <p:nvPr/>
        </p:nvSpPr>
        <p:spPr>
          <a:xfrm>
            <a:off x="3610273" y="124716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780" name="Google Shape;780;p21"/>
          <p:cNvCxnSpPr>
            <a:stCxn id="774" idx="3"/>
            <a:endCxn id="776"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781" name="Google Shape;781;p21"/>
          <p:cNvCxnSpPr>
            <a:stCxn id="774" idx="3"/>
            <a:endCxn id="775"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782" name="Google Shape;782;p21"/>
          <p:cNvCxnSpPr>
            <a:stCxn id="776" idx="4"/>
            <a:endCxn id="777"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783" name="Google Shape;783;p21"/>
          <p:cNvCxnSpPr>
            <a:stCxn id="775" idx="4"/>
            <a:endCxn id="779"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784" name="Google Shape;784;p21"/>
          <p:cNvCxnSpPr>
            <a:stCxn id="775" idx="4"/>
            <a:endCxn id="778"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785" name="Google Shape;785;p21"/>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786" name="Google Shape;786;p21"/>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787" name="Google Shape;787;p21"/>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788" name="Google Shape;788;p21"/>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789" name="Google Shape;789;p21"/>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790" name="Google Shape;790;p21"/>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791" name="Google Shape;791;p21"/>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792" name="Google Shape;792;p21"/>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793" name="Google Shape;793;p21"/>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794" name="Google Shape;794;p21"/>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795" name="Google Shape;795;p21"/>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796" name="Google Shape;796;p21"/>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797" name="Google Shape;797;p21"/>
          <p:cNvPicPr preferRelativeResize="0"/>
          <p:nvPr/>
        </p:nvPicPr>
        <p:blipFill rotWithShape="1">
          <a:blip r:embed="rId16">
            <a:alphaModFix/>
          </a:blip>
          <a:srcRect/>
          <a:stretch/>
        </p:blipFill>
        <p:spPr>
          <a:xfrm>
            <a:off x="3979160" y="82405"/>
            <a:ext cx="1798525" cy="1326929"/>
          </a:xfrm>
          <a:prstGeom prst="rect">
            <a:avLst/>
          </a:prstGeom>
          <a:noFill/>
          <a:ln>
            <a:noFill/>
          </a:ln>
        </p:spPr>
      </p:pic>
      <p:sp>
        <p:nvSpPr>
          <p:cNvPr id="798" name="Google Shape;798;p21"/>
          <p:cNvSpPr/>
          <p:nvPr/>
        </p:nvSpPr>
        <p:spPr>
          <a:xfrm>
            <a:off x="3817961" y="261651"/>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799" name="Google Shape;799;p21"/>
          <p:cNvPicPr preferRelativeResize="0"/>
          <p:nvPr/>
        </p:nvPicPr>
        <p:blipFill rotWithShape="1">
          <a:blip r:embed="rId17">
            <a:alphaModFix/>
          </a:blip>
          <a:srcRect/>
          <a:stretch/>
        </p:blipFill>
        <p:spPr>
          <a:xfrm>
            <a:off x="5136194" y="258608"/>
            <a:ext cx="318300" cy="124137"/>
          </a:xfrm>
          <a:prstGeom prst="rect">
            <a:avLst/>
          </a:prstGeom>
          <a:noFill/>
          <a:ln>
            <a:noFill/>
          </a:ln>
        </p:spPr>
      </p:pic>
      <p:sp>
        <p:nvSpPr>
          <p:cNvPr id="800" name="Google Shape;800;p21"/>
          <p:cNvSpPr/>
          <p:nvPr/>
        </p:nvSpPr>
        <p:spPr>
          <a:xfrm>
            <a:off x="5049098" y="281399"/>
            <a:ext cx="735300" cy="182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0000"/>
                </a:solidFill>
                <a:latin typeface="Arial"/>
                <a:ea typeface="Arial"/>
                <a:cs typeface="Arial"/>
                <a:sym typeface="Arial"/>
              </a:rPr>
              <a:t>ɵ = 0.01</a:t>
            </a:r>
            <a:endParaRPr sz="800" b="1" i="0" u="none" strike="noStrike" cap="none">
              <a:solidFill>
                <a:srgbClr val="000000"/>
              </a:solidFill>
              <a:latin typeface="Arial"/>
              <a:ea typeface="Arial"/>
              <a:cs typeface="Arial"/>
              <a:sym typeface="Arial"/>
            </a:endParaRPr>
          </a:p>
        </p:txBody>
      </p:sp>
      <p:graphicFrame>
        <p:nvGraphicFramePr>
          <p:cNvPr id="801" name="Google Shape;801;p21"/>
          <p:cNvGraphicFramePr/>
          <p:nvPr/>
        </p:nvGraphicFramePr>
        <p:xfrm>
          <a:off x="298141" y="2296275"/>
          <a:ext cx="1397450" cy="792520"/>
        </p:xfrm>
        <a:graphic>
          <a:graphicData uri="http://schemas.openxmlformats.org/drawingml/2006/table">
            <a:tbl>
              <a:tblPr firstRow="1" bandRow="1">
                <a:noFill/>
                <a:tableStyleId>{2A8AA219-CA89-41A0-AA6F-2D93B60182F7}</a:tableStyleId>
              </a:tblPr>
              <a:tblGrid>
                <a:gridCol w="698725">
                  <a:extLst>
                    <a:ext uri="{9D8B030D-6E8A-4147-A177-3AD203B41FA5}">
                      <a16:colId xmlns:a16="http://schemas.microsoft.com/office/drawing/2014/main" val="20000"/>
                    </a:ext>
                  </a:extLst>
                </a:gridCol>
                <a:gridCol w="698725">
                  <a:extLst>
                    <a:ext uri="{9D8B030D-6E8A-4147-A177-3AD203B41FA5}">
                      <a16:colId xmlns:a16="http://schemas.microsoft.com/office/drawing/2014/main" val="20001"/>
                    </a:ext>
                  </a:extLst>
                </a:gridCol>
              </a:tblGrid>
              <a:tr h="187050">
                <a:tc>
                  <a:txBody>
                    <a:bodyPr/>
                    <a:lstStyle/>
                    <a:p>
                      <a:pPr marL="0" marR="0" lvl="0" indent="0" algn="l" rtl="0">
                        <a:lnSpc>
                          <a:spcPct val="100000"/>
                        </a:lnSpc>
                        <a:spcBef>
                          <a:spcPts val="0"/>
                        </a:spcBef>
                        <a:spcAft>
                          <a:spcPts val="0"/>
                        </a:spcAft>
                        <a:buNone/>
                      </a:pPr>
                      <a:r>
                        <a:rPr lang="en-US" sz="700" u="none" strike="noStrike" cap="none"/>
                        <a:t>State</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Best Action</a:t>
                      </a:r>
                      <a:endParaRPr sz="7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None/>
                      </a:pPr>
                      <a:r>
                        <a:rPr lang="en-US" sz="700" u="none" strike="noStrike" cap="none"/>
                        <a:t>Cool</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Slow</a:t>
                      </a:r>
                      <a:endParaRPr sz="7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None/>
                      </a:pPr>
                      <a:r>
                        <a:rPr lang="en-US" sz="700" u="none" strike="noStrike" cap="none"/>
                        <a:t>Warm</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Slow</a:t>
                      </a:r>
                      <a:endParaRPr sz="7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None/>
                      </a:pPr>
                      <a:r>
                        <a:rPr lang="en-US" sz="700" u="none" strike="noStrike" cap="none"/>
                        <a:t>Overheated</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a:t>
                      </a:r>
                      <a:endParaRPr sz="7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802" name="Google Shape;802;p21"/>
          <p:cNvSpPr txBox="1"/>
          <p:nvPr/>
        </p:nvSpPr>
        <p:spPr>
          <a:xfrm>
            <a:off x="794381" y="2031502"/>
            <a:ext cx="41640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dk1"/>
                </a:solidFill>
                <a:latin typeface="Arial"/>
                <a:ea typeface="Arial"/>
                <a:cs typeface="Arial"/>
                <a:sym typeface="Arial"/>
              </a:rPr>
              <a:t>π</a:t>
            </a:r>
            <a:r>
              <a:rPr lang="en-US" sz="1400" b="1" i="0" u="none" strike="noStrike" cap="none" baseline="-25000">
                <a:solidFill>
                  <a:schemeClr val="dk1"/>
                </a:solidFill>
                <a:latin typeface="Arial"/>
                <a:ea typeface="Arial"/>
                <a:cs typeface="Arial"/>
                <a:sym typeface="Arial"/>
              </a:rPr>
              <a:t>0</a:t>
            </a:r>
            <a:endParaRPr sz="1400" b="1" i="0" u="none" strike="noStrike" cap="none" baseline="-25000">
              <a:solidFill>
                <a:schemeClr val="dk1"/>
              </a:solidFill>
              <a:latin typeface="Arial"/>
              <a:ea typeface="Arial"/>
              <a:cs typeface="Arial"/>
              <a:sym typeface="Arial"/>
            </a:endParaRPr>
          </a:p>
        </p:txBody>
      </p:sp>
      <p:sp>
        <p:nvSpPr>
          <p:cNvPr id="803" name="Google Shape;803;p21"/>
          <p:cNvSpPr txBox="1"/>
          <p:nvPr/>
        </p:nvSpPr>
        <p:spPr>
          <a:xfrm>
            <a:off x="1726950" y="1963850"/>
            <a:ext cx="1680900" cy="11250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50" b="1">
                <a:solidFill>
                  <a:srgbClr val="1B1472"/>
                </a:solidFill>
              </a:rPr>
              <a:t>We will use asynchronous for updates in this example. Note that even though above backup diagram depicts all possible transition, this algorithm computes value from only one of the action as given by the initialized policy at the start of every iteration!!!</a:t>
            </a:r>
            <a:endParaRPr sz="7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01"/>
                                        </p:tgtEl>
                                        <p:attrNameLst>
                                          <p:attrName>style.visibility</p:attrName>
                                        </p:attrNameLst>
                                      </p:cBhvr>
                                      <p:to>
                                        <p:strVal val="visible"/>
                                      </p:to>
                                    </p:set>
                                    <p:animEffect transition="in" filter="fade">
                                      <p:cBhvr>
                                        <p:cTn id="11" dur="500"/>
                                        <p:tgtEl>
                                          <p:spTgt spid="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22"/>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grpSp>
        <p:nvGrpSpPr>
          <p:cNvPr id="809" name="Google Shape;809;p22"/>
          <p:cNvGrpSpPr/>
          <p:nvPr/>
        </p:nvGrpSpPr>
        <p:grpSpPr>
          <a:xfrm>
            <a:off x="0" y="3109250"/>
            <a:ext cx="5760261" cy="92075"/>
            <a:chOff x="0" y="3109250"/>
            <a:chExt cx="5760261" cy="92075"/>
          </a:xfrm>
        </p:grpSpPr>
        <p:sp>
          <p:nvSpPr>
            <p:cNvPr id="810" name="Google Shape;810;p2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2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2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13" name="Google Shape;813;p2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814" name="Google Shape;814;p2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22</a:t>
            </a:r>
            <a:endParaRPr/>
          </a:p>
        </p:txBody>
      </p:sp>
      <p:pic>
        <p:nvPicPr>
          <p:cNvPr id="815" name="Google Shape;815;p22" descr="TP_tmp.png"/>
          <p:cNvPicPr preferRelativeResize="0"/>
          <p:nvPr/>
        </p:nvPicPr>
        <p:blipFill rotWithShape="1">
          <a:blip r:embed="rId3">
            <a:alphaModFix/>
          </a:blip>
          <a:srcRect/>
          <a:stretch/>
        </p:blipFill>
        <p:spPr>
          <a:xfrm>
            <a:off x="171102" y="831044"/>
            <a:ext cx="96498" cy="152599"/>
          </a:xfrm>
          <a:prstGeom prst="rect">
            <a:avLst/>
          </a:prstGeom>
          <a:noFill/>
          <a:ln>
            <a:noFill/>
          </a:ln>
        </p:spPr>
      </p:pic>
      <p:pic>
        <p:nvPicPr>
          <p:cNvPr id="816" name="Google Shape;816;p22"/>
          <p:cNvPicPr preferRelativeResize="0"/>
          <p:nvPr/>
        </p:nvPicPr>
        <p:blipFill rotWithShape="1">
          <a:blip r:embed="rId4">
            <a:alphaModFix/>
          </a:blip>
          <a:srcRect/>
          <a:stretch/>
        </p:blipFill>
        <p:spPr>
          <a:xfrm>
            <a:off x="530051" y="527637"/>
            <a:ext cx="253340" cy="263412"/>
          </a:xfrm>
          <a:prstGeom prst="rect">
            <a:avLst/>
          </a:prstGeom>
          <a:noFill/>
          <a:ln>
            <a:noFill/>
          </a:ln>
        </p:spPr>
      </p:pic>
      <p:pic>
        <p:nvPicPr>
          <p:cNvPr id="817" name="Google Shape;817;p22"/>
          <p:cNvPicPr preferRelativeResize="0"/>
          <p:nvPr/>
        </p:nvPicPr>
        <p:blipFill rotWithShape="1">
          <a:blip r:embed="rId5">
            <a:alphaModFix/>
          </a:blip>
          <a:srcRect/>
          <a:stretch/>
        </p:blipFill>
        <p:spPr>
          <a:xfrm>
            <a:off x="1186084" y="490008"/>
            <a:ext cx="268790" cy="301041"/>
          </a:xfrm>
          <a:prstGeom prst="rect">
            <a:avLst/>
          </a:prstGeom>
          <a:noFill/>
          <a:ln>
            <a:noFill/>
          </a:ln>
        </p:spPr>
      </p:pic>
      <p:pic>
        <p:nvPicPr>
          <p:cNvPr id="818" name="Google Shape;818;p22"/>
          <p:cNvPicPr preferRelativeResize="0"/>
          <p:nvPr/>
        </p:nvPicPr>
        <p:blipFill rotWithShape="1">
          <a:blip r:embed="rId6">
            <a:alphaModFix/>
          </a:blip>
          <a:srcRect/>
          <a:stretch/>
        </p:blipFill>
        <p:spPr>
          <a:xfrm>
            <a:off x="860539" y="509793"/>
            <a:ext cx="276927" cy="275955"/>
          </a:xfrm>
          <a:prstGeom prst="rect">
            <a:avLst/>
          </a:prstGeom>
          <a:noFill/>
          <a:ln>
            <a:noFill/>
          </a:ln>
        </p:spPr>
      </p:pic>
      <p:sp>
        <p:nvSpPr>
          <p:cNvPr id="819" name="Google Shape;819;p22"/>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820" name="Google Shape;820;p22"/>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821" name="Google Shape;821;p22"/>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822" name="Google Shape;822;p22" descr="TP_tmp.png"/>
          <p:cNvPicPr preferRelativeResize="0"/>
          <p:nvPr/>
        </p:nvPicPr>
        <p:blipFill rotWithShape="1">
          <a:blip r:embed="rId7">
            <a:alphaModFix/>
          </a:blip>
          <a:srcRect/>
          <a:stretch/>
        </p:blipFill>
        <p:spPr>
          <a:xfrm>
            <a:off x="162560" y="1124121"/>
            <a:ext cx="86884" cy="152968"/>
          </a:xfrm>
          <a:prstGeom prst="rect">
            <a:avLst/>
          </a:prstGeom>
          <a:noFill/>
          <a:ln>
            <a:noFill/>
          </a:ln>
        </p:spPr>
      </p:pic>
      <p:pic>
        <p:nvPicPr>
          <p:cNvPr id="823" name="Google Shape;823;p22" descr="TP_tmp.png"/>
          <p:cNvPicPr preferRelativeResize="0"/>
          <p:nvPr/>
        </p:nvPicPr>
        <p:blipFill rotWithShape="1">
          <a:blip r:embed="rId8">
            <a:alphaModFix/>
          </a:blip>
          <a:srcRect/>
          <a:stretch/>
        </p:blipFill>
        <p:spPr>
          <a:xfrm>
            <a:off x="166022" y="1427874"/>
            <a:ext cx="96731" cy="152968"/>
          </a:xfrm>
          <a:prstGeom prst="rect">
            <a:avLst/>
          </a:prstGeom>
          <a:noFill/>
          <a:ln>
            <a:noFill/>
          </a:ln>
        </p:spPr>
      </p:pic>
      <p:sp>
        <p:nvSpPr>
          <p:cNvPr id="824" name="Google Shape;824;p22"/>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sp>
        <p:nvSpPr>
          <p:cNvPr id="825" name="Google Shape;825;p22"/>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FF0000"/>
                </a:solidFill>
                <a:latin typeface="Calibri"/>
                <a:ea typeface="Calibri"/>
                <a:cs typeface="Calibri"/>
                <a:sym typeface="Calibri"/>
              </a:rPr>
              <a:t>  1             </a:t>
            </a:r>
            <a:r>
              <a:rPr lang="en-US" sz="800" b="0" i="0" u="none" strike="noStrike" cap="none">
                <a:solidFill>
                  <a:schemeClr val="dk1"/>
                </a:solidFill>
                <a:latin typeface="Calibri"/>
                <a:ea typeface="Calibri"/>
                <a:cs typeface="Calibri"/>
                <a:sym typeface="Calibri"/>
              </a:rPr>
              <a:t>1.45        0……….</a:t>
            </a:r>
            <a:endParaRPr sz="300" b="0" i="0" u="none" strike="noStrike" cap="none">
              <a:solidFill>
                <a:srgbClr val="000000"/>
              </a:solidFill>
              <a:latin typeface="Arial"/>
              <a:ea typeface="Arial"/>
              <a:cs typeface="Arial"/>
              <a:sym typeface="Arial"/>
            </a:endParaRPr>
          </a:p>
        </p:txBody>
      </p:sp>
      <p:pic>
        <p:nvPicPr>
          <p:cNvPr id="826" name="Google Shape;826;p22"/>
          <p:cNvPicPr preferRelativeResize="0"/>
          <p:nvPr/>
        </p:nvPicPr>
        <p:blipFill rotWithShape="1">
          <a:blip r:embed="rId9">
            <a:alphaModFix/>
          </a:blip>
          <a:srcRect/>
          <a:stretch/>
        </p:blipFill>
        <p:spPr>
          <a:xfrm>
            <a:off x="3413403" y="1539705"/>
            <a:ext cx="2346858" cy="1422731"/>
          </a:xfrm>
          <a:prstGeom prst="rect">
            <a:avLst/>
          </a:prstGeom>
          <a:noFill/>
          <a:ln>
            <a:noFill/>
          </a:ln>
        </p:spPr>
      </p:pic>
      <p:sp>
        <p:nvSpPr>
          <p:cNvPr id="827" name="Google Shape;827;p22"/>
          <p:cNvSpPr/>
          <p:nvPr/>
        </p:nvSpPr>
        <p:spPr>
          <a:xfrm>
            <a:off x="2861351" y="398202"/>
            <a:ext cx="368572" cy="242326"/>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22"/>
          <p:cNvSpPr/>
          <p:nvPr/>
        </p:nvSpPr>
        <p:spPr>
          <a:xfrm>
            <a:off x="3259782" y="858040"/>
            <a:ext cx="295936" cy="207168"/>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829" name="Google Shape;829;p22"/>
          <p:cNvSpPr/>
          <p:nvPr/>
        </p:nvSpPr>
        <p:spPr>
          <a:xfrm>
            <a:off x="2386937" y="865657"/>
            <a:ext cx="295936" cy="207168"/>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22"/>
          <p:cNvSpPr/>
          <p:nvPr/>
        </p:nvSpPr>
        <p:spPr>
          <a:xfrm>
            <a:off x="2234265" y="1243636"/>
            <a:ext cx="279252" cy="197495"/>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831" name="Google Shape;831;p22"/>
          <p:cNvSpPr/>
          <p:nvPr/>
        </p:nvSpPr>
        <p:spPr>
          <a:xfrm>
            <a:off x="3038607" y="1243635"/>
            <a:ext cx="279252" cy="197495"/>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832" name="Google Shape;832;p22"/>
          <p:cNvSpPr/>
          <p:nvPr/>
        </p:nvSpPr>
        <p:spPr>
          <a:xfrm>
            <a:off x="3610273" y="124716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833" name="Google Shape;833;p22"/>
          <p:cNvCxnSpPr>
            <a:stCxn id="827" idx="3"/>
            <a:endCxn id="829"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834" name="Google Shape;834;p22"/>
          <p:cNvCxnSpPr>
            <a:stCxn id="827" idx="3"/>
            <a:endCxn id="828"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835" name="Google Shape;835;p22"/>
          <p:cNvCxnSpPr>
            <a:stCxn id="829" idx="4"/>
            <a:endCxn id="830"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836" name="Google Shape;836;p22"/>
          <p:cNvCxnSpPr>
            <a:stCxn id="828" idx="4"/>
            <a:endCxn id="832"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837" name="Google Shape;837;p22"/>
          <p:cNvCxnSpPr>
            <a:stCxn id="828" idx="4"/>
            <a:endCxn id="831"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838" name="Google Shape;838;p22"/>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839" name="Google Shape;839;p22"/>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840" name="Google Shape;840;p22"/>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841" name="Google Shape;841;p22"/>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842" name="Google Shape;842;p22"/>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843" name="Google Shape;843;p22"/>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844" name="Google Shape;844;p22"/>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845" name="Google Shape;845;p22"/>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846" name="Google Shape;846;p22"/>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847" name="Google Shape;847;p22"/>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848" name="Google Shape;848;p22"/>
          <p:cNvSpPr txBox="1"/>
          <p:nvPr/>
        </p:nvSpPr>
        <p:spPr>
          <a:xfrm>
            <a:off x="3453" y="1844831"/>
            <a:ext cx="1415579" cy="360483"/>
          </a:xfrm>
          <a:prstGeom prst="rect">
            <a:avLst/>
          </a:prstGeom>
          <a:blipFill rotWithShape="1">
            <a:blip r:embed="rId16">
              <a:alphaModFix/>
            </a:blip>
            <a:stretch>
              <a:fillRect l="-1722" t="-235566" r="-28447"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849" name="Google Shape;849;p22"/>
          <p:cNvSpPr txBox="1"/>
          <p:nvPr/>
        </p:nvSpPr>
        <p:spPr>
          <a:xfrm>
            <a:off x="0" y="2747059"/>
            <a:ext cx="5074594" cy="360483"/>
          </a:xfrm>
          <a:prstGeom prst="rect">
            <a:avLst/>
          </a:prstGeom>
          <a:blipFill rotWithShape="1">
            <a:blip r:embed="rId17">
              <a:alphaModFix/>
            </a:blip>
            <a:stretch>
              <a:fillRect l="-480" t="-23556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850" name="Google Shape;850;p22"/>
          <p:cNvSpPr txBox="1"/>
          <p:nvPr/>
        </p:nvSpPr>
        <p:spPr>
          <a:xfrm>
            <a:off x="-3002" y="2288001"/>
            <a:ext cx="3285451" cy="360483"/>
          </a:xfrm>
          <a:prstGeom prst="rect">
            <a:avLst/>
          </a:prstGeom>
          <a:blipFill rotWithShape="1">
            <a:blip r:embed="rId18">
              <a:alphaModFix/>
            </a:blip>
            <a:stretch>
              <a:fillRect l="-371" t="-233875"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851" name="Google Shape;851;p22"/>
          <p:cNvSpPr txBox="1"/>
          <p:nvPr/>
        </p:nvSpPr>
        <p:spPr>
          <a:xfrm>
            <a:off x="38040" y="1640085"/>
            <a:ext cx="2196226" cy="334702"/>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700" b="0" i="0" u="none" strike="noStrike" cap="none">
                <a:solidFill>
                  <a:srgbClr val="0070C0"/>
                </a:solidFill>
                <a:latin typeface="Arial"/>
                <a:ea typeface="Arial"/>
                <a:cs typeface="Arial"/>
                <a:sym typeface="Arial"/>
              </a:rPr>
              <a:t>The value uses the initialized policy to select only one action GREEDILY. Hence below cancelled equations differentiated PI vs VI</a:t>
            </a:r>
            <a:endParaRPr sz="700" b="0" i="0" u="none" strike="noStrike" cap="none">
              <a:solidFill>
                <a:srgbClr val="0070C0"/>
              </a:solidFill>
              <a:latin typeface="Arial"/>
              <a:ea typeface="Arial"/>
              <a:cs typeface="Arial"/>
              <a:sym typeface="Arial"/>
            </a:endParaRPr>
          </a:p>
        </p:txBody>
      </p:sp>
      <p:sp>
        <p:nvSpPr>
          <p:cNvPr id="852" name="Google Shape;852;p22"/>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853" name="Google Shape;853;p22"/>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54" name="Google Shape;854;p22"/>
          <p:cNvPicPr preferRelativeResize="0"/>
          <p:nvPr/>
        </p:nvPicPr>
        <p:blipFill rotWithShape="1">
          <a:blip r:embed="rId19">
            <a:alphaModFix/>
          </a:blip>
          <a:srcRect/>
          <a:stretch/>
        </p:blipFill>
        <p:spPr>
          <a:xfrm>
            <a:off x="3979160" y="82405"/>
            <a:ext cx="1798525" cy="1326929"/>
          </a:xfrm>
          <a:prstGeom prst="rect">
            <a:avLst/>
          </a:prstGeom>
          <a:noFill/>
          <a:ln>
            <a:noFill/>
          </a:ln>
        </p:spPr>
      </p:pic>
      <p:sp>
        <p:nvSpPr>
          <p:cNvPr id="855" name="Google Shape;855;p22"/>
          <p:cNvSpPr/>
          <p:nvPr/>
        </p:nvSpPr>
        <p:spPr>
          <a:xfrm>
            <a:off x="3837924" y="453349"/>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856" name="Google Shape;856;p22"/>
          <p:cNvPicPr preferRelativeResize="0"/>
          <p:nvPr/>
        </p:nvPicPr>
        <p:blipFill rotWithShape="1">
          <a:blip r:embed="rId20">
            <a:alphaModFix/>
          </a:blip>
          <a:srcRect/>
          <a:stretch/>
        </p:blipFill>
        <p:spPr>
          <a:xfrm>
            <a:off x="5136194" y="258608"/>
            <a:ext cx="318300" cy="124137"/>
          </a:xfrm>
          <a:prstGeom prst="rect">
            <a:avLst/>
          </a:prstGeom>
          <a:noFill/>
          <a:ln>
            <a:noFill/>
          </a:ln>
        </p:spPr>
      </p:pic>
      <p:sp>
        <p:nvSpPr>
          <p:cNvPr id="857" name="Google Shape;857;p22"/>
          <p:cNvSpPr/>
          <p:nvPr/>
        </p:nvSpPr>
        <p:spPr>
          <a:xfrm>
            <a:off x="5049099" y="281400"/>
            <a:ext cx="672600" cy="208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0000"/>
                </a:solidFill>
                <a:latin typeface="Arial"/>
                <a:ea typeface="Arial"/>
                <a:cs typeface="Arial"/>
                <a:sym typeface="Arial"/>
              </a:rPr>
              <a:t>ɵ = 0.01</a:t>
            </a:r>
            <a:endParaRPr sz="800" b="1" i="0" u="none" strike="noStrike" cap="none">
              <a:solidFill>
                <a:srgbClr val="000000"/>
              </a:solidFill>
              <a:latin typeface="Arial"/>
              <a:ea typeface="Arial"/>
              <a:cs typeface="Arial"/>
              <a:sym typeface="Arial"/>
            </a:endParaRPr>
          </a:p>
        </p:txBody>
      </p:sp>
      <p:sp>
        <p:nvSpPr>
          <p:cNvPr id="858" name="Google Shape;858;p22"/>
          <p:cNvSpPr txBox="1"/>
          <p:nvPr/>
        </p:nvSpPr>
        <p:spPr>
          <a:xfrm>
            <a:off x="83671" y="133659"/>
            <a:ext cx="2024241" cy="246221"/>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Policy Evaluation Starts</a:t>
            </a:r>
            <a:endParaRPr sz="1000" b="0" i="0" u="none" strike="noStrike" cap="none">
              <a:solidFill>
                <a:srgbClr val="0070C0"/>
              </a:solidFill>
              <a:latin typeface="Arial"/>
              <a:ea typeface="Arial"/>
              <a:cs typeface="Arial"/>
              <a:sym typeface="Arial"/>
            </a:endParaRPr>
          </a:p>
        </p:txBody>
      </p:sp>
      <p:sp>
        <p:nvSpPr>
          <p:cNvPr id="859" name="Google Shape;859;p22"/>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860" name="Google Shape;860;p22"/>
          <p:cNvSpPr txBox="1"/>
          <p:nvPr/>
        </p:nvSpPr>
        <p:spPr>
          <a:xfrm>
            <a:off x="2265038" y="1474663"/>
            <a:ext cx="1680900" cy="783300"/>
          </a:xfrm>
          <a:prstGeom prst="rect">
            <a:avLst/>
          </a:prstGeom>
          <a:solidFill>
            <a:srgbClr val="FFFF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650" b="1">
                <a:solidFill>
                  <a:srgbClr val="1B1472"/>
                </a:solidFill>
              </a:rPr>
              <a:t>This slide show what change from Value iteration to Policy iteration algorithm in the Evaluation step!. Since only action needs to be assessed, MAX of all actions outcome is no longer required in this PE cycle!</a:t>
            </a:r>
            <a:endParaRPr sz="650" b="1">
              <a:solidFill>
                <a:srgbClr val="1B1472"/>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23"/>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grpSp>
        <p:nvGrpSpPr>
          <p:cNvPr id="866" name="Google Shape;866;p23"/>
          <p:cNvGrpSpPr/>
          <p:nvPr/>
        </p:nvGrpSpPr>
        <p:grpSpPr>
          <a:xfrm>
            <a:off x="0" y="3109250"/>
            <a:ext cx="5760261" cy="92075"/>
            <a:chOff x="0" y="3109250"/>
            <a:chExt cx="5760261" cy="92075"/>
          </a:xfrm>
        </p:grpSpPr>
        <p:sp>
          <p:nvSpPr>
            <p:cNvPr id="867" name="Google Shape;867;p2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2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2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70" name="Google Shape;870;p2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871" name="Google Shape;871;p2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23</a:t>
            </a:r>
            <a:endParaRPr/>
          </a:p>
        </p:txBody>
      </p:sp>
      <p:pic>
        <p:nvPicPr>
          <p:cNvPr id="872" name="Google Shape;872;p23" descr="TP_tmp.png"/>
          <p:cNvPicPr preferRelativeResize="0"/>
          <p:nvPr/>
        </p:nvPicPr>
        <p:blipFill rotWithShape="1">
          <a:blip r:embed="rId3">
            <a:alphaModFix/>
          </a:blip>
          <a:srcRect/>
          <a:stretch/>
        </p:blipFill>
        <p:spPr>
          <a:xfrm>
            <a:off x="171102" y="831044"/>
            <a:ext cx="96498" cy="152599"/>
          </a:xfrm>
          <a:prstGeom prst="rect">
            <a:avLst/>
          </a:prstGeom>
          <a:noFill/>
          <a:ln>
            <a:noFill/>
          </a:ln>
        </p:spPr>
      </p:pic>
      <p:pic>
        <p:nvPicPr>
          <p:cNvPr id="873" name="Google Shape;873;p23"/>
          <p:cNvPicPr preferRelativeResize="0"/>
          <p:nvPr/>
        </p:nvPicPr>
        <p:blipFill rotWithShape="1">
          <a:blip r:embed="rId4">
            <a:alphaModFix/>
          </a:blip>
          <a:srcRect/>
          <a:stretch/>
        </p:blipFill>
        <p:spPr>
          <a:xfrm>
            <a:off x="530051" y="527637"/>
            <a:ext cx="253340" cy="263412"/>
          </a:xfrm>
          <a:prstGeom prst="rect">
            <a:avLst/>
          </a:prstGeom>
          <a:noFill/>
          <a:ln>
            <a:noFill/>
          </a:ln>
        </p:spPr>
      </p:pic>
      <p:pic>
        <p:nvPicPr>
          <p:cNvPr id="874" name="Google Shape;874;p23"/>
          <p:cNvPicPr preferRelativeResize="0"/>
          <p:nvPr/>
        </p:nvPicPr>
        <p:blipFill rotWithShape="1">
          <a:blip r:embed="rId5">
            <a:alphaModFix/>
          </a:blip>
          <a:srcRect/>
          <a:stretch/>
        </p:blipFill>
        <p:spPr>
          <a:xfrm>
            <a:off x="1186084" y="490008"/>
            <a:ext cx="268790" cy="301041"/>
          </a:xfrm>
          <a:prstGeom prst="rect">
            <a:avLst/>
          </a:prstGeom>
          <a:noFill/>
          <a:ln>
            <a:noFill/>
          </a:ln>
        </p:spPr>
      </p:pic>
      <p:pic>
        <p:nvPicPr>
          <p:cNvPr id="875" name="Google Shape;875;p23"/>
          <p:cNvPicPr preferRelativeResize="0"/>
          <p:nvPr/>
        </p:nvPicPr>
        <p:blipFill rotWithShape="1">
          <a:blip r:embed="rId6">
            <a:alphaModFix/>
          </a:blip>
          <a:srcRect/>
          <a:stretch/>
        </p:blipFill>
        <p:spPr>
          <a:xfrm>
            <a:off x="860539" y="509793"/>
            <a:ext cx="276927" cy="275955"/>
          </a:xfrm>
          <a:prstGeom prst="rect">
            <a:avLst/>
          </a:prstGeom>
          <a:noFill/>
          <a:ln>
            <a:noFill/>
          </a:ln>
        </p:spPr>
      </p:pic>
      <p:sp>
        <p:nvSpPr>
          <p:cNvPr id="876" name="Google Shape;876;p23"/>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877" name="Google Shape;877;p23"/>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878" name="Google Shape;878;p23"/>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879" name="Google Shape;879;p23" descr="TP_tmp.png"/>
          <p:cNvPicPr preferRelativeResize="0"/>
          <p:nvPr/>
        </p:nvPicPr>
        <p:blipFill rotWithShape="1">
          <a:blip r:embed="rId7">
            <a:alphaModFix/>
          </a:blip>
          <a:srcRect/>
          <a:stretch/>
        </p:blipFill>
        <p:spPr>
          <a:xfrm>
            <a:off x="162560" y="1124121"/>
            <a:ext cx="86884" cy="152968"/>
          </a:xfrm>
          <a:prstGeom prst="rect">
            <a:avLst/>
          </a:prstGeom>
          <a:noFill/>
          <a:ln>
            <a:noFill/>
          </a:ln>
        </p:spPr>
      </p:pic>
      <p:pic>
        <p:nvPicPr>
          <p:cNvPr id="880" name="Google Shape;880;p23" descr="TP_tmp.png"/>
          <p:cNvPicPr preferRelativeResize="0"/>
          <p:nvPr/>
        </p:nvPicPr>
        <p:blipFill rotWithShape="1">
          <a:blip r:embed="rId8">
            <a:alphaModFix/>
          </a:blip>
          <a:srcRect/>
          <a:stretch/>
        </p:blipFill>
        <p:spPr>
          <a:xfrm>
            <a:off x="166022" y="1427874"/>
            <a:ext cx="96731" cy="152968"/>
          </a:xfrm>
          <a:prstGeom prst="rect">
            <a:avLst/>
          </a:prstGeom>
          <a:noFill/>
          <a:ln>
            <a:noFill/>
          </a:ln>
        </p:spPr>
      </p:pic>
      <p:sp>
        <p:nvSpPr>
          <p:cNvPr id="881" name="Google Shape;881;p23"/>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pic>
        <p:nvPicPr>
          <p:cNvPr id="882" name="Google Shape;882;p23"/>
          <p:cNvPicPr preferRelativeResize="0"/>
          <p:nvPr/>
        </p:nvPicPr>
        <p:blipFill rotWithShape="1">
          <a:blip r:embed="rId9">
            <a:alphaModFix/>
          </a:blip>
          <a:srcRect/>
          <a:stretch/>
        </p:blipFill>
        <p:spPr>
          <a:xfrm>
            <a:off x="3413403" y="1539705"/>
            <a:ext cx="2346858" cy="1422731"/>
          </a:xfrm>
          <a:prstGeom prst="rect">
            <a:avLst/>
          </a:prstGeom>
          <a:noFill/>
          <a:ln>
            <a:noFill/>
          </a:ln>
        </p:spPr>
      </p:pic>
      <p:sp>
        <p:nvSpPr>
          <p:cNvPr id="883" name="Google Shape;883;p23"/>
          <p:cNvSpPr/>
          <p:nvPr/>
        </p:nvSpPr>
        <p:spPr>
          <a:xfrm>
            <a:off x="2861351" y="398202"/>
            <a:ext cx="368572" cy="242326"/>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23"/>
          <p:cNvSpPr/>
          <p:nvPr/>
        </p:nvSpPr>
        <p:spPr>
          <a:xfrm>
            <a:off x="3259782" y="858040"/>
            <a:ext cx="295936" cy="207168"/>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885" name="Google Shape;885;p23"/>
          <p:cNvSpPr/>
          <p:nvPr/>
        </p:nvSpPr>
        <p:spPr>
          <a:xfrm>
            <a:off x="2386937" y="865657"/>
            <a:ext cx="295936" cy="207168"/>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23"/>
          <p:cNvSpPr/>
          <p:nvPr/>
        </p:nvSpPr>
        <p:spPr>
          <a:xfrm>
            <a:off x="2234265" y="1243636"/>
            <a:ext cx="279252" cy="197495"/>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887" name="Google Shape;887;p23"/>
          <p:cNvSpPr/>
          <p:nvPr/>
        </p:nvSpPr>
        <p:spPr>
          <a:xfrm>
            <a:off x="3038607" y="1243635"/>
            <a:ext cx="279252" cy="197495"/>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888" name="Google Shape;888;p23"/>
          <p:cNvSpPr/>
          <p:nvPr/>
        </p:nvSpPr>
        <p:spPr>
          <a:xfrm>
            <a:off x="3610273" y="124716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889" name="Google Shape;889;p23"/>
          <p:cNvCxnSpPr>
            <a:stCxn id="883" idx="3"/>
            <a:endCxn id="885"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890" name="Google Shape;890;p23"/>
          <p:cNvCxnSpPr>
            <a:stCxn id="883" idx="3"/>
            <a:endCxn id="884"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891" name="Google Shape;891;p23"/>
          <p:cNvCxnSpPr>
            <a:stCxn id="885" idx="4"/>
            <a:endCxn id="886"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892" name="Google Shape;892;p23"/>
          <p:cNvCxnSpPr>
            <a:stCxn id="884" idx="4"/>
            <a:endCxn id="888"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893" name="Google Shape;893;p23"/>
          <p:cNvCxnSpPr>
            <a:stCxn id="884" idx="4"/>
            <a:endCxn id="887"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894" name="Google Shape;894;p23"/>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895" name="Google Shape;895;p23"/>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896" name="Google Shape;896;p23"/>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897" name="Google Shape;897;p23"/>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898" name="Google Shape;898;p23"/>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899" name="Google Shape;899;p23"/>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900" name="Google Shape;900;p23"/>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901" name="Google Shape;901;p23"/>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902" name="Google Shape;902;p23"/>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903" name="Google Shape;903;p23"/>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904" name="Google Shape;904;p23"/>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905" name="Google Shape;905;p23"/>
          <p:cNvSpPr txBox="1">
            <a:spLocks noGrp="1"/>
          </p:cNvSpPr>
          <p:nvPr>
            <p:ph type="body" idx="1"/>
          </p:nvPr>
        </p:nvSpPr>
        <p:spPr>
          <a:xfrm>
            <a:off x="130152" y="1983242"/>
            <a:ext cx="3480000" cy="1185300"/>
          </a:xfrm>
          <a:prstGeom prst="rect">
            <a:avLst/>
          </a:prstGeom>
          <a:noFill/>
          <a:ln>
            <a:noFill/>
          </a:ln>
        </p:spPr>
        <p:txBody>
          <a:bodyPr spcFirstLastPara="1" wrap="square" lIns="0" tIns="0" rIns="0" bIns="0" anchor="t" anchorCtr="0">
            <a:spAutoFit/>
          </a:bodyPr>
          <a:lstStyle/>
          <a:p>
            <a:pPr marL="457200" lvl="0" indent="-222250" algn="l" rtl="0">
              <a:lnSpc>
                <a:spcPct val="100000"/>
              </a:lnSpc>
              <a:spcBef>
                <a:spcPts val="0"/>
              </a:spcBef>
              <a:spcAft>
                <a:spcPts val="0"/>
              </a:spcAft>
              <a:buSzPts val="1300"/>
              <a:buFont typeface="Arial"/>
              <a:buChar char="•"/>
            </a:pPr>
            <a:r>
              <a:rPr lang="en-US" sz="950">
                <a:solidFill>
                  <a:schemeClr val="dk1"/>
                </a:solidFill>
              </a:rPr>
              <a:t>In PE, either synchronous or asynchronous value updates can be followed</a:t>
            </a:r>
            <a:endParaRPr sz="950"/>
          </a:p>
          <a:p>
            <a:pPr marL="457200" lvl="0" indent="-222250" algn="l" rtl="0">
              <a:lnSpc>
                <a:spcPct val="100000"/>
              </a:lnSpc>
              <a:spcBef>
                <a:spcPts val="0"/>
              </a:spcBef>
              <a:spcAft>
                <a:spcPts val="0"/>
              </a:spcAft>
              <a:buSzPts val="1300"/>
              <a:buFont typeface="Arial"/>
              <a:buChar char="•"/>
            </a:pPr>
            <a:r>
              <a:rPr lang="en-US" sz="950">
                <a:solidFill>
                  <a:schemeClr val="dk1"/>
                </a:solidFill>
              </a:rPr>
              <a:t>If Threshold of 0.01 is applied then approx., at 46</a:t>
            </a:r>
            <a:r>
              <a:rPr lang="en-US" sz="950" baseline="30000">
                <a:solidFill>
                  <a:schemeClr val="dk1"/>
                </a:solidFill>
              </a:rPr>
              <a:t>th</a:t>
            </a:r>
            <a:r>
              <a:rPr lang="en-US" sz="950">
                <a:solidFill>
                  <a:schemeClr val="dk1"/>
                </a:solidFill>
              </a:rPr>
              <a:t> iteration algorithm converges</a:t>
            </a:r>
            <a:endParaRPr sz="950"/>
          </a:p>
          <a:p>
            <a:pPr marL="457200" lvl="0" indent="-222250" algn="l" rtl="0">
              <a:lnSpc>
                <a:spcPct val="100000"/>
              </a:lnSpc>
              <a:spcBef>
                <a:spcPts val="0"/>
              </a:spcBef>
              <a:spcAft>
                <a:spcPts val="0"/>
              </a:spcAft>
              <a:buSzPts val="1300"/>
              <a:buFont typeface="Arial"/>
              <a:buChar char="•"/>
            </a:pPr>
            <a:r>
              <a:rPr lang="en-US" sz="950">
                <a:solidFill>
                  <a:srgbClr val="FF0000"/>
                </a:solidFill>
              </a:rPr>
              <a:t>Assume</a:t>
            </a:r>
            <a:r>
              <a:rPr lang="en-US" sz="950">
                <a:solidFill>
                  <a:schemeClr val="dk1"/>
                </a:solidFill>
              </a:rPr>
              <a:t> that Asynchronous method is used &amp; Thresholding is not applied. In this case at approx., near 225</a:t>
            </a:r>
            <a:r>
              <a:rPr lang="en-US" sz="950" baseline="30000">
                <a:solidFill>
                  <a:schemeClr val="dk1"/>
                </a:solidFill>
              </a:rPr>
              <a:t>th</a:t>
            </a:r>
            <a:r>
              <a:rPr lang="en-US" sz="950">
                <a:solidFill>
                  <a:schemeClr val="dk1"/>
                </a:solidFill>
              </a:rPr>
              <a:t> iteration values converge</a:t>
            </a:r>
            <a:endParaRPr sz="950">
              <a:solidFill>
                <a:schemeClr val="dk1"/>
              </a:solidFill>
            </a:endParaRPr>
          </a:p>
        </p:txBody>
      </p:sp>
      <p:sp>
        <p:nvSpPr>
          <p:cNvPr id="906" name="Google Shape;906;p23"/>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07" name="Google Shape;907;p23"/>
          <p:cNvPicPr preferRelativeResize="0"/>
          <p:nvPr/>
        </p:nvPicPr>
        <p:blipFill rotWithShape="1">
          <a:blip r:embed="rId16">
            <a:alphaModFix/>
          </a:blip>
          <a:srcRect/>
          <a:stretch/>
        </p:blipFill>
        <p:spPr>
          <a:xfrm>
            <a:off x="3979160" y="82405"/>
            <a:ext cx="1798525" cy="1326929"/>
          </a:xfrm>
          <a:prstGeom prst="rect">
            <a:avLst/>
          </a:prstGeom>
          <a:noFill/>
          <a:ln>
            <a:noFill/>
          </a:ln>
        </p:spPr>
      </p:pic>
      <p:sp>
        <p:nvSpPr>
          <p:cNvPr id="908" name="Google Shape;908;p23"/>
          <p:cNvSpPr/>
          <p:nvPr/>
        </p:nvSpPr>
        <p:spPr>
          <a:xfrm>
            <a:off x="3810390" y="838987"/>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909" name="Google Shape;909;p23"/>
          <p:cNvPicPr preferRelativeResize="0"/>
          <p:nvPr/>
        </p:nvPicPr>
        <p:blipFill rotWithShape="1">
          <a:blip r:embed="rId17">
            <a:alphaModFix/>
          </a:blip>
          <a:srcRect/>
          <a:stretch/>
        </p:blipFill>
        <p:spPr>
          <a:xfrm>
            <a:off x="5136194" y="258608"/>
            <a:ext cx="318300" cy="124137"/>
          </a:xfrm>
          <a:prstGeom prst="rect">
            <a:avLst/>
          </a:prstGeom>
          <a:noFill/>
          <a:ln>
            <a:noFill/>
          </a:ln>
        </p:spPr>
      </p:pic>
      <p:sp>
        <p:nvSpPr>
          <p:cNvPr id="910" name="Google Shape;910;p23"/>
          <p:cNvSpPr/>
          <p:nvPr/>
        </p:nvSpPr>
        <p:spPr>
          <a:xfrm>
            <a:off x="5049099" y="281399"/>
            <a:ext cx="644400" cy="19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0000"/>
                </a:solidFill>
                <a:latin typeface="Arial"/>
                <a:ea typeface="Arial"/>
                <a:cs typeface="Arial"/>
                <a:sym typeface="Arial"/>
              </a:rPr>
              <a:t>ɵ = 0.01</a:t>
            </a:r>
            <a:endParaRPr sz="800" b="1" i="0" u="none" strike="noStrike" cap="none">
              <a:solidFill>
                <a:srgbClr val="000000"/>
              </a:solidFill>
              <a:latin typeface="Arial"/>
              <a:ea typeface="Arial"/>
              <a:cs typeface="Arial"/>
              <a:sym typeface="Arial"/>
            </a:endParaRPr>
          </a:p>
        </p:txBody>
      </p:sp>
      <p:sp>
        <p:nvSpPr>
          <p:cNvPr id="911" name="Google Shape;911;p23"/>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FF0000"/>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a:t>
            </a:r>
            <a:r>
              <a:rPr lang="en-US" sz="800" b="1" i="0" u="none" strike="noStrike" cap="none">
                <a:solidFill>
                  <a:srgbClr val="FF0000"/>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1.45        0……….</a:t>
            </a:r>
            <a:endParaRPr sz="300" b="0" i="0" u="none" strike="noStrike" cap="none">
              <a:solidFill>
                <a:srgbClr val="000000"/>
              </a:solidFill>
              <a:latin typeface="Arial"/>
              <a:ea typeface="Arial"/>
              <a:cs typeface="Arial"/>
              <a:sym typeface="Arial"/>
            </a:endParaRPr>
          </a:p>
        </p:txBody>
      </p:sp>
      <p:sp>
        <p:nvSpPr>
          <p:cNvPr id="912" name="Google Shape;912;p23"/>
          <p:cNvSpPr txBox="1"/>
          <p:nvPr/>
        </p:nvSpPr>
        <p:spPr>
          <a:xfrm>
            <a:off x="499005" y="1401837"/>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1.9           2.51</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913" name="Google Shape;913;p23"/>
          <p:cNvSpPr/>
          <p:nvPr/>
        </p:nvSpPr>
        <p:spPr>
          <a:xfrm>
            <a:off x="323093" y="1819537"/>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914" name="Google Shape;914;p23"/>
          <p:cNvSpPr txBox="1"/>
          <p:nvPr/>
        </p:nvSpPr>
        <p:spPr>
          <a:xfrm>
            <a:off x="403302" y="179373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10</a:t>
            </a: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 10</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915" name="Google Shape;915;p23"/>
          <p:cNvSpPr txBox="1"/>
          <p:nvPr/>
        </p:nvSpPr>
        <p:spPr>
          <a:xfrm>
            <a:off x="36708" y="1809683"/>
            <a:ext cx="41774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V</a:t>
            </a:r>
            <a:r>
              <a:rPr lang="en-US" sz="800" b="0" i="0" u="none" strike="noStrike" cap="none" baseline="-25000">
                <a:solidFill>
                  <a:srgbClr val="000000"/>
                </a:solidFill>
                <a:latin typeface="Arial"/>
                <a:ea typeface="Arial"/>
                <a:cs typeface="Arial"/>
                <a:sym typeface="Arial"/>
              </a:rPr>
              <a:t>225</a:t>
            </a:r>
            <a:endParaRPr sz="800" b="0" i="0" u="none" strike="noStrike" cap="none" baseline="-25000">
              <a:solidFill>
                <a:srgbClr val="000000"/>
              </a:solidFill>
              <a:latin typeface="Arial"/>
              <a:ea typeface="Arial"/>
              <a:cs typeface="Arial"/>
              <a:sym typeface="Arial"/>
            </a:endParaRPr>
          </a:p>
        </p:txBody>
      </p:sp>
      <p:sp>
        <p:nvSpPr>
          <p:cNvPr id="916" name="Google Shape;916;p23"/>
          <p:cNvSpPr txBox="1"/>
          <p:nvPr/>
        </p:nvSpPr>
        <p:spPr>
          <a:xfrm>
            <a:off x="83671" y="133659"/>
            <a:ext cx="2024241" cy="246221"/>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Policy Evaluation Completes</a:t>
            </a:r>
            <a:endParaRPr sz="1000" b="0" i="0" u="none" strike="noStrike" cap="none">
              <a:solidFill>
                <a:srgbClr val="0070C0"/>
              </a:solidFill>
              <a:latin typeface="Arial"/>
              <a:ea typeface="Arial"/>
              <a:cs typeface="Arial"/>
              <a:sym typeface="Arial"/>
            </a:endParaRPr>
          </a:p>
        </p:txBody>
      </p:sp>
      <p:sp>
        <p:nvSpPr>
          <p:cNvPr id="917" name="Google Shape;917;p23"/>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24"/>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grpSp>
        <p:nvGrpSpPr>
          <p:cNvPr id="923" name="Google Shape;923;p24"/>
          <p:cNvGrpSpPr/>
          <p:nvPr/>
        </p:nvGrpSpPr>
        <p:grpSpPr>
          <a:xfrm>
            <a:off x="0" y="3109250"/>
            <a:ext cx="5760261" cy="92075"/>
            <a:chOff x="0" y="3109250"/>
            <a:chExt cx="5760261" cy="92075"/>
          </a:xfrm>
        </p:grpSpPr>
        <p:sp>
          <p:nvSpPr>
            <p:cNvPr id="924" name="Google Shape;924;p2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2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2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27" name="Google Shape;927;p2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928" name="Google Shape;928;p2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24</a:t>
            </a:r>
            <a:endParaRPr/>
          </a:p>
        </p:txBody>
      </p:sp>
      <p:pic>
        <p:nvPicPr>
          <p:cNvPr id="929" name="Google Shape;929;p24" descr="TP_tmp.png"/>
          <p:cNvPicPr preferRelativeResize="0"/>
          <p:nvPr/>
        </p:nvPicPr>
        <p:blipFill rotWithShape="1">
          <a:blip r:embed="rId3">
            <a:alphaModFix/>
          </a:blip>
          <a:srcRect/>
          <a:stretch/>
        </p:blipFill>
        <p:spPr>
          <a:xfrm>
            <a:off x="171102" y="831044"/>
            <a:ext cx="96498" cy="152599"/>
          </a:xfrm>
          <a:prstGeom prst="rect">
            <a:avLst/>
          </a:prstGeom>
          <a:noFill/>
          <a:ln>
            <a:noFill/>
          </a:ln>
        </p:spPr>
      </p:pic>
      <p:pic>
        <p:nvPicPr>
          <p:cNvPr id="930" name="Google Shape;930;p24"/>
          <p:cNvPicPr preferRelativeResize="0"/>
          <p:nvPr/>
        </p:nvPicPr>
        <p:blipFill rotWithShape="1">
          <a:blip r:embed="rId4">
            <a:alphaModFix/>
          </a:blip>
          <a:srcRect/>
          <a:stretch/>
        </p:blipFill>
        <p:spPr>
          <a:xfrm>
            <a:off x="530051" y="527637"/>
            <a:ext cx="253340" cy="263412"/>
          </a:xfrm>
          <a:prstGeom prst="rect">
            <a:avLst/>
          </a:prstGeom>
          <a:noFill/>
          <a:ln>
            <a:noFill/>
          </a:ln>
        </p:spPr>
      </p:pic>
      <p:pic>
        <p:nvPicPr>
          <p:cNvPr id="931" name="Google Shape;931;p24"/>
          <p:cNvPicPr preferRelativeResize="0"/>
          <p:nvPr/>
        </p:nvPicPr>
        <p:blipFill rotWithShape="1">
          <a:blip r:embed="rId5">
            <a:alphaModFix/>
          </a:blip>
          <a:srcRect/>
          <a:stretch/>
        </p:blipFill>
        <p:spPr>
          <a:xfrm>
            <a:off x="1186084" y="490008"/>
            <a:ext cx="268790" cy="301041"/>
          </a:xfrm>
          <a:prstGeom prst="rect">
            <a:avLst/>
          </a:prstGeom>
          <a:noFill/>
          <a:ln>
            <a:noFill/>
          </a:ln>
        </p:spPr>
      </p:pic>
      <p:pic>
        <p:nvPicPr>
          <p:cNvPr id="932" name="Google Shape;932;p24"/>
          <p:cNvPicPr preferRelativeResize="0"/>
          <p:nvPr/>
        </p:nvPicPr>
        <p:blipFill rotWithShape="1">
          <a:blip r:embed="rId6">
            <a:alphaModFix/>
          </a:blip>
          <a:srcRect/>
          <a:stretch/>
        </p:blipFill>
        <p:spPr>
          <a:xfrm>
            <a:off x="860539" y="509793"/>
            <a:ext cx="276927" cy="275955"/>
          </a:xfrm>
          <a:prstGeom prst="rect">
            <a:avLst/>
          </a:prstGeom>
          <a:noFill/>
          <a:ln>
            <a:noFill/>
          </a:ln>
        </p:spPr>
      </p:pic>
      <p:sp>
        <p:nvSpPr>
          <p:cNvPr id="933" name="Google Shape;933;p24"/>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934" name="Google Shape;934;p24"/>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935" name="Google Shape;935;p24"/>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936" name="Google Shape;936;p24" descr="TP_tmp.png"/>
          <p:cNvPicPr preferRelativeResize="0"/>
          <p:nvPr/>
        </p:nvPicPr>
        <p:blipFill rotWithShape="1">
          <a:blip r:embed="rId7">
            <a:alphaModFix/>
          </a:blip>
          <a:srcRect/>
          <a:stretch/>
        </p:blipFill>
        <p:spPr>
          <a:xfrm>
            <a:off x="162560" y="1124121"/>
            <a:ext cx="86884" cy="152968"/>
          </a:xfrm>
          <a:prstGeom prst="rect">
            <a:avLst/>
          </a:prstGeom>
          <a:noFill/>
          <a:ln>
            <a:noFill/>
          </a:ln>
        </p:spPr>
      </p:pic>
      <p:pic>
        <p:nvPicPr>
          <p:cNvPr id="937" name="Google Shape;937;p24" descr="TP_tmp.png"/>
          <p:cNvPicPr preferRelativeResize="0"/>
          <p:nvPr/>
        </p:nvPicPr>
        <p:blipFill rotWithShape="1">
          <a:blip r:embed="rId8">
            <a:alphaModFix/>
          </a:blip>
          <a:srcRect/>
          <a:stretch/>
        </p:blipFill>
        <p:spPr>
          <a:xfrm>
            <a:off x="166022" y="1427874"/>
            <a:ext cx="96731" cy="152968"/>
          </a:xfrm>
          <a:prstGeom prst="rect">
            <a:avLst/>
          </a:prstGeom>
          <a:noFill/>
          <a:ln>
            <a:noFill/>
          </a:ln>
        </p:spPr>
      </p:pic>
      <p:sp>
        <p:nvSpPr>
          <p:cNvPr id="938" name="Google Shape;938;p24"/>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pic>
        <p:nvPicPr>
          <p:cNvPr id="939" name="Google Shape;939;p24"/>
          <p:cNvPicPr preferRelativeResize="0"/>
          <p:nvPr/>
        </p:nvPicPr>
        <p:blipFill rotWithShape="1">
          <a:blip r:embed="rId9">
            <a:alphaModFix/>
          </a:blip>
          <a:srcRect/>
          <a:stretch/>
        </p:blipFill>
        <p:spPr>
          <a:xfrm>
            <a:off x="3413403" y="1539705"/>
            <a:ext cx="2346858" cy="1422731"/>
          </a:xfrm>
          <a:prstGeom prst="rect">
            <a:avLst/>
          </a:prstGeom>
          <a:noFill/>
          <a:ln>
            <a:noFill/>
          </a:ln>
        </p:spPr>
      </p:pic>
      <p:sp>
        <p:nvSpPr>
          <p:cNvPr id="940" name="Google Shape;940;p24"/>
          <p:cNvSpPr/>
          <p:nvPr/>
        </p:nvSpPr>
        <p:spPr>
          <a:xfrm>
            <a:off x="2861351" y="398202"/>
            <a:ext cx="368572" cy="242326"/>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24"/>
          <p:cNvSpPr/>
          <p:nvPr/>
        </p:nvSpPr>
        <p:spPr>
          <a:xfrm>
            <a:off x="3259782" y="858040"/>
            <a:ext cx="295936" cy="207168"/>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42" name="Google Shape;942;p24"/>
          <p:cNvSpPr/>
          <p:nvPr/>
        </p:nvSpPr>
        <p:spPr>
          <a:xfrm>
            <a:off x="2386937" y="865657"/>
            <a:ext cx="295936" cy="207168"/>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24"/>
          <p:cNvSpPr/>
          <p:nvPr/>
        </p:nvSpPr>
        <p:spPr>
          <a:xfrm>
            <a:off x="2234265" y="1243636"/>
            <a:ext cx="279252" cy="197495"/>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44" name="Google Shape;944;p24"/>
          <p:cNvSpPr/>
          <p:nvPr/>
        </p:nvSpPr>
        <p:spPr>
          <a:xfrm>
            <a:off x="3038607" y="1243635"/>
            <a:ext cx="279252" cy="197495"/>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45" name="Google Shape;945;p24"/>
          <p:cNvSpPr/>
          <p:nvPr/>
        </p:nvSpPr>
        <p:spPr>
          <a:xfrm>
            <a:off x="3610273" y="124716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946" name="Google Shape;946;p24"/>
          <p:cNvCxnSpPr>
            <a:stCxn id="940" idx="3"/>
            <a:endCxn id="942"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947" name="Google Shape;947;p24"/>
          <p:cNvCxnSpPr>
            <a:stCxn id="940" idx="3"/>
            <a:endCxn id="941"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948" name="Google Shape;948;p24"/>
          <p:cNvCxnSpPr>
            <a:stCxn id="942" idx="4"/>
            <a:endCxn id="943"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949" name="Google Shape;949;p24"/>
          <p:cNvCxnSpPr>
            <a:stCxn id="941" idx="4"/>
            <a:endCxn id="945"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950" name="Google Shape;950;p24"/>
          <p:cNvCxnSpPr>
            <a:stCxn id="941" idx="4"/>
            <a:endCxn id="944"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951" name="Google Shape;951;p24"/>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952" name="Google Shape;952;p24"/>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953" name="Google Shape;953;p24"/>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954" name="Google Shape;954;p24"/>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955" name="Google Shape;955;p24"/>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956" name="Google Shape;956;p24"/>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957" name="Google Shape;957;p24"/>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958" name="Google Shape;958;p24"/>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959" name="Google Shape;959;p24"/>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960" name="Google Shape;960;p24"/>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961" name="Google Shape;961;p24"/>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962" name="Google Shape;962;p24"/>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63" name="Google Shape;963;p24"/>
          <p:cNvPicPr preferRelativeResize="0"/>
          <p:nvPr/>
        </p:nvPicPr>
        <p:blipFill rotWithShape="1">
          <a:blip r:embed="rId16">
            <a:alphaModFix/>
          </a:blip>
          <a:srcRect/>
          <a:stretch/>
        </p:blipFill>
        <p:spPr>
          <a:xfrm>
            <a:off x="3979160" y="82405"/>
            <a:ext cx="1798525" cy="1326929"/>
          </a:xfrm>
          <a:prstGeom prst="rect">
            <a:avLst/>
          </a:prstGeom>
          <a:noFill/>
          <a:ln>
            <a:noFill/>
          </a:ln>
        </p:spPr>
      </p:pic>
      <p:sp>
        <p:nvSpPr>
          <p:cNvPr id="964" name="Google Shape;964;p24"/>
          <p:cNvSpPr/>
          <p:nvPr/>
        </p:nvSpPr>
        <p:spPr>
          <a:xfrm>
            <a:off x="3811326" y="1190295"/>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965" name="Google Shape;965;p24"/>
          <p:cNvPicPr preferRelativeResize="0"/>
          <p:nvPr/>
        </p:nvPicPr>
        <p:blipFill rotWithShape="1">
          <a:blip r:embed="rId17">
            <a:alphaModFix/>
          </a:blip>
          <a:srcRect/>
          <a:stretch/>
        </p:blipFill>
        <p:spPr>
          <a:xfrm>
            <a:off x="5136194" y="258608"/>
            <a:ext cx="318300" cy="124137"/>
          </a:xfrm>
          <a:prstGeom prst="rect">
            <a:avLst/>
          </a:prstGeom>
          <a:noFill/>
          <a:ln>
            <a:noFill/>
          </a:ln>
        </p:spPr>
      </p:pic>
      <p:sp>
        <p:nvSpPr>
          <p:cNvPr id="966" name="Google Shape;966;p24"/>
          <p:cNvSpPr/>
          <p:nvPr/>
        </p:nvSpPr>
        <p:spPr>
          <a:xfrm>
            <a:off x="5049099" y="281400"/>
            <a:ext cx="644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0000"/>
                </a:solidFill>
                <a:latin typeface="Arial"/>
                <a:ea typeface="Arial"/>
                <a:cs typeface="Arial"/>
                <a:sym typeface="Arial"/>
              </a:rPr>
              <a:t>ɵ = 0.01</a:t>
            </a:r>
            <a:endParaRPr sz="800" b="1" i="0" u="none" strike="noStrike" cap="none">
              <a:solidFill>
                <a:srgbClr val="000000"/>
              </a:solidFill>
              <a:latin typeface="Arial"/>
              <a:ea typeface="Arial"/>
              <a:cs typeface="Arial"/>
              <a:sym typeface="Arial"/>
            </a:endParaRPr>
          </a:p>
        </p:txBody>
      </p:sp>
      <p:sp>
        <p:nvSpPr>
          <p:cNvPr id="967" name="Google Shape;967;p24"/>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FF0000"/>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a:t>
            </a:r>
            <a:r>
              <a:rPr lang="en-US" sz="800" b="1" i="0" u="none" strike="noStrike" cap="none">
                <a:solidFill>
                  <a:srgbClr val="FF0000"/>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1.45        0……….</a:t>
            </a:r>
            <a:endParaRPr sz="300" b="0" i="0" u="none" strike="noStrike" cap="none">
              <a:solidFill>
                <a:srgbClr val="000000"/>
              </a:solidFill>
              <a:latin typeface="Arial"/>
              <a:ea typeface="Arial"/>
              <a:cs typeface="Arial"/>
              <a:sym typeface="Arial"/>
            </a:endParaRPr>
          </a:p>
        </p:txBody>
      </p:sp>
      <p:sp>
        <p:nvSpPr>
          <p:cNvPr id="968" name="Google Shape;968;p24"/>
          <p:cNvSpPr txBox="1"/>
          <p:nvPr/>
        </p:nvSpPr>
        <p:spPr>
          <a:xfrm>
            <a:off x="499005" y="1401837"/>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1.9           2.51</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969" name="Google Shape;969;p24"/>
          <p:cNvSpPr/>
          <p:nvPr/>
        </p:nvSpPr>
        <p:spPr>
          <a:xfrm>
            <a:off x="323093" y="1700269"/>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970" name="Google Shape;970;p24"/>
          <p:cNvSpPr txBox="1"/>
          <p:nvPr/>
        </p:nvSpPr>
        <p:spPr>
          <a:xfrm>
            <a:off x="403302" y="1674467"/>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10</a:t>
            </a: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 10</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971" name="Google Shape;971;p24"/>
          <p:cNvSpPr txBox="1"/>
          <p:nvPr/>
        </p:nvSpPr>
        <p:spPr>
          <a:xfrm>
            <a:off x="36708" y="1690415"/>
            <a:ext cx="41774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V</a:t>
            </a:r>
            <a:r>
              <a:rPr lang="en-US" sz="800" b="0" i="0" u="none" strike="noStrike" cap="none" baseline="-25000">
                <a:solidFill>
                  <a:srgbClr val="000000"/>
                </a:solidFill>
                <a:latin typeface="Arial"/>
                <a:ea typeface="Arial"/>
                <a:cs typeface="Arial"/>
                <a:sym typeface="Arial"/>
              </a:rPr>
              <a:t>225</a:t>
            </a:r>
            <a:endParaRPr sz="800" b="0" i="0" u="none" strike="noStrike" cap="none" baseline="-25000">
              <a:solidFill>
                <a:srgbClr val="000000"/>
              </a:solidFill>
              <a:latin typeface="Arial"/>
              <a:ea typeface="Arial"/>
              <a:cs typeface="Arial"/>
              <a:sym typeface="Arial"/>
            </a:endParaRPr>
          </a:p>
        </p:txBody>
      </p:sp>
      <p:sp>
        <p:nvSpPr>
          <p:cNvPr id="972" name="Google Shape;972;p24"/>
          <p:cNvSpPr txBox="1"/>
          <p:nvPr/>
        </p:nvSpPr>
        <p:spPr>
          <a:xfrm>
            <a:off x="83671" y="133659"/>
            <a:ext cx="2024241" cy="246221"/>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Policy Improvement</a:t>
            </a:r>
            <a:endParaRPr sz="1000" b="0" i="0" u="none" strike="noStrike" cap="none">
              <a:solidFill>
                <a:srgbClr val="0070C0"/>
              </a:solidFill>
              <a:latin typeface="Arial"/>
              <a:ea typeface="Arial"/>
              <a:cs typeface="Arial"/>
              <a:sym typeface="Arial"/>
            </a:endParaRPr>
          </a:p>
        </p:txBody>
      </p:sp>
      <p:sp>
        <p:nvSpPr>
          <p:cNvPr id="973" name="Google Shape;973;p24"/>
          <p:cNvSpPr txBox="1"/>
          <p:nvPr/>
        </p:nvSpPr>
        <p:spPr>
          <a:xfrm>
            <a:off x="0" y="2747059"/>
            <a:ext cx="5074594" cy="360483"/>
          </a:xfrm>
          <a:prstGeom prst="rect">
            <a:avLst/>
          </a:prstGeom>
          <a:blipFill rotWithShape="1">
            <a:blip r:embed="rId18">
              <a:alphaModFix/>
            </a:blip>
            <a:stretch>
              <a:fillRect l="-480" t="-23556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974" name="Google Shape;974;p24"/>
          <p:cNvSpPr txBox="1"/>
          <p:nvPr/>
        </p:nvSpPr>
        <p:spPr>
          <a:xfrm>
            <a:off x="-3002" y="2288001"/>
            <a:ext cx="3436133" cy="360483"/>
          </a:xfrm>
          <a:prstGeom prst="rect">
            <a:avLst/>
          </a:prstGeom>
          <a:blipFill rotWithShape="1">
            <a:blip r:embed="rId19">
              <a:alphaModFix/>
            </a:blip>
            <a:stretch>
              <a:fillRect l="-354" t="-233875"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975" name="Google Shape;975;p24"/>
          <p:cNvSpPr txBox="1"/>
          <p:nvPr/>
        </p:nvSpPr>
        <p:spPr>
          <a:xfrm>
            <a:off x="3453" y="1844831"/>
            <a:ext cx="1490921" cy="360483"/>
          </a:xfrm>
          <a:prstGeom prst="rect">
            <a:avLst/>
          </a:prstGeom>
          <a:blipFill rotWithShape="1">
            <a:blip r:embed="rId20">
              <a:alphaModFix/>
            </a:blip>
            <a:stretch>
              <a:fillRect l="-1638" t="-235566" r="-22128"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976" name="Google Shape;976;p24"/>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977" name="Google Shape;977;p24"/>
          <p:cNvSpPr txBox="1"/>
          <p:nvPr/>
        </p:nvSpPr>
        <p:spPr>
          <a:xfrm>
            <a:off x="3980475" y="1389200"/>
            <a:ext cx="1798500" cy="554100"/>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600">
                <a:solidFill>
                  <a:srgbClr val="0070C0"/>
                </a:solidFill>
              </a:rPr>
              <a:t>After PE is done, PI starts where the last value from PE is used to find the next best action. In this PI phase all actions are analysed and best action that MAXimises the value is chosen to update the policy</a:t>
            </a:r>
            <a:endParaRPr sz="600" b="0" i="0" u="none" strike="noStrike" cap="none">
              <a:solidFill>
                <a:srgbClr val="0070C0"/>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25"/>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grpSp>
        <p:nvGrpSpPr>
          <p:cNvPr id="983" name="Google Shape;983;p25"/>
          <p:cNvGrpSpPr/>
          <p:nvPr/>
        </p:nvGrpSpPr>
        <p:grpSpPr>
          <a:xfrm>
            <a:off x="0" y="3109250"/>
            <a:ext cx="5760261" cy="92075"/>
            <a:chOff x="0" y="3109250"/>
            <a:chExt cx="5760261" cy="92075"/>
          </a:xfrm>
        </p:grpSpPr>
        <p:sp>
          <p:nvSpPr>
            <p:cNvPr id="984" name="Google Shape;984;p2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2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2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87" name="Google Shape;987;p2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988" name="Google Shape;988;p2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25</a:t>
            </a:r>
            <a:endParaRPr/>
          </a:p>
        </p:txBody>
      </p:sp>
      <p:pic>
        <p:nvPicPr>
          <p:cNvPr id="989" name="Google Shape;989;p25" descr="TP_tmp.png"/>
          <p:cNvPicPr preferRelativeResize="0"/>
          <p:nvPr/>
        </p:nvPicPr>
        <p:blipFill rotWithShape="1">
          <a:blip r:embed="rId3">
            <a:alphaModFix/>
          </a:blip>
          <a:srcRect/>
          <a:stretch/>
        </p:blipFill>
        <p:spPr>
          <a:xfrm>
            <a:off x="171102" y="831044"/>
            <a:ext cx="96498" cy="152599"/>
          </a:xfrm>
          <a:prstGeom prst="rect">
            <a:avLst/>
          </a:prstGeom>
          <a:noFill/>
          <a:ln>
            <a:noFill/>
          </a:ln>
        </p:spPr>
      </p:pic>
      <p:pic>
        <p:nvPicPr>
          <p:cNvPr id="990" name="Google Shape;990;p25"/>
          <p:cNvPicPr preferRelativeResize="0"/>
          <p:nvPr/>
        </p:nvPicPr>
        <p:blipFill rotWithShape="1">
          <a:blip r:embed="rId4">
            <a:alphaModFix/>
          </a:blip>
          <a:srcRect/>
          <a:stretch/>
        </p:blipFill>
        <p:spPr>
          <a:xfrm>
            <a:off x="530051" y="527637"/>
            <a:ext cx="253340" cy="263412"/>
          </a:xfrm>
          <a:prstGeom prst="rect">
            <a:avLst/>
          </a:prstGeom>
          <a:noFill/>
          <a:ln>
            <a:noFill/>
          </a:ln>
        </p:spPr>
      </p:pic>
      <p:pic>
        <p:nvPicPr>
          <p:cNvPr id="991" name="Google Shape;991;p25"/>
          <p:cNvPicPr preferRelativeResize="0"/>
          <p:nvPr/>
        </p:nvPicPr>
        <p:blipFill rotWithShape="1">
          <a:blip r:embed="rId5">
            <a:alphaModFix/>
          </a:blip>
          <a:srcRect/>
          <a:stretch/>
        </p:blipFill>
        <p:spPr>
          <a:xfrm>
            <a:off x="1186084" y="490008"/>
            <a:ext cx="268790" cy="301041"/>
          </a:xfrm>
          <a:prstGeom prst="rect">
            <a:avLst/>
          </a:prstGeom>
          <a:noFill/>
          <a:ln>
            <a:noFill/>
          </a:ln>
        </p:spPr>
      </p:pic>
      <p:pic>
        <p:nvPicPr>
          <p:cNvPr id="992" name="Google Shape;992;p25"/>
          <p:cNvPicPr preferRelativeResize="0"/>
          <p:nvPr/>
        </p:nvPicPr>
        <p:blipFill rotWithShape="1">
          <a:blip r:embed="rId6">
            <a:alphaModFix/>
          </a:blip>
          <a:srcRect/>
          <a:stretch/>
        </p:blipFill>
        <p:spPr>
          <a:xfrm>
            <a:off x="860539" y="509793"/>
            <a:ext cx="276927" cy="275955"/>
          </a:xfrm>
          <a:prstGeom prst="rect">
            <a:avLst/>
          </a:prstGeom>
          <a:noFill/>
          <a:ln>
            <a:noFill/>
          </a:ln>
        </p:spPr>
      </p:pic>
      <p:sp>
        <p:nvSpPr>
          <p:cNvPr id="993" name="Google Shape;993;p25"/>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994" name="Google Shape;994;p25"/>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995" name="Google Shape;995;p25"/>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996" name="Google Shape;996;p25" descr="TP_tmp.png"/>
          <p:cNvPicPr preferRelativeResize="0"/>
          <p:nvPr/>
        </p:nvPicPr>
        <p:blipFill rotWithShape="1">
          <a:blip r:embed="rId7">
            <a:alphaModFix/>
          </a:blip>
          <a:srcRect/>
          <a:stretch/>
        </p:blipFill>
        <p:spPr>
          <a:xfrm>
            <a:off x="162560" y="1124121"/>
            <a:ext cx="86884" cy="152968"/>
          </a:xfrm>
          <a:prstGeom prst="rect">
            <a:avLst/>
          </a:prstGeom>
          <a:noFill/>
          <a:ln>
            <a:noFill/>
          </a:ln>
        </p:spPr>
      </p:pic>
      <p:pic>
        <p:nvPicPr>
          <p:cNvPr id="997" name="Google Shape;997;p25" descr="TP_tmp.png"/>
          <p:cNvPicPr preferRelativeResize="0"/>
          <p:nvPr/>
        </p:nvPicPr>
        <p:blipFill rotWithShape="1">
          <a:blip r:embed="rId8">
            <a:alphaModFix/>
          </a:blip>
          <a:srcRect/>
          <a:stretch/>
        </p:blipFill>
        <p:spPr>
          <a:xfrm>
            <a:off x="166022" y="1427874"/>
            <a:ext cx="96731" cy="152968"/>
          </a:xfrm>
          <a:prstGeom prst="rect">
            <a:avLst/>
          </a:prstGeom>
          <a:noFill/>
          <a:ln>
            <a:noFill/>
          </a:ln>
        </p:spPr>
      </p:pic>
      <p:sp>
        <p:nvSpPr>
          <p:cNvPr id="998" name="Google Shape;998;p25"/>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pic>
        <p:nvPicPr>
          <p:cNvPr id="999" name="Google Shape;999;p25"/>
          <p:cNvPicPr preferRelativeResize="0"/>
          <p:nvPr/>
        </p:nvPicPr>
        <p:blipFill rotWithShape="1">
          <a:blip r:embed="rId9">
            <a:alphaModFix/>
          </a:blip>
          <a:srcRect/>
          <a:stretch/>
        </p:blipFill>
        <p:spPr>
          <a:xfrm>
            <a:off x="3413403" y="1539705"/>
            <a:ext cx="2346858" cy="1422731"/>
          </a:xfrm>
          <a:prstGeom prst="rect">
            <a:avLst/>
          </a:prstGeom>
          <a:noFill/>
          <a:ln>
            <a:noFill/>
          </a:ln>
        </p:spPr>
      </p:pic>
      <p:sp>
        <p:nvSpPr>
          <p:cNvPr id="1000" name="Google Shape;1000;p25"/>
          <p:cNvSpPr/>
          <p:nvPr/>
        </p:nvSpPr>
        <p:spPr>
          <a:xfrm>
            <a:off x="2861351" y="398202"/>
            <a:ext cx="368572" cy="242326"/>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25"/>
          <p:cNvSpPr/>
          <p:nvPr/>
        </p:nvSpPr>
        <p:spPr>
          <a:xfrm>
            <a:off x="3259782" y="858040"/>
            <a:ext cx="295936" cy="207168"/>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002" name="Google Shape;1002;p25"/>
          <p:cNvSpPr/>
          <p:nvPr/>
        </p:nvSpPr>
        <p:spPr>
          <a:xfrm>
            <a:off x="2386937" y="865657"/>
            <a:ext cx="295936" cy="207168"/>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1003" name="Google Shape;1003;p25"/>
          <p:cNvSpPr/>
          <p:nvPr/>
        </p:nvSpPr>
        <p:spPr>
          <a:xfrm>
            <a:off x="2234265" y="1243636"/>
            <a:ext cx="279252" cy="197495"/>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004" name="Google Shape;1004;p25"/>
          <p:cNvSpPr/>
          <p:nvPr/>
        </p:nvSpPr>
        <p:spPr>
          <a:xfrm>
            <a:off x="3038607" y="1243635"/>
            <a:ext cx="279252" cy="197495"/>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005" name="Google Shape;1005;p25"/>
          <p:cNvSpPr/>
          <p:nvPr/>
        </p:nvSpPr>
        <p:spPr>
          <a:xfrm>
            <a:off x="3610273" y="124716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1006" name="Google Shape;1006;p25"/>
          <p:cNvCxnSpPr>
            <a:stCxn id="1000" idx="3"/>
            <a:endCxn id="1002"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1007" name="Google Shape;1007;p25"/>
          <p:cNvCxnSpPr>
            <a:stCxn id="1000" idx="3"/>
            <a:endCxn id="1001"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1008" name="Google Shape;1008;p25"/>
          <p:cNvCxnSpPr>
            <a:stCxn id="1002" idx="4"/>
            <a:endCxn id="1003"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1009" name="Google Shape;1009;p25"/>
          <p:cNvCxnSpPr>
            <a:stCxn id="1001" idx="4"/>
            <a:endCxn id="1005"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1010" name="Google Shape;1010;p25"/>
          <p:cNvCxnSpPr>
            <a:stCxn id="1001" idx="4"/>
            <a:endCxn id="1004"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1011" name="Google Shape;1011;p25"/>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1012" name="Google Shape;1012;p25"/>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1013" name="Google Shape;1013;p25"/>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1014" name="Google Shape;1014;p25"/>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1015" name="Google Shape;1015;p25"/>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1016" name="Google Shape;1016;p25"/>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1017" name="Google Shape;1017;p25"/>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1018" name="Google Shape;1018;p25"/>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1019" name="Google Shape;1019;p25"/>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1020" name="Google Shape;1020;p25"/>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1021" name="Google Shape;1021;p25"/>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1022" name="Google Shape;1022;p25"/>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23" name="Google Shape;1023;p25"/>
          <p:cNvPicPr preferRelativeResize="0"/>
          <p:nvPr/>
        </p:nvPicPr>
        <p:blipFill rotWithShape="1">
          <a:blip r:embed="rId16">
            <a:alphaModFix/>
          </a:blip>
          <a:srcRect/>
          <a:stretch/>
        </p:blipFill>
        <p:spPr>
          <a:xfrm>
            <a:off x="3979160" y="82405"/>
            <a:ext cx="1798525" cy="1326929"/>
          </a:xfrm>
          <a:prstGeom prst="rect">
            <a:avLst/>
          </a:prstGeom>
          <a:noFill/>
          <a:ln>
            <a:noFill/>
          </a:ln>
        </p:spPr>
      </p:pic>
      <p:sp>
        <p:nvSpPr>
          <p:cNvPr id="1024" name="Google Shape;1024;p25"/>
          <p:cNvSpPr/>
          <p:nvPr/>
        </p:nvSpPr>
        <p:spPr>
          <a:xfrm>
            <a:off x="3811326" y="1190295"/>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025" name="Google Shape;1025;p25"/>
          <p:cNvPicPr preferRelativeResize="0"/>
          <p:nvPr/>
        </p:nvPicPr>
        <p:blipFill rotWithShape="1">
          <a:blip r:embed="rId17">
            <a:alphaModFix/>
          </a:blip>
          <a:srcRect/>
          <a:stretch/>
        </p:blipFill>
        <p:spPr>
          <a:xfrm>
            <a:off x="5136194" y="258608"/>
            <a:ext cx="318300" cy="124137"/>
          </a:xfrm>
          <a:prstGeom prst="rect">
            <a:avLst/>
          </a:prstGeom>
          <a:noFill/>
          <a:ln>
            <a:noFill/>
          </a:ln>
        </p:spPr>
      </p:pic>
      <p:sp>
        <p:nvSpPr>
          <p:cNvPr id="1026" name="Google Shape;1026;p25"/>
          <p:cNvSpPr/>
          <p:nvPr/>
        </p:nvSpPr>
        <p:spPr>
          <a:xfrm>
            <a:off x="5049099" y="281400"/>
            <a:ext cx="679800" cy="208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0000"/>
                </a:solidFill>
                <a:latin typeface="Arial"/>
                <a:ea typeface="Arial"/>
                <a:cs typeface="Arial"/>
                <a:sym typeface="Arial"/>
              </a:rPr>
              <a:t>ɵ = 0.01</a:t>
            </a:r>
            <a:endParaRPr sz="800" b="1" i="0" u="none" strike="noStrike" cap="none">
              <a:solidFill>
                <a:srgbClr val="000000"/>
              </a:solidFill>
              <a:latin typeface="Arial"/>
              <a:ea typeface="Arial"/>
              <a:cs typeface="Arial"/>
              <a:sym typeface="Arial"/>
            </a:endParaRPr>
          </a:p>
        </p:txBody>
      </p:sp>
      <p:sp>
        <p:nvSpPr>
          <p:cNvPr id="1027" name="Google Shape;1027;p25"/>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FF0000"/>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a:t>
            </a:r>
            <a:r>
              <a:rPr lang="en-US" sz="800" b="1" i="0" u="none" strike="noStrike" cap="none">
                <a:solidFill>
                  <a:srgbClr val="FF0000"/>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1.45        0……….</a:t>
            </a:r>
            <a:endParaRPr sz="300" b="0" i="0" u="none" strike="noStrike" cap="none">
              <a:solidFill>
                <a:srgbClr val="000000"/>
              </a:solidFill>
              <a:latin typeface="Arial"/>
              <a:ea typeface="Arial"/>
              <a:cs typeface="Arial"/>
              <a:sym typeface="Arial"/>
            </a:endParaRPr>
          </a:p>
        </p:txBody>
      </p:sp>
      <p:sp>
        <p:nvSpPr>
          <p:cNvPr id="1028" name="Google Shape;1028;p25"/>
          <p:cNvSpPr txBox="1"/>
          <p:nvPr/>
        </p:nvSpPr>
        <p:spPr>
          <a:xfrm>
            <a:off x="499005" y="1401837"/>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1.9           2.51</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1029" name="Google Shape;1029;p25"/>
          <p:cNvSpPr/>
          <p:nvPr/>
        </p:nvSpPr>
        <p:spPr>
          <a:xfrm>
            <a:off x="323093" y="1700269"/>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030" name="Google Shape;1030;p25"/>
          <p:cNvSpPr txBox="1"/>
          <p:nvPr/>
        </p:nvSpPr>
        <p:spPr>
          <a:xfrm>
            <a:off x="403302" y="1674467"/>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10</a:t>
            </a: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 10</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1031" name="Google Shape;1031;p25"/>
          <p:cNvSpPr txBox="1"/>
          <p:nvPr/>
        </p:nvSpPr>
        <p:spPr>
          <a:xfrm>
            <a:off x="36708" y="1690415"/>
            <a:ext cx="41774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V</a:t>
            </a:r>
            <a:r>
              <a:rPr lang="en-US" sz="800" b="0" i="0" u="none" strike="noStrike" cap="none" baseline="-25000">
                <a:solidFill>
                  <a:srgbClr val="000000"/>
                </a:solidFill>
                <a:latin typeface="Arial"/>
                <a:ea typeface="Arial"/>
                <a:cs typeface="Arial"/>
                <a:sym typeface="Arial"/>
              </a:rPr>
              <a:t>225</a:t>
            </a:r>
            <a:endParaRPr sz="800" b="0" i="0" u="none" strike="noStrike" cap="none" baseline="-25000">
              <a:solidFill>
                <a:srgbClr val="000000"/>
              </a:solidFill>
              <a:latin typeface="Arial"/>
              <a:ea typeface="Arial"/>
              <a:cs typeface="Arial"/>
              <a:sym typeface="Arial"/>
            </a:endParaRPr>
          </a:p>
        </p:txBody>
      </p:sp>
      <p:sp>
        <p:nvSpPr>
          <p:cNvPr id="1032" name="Google Shape;1032;p25"/>
          <p:cNvSpPr txBox="1"/>
          <p:nvPr/>
        </p:nvSpPr>
        <p:spPr>
          <a:xfrm>
            <a:off x="83671" y="133659"/>
            <a:ext cx="2024241" cy="246221"/>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Policy Improvement</a:t>
            </a:r>
            <a:endParaRPr sz="1000" b="0" i="0" u="none" strike="noStrike" cap="none">
              <a:solidFill>
                <a:srgbClr val="0070C0"/>
              </a:solidFill>
              <a:latin typeface="Arial"/>
              <a:ea typeface="Arial"/>
              <a:cs typeface="Arial"/>
              <a:sym typeface="Arial"/>
            </a:endParaRPr>
          </a:p>
        </p:txBody>
      </p:sp>
      <p:sp>
        <p:nvSpPr>
          <p:cNvPr id="1033" name="Google Shape;1033;p25"/>
          <p:cNvSpPr txBox="1"/>
          <p:nvPr/>
        </p:nvSpPr>
        <p:spPr>
          <a:xfrm>
            <a:off x="3453" y="1844831"/>
            <a:ext cx="1677382" cy="360483"/>
          </a:xfrm>
          <a:prstGeom prst="rect">
            <a:avLst/>
          </a:prstGeom>
          <a:blipFill rotWithShape="1">
            <a:blip r:embed="rId18">
              <a:alphaModFix/>
            </a:blip>
            <a:stretch>
              <a:fillRect l="-1453" t="-235566" r="-14180"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1034" name="Google Shape;1034;p25"/>
          <p:cNvSpPr txBox="1"/>
          <p:nvPr/>
        </p:nvSpPr>
        <p:spPr>
          <a:xfrm>
            <a:off x="0" y="2747059"/>
            <a:ext cx="5270802" cy="360483"/>
          </a:xfrm>
          <a:prstGeom prst="rect">
            <a:avLst/>
          </a:prstGeom>
          <a:blipFill rotWithShape="1">
            <a:blip r:embed="rId19">
              <a:alphaModFix/>
            </a:blip>
            <a:stretch>
              <a:fillRect l="-461" t="-235566"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1035" name="Google Shape;1035;p25"/>
          <p:cNvSpPr txBox="1"/>
          <p:nvPr/>
        </p:nvSpPr>
        <p:spPr>
          <a:xfrm>
            <a:off x="-3002" y="2288001"/>
            <a:ext cx="3535135" cy="360483"/>
          </a:xfrm>
          <a:prstGeom prst="rect">
            <a:avLst/>
          </a:prstGeom>
          <a:blipFill rotWithShape="1">
            <a:blip r:embed="rId20">
              <a:alphaModFix/>
            </a:blip>
            <a:stretch>
              <a:fillRect l="-344" t="-233875"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1036" name="Google Shape;1036;p25"/>
          <p:cNvSpPr txBox="1"/>
          <p:nvPr/>
        </p:nvSpPr>
        <p:spPr>
          <a:xfrm>
            <a:off x="2328387" y="618138"/>
            <a:ext cx="15612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1037" name="Google Shape;1037;p25"/>
          <p:cNvSpPr txBox="1"/>
          <p:nvPr/>
        </p:nvSpPr>
        <p:spPr>
          <a:xfrm>
            <a:off x="3980475" y="1389200"/>
            <a:ext cx="1798500" cy="554100"/>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600">
                <a:solidFill>
                  <a:srgbClr val="0070C0"/>
                </a:solidFill>
              </a:rPr>
              <a:t>After PE is done, PI starts where the last value from PE is used to find the next best action. In this PI phase all actions are analysed and best action that MAXimises the value is chosen to update the policy</a:t>
            </a:r>
            <a:endParaRPr sz="600" b="0" i="0" u="none" strike="noStrike" cap="none">
              <a:solidFill>
                <a:srgbClr val="0070C0"/>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26"/>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grpSp>
        <p:nvGrpSpPr>
          <p:cNvPr id="1043" name="Google Shape;1043;p26"/>
          <p:cNvGrpSpPr/>
          <p:nvPr/>
        </p:nvGrpSpPr>
        <p:grpSpPr>
          <a:xfrm>
            <a:off x="0" y="3109250"/>
            <a:ext cx="5760261" cy="92075"/>
            <a:chOff x="0" y="3109250"/>
            <a:chExt cx="5760261" cy="92075"/>
          </a:xfrm>
        </p:grpSpPr>
        <p:sp>
          <p:nvSpPr>
            <p:cNvPr id="1044" name="Google Shape;1044;p2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p2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6" name="Google Shape;1046;p2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47" name="Google Shape;1047;p2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048" name="Google Shape;1048;p2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26</a:t>
            </a:r>
            <a:endParaRPr/>
          </a:p>
        </p:txBody>
      </p:sp>
      <p:pic>
        <p:nvPicPr>
          <p:cNvPr id="1049" name="Google Shape;1049;p26" descr="TP_tmp.png"/>
          <p:cNvPicPr preferRelativeResize="0"/>
          <p:nvPr/>
        </p:nvPicPr>
        <p:blipFill rotWithShape="1">
          <a:blip r:embed="rId3">
            <a:alphaModFix/>
          </a:blip>
          <a:srcRect/>
          <a:stretch/>
        </p:blipFill>
        <p:spPr>
          <a:xfrm>
            <a:off x="171102" y="831044"/>
            <a:ext cx="96498" cy="152599"/>
          </a:xfrm>
          <a:prstGeom prst="rect">
            <a:avLst/>
          </a:prstGeom>
          <a:noFill/>
          <a:ln>
            <a:noFill/>
          </a:ln>
        </p:spPr>
      </p:pic>
      <p:pic>
        <p:nvPicPr>
          <p:cNvPr id="1050" name="Google Shape;1050;p26"/>
          <p:cNvPicPr preferRelativeResize="0"/>
          <p:nvPr/>
        </p:nvPicPr>
        <p:blipFill rotWithShape="1">
          <a:blip r:embed="rId4">
            <a:alphaModFix/>
          </a:blip>
          <a:srcRect/>
          <a:stretch/>
        </p:blipFill>
        <p:spPr>
          <a:xfrm>
            <a:off x="530051" y="527637"/>
            <a:ext cx="253340" cy="263412"/>
          </a:xfrm>
          <a:prstGeom prst="rect">
            <a:avLst/>
          </a:prstGeom>
          <a:noFill/>
          <a:ln>
            <a:noFill/>
          </a:ln>
        </p:spPr>
      </p:pic>
      <p:pic>
        <p:nvPicPr>
          <p:cNvPr id="1051" name="Google Shape;1051;p26"/>
          <p:cNvPicPr preferRelativeResize="0"/>
          <p:nvPr/>
        </p:nvPicPr>
        <p:blipFill rotWithShape="1">
          <a:blip r:embed="rId5">
            <a:alphaModFix/>
          </a:blip>
          <a:srcRect/>
          <a:stretch/>
        </p:blipFill>
        <p:spPr>
          <a:xfrm>
            <a:off x="1186084" y="490008"/>
            <a:ext cx="268790" cy="301041"/>
          </a:xfrm>
          <a:prstGeom prst="rect">
            <a:avLst/>
          </a:prstGeom>
          <a:noFill/>
          <a:ln>
            <a:noFill/>
          </a:ln>
        </p:spPr>
      </p:pic>
      <p:pic>
        <p:nvPicPr>
          <p:cNvPr id="1052" name="Google Shape;1052;p26"/>
          <p:cNvPicPr preferRelativeResize="0"/>
          <p:nvPr/>
        </p:nvPicPr>
        <p:blipFill rotWithShape="1">
          <a:blip r:embed="rId6">
            <a:alphaModFix/>
          </a:blip>
          <a:srcRect/>
          <a:stretch/>
        </p:blipFill>
        <p:spPr>
          <a:xfrm>
            <a:off x="860539" y="509793"/>
            <a:ext cx="276927" cy="275955"/>
          </a:xfrm>
          <a:prstGeom prst="rect">
            <a:avLst/>
          </a:prstGeom>
          <a:noFill/>
          <a:ln>
            <a:noFill/>
          </a:ln>
        </p:spPr>
      </p:pic>
      <p:sp>
        <p:nvSpPr>
          <p:cNvPr id="1053" name="Google Shape;1053;p26"/>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054" name="Google Shape;1054;p26"/>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055" name="Google Shape;1055;p26"/>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1056" name="Google Shape;1056;p26" descr="TP_tmp.png"/>
          <p:cNvPicPr preferRelativeResize="0"/>
          <p:nvPr/>
        </p:nvPicPr>
        <p:blipFill rotWithShape="1">
          <a:blip r:embed="rId7">
            <a:alphaModFix/>
          </a:blip>
          <a:srcRect/>
          <a:stretch/>
        </p:blipFill>
        <p:spPr>
          <a:xfrm>
            <a:off x="162560" y="1124121"/>
            <a:ext cx="86884" cy="152968"/>
          </a:xfrm>
          <a:prstGeom prst="rect">
            <a:avLst/>
          </a:prstGeom>
          <a:noFill/>
          <a:ln>
            <a:noFill/>
          </a:ln>
        </p:spPr>
      </p:pic>
      <p:pic>
        <p:nvPicPr>
          <p:cNvPr id="1057" name="Google Shape;1057;p26" descr="TP_tmp.png"/>
          <p:cNvPicPr preferRelativeResize="0"/>
          <p:nvPr/>
        </p:nvPicPr>
        <p:blipFill rotWithShape="1">
          <a:blip r:embed="rId8">
            <a:alphaModFix/>
          </a:blip>
          <a:srcRect/>
          <a:stretch/>
        </p:blipFill>
        <p:spPr>
          <a:xfrm>
            <a:off x="166022" y="1427874"/>
            <a:ext cx="96731" cy="152968"/>
          </a:xfrm>
          <a:prstGeom prst="rect">
            <a:avLst/>
          </a:prstGeom>
          <a:noFill/>
          <a:ln>
            <a:noFill/>
          </a:ln>
        </p:spPr>
      </p:pic>
      <p:sp>
        <p:nvSpPr>
          <p:cNvPr id="1058" name="Google Shape;1058;p26"/>
          <p:cNvSpPr txBox="1"/>
          <p:nvPr/>
        </p:nvSpPr>
        <p:spPr>
          <a:xfrm>
            <a:off x="518420" y="789085"/>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a:t>
            </a:r>
            <a:endParaRPr sz="300" b="0" i="0" u="none" strike="noStrike" cap="none">
              <a:solidFill>
                <a:srgbClr val="000000"/>
              </a:solidFill>
              <a:latin typeface="Arial"/>
              <a:ea typeface="Arial"/>
              <a:cs typeface="Arial"/>
              <a:sym typeface="Arial"/>
            </a:endParaRPr>
          </a:p>
        </p:txBody>
      </p:sp>
      <p:pic>
        <p:nvPicPr>
          <p:cNvPr id="1059" name="Google Shape;1059;p26"/>
          <p:cNvPicPr preferRelativeResize="0"/>
          <p:nvPr/>
        </p:nvPicPr>
        <p:blipFill rotWithShape="1">
          <a:blip r:embed="rId9">
            <a:alphaModFix/>
          </a:blip>
          <a:srcRect/>
          <a:stretch/>
        </p:blipFill>
        <p:spPr>
          <a:xfrm>
            <a:off x="3413403" y="1539705"/>
            <a:ext cx="2346858" cy="1422731"/>
          </a:xfrm>
          <a:prstGeom prst="rect">
            <a:avLst/>
          </a:prstGeom>
          <a:noFill/>
          <a:ln>
            <a:noFill/>
          </a:ln>
        </p:spPr>
      </p:pic>
      <p:sp>
        <p:nvSpPr>
          <p:cNvPr id="1060" name="Google Shape;1060;p26"/>
          <p:cNvSpPr/>
          <p:nvPr/>
        </p:nvSpPr>
        <p:spPr>
          <a:xfrm>
            <a:off x="2861351" y="398202"/>
            <a:ext cx="368572" cy="242326"/>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p26"/>
          <p:cNvSpPr/>
          <p:nvPr/>
        </p:nvSpPr>
        <p:spPr>
          <a:xfrm>
            <a:off x="3259782" y="858040"/>
            <a:ext cx="295936" cy="207168"/>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062" name="Google Shape;1062;p26"/>
          <p:cNvSpPr/>
          <p:nvPr/>
        </p:nvSpPr>
        <p:spPr>
          <a:xfrm>
            <a:off x="2386937" y="865657"/>
            <a:ext cx="295936" cy="207168"/>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p26"/>
          <p:cNvSpPr/>
          <p:nvPr/>
        </p:nvSpPr>
        <p:spPr>
          <a:xfrm>
            <a:off x="2234265" y="1243636"/>
            <a:ext cx="279252" cy="197495"/>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064" name="Google Shape;1064;p26"/>
          <p:cNvSpPr/>
          <p:nvPr/>
        </p:nvSpPr>
        <p:spPr>
          <a:xfrm>
            <a:off x="3038607" y="1243635"/>
            <a:ext cx="279252" cy="197495"/>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065" name="Google Shape;1065;p26"/>
          <p:cNvSpPr/>
          <p:nvPr/>
        </p:nvSpPr>
        <p:spPr>
          <a:xfrm>
            <a:off x="3610273" y="124716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1066" name="Google Shape;1066;p26"/>
          <p:cNvCxnSpPr>
            <a:stCxn id="1060" idx="3"/>
            <a:endCxn id="1062"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1067" name="Google Shape;1067;p26"/>
          <p:cNvCxnSpPr>
            <a:stCxn id="1060" idx="3"/>
            <a:endCxn id="1061"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1068" name="Google Shape;1068;p26"/>
          <p:cNvCxnSpPr>
            <a:stCxn id="1062" idx="4"/>
            <a:endCxn id="1063"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1069" name="Google Shape;1069;p26"/>
          <p:cNvCxnSpPr>
            <a:stCxn id="1061" idx="4"/>
            <a:endCxn id="1065"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1070" name="Google Shape;1070;p26"/>
          <p:cNvCxnSpPr>
            <a:stCxn id="1061" idx="4"/>
            <a:endCxn id="1064"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1071" name="Google Shape;1071;p26"/>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1072" name="Google Shape;1072;p26"/>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1073" name="Google Shape;1073;p26"/>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1074" name="Google Shape;1074;p26"/>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1075" name="Google Shape;1075;p26"/>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1076" name="Google Shape;1076;p26"/>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1077" name="Google Shape;1077;p26"/>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1078" name="Google Shape;1078;p26"/>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1079" name="Google Shape;1079;p26"/>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1080" name="Google Shape;1080;p26"/>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1081" name="Google Shape;1081;p26"/>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1082" name="Google Shape;1082;p26"/>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83" name="Google Shape;1083;p26"/>
          <p:cNvPicPr preferRelativeResize="0"/>
          <p:nvPr/>
        </p:nvPicPr>
        <p:blipFill rotWithShape="1">
          <a:blip r:embed="rId16">
            <a:alphaModFix/>
          </a:blip>
          <a:srcRect/>
          <a:stretch/>
        </p:blipFill>
        <p:spPr>
          <a:xfrm>
            <a:off x="3979160" y="82405"/>
            <a:ext cx="1798525" cy="1326929"/>
          </a:xfrm>
          <a:prstGeom prst="rect">
            <a:avLst/>
          </a:prstGeom>
          <a:noFill/>
          <a:ln>
            <a:noFill/>
          </a:ln>
        </p:spPr>
      </p:pic>
      <p:sp>
        <p:nvSpPr>
          <p:cNvPr id="1084" name="Google Shape;1084;p26"/>
          <p:cNvSpPr/>
          <p:nvPr/>
        </p:nvSpPr>
        <p:spPr>
          <a:xfrm>
            <a:off x="3811326" y="1190295"/>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085" name="Google Shape;1085;p26"/>
          <p:cNvPicPr preferRelativeResize="0"/>
          <p:nvPr/>
        </p:nvPicPr>
        <p:blipFill rotWithShape="1">
          <a:blip r:embed="rId17">
            <a:alphaModFix/>
          </a:blip>
          <a:srcRect/>
          <a:stretch/>
        </p:blipFill>
        <p:spPr>
          <a:xfrm>
            <a:off x="5136194" y="258608"/>
            <a:ext cx="318300" cy="124137"/>
          </a:xfrm>
          <a:prstGeom prst="rect">
            <a:avLst/>
          </a:prstGeom>
          <a:noFill/>
          <a:ln>
            <a:noFill/>
          </a:ln>
        </p:spPr>
      </p:pic>
      <p:sp>
        <p:nvSpPr>
          <p:cNvPr id="1086" name="Google Shape;1086;p26"/>
          <p:cNvSpPr/>
          <p:nvPr/>
        </p:nvSpPr>
        <p:spPr>
          <a:xfrm>
            <a:off x="5049099" y="281400"/>
            <a:ext cx="665700" cy="24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0000"/>
                </a:solidFill>
                <a:latin typeface="Arial"/>
                <a:ea typeface="Arial"/>
                <a:cs typeface="Arial"/>
                <a:sym typeface="Arial"/>
              </a:rPr>
              <a:t>ɵ = 0.01</a:t>
            </a:r>
            <a:endParaRPr sz="800" b="1" i="0" u="none" strike="noStrike" cap="none">
              <a:solidFill>
                <a:srgbClr val="000000"/>
              </a:solidFill>
              <a:latin typeface="Arial"/>
              <a:ea typeface="Arial"/>
              <a:cs typeface="Arial"/>
              <a:sym typeface="Arial"/>
            </a:endParaRPr>
          </a:p>
        </p:txBody>
      </p:sp>
      <p:sp>
        <p:nvSpPr>
          <p:cNvPr id="1087" name="Google Shape;1087;p26"/>
          <p:cNvSpPr txBox="1"/>
          <p:nvPr/>
        </p:nvSpPr>
        <p:spPr>
          <a:xfrm>
            <a:off x="504339" y="1077273"/>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FF0000"/>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a:t>
            </a:r>
            <a:r>
              <a:rPr lang="en-US" sz="800" b="1" i="0" u="none" strike="noStrike" cap="none">
                <a:solidFill>
                  <a:srgbClr val="FF0000"/>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1.45        0……….</a:t>
            </a:r>
            <a:endParaRPr sz="300" b="0" i="0" u="none" strike="noStrike" cap="none">
              <a:solidFill>
                <a:srgbClr val="000000"/>
              </a:solidFill>
              <a:latin typeface="Arial"/>
              <a:ea typeface="Arial"/>
              <a:cs typeface="Arial"/>
              <a:sym typeface="Arial"/>
            </a:endParaRPr>
          </a:p>
        </p:txBody>
      </p:sp>
      <p:sp>
        <p:nvSpPr>
          <p:cNvPr id="1088" name="Google Shape;1088;p26"/>
          <p:cNvSpPr txBox="1"/>
          <p:nvPr/>
        </p:nvSpPr>
        <p:spPr>
          <a:xfrm>
            <a:off x="499005" y="1401837"/>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1.9           2.51</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1089" name="Google Shape;1089;p26"/>
          <p:cNvSpPr/>
          <p:nvPr/>
        </p:nvSpPr>
        <p:spPr>
          <a:xfrm>
            <a:off x="323093" y="1700269"/>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090" name="Google Shape;1090;p26"/>
          <p:cNvSpPr txBox="1"/>
          <p:nvPr/>
        </p:nvSpPr>
        <p:spPr>
          <a:xfrm>
            <a:off x="403302" y="1674467"/>
            <a:ext cx="1241394"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10</a:t>
            </a:r>
            <a:r>
              <a:rPr lang="en-US" sz="800" b="0" i="0" u="none" strike="noStrike" cap="none">
                <a:solidFill>
                  <a:schemeClr val="dk1"/>
                </a:solidFill>
                <a:latin typeface="Calibri"/>
                <a:ea typeface="Calibri"/>
                <a:cs typeface="Calibri"/>
                <a:sym typeface="Calibri"/>
              </a:rPr>
              <a:t>             ~</a:t>
            </a:r>
            <a:r>
              <a:rPr lang="en-US" sz="800" b="0" i="0" u="none" strike="noStrike" cap="none">
                <a:solidFill>
                  <a:schemeClr val="dk1"/>
                </a:solidFill>
                <a:highlight>
                  <a:srgbClr val="FFFF00"/>
                </a:highlight>
                <a:latin typeface="Calibri"/>
                <a:ea typeface="Calibri"/>
                <a:cs typeface="Calibri"/>
                <a:sym typeface="Calibri"/>
              </a:rPr>
              <a:t> 10</a:t>
            </a:r>
            <a:r>
              <a:rPr lang="en-US" sz="800" b="0" i="0" u="none" strike="noStrike" cap="none">
                <a:solidFill>
                  <a:schemeClr val="dk1"/>
                </a:solidFill>
                <a:latin typeface="Calibri"/>
                <a:ea typeface="Calibri"/>
                <a:cs typeface="Calibri"/>
                <a:sym typeface="Calibri"/>
              </a:rPr>
              <a:t>        0</a:t>
            </a:r>
            <a:endParaRPr sz="300" b="0" i="0" u="none" strike="noStrike" cap="none">
              <a:solidFill>
                <a:srgbClr val="000000"/>
              </a:solidFill>
              <a:latin typeface="Arial"/>
              <a:ea typeface="Arial"/>
              <a:cs typeface="Arial"/>
              <a:sym typeface="Arial"/>
            </a:endParaRPr>
          </a:p>
        </p:txBody>
      </p:sp>
      <p:sp>
        <p:nvSpPr>
          <p:cNvPr id="1091" name="Google Shape;1091;p26"/>
          <p:cNvSpPr txBox="1"/>
          <p:nvPr/>
        </p:nvSpPr>
        <p:spPr>
          <a:xfrm>
            <a:off x="36708" y="1690415"/>
            <a:ext cx="41774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Arial"/>
                <a:ea typeface="Arial"/>
                <a:cs typeface="Arial"/>
                <a:sym typeface="Arial"/>
              </a:rPr>
              <a:t>V</a:t>
            </a:r>
            <a:r>
              <a:rPr lang="en-US" sz="800" b="0" i="0" u="none" strike="noStrike" cap="none" baseline="-25000">
                <a:solidFill>
                  <a:srgbClr val="000000"/>
                </a:solidFill>
                <a:latin typeface="Arial"/>
                <a:ea typeface="Arial"/>
                <a:cs typeface="Arial"/>
                <a:sym typeface="Arial"/>
              </a:rPr>
              <a:t>225</a:t>
            </a:r>
            <a:endParaRPr sz="800" b="0" i="0" u="none" strike="noStrike" cap="none" baseline="-25000">
              <a:solidFill>
                <a:srgbClr val="000000"/>
              </a:solidFill>
              <a:latin typeface="Arial"/>
              <a:ea typeface="Arial"/>
              <a:cs typeface="Arial"/>
              <a:sym typeface="Arial"/>
            </a:endParaRPr>
          </a:p>
        </p:txBody>
      </p:sp>
      <p:sp>
        <p:nvSpPr>
          <p:cNvPr id="1092" name="Google Shape;1092;p26"/>
          <p:cNvSpPr txBox="1"/>
          <p:nvPr/>
        </p:nvSpPr>
        <p:spPr>
          <a:xfrm>
            <a:off x="83671" y="133659"/>
            <a:ext cx="2024241" cy="246221"/>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Policy Improvement Completes</a:t>
            </a:r>
            <a:endParaRPr sz="1000" b="0" i="0" u="none" strike="noStrike" cap="none">
              <a:solidFill>
                <a:srgbClr val="0070C0"/>
              </a:solidFill>
              <a:latin typeface="Arial"/>
              <a:ea typeface="Arial"/>
              <a:cs typeface="Arial"/>
              <a:sym typeface="Arial"/>
            </a:endParaRPr>
          </a:p>
        </p:txBody>
      </p:sp>
      <p:sp>
        <p:nvSpPr>
          <p:cNvPr id="1093" name="Google Shape;1093;p26"/>
          <p:cNvSpPr txBox="1"/>
          <p:nvPr/>
        </p:nvSpPr>
        <p:spPr>
          <a:xfrm>
            <a:off x="3453" y="1844831"/>
            <a:ext cx="1677382" cy="360483"/>
          </a:xfrm>
          <a:prstGeom prst="rect">
            <a:avLst/>
          </a:prstGeom>
          <a:blipFill rotWithShape="1">
            <a:blip r:embed="rId18">
              <a:alphaModFix/>
            </a:blip>
            <a:stretch>
              <a:fillRect l="-1453" t="-235566" r="-14180" b="-3304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1094" name="Google Shape;1094;p26"/>
          <p:cNvSpPr txBox="1"/>
          <p:nvPr/>
        </p:nvSpPr>
        <p:spPr>
          <a:xfrm>
            <a:off x="1826938" y="1871890"/>
            <a:ext cx="1490921" cy="360483"/>
          </a:xfrm>
          <a:prstGeom prst="rect">
            <a:avLst/>
          </a:prstGeom>
          <a:blipFill rotWithShape="1">
            <a:blip r:embed="rId19">
              <a:alphaModFix/>
            </a:blip>
            <a:stretch>
              <a:fillRect l="-1638" t="-233875" r="-22128" b="-33217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graphicFrame>
        <p:nvGraphicFramePr>
          <p:cNvPr id="1095" name="Google Shape;1095;p26"/>
          <p:cNvGraphicFramePr/>
          <p:nvPr/>
        </p:nvGraphicFramePr>
        <p:xfrm>
          <a:off x="298141" y="2296275"/>
          <a:ext cx="1397450" cy="792520"/>
        </p:xfrm>
        <a:graphic>
          <a:graphicData uri="http://schemas.openxmlformats.org/drawingml/2006/table">
            <a:tbl>
              <a:tblPr firstRow="1" bandRow="1">
                <a:noFill/>
                <a:tableStyleId>{2A8AA219-CA89-41A0-AA6F-2D93B60182F7}</a:tableStyleId>
              </a:tblPr>
              <a:tblGrid>
                <a:gridCol w="698725">
                  <a:extLst>
                    <a:ext uri="{9D8B030D-6E8A-4147-A177-3AD203B41FA5}">
                      <a16:colId xmlns:a16="http://schemas.microsoft.com/office/drawing/2014/main" val="20000"/>
                    </a:ext>
                  </a:extLst>
                </a:gridCol>
                <a:gridCol w="698725">
                  <a:extLst>
                    <a:ext uri="{9D8B030D-6E8A-4147-A177-3AD203B41FA5}">
                      <a16:colId xmlns:a16="http://schemas.microsoft.com/office/drawing/2014/main" val="20001"/>
                    </a:ext>
                  </a:extLst>
                </a:gridCol>
              </a:tblGrid>
              <a:tr h="187050">
                <a:tc>
                  <a:txBody>
                    <a:bodyPr/>
                    <a:lstStyle/>
                    <a:p>
                      <a:pPr marL="0" marR="0" lvl="0" indent="0" algn="l" rtl="0">
                        <a:lnSpc>
                          <a:spcPct val="100000"/>
                        </a:lnSpc>
                        <a:spcBef>
                          <a:spcPts val="0"/>
                        </a:spcBef>
                        <a:spcAft>
                          <a:spcPts val="0"/>
                        </a:spcAft>
                        <a:buNone/>
                      </a:pPr>
                      <a:r>
                        <a:rPr lang="en-US" sz="700" u="none" strike="noStrike" cap="none"/>
                        <a:t>State</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Best Action</a:t>
                      </a:r>
                      <a:endParaRPr sz="7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None/>
                      </a:pPr>
                      <a:r>
                        <a:rPr lang="en-US" sz="700" u="none" strike="noStrike" cap="none"/>
                        <a:t>Cool</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Fast</a:t>
                      </a:r>
                      <a:endParaRPr sz="7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None/>
                      </a:pPr>
                      <a:r>
                        <a:rPr lang="en-US" sz="700" u="none" strike="noStrike" cap="none"/>
                        <a:t>Warm</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Slow</a:t>
                      </a:r>
                      <a:endParaRPr sz="7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None/>
                      </a:pPr>
                      <a:r>
                        <a:rPr lang="en-US" sz="700" u="none" strike="noStrike" cap="none"/>
                        <a:t>Overheated</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a:t>
                      </a:r>
                      <a:endParaRPr sz="7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096" name="Google Shape;1096;p26"/>
          <p:cNvSpPr txBox="1"/>
          <p:nvPr/>
        </p:nvSpPr>
        <p:spPr>
          <a:xfrm>
            <a:off x="794381" y="2031502"/>
            <a:ext cx="41640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dk1"/>
                </a:solidFill>
                <a:latin typeface="Arial"/>
                <a:ea typeface="Arial"/>
                <a:cs typeface="Arial"/>
                <a:sym typeface="Arial"/>
              </a:rPr>
              <a:t>π</a:t>
            </a:r>
            <a:r>
              <a:rPr lang="en-US" sz="1400" b="1" i="0" u="none" strike="noStrike" cap="none" baseline="-25000">
                <a:solidFill>
                  <a:schemeClr val="dk1"/>
                </a:solidFill>
                <a:latin typeface="Arial"/>
                <a:ea typeface="Arial"/>
                <a:cs typeface="Arial"/>
                <a:sym typeface="Arial"/>
              </a:rPr>
              <a:t>1</a:t>
            </a:r>
            <a:endParaRPr sz="1400" b="1" i="0" u="none" strike="noStrike" cap="none" baseline="-25000">
              <a:solidFill>
                <a:schemeClr val="dk1"/>
              </a:solidFill>
              <a:latin typeface="Arial"/>
              <a:ea typeface="Arial"/>
              <a:cs typeface="Arial"/>
              <a:sym typeface="Arial"/>
            </a:endParaRPr>
          </a:p>
        </p:txBody>
      </p:sp>
      <p:sp>
        <p:nvSpPr>
          <p:cNvPr id="1097" name="Google Shape;1097;p26"/>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95"/>
                                        </p:tgtEl>
                                        <p:attrNameLst>
                                          <p:attrName>style.visibility</p:attrName>
                                        </p:attrNameLst>
                                      </p:cBhvr>
                                      <p:to>
                                        <p:strVal val="visible"/>
                                      </p:to>
                                    </p:set>
                                    <p:animEffect transition="in" filter="fade">
                                      <p:cBhvr>
                                        <p:cTn id="15" dur="500"/>
                                        <p:tgtEl>
                                          <p:spTgt spid="1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27"/>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sp>
        <p:nvSpPr>
          <p:cNvPr id="1103" name="Google Shape;1103;p27"/>
          <p:cNvSpPr/>
          <p:nvPr/>
        </p:nvSpPr>
        <p:spPr>
          <a:xfrm>
            <a:off x="5224266" y="543623"/>
            <a:ext cx="0" cy="41864"/>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04" name="Google Shape;1104;p27"/>
          <p:cNvGrpSpPr/>
          <p:nvPr/>
        </p:nvGrpSpPr>
        <p:grpSpPr>
          <a:xfrm>
            <a:off x="0" y="3109250"/>
            <a:ext cx="5760261" cy="92075"/>
            <a:chOff x="0" y="3109250"/>
            <a:chExt cx="5760261" cy="92075"/>
          </a:xfrm>
        </p:grpSpPr>
        <p:sp>
          <p:nvSpPr>
            <p:cNvPr id="1105" name="Google Shape;1105;p2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6" name="Google Shape;1106;p2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7" name="Google Shape;1107;p2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08" name="Google Shape;1108;p2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109" name="Google Shape;1109;p2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27</a:t>
            </a:r>
            <a:endParaRPr/>
          </a:p>
        </p:txBody>
      </p:sp>
      <p:pic>
        <p:nvPicPr>
          <p:cNvPr id="1110" name="Google Shape;1110;p27" descr="TP_tmp.png"/>
          <p:cNvPicPr preferRelativeResize="0"/>
          <p:nvPr/>
        </p:nvPicPr>
        <p:blipFill rotWithShape="1">
          <a:blip r:embed="rId3">
            <a:alphaModFix/>
          </a:blip>
          <a:srcRect/>
          <a:stretch/>
        </p:blipFill>
        <p:spPr>
          <a:xfrm>
            <a:off x="171102" y="831044"/>
            <a:ext cx="96498" cy="152599"/>
          </a:xfrm>
          <a:prstGeom prst="rect">
            <a:avLst/>
          </a:prstGeom>
          <a:noFill/>
          <a:ln>
            <a:noFill/>
          </a:ln>
        </p:spPr>
      </p:pic>
      <p:pic>
        <p:nvPicPr>
          <p:cNvPr id="1111" name="Google Shape;1111;p27"/>
          <p:cNvPicPr preferRelativeResize="0"/>
          <p:nvPr/>
        </p:nvPicPr>
        <p:blipFill rotWithShape="1">
          <a:blip r:embed="rId4">
            <a:alphaModFix/>
          </a:blip>
          <a:srcRect/>
          <a:stretch/>
        </p:blipFill>
        <p:spPr>
          <a:xfrm>
            <a:off x="530051" y="527637"/>
            <a:ext cx="253340" cy="263412"/>
          </a:xfrm>
          <a:prstGeom prst="rect">
            <a:avLst/>
          </a:prstGeom>
          <a:noFill/>
          <a:ln>
            <a:noFill/>
          </a:ln>
        </p:spPr>
      </p:pic>
      <p:pic>
        <p:nvPicPr>
          <p:cNvPr id="1112" name="Google Shape;1112;p27"/>
          <p:cNvPicPr preferRelativeResize="0"/>
          <p:nvPr/>
        </p:nvPicPr>
        <p:blipFill rotWithShape="1">
          <a:blip r:embed="rId5">
            <a:alphaModFix/>
          </a:blip>
          <a:srcRect/>
          <a:stretch/>
        </p:blipFill>
        <p:spPr>
          <a:xfrm>
            <a:off x="1186084" y="490008"/>
            <a:ext cx="268790" cy="301041"/>
          </a:xfrm>
          <a:prstGeom prst="rect">
            <a:avLst/>
          </a:prstGeom>
          <a:noFill/>
          <a:ln>
            <a:noFill/>
          </a:ln>
        </p:spPr>
      </p:pic>
      <p:pic>
        <p:nvPicPr>
          <p:cNvPr id="1113" name="Google Shape;1113;p27"/>
          <p:cNvPicPr preferRelativeResize="0"/>
          <p:nvPr/>
        </p:nvPicPr>
        <p:blipFill rotWithShape="1">
          <a:blip r:embed="rId6">
            <a:alphaModFix/>
          </a:blip>
          <a:srcRect/>
          <a:stretch/>
        </p:blipFill>
        <p:spPr>
          <a:xfrm>
            <a:off x="860539" y="509793"/>
            <a:ext cx="276927" cy="275955"/>
          </a:xfrm>
          <a:prstGeom prst="rect">
            <a:avLst/>
          </a:prstGeom>
          <a:noFill/>
          <a:ln>
            <a:noFill/>
          </a:ln>
        </p:spPr>
      </p:pic>
      <p:sp>
        <p:nvSpPr>
          <p:cNvPr id="1114" name="Google Shape;1114;p27"/>
          <p:cNvSpPr/>
          <p:nvPr/>
        </p:nvSpPr>
        <p:spPr>
          <a:xfrm>
            <a:off x="309839" y="1421975"/>
            <a:ext cx="1385742" cy="19607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115" name="Google Shape;1115;p27"/>
          <p:cNvSpPr/>
          <p:nvPr/>
        </p:nvSpPr>
        <p:spPr>
          <a:xfrm>
            <a:off x="325079" y="1077274"/>
            <a:ext cx="1385742" cy="215402"/>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116" name="Google Shape;1116;p27"/>
          <p:cNvSpPr/>
          <p:nvPr/>
        </p:nvSpPr>
        <p:spPr>
          <a:xfrm>
            <a:off x="327919" y="789084"/>
            <a:ext cx="1385742" cy="215404"/>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pic>
        <p:nvPicPr>
          <p:cNvPr id="1117" name="Google Shape;1117;p27" descr="TP_tmp.png"/>
          <p:cNvPicPr preferRelativeResize="0"/>
          <p:nvPr/>
        </p:nvPicPr>
        <p:blipFill rotWithShape="1">
          <a:blip r:embed="rId7">
            <a:alphaModFix/>
          </a:blip>
          <a:srcRect/>
          <a:stretch/>
        </p:blipFill>
        <p:spPr>
          <a:xfrm>
            <a:off x="162560" y="1124121"/>
            <a:ext cx="86884" cy="152968"/>
          </a:xfrm>
          <a:prstGeom prst="rect">
            <a:avLst/>
          </a:prstGeom>
          <a:noFill/>
          <a:ln>
            <a:noFill/>
          </a:ln>
        </p:spPr>
      </p:pic>
      <p:pic>
        <p:nvPicPr>
          <p:cNvPr id="1118" name="Google Shape;1118;p27" descr="TP_tmp.png"/>
          <p:cNvPicPr preferRelativeResize="0"/>
          <p:nvPr/>
        </p:nvPicPr>
        <p:blipFill rotWithShape="1">
          <a:blip r:embed="rId8">
            <a:alphaModFix/>
          </a:blip>
          <a:srcRect/>
          <a:stretch/>
        </p:blipFill>
        <p:spPr>
          <a:xfrm>
            <a:off x="166022" y="1427874"/>
            <a:ext cx="96731" cy="152968"/>
          </a:xfrm>
          <a:prstGeom prst="rect">
            <a:avLst/>
          </a:prstGeom>
          <a:noFill/>
          <a:ln>
            <a:noFill/>
          </a:ln>
        </p:spPr>
      </p:pic>
      <p:sp>
        <p:nvSpPr>
          <p:cNvPr id="1119" name="Google Shape;1119;p27"/>
          <p:cNvSpPr txBox="1"/>
          <p:nvPr/>
        </p:nvSpPr>
        <p:spPr>
          <a:xfrm>
            <a:off x="428799" y="789085"/>
            <a:ext cx="1331015"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FF0000"/>
                </a:solidFill>
                <a:latin typeface="Calibri"/>
                <a:ea typeface="Calibri"/>
                <a:cs typeface="Calibri"/>
                <a:sym typeface="Calibri"/>
              </a:rPr>
              <a:t>  10             10             0 ……..</a:t>
            </a:r>
            <a:endParaRPr sz="300" b="0" i="0" u="none" strike="noStrike" cap="none">
              <a:solidFill>
                <a:srgbClr val="FF0000"/>
              </a:solidFill>
              <a:latin typeface="Arial"/>
              <a:ea typeface="Arial"/>
              <a:cs typeface="Arial"/>
              <a:sym typeface="Arial"/>
            </a:endParaRPr>
          </a:p>
        </p:txBody>
      </p:sp>
      <p:pic>
        <p:nvPicPr>
          <p:cNvPr id="1120" name="Google Shape;1120;p27"/>
          <p:cNvPicPr preferRelativeResize="0"/>
          <p:nvPr/>
        </p:nvPicPr>
        <p:blipFill rotWithShape="1">
          <a:blip r:embed="rId9">
            <a:alphaModFix/>
          </a:blip>
          <a:srcRect/>
          <a:stretch/>
        </p:blipFill>
        <p:spPr>
          <a:xfrm>
            <a:off x="3413403" y="1539705"/>
            <a:ext cx="2346858" cy="1422731"/>
          </a:xfrm>
          <a:prstGeom prst="rect">
            <a:avLst/>
          </a:prstGeom>
          <a:noFill/>
          <a:ln>
            <a:noFill/>
          </a:ln>
        </p:spPr>
      </p:pic>
      <p:sp>
        <p:nvSpPr>
          <p:cNvPr id="1121" name="Google Shape;1121;p27"/>
          <p:cNvSpPr/>
          <p:nvPr/>
        </p:nvSpPr>
        <p:spPr>
          <a:xfrm>
            <a:off x="2861351" y="398202"/>
            <a:ext cx="368572" cy="242326"/>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1122" name="Google Shape;1122;p27"/>
          <p:cNvSpPr/>
          <p:nvPr/>
        </p:nvSpPr>
        <p:spPr>
          <a:xfrm>
            <a:off x="3259782" y="858040"/>
            <a:ext cx="295936" cy="207168"/>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23" name="Google Shape;1123;p27"/>
          <p:cNvSpPr/>
          <p:nvPr/>
        </p:nvSpPr>
        <p:spPr>
          <a:xfrm>
            <a:off x="2386937" y="865657"/>
            <a:ext cx="295936" cy="207168"/>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a:solidFill>
                <a:srgbClr val="000000"/>
              </a:solidFill>
              <a:latin typeface="Arial"/>
              <a:ea typeface="Arial"/>
              <a:cs typeface="Arial"/>
              <a:sym typeface="Arial"/>
            </a:endParaRPr>
          </a:p>
        </p:txBody>
      </p:sp>
      <p:sp>
        <p:nvSpPr>
          <p:cNvPr id="1124" name="Google Shape;1124;p27"/>
          <p:cNvSpPr/>
          <p:nvPr/>
        </p:nvSpPr>
        <p:spPr>
          <a:xfrm>
            <a:off x="2234265" y="1243636"/>
            <a:ext cx="279252" cy="197495"/>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25" name="Google Shape;1125;p27"/>
          <p:cNvSpPr/>
          <p:nvPr/>
        </p:nvSpPr>
        <p:spPr>
          <a:xfrm>
            <a:off x="3038607" y="1243635"/>
            <a:ext cx="279252" cy="197495"/>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26" name="Google Shape;1126;p27"/>
          <p:cNvSpPr/>
          <p:nvPr/>
        </p:nvSpPr>
        <p:spPr>
          <a:xfrm>
            <a:off x="3610273" y="1247166"/>
            <a:ext cx="279252" cy="197495"/>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1127" name="Google Shape;1127;p27"/>
          <p:cNvCxnSpPr>
            <a:stCxn id="1121" idx="3"/>
            <a:endCxn id="1123" idx="7"/>
          </p:cNvCxnSpPr>
          <p:nvPr/>
        </p:nvCxnSpPr>
        <p:spPr>
          <a:xfrm flipH="1">
            <a:off x="2639437" y="640528"/>
            <a:ext cx="406200" cy="255600"/>
          </a:xfrm>
          <a:prstGeom prst="straightConnector1">
            <a:avLst/>
          </a:prstGeom>
          <a:noFill/>
          <a:ln w="9525" cap="flat" cmpd="sng">
            <a:solidFill>
              <a:schemeClr val="dk1"/>
            </a:solidFill>
            <a:prstDash val="solid"/>
            <a:miter lim="800000"/>
            <a:headEnd type="none" w="sm" len="sm"/>
            <a:tailEnd type="triangle" w="med" len="med"/>
          </a:ln>
        </p:spPr>
      </p:cxnSp>
      <p:cxnSp>
        <p:nvCxnSpPr>
          <p:cNvPr id="1128" name="Google Shape;1128;p27"/>
          <p:cNvCxnSpPr>
            <a:stCxn id="1121" idx="3"/>
            <a:endCxn id="1122" idx="1"/>
          </p:cNvCxnSpPr>
          <p:nvPr/>
        </p:nvCxnSpPr>
        <p:spPr>
          <a:xfrm>
            <a:off x="3045637" y="640528"/>
            <a:ext cx="257400" cy="247800"/>
          </a:xfrm>
          <a:prstGeom prst="straightConnector1">
            <a:avLst/>
          </a:prstGeom>
          <a:noFill/>
          <a:ln w="9525" cap="flat" cmpd="sng">
            <a:solidFill>
              <a:schemeClr val="dk1"/>
            </a:solidFill>
            <a:prstDash val="solid"/>
            <a:miter lim="800000"/>
            <a:headEnd type="none" w="sm" len="sm"/>
            <a:tailEnd type="triangle" w="med" len="med"/>
          </a:ln>
        </p:spPr>
      </p:cxnSp>
      <p:cxnSp>
        <p:nvCxnSpPr>
          <p:cNvPr id="1129" name="Google Shape;1129;p27"/>
          <p:cNvCxnSpPr>
            <a:stCxn id="1123" idx="4"/>
            <a:endCxn id="1124" idx="0"/>
          </p:cNvCxnSpPr>
          <p:nvPr/>
        </p:nvCxnSpPr>
        <p:spPr>
          <a:xfrm flipH="1">
            <a:off x="2373805" y="1072825"/>
            <a:ext cx="161100" cy="170700"/>
          </a:xfrm>
          <a:prstGeom prst="straightConnector1">
            <a:avLst/>
          </a:prstGeom>
          <a:noFill/>
          <a:ln w="9525" cap="flat" cmpd="sng">
            <a:solidFill>
              <a:schemeClr val="dk1"/>
            </a:solidFill>
            <a:prstDash val="solid"/>
            <a:miter lim="800000"/>
            <a:headEnd type="none" w="sm" len="sm"/>
            <a:tailEnd type="triangle" w="med" len="med"/>
          </a:ln>
        </p:spPr>
      </p:cxnSp>
      <p:cxnSp>
        <p:nvCxnSpPr>
          <p:cNvPr id="1130" name="Google Shape;1130;p27"/>
          <p:cNvCxnSpPr>
            <a:stCxn id="1122" idx="4"/>
            <a:endCxn id="1126" idx="0"/>
          </p:cNvCxnSpPr>
          <p:nvPr/>
        </p:nvCxnSpPr>
        <p:spPr>
          <a:xfrm>
            <a:off x="3407750" y="1065208"/>
            <a:ext cx="342000" cy="182100"/>
          </a:xfrm>
          <a:prstGeom prst="straightConnector1">
            <a:avLst/>
          </a:prstGeom>
          <a:noFill/>
          <a:ln w="9525" cap="flat" cmpd="sng">
            <a:solidFill>
              <a:schemeClr val="dk1"/>
            </a:solidFill>
            <a:prstDash val="solid"/>
            <a:miter lim="800000"/>
            <a:headEnd type="none" w="sm" len="sm"/>
            <a:tailEnd type="triangle" w="med" len="med"/>
          </a:ln>
        </p:spPr>
      </p:cxnSp>
      <p:cxnSp>
        <p:nvCxnSpPr>
          <p:cNvPr id="1131" name="Google Shape;1131;p27"/>
          <p:cNvCxnSpPr>
            <a:stCxn id="1122" idx="4"/>
            <a:endCxn id="1125" idx="0"/>
          </p:cNvCxnSpPr>
          <p:nvPr/>
        </p:nvCxnSpPr>
        <p:spPr>
          <a:xfrm flipH="1">
            <a:off x="3178250" y="1065208"/>
            <a:ext cx="229500" cy="178500"/>
          </a:xfrm>
          <a:prstGeom prst="straightConnector1">
            <a:avLst/>
          </a:prstGeom>
          <a:noFill/>
          <a:ln w="9525" cap="flat" cmpd="sng">
            <a:solidFill>
              <a:schemeClr val="dk1"/>
            </a:solidFill>
            <a:prstDash val="solid"/>
            <a:miter lim="800000"/>
            <a:headEnd type="none" w="sm" len="sm"/>
            <a:tailEnd type="triangle" w="med" len="med"/>
          </a:ln>
        </p:spPr>
      </p:cxnSp>
      <p:cxnSp>
        <p:nvCxnSpPr>
          <p:cNvPr id="1132" name="Google Shape;1132;p27"/>
          <p:cNvCxnSpPr/>
          <p:nvPr/>
        </p:nvCxnSpPr>
        <p:spPr>
          <a:xfrm flipH="1">
            <a:off x="2294087" y="1441130"/>
            <a:ext cx="75174" cy="213870"/>
          </a:xfrm>
          <a:prstGeom prst="straightConnector1">
            <a:avLst/>
          </a:prstGeom>
          <a:noFill/>
          <a:ln w="19050" cap="flat" cmpd="sng">
            <a:solidFill>
              <a:schemeClr val="dk1"/>
            </a:solidFill>
            <a:prstDash val="dash"/>
            <a:miter lim="800000"/>
            <a:headEnd type="none" w="sm" len="sm"/>
            <a:tailEnd type="triangle" w="med" len="med"/>
          </a:ln>
        </p:spPr>
      </p:cxnSp>
      <p:cxnSp>
        <p:nvCxnSpPr>
          <p:cNvPr id="1133" name="Google Shape;1133;p27"/>
          <p:cNvCxnSpPr/>
          <p:nvPr/>
        </p:nvCxnSpPr>
        <p:spPr>
          <a:xfrm flipH="1">
            <a:off x="3094665" y="1435133"/>
            <a:ext cx="86865" cy="204926"/>
          </a:xfrm>
          <a:prstGeom prst="straightConnector1">
            <a:avLst/>
          </a:prstGeom>
          <a:noFill/>
          <a:ln w="19050" cap="flat" cmpd="sng">
            <a:solidFill>
              <a:schemeClr val="dk1"/>
            </a:solidFill>
            <a:prstDash val="dash"/>
            <a:miter lim="800000"/>
            <a:headEnd type="none" w="sm" len="sm"/>
            <a:tailEnd type="triangle" w="med" len="med"/>
          </a:ln>
        </p:spPr>
      </p:cxnSp>
      <p:cxnSp>
        <p:nvCxnSpPr>
          <p:cNvPr id="1134" name="Google Shape;1134;p27"/>
          <p:cNvCxnSpPr/>
          <p:nvPr/>
        </p:nvCxnSpPr>
        <p:spPr>
          <a:xfrm flipH="1">
            <a:off x="3702444" y="1454334"/>
            <a:ext cx="19415" cy="200666"/>
          </a:xfrm>
          <a:prstGeom prst="straightConnector1">
            <a:avLst/>
          </a:prstGeom>
          <a:noFill/>
          <a:ln w="19050" cap="flat" cmpd="sng">
            <a:solidFill>
              <a:schemeClr val="dk1"/>
            </a:solidFill>
            <a:prstDash val="dash"/>
            <a:miter lim="800000"/>
            <a:headEnd type="none" w="sm" len="sm"/>
            <a:tailEnd type="triangle" w="med" len="med"/>
          </a:ln>
        </p:spPr>
      </p:cxnSp>
      <p:cxnSp>
        <p:nvCxnSpPr>
          <p:cNvPr id="1135" name="Google Shape;1135;p27"/>
          <p:cNvCxnSpPr/>
          <p:nvPr/>
        </p:nvCxnSpPr>
        <p:spPr>
          <a:xfrm>
            <a:off x="3748597" y="1460379"/>
            <a:ext cx="205135" cy="179680"/>
          </a:xfrm>
          <a:prstGeom prst="straightConnector1">
            <a:avLst/>
          </a:prstGeom>
          <a:noFill/>
          <a:ln w="19050" cap="flat" cmpd="sng">
            <a:solidFill>
              <a:schemeClr val="dk1"/>
            </a:solidFill>
            <a:prstDash val="dash"/>
            <a:miter lim="800000"/>
            <a:headEnd type="none" w="sm" len="sm"/>
            <a:tailEnd type="triangle" w="med" len="med"/>
          </a:ln>
        </p:spPr>
      </p:cxnSp>
      <p:cxnSp>
        <p:nvCxnSpPr>
          <p:cNvPr id="1136" name="Google Shape;1136;p27"/>
          <p:cNvCxnSpPr/>
          <p:nvPr/>
        </p:nvCxnSpPr>
        <p:spPr>
          <a:xfrm>
            <a:off x="3209186" y="1431878"/>
            <a:ext cx="146527" cy="208181"/>
          </a:xfrm>
          <a:prstGeom prst="straightConnector1">
            <a:avLst/>
          </a:prstGeom>
          <a:noFill/>
          <a:ln w="19050" cap="flat" cmpd="sng">
            <a:solidFill>
              <a:schemeClr val="dk1"/>
            </a:solidFill>
            <a:prstDash val="dash"/>
            <a:miter lim="800000"/>
            <a:headEnd type="none" w="sm" len="sm"/>
            <a:tailEnd type="triangle" w="med" len="med"/>
          </a:ln>
        </p:spPr>
      </p:cxnSp>
      <p:cxnSp>
        <p:nvCxnSpPr>
          <p:cNvPr id="1137" name="Google Shape;1137;p27"/>
          <p:cNvCxnSpPr/>
          <p:nvPr/>
        </p:nvCxnSpPr>
        <p:spPr>
          <a:xfrm>
            <a:off x="2395315" y="1441130"/>
            <a:ext cx="159022" cy="213870"/>
          </a:xfrm>
          <a:prstGeom prst="straightConnector1">
            <a:avLst/>
          </a:prstGeom>
          <a:noFill/>
          <a:ln w="19050" cap="flat" cmpd="sng">
            <a:solidFill>
              <a:schemeClr val="dk1"/>
            </a:solidFill>
            <a:prstDash val="dash"/>
            <a:miter lim="800000"/>
            <a:headEnd type="none" w="sm" len="sm"/>
            <a:tailEnd type="triangle" w="med" len="med"/>
          </a:ln>
        </p:spPr>
      </p:cxnSp>
      <p:sp>
        <p:nvSpPr>
          <p:cNvPr id="1138" name="Google Shape;1138;p27"/>
          <p:cNvSpPr txBox="1"/>
          <p:nvPr/>
        </p:nvSpPr>
        <p:spPr>
          <a:xfrm>
            <a:off x="2152358" y="1748418"/>
            <a:ext cx="233100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B050"/>
                </a:solidFill>
                <a:latin typeface="Arial"/>
                <a:ea typeface="Arial"/>
                <a:cs typeface="Arial"/>
                <a:sym typeface="Arial"/>
              </a:rPr>
              <a:t>   1.0                        0.5               0.5</a:t>
            </a:r>
            <a:endParaRPr sz="800" b="1" i="0" u="none" strike="noStrike" cap="none">
              <a:solidFill>
                <a:srgbClr val="00B050"/>
              </a:solidFill>
              <a:latin typeface="Arial"/>
              <a:ea typeface="Arial"/>
              <a:cs typeface="Arial"/>
              <a:sym typeface="Arial"/>
            </a:endParaRPr>
          </a:p>
        </p:txBody>
      </p:sp>
      <p:sp>
        <p:nvSpPr>
          <p:cNvPr id="1139" name="Google Shape;1139;p27"/>
          <p:cNvSpPr txBox="1"/>
          <p:nvPr/>
        </p:nvSpPr>
        <p:spPr>
          <a:xfrm>
            <a:off x="2234265" y="1618047"/>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+1                         +2                +2</a:t>
            </a:r>
            <a:endParaRPr sz="800" b="1" i="0" u="none" strike="noStrike" cap="none">
              <a:solidFill>
                <a:srgbClr val="C00000"/>
              </a:solidFill>
              <a:latin typeface="Arial"/>
              <a:ea typeface="Arial"/>
              <a:cs typeface="Arial"/>
              <a:sym typeface="Arial"/>
            </a:endParaRPr>
          </a:p>
        </p:txBody>
      </p:sp>
      <p:sp>
        <p:nvSpPr>
          <p:cNvPr id="1140" name="Google Shape;1140;p27"/>
          <p:cNvSpPr txBox="1"/>
          <p:nvPr/>
        </p:nvSpPr>
        <p:spPr>
          <a:xfrm>
            <a:off x="2107912" y="1030600"/>
            <a:ext cx="2147235"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	cool          warm</a:t>
            </a:r>
            <a:endParaRPr sz="800" b="1" i="0" u="none" strike="noStrike" cap="none">
              <a:solidFill>
                <a:srgbClr val="C00000"/>
              </a:solidFill>
              <a:latin typeface="Arial"/>
              <a:ea typeface="Arial"/>
              <a:cs typeface="Arial"/>
              <a:sym typeface="Arial"/>
            </a:endParaRPr>
          </a:p>
        </p:txBody>
      </p:sp>
      <p:sp>
        <p:nvSpPr>
          <p:cNvPr id="1141" name="Google Shape;1141;p27"/>
          <p:cNvSpPr txBox="1"/>
          <p:nvPr/>
        </p:nvSpPr>
        <p:spPr>
          <a:xfrm>
            <a:off x="2567333" y="414951"/>
            <a:ext cx="448637"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C00000"/>
                </a:solidFill>
                <a:latin typeface="Arial"/>
                <a:ea typeface="Arial"/>
                <a:cs typeface="Arial"/>
                <a:sym typeface="Arial"/>
              </a:rPr>
              <a:t>Cool</a:t>
            </a:r>
            <a:endParaRPr sz="800" b="1" i="0" u="none" strike="noStrike" cap="none">
              <a:solidFill>
                <a:srgbClr val="C00000"/>
              </a:solidFill>
              <a:latin typeface="Arial"/>
              <a:ea typeface="Arial"/>
              <a:cs typeface="Arial"/>
              <a:sym typeface="Arial"/>
            </a:endParaRPr>
          </a:p>
        </p:txBody>
      </p:sp>
      <p:sp>
        <p:nvSpPr>
          <p:cNvPr id="1142" name="Google Shape;1142;p27"/>
          <p:cNvSpPr txBox="1"/>
          <p:nvPr/>
        </p:nvSpPr>
        <p:spPr>
          <a:xfrm>
            <a:off x="2265062" y="632463"/>
            <a:ext cx="1561150"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Arial"/>
                <a:ea typeface="Arial"/>
                <a:cs typeface="Arial"/>
                <a:sym typeface="Arial"/>
              </a:rPr>
              <a:t>Go Slow	               Go Fast</a:t>
            </a:r>
            <a:endParaRPr sz="800" b="1" i="0" u="none" strike="noStrike" cap="none">
              <a:solidFill>
                <a:schemeClr val="dk1"/>
              </a:solidFill>
              <a:latin typeface="Arial"/>
              <a:ea typeface="Arial"/>
              <a:cs typeface="Arial"/>
              <a:sym typeface="Arial"/>
            </a:endParaRPr>
          </a:p>
        </p:txBody>
      </p:sp>
      <p:sp>
        <p:nvSpPr>
          <p:cNvPr id="1143" name="Google Shape;1143;p27"/>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144" name="Google Shape;1144;p27"/>
          <p:cNvPicPr preferRelativeResize="0"/>
          <p:nvPr/>
        </p:nvPicPr>
        <p:blipFill rotWithShape="1">
          <a:blip r:embed="rId16">
            <a:alphaModFix/>
          </a:blip>
          <a:srcRect/>
          <a:stretch/>
        </p:blipFill>
        <p:spPr>
          <a:xfrm>
            <a:off x="3979160" y="82405"/>
            <a:ext cx="1798525" cy="1326929"/>
          </a:xfrm>
          <a:prstGeom prst="rect">
            <a:avLst/>
          </a:prstGeom>
          <a:noFill/>
          <a:ln>
            <a:noFill/>
          </a:ln>
        </p:spPr>
      </p:pic>
      <p:sp>
        <p:nvSpPr>
          <p:cNvPr id="1145" name="Google Shape;1145;p27"/>
          <p:cNvSpPr/>
          <p:nvPr/>
        </p:nvSpPr>
        <p:spPr>
          <a:xfrm>
            <a:off x="3808868" y="1319243"/>
            <a:ext cx="187636" cy="5334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146" name="Google Shape;1146;p27"/>
          <p:cNvPicPr preferRelativeResize="0"/>
          <p:nvPr/>
        </p:nvPicPr>
        <p:blipFill rotWithShape="1">
          <a:blip r:embed="rId17">
            <a:alphaModFix/>
          </a:blip>
          <a:srcRect/>
          <a:stretch/>
        </p:blipFill>
        <p:spPr>
          <a:xfrm>
            <a:off x="5136194" y="258608"/>
            <a:ext cx="318300" cy="124137"/>
          </a:xfrm>
          <a:prstGeom prst="rect">
            <a:avLst/>
          </a:prstGeom>
          <a:noFill/>
          <a:ln>
            <a:noFill/>
          </a:ln>
        </p:spPr>
      </p:pic>
      <p:sp>
        <p:nvSpPr>
          <p:cNvPr id="1147" name="Google Shape;1147;p27"/>
          <p:cNvSpPr/>
          <p:nvPr/>
        </p:nvSpPr>
        <p:spPr>
          <a:xfrm>
            <a:off x="5049107" y="281393"/>
            <a:ext cx="56137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rgbClr val="000000"/>
                </a:solidFill>
                <a:latin typeface="Arial"/>
                <a:ea typeface="Arial"/>
                <a:cs typeface="Arial"/>
                <a:sym typeface="Arial"/>
              </a:rPr>
              <a:t>ɵ = 0.01</a:t>
            </a:r>
            <a:endParaRPr sz="800" b="1" i="0" u="none" strike="noStrike" cap="none">
              <a:solidFill>
                <a:srgbClr val="000000"/>
              </a:solidFill>
              <a:latin typeface="Arial"/>
              <a:ea typeface="Arial"/>
              <a:cs typeface="Arial"/>
              <a:sym typeface="Arial"/>
            </a:endParaRPr>
          </a:p>
        </p:txBody>
      </p:sp>
      <p:graphicFrame>
        <p:nvGraphicFramePr>
          <p:cNvPr id="1148" name="Google Shape;1148;p27"/>
          <p:cNvGraphicFramePr/>
          <p:nvPr/>
        </p:nvGraphicFramePr>
        <p:xfrm>
          <a:off x="298141" y="2296275"/>
          <a:ext cx="1397450" cy="792520"/>
        </p:xfrm>
        <a:graphic>
          <a:graphicData uri="http://schemas.openxmlformats.org/drawingml/2006/table">
            <a:tbl>
              <a:tblPr firstRow="1" bandRow="1">
                <a:noFill/>
                <a:tableStyleId>{2A8AA219-CA89-41A0-AA6F-2D93B60182F7}</a:tableStyleId>
              </a:tblPr>
              <a:tblGrid>
                <a:gridCol w="698725">
                  <a:extLst>
                    <a:ext uri="{9D8B030D-6E8A-4147-A177-3AD203B41FA5}">
                      <a16:colId xmlns:a16="http://schemas.microsoft.com/office/drawing/2014/main" val="20000"/>
                    </a:ext>
                  </a:extLst>
                </a:gridCol>
                <a:gridCol w="698725">
                  <a:extLst>
                    <a:ext uri="{9D8B030D-6E8A-4147-A177-3AD203B41FA5}">
                      <a16:colId xmlns:a16="http://schemas.microsoft.com/office/drawing/2014/main" val="20001"/>
                    </a:ext>
                  </a:extLst>
                </a:gridCol>
              </a:tblGrid>
              <a:tr h="187050">
                <a:tc>
                  <a:txBody>
                    <a:bodyPr/>
                    <a:lstStyle/>
                    <a:p>
                      <a:pPr marL="0" marR="0" lvl="0" indent="0" algn="l" rtl="0">
                        <a:lnSpc>
                          <a:spcPct val="100000"/>
                        </a:lnSpc>
                        <a:spcBef>
                          <a:spcPts val="0"/>
                        </a:spcBef>
                        <a:spcAft>
                          <a:spcPts val="0"/>
                        </a:spcAft>
                        <a:buNone/>
                      </a:pPr>
                      <a:r>
                        <a:rPr lang="en-US" sz="700" u="none" strike="noStrike" cap="none"/>
                        <a:t>State</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Best Action</a:t>
                      </a:r>
                      <a:endParaRPr sz="7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None/>
                      </a:pPr>
                      <a:r>
                        <a:rPr lang="en-US" sz="700" u="none" strike="noStrike" cap="none"/>
                        <a:t>Cool</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Fast</a:t>
                      </a:r>
                      <a:endParaRPr sz="7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None/>
                      </a:pPr>
                      <a:r>
                        <a:rPr lang="en-US" sz="700" u="none" strike="noStrike" cap="none"/>
                        <a:t>Warm</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Slow</a:t>
                      </a:r>
                      <a:endParaRPr sz="7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None/>
                      </a:pPr>
                      <a:r>
                        <a:rPr lang="en-US" sz="700" u="none" strike="noStrike" cap="none"/>
                        <a:t>Overheated</a:t>
                      </a:r>
                      <a:endParaRPr sz="7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700" u="none" strike="noStrike" cap="none"/>
                        <a:t>-</a:t>
                      </a:r>
                      <a:endParaRPr sz="7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149" name="Google Shape;1149;p27"/>
          <p:cNvSpPr txBox="1"/>
          <p:nvPr/>
        </p:nvSpPr>
        <p:spPr>
          <a:xfrm>
            <a:off x="794381" y="2031502"/>
            <a:ext cx="41640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dk1"/>
                </a:solidFill>
                <a:latin typeface="Arial"/>
                <a:ea typeface="Arial"/>
                <a:cs typeface="Arial"/>
                <a:sym typeface="Arial"/>
              </a:rPr>
              <a:t>π</a:t>
            </a:r>
            <a:r>
              <a:rPr lang="en-US" sz="1400" b="1" i="0" u="none" strike="noStrike" cap="none" baseline="-25000">
                <a:solidFill>
                  <a:schemeClr val="dk1"/>
                </a:solidFill>
                <a:latin typeface="Arial"/>
                <a:ea typeface="Arial"/>
                <a:cs typeface="Arial"/>
                <a:sym typeface="Arial"/>
              </a:rPr>
              <a:t>1</a:t>
            </a:r>
            <a:endParaRPr sz="1400" b="1" i="0" u="none" strike="noStrike" cap="none" baseline="-25000">
              <a:solidFill>
                <a:schemeClr val="dk1"/>
              </a:solidFill>
              <a:latin typeface="Arial"/>
              <a:ea typeface="Arial"/>
              <a:cs typeface="Arial"/>
              <a:sym typeface="Arial"/>
            </a:endParaRPr>
          </a:p>
        </p:txBody>
      </p:sp>
      <p:sp>
        <p:nvSpPr>
          <p:cNvPr id="1150" name="Google Shape;1150;p27"/>
          <p:cNvSpPr txBox="1"/>
          <p:nvPr/>
        </p:nvSpPr>
        <p:spPr>
          <a:xfrm>
            <a:off x="83671" y="133659"/>
            <a:ext cx="2068687" cy="246221"/>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000" b="0" i="0" u="none" strike="noStrike" cap="none">
                <a:solidFill>
                  <a:srgbClr val="0070C0"/>
                </a:solidFill>
                <a:latin typeface="Arial"/>
                <a:ea typeface="Arial"/>
                <a:cs typeface="Arial"/>
                <a:sym typeface="Arial"/>
              </a:rPr>
              <a:t>Continue another cycle of PE🡪PI</a:t>
            </a:r>
            <a:endParaRPr sz="1000" b="0" i="0" u="none" strike="noStrike" cap="none">
              <a:solidFill>
                <a:srgbClr val="0070C0"/>
              </a:solidFill>
              <a:latin typeface="Arial"/>
              <a:ea typeface="Arial"/>
              <a:cs typeface="Arial"/>
              <a:sym typeface="Arial"/>
            </a:endParaRPr>
          </a:p>
        </p:txBody>
      </p:sp>
      <p:sp>
        <p:nvSpPr>
          <p:cNvPr id="1151" name="Google Shape;1151;p27"/>
          <p:cNvSpPr txBox="1"/>
          <p:nvPr/>
        </p:nvSpPr>
        <p:spPr>
          <a:xfrm>
            <a:off x="1765319" y="2282919"/>
            <a:ext cx="1280317" cy="707886"/>
          </a:xfrm>
          <a:prstGeom prst="rect">
            <a:avLst/>
          </a:prstGeom>
          <a:solidFill>
            <a:srgbClr val="FFFF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800" b="0" i="0" u="none" strike="noStrike" cap="none">
                <a:solidFill>
                  <a:srgbClr val="0070C0"/>
                </a:solidFill>
                <a:latin typeface="Arial"/>
                <a:ea typeface="Arial"/>
                <a:cs typeface="Arial"/>
                <a:sym typeface="Arial"/>
              </a:rPr>
              <a:t>After this cycle of algorithm converges with values : </a:t>
            </a:r>
            <a:endParaRPr/>
          </a:p>
          <a:p>
            <a:pPr marL="0" marR="0" lvl="0" indent="0" algn="just" rtl="0">
              <a:lnSpc>
                <a:spcPct val="100000"/>
              </a:lnSpc>
              <a:spcBef>
                <a:spcPts val="0"/>
              </a:spcBef>
              <a:spcAft>
                <a:spcPts val="0"/>
              </a:spcAft>
              <a:buNone/>
            </a:pPr>
            <a:r>
              <a:rPr lang="en-US" sz="800" b="0" i="0" u="none" strike="noStrike" cap="none">
                <a:solidFill>
                  <a:srgbClr val="0070C0"/>
                </a:solidFill>
                <a:latin typeface="Arial"/>
                <a:ea typeface="Arial"/>
                <a:cs typeface="Arial"/>
                <a:sym typeface="Arial"/>
              </a:rPr>
              <a:t>V(cool) = 15.5</a:t>
            </a:r>
            <a:endParaRPr/>
          </a:p>
          <a:p>
            <a:pPr marL="0" marR="0" lvl="0" indent="0" algn="just" rtl="0">
              <a:lnSpc>
                <a:spcPct val="100000"/>
              </a:lnSpc>
              <a:spcBef>
                <a:spcPts val="0"/>
              </a:spcBef>
              <a:spcAft>
                <a:spcPts val="0"/>
              </a:spcAft>
              <a:buNone/>
            </a:pPr>
            <a:r>
              <a:rPr lang="en-US" sz="800" b="0" i="0" u="none" strike="noStrike" cap="none">
                <a:solidFill>
                  <a:srgbClr val="0070C0"/>
                </a:solidFill>
                <a:latin typeface="Arial"/>
                <a:ea typeface="Arial"/>
                <a:cs typeface="Arial"/>
                <a:sym typeface="Arial"/>
              </a:rPr>
              <a:t>V(Warm) = 14.5 </a:t>
            </a:r>
            <a:endParaRPr sz="800" b="0" i="0" u="none" strike="noStrike" cap="none">
              <a:solidFill>
                <a:srgbClr val="0070C0"/>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48"/>
                                        </p:tgtEl>
                                        <p:attrNameLst>
                                          <p:attrName>style.visibility</p:attrName>
                                        </p:attrNameLst>
                                      </p:cBhvr>
                                      <p:to>
                                        <p:strVal val="visible"/>
                                      </p:to>
                                    </p:set>
                                    <p:animEffect transition="in" filter="fade">
                                      <p:cBhvr>
                                        <p:cTn id="11" dur="500"/>
                                        <p:tgtEl>
                                          <p:spTgt spid="114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28"/>
          <p:cNvSpPr txBox="1">
            <a:spLocks noGrp="1"/>
          </p:cNvSpPr>
          <p:nvPr>
            <p:ph type="title"/>
          </p:nvPr>
        </p:nvSpPr>
        <p:spPr>
          <a:xfrm>
            <a:off x="82600" y="109545"/>
            <a:ext cx="4943475" cy="276984"/>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Dynamic Programming -  Policy Iteration</a:t>
            </a:r>
            <a:endParaRPr/>
          </a:p>
        </p:txBody>
      </p:sp>
      <p:pic>
        <p:nvPicPr>
          <p:cNvPr id="1157" name="Google Shape;1157;p28"/>
          <p:cNvPicPr preferRelativeResize="0"/>
          <p:nvPr/>
        </p:nvPicPr>
        <p:blipFill rotWithShape="1">
          <a:blip r:embed="rId3">
            <a:alphaModFix/>
          </a:blip>
          <a:srcRect/>
          <a:stretch/>
        </p:blipFill>
        <p:spPr>
          <a:xfrm>
            <a:off x="219002" y="583532"/>
            <a:ext cx="121259" cy="121259"/>
          </a:xfrm>
          <a:prstGeom prst="rect">
            <a:avLst/>
          </a:prstGeom>
          <a:noFill/>
          <a:ln>
            <a:noFill/>
          </a:ln>
        </p:spPr>
      </p:pic>
      <p:sp>
        <p:nvSpPr>
          <p:cNvPr id="1158" name="Google Shape;1158;p28"/>
          <p:cNvSpPr txBox="1"/>
          <p:nvPr/>
        </p:nvSpPr>
        <p:spPr>
          <a:xfrm>
            <a:off x="245952" y="573682"/>
            <a:ext cx="67310" cy="11683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sp>
        <p:nvSpPr>
          <p:cNvPr id="1159" name="Google Shape;1159;p28"/>
          <p:cNvSpPr txBox="1"/>
          <p:nvPr/>
        </p:nvSpPr>
        <p:spPr>
          <a:xfrm>
            <a:off x="406632" y="537309"/>
            <a:ext cx="1062355"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Observation</a:t>
            </a:r>
            <a:endParaRPr sz="1050" b="0" i="0" u="none" strike="noStrike" cap="none">
              <a:solidFill>
                <a:srgbClr val="000000"/>
              </a:solidFill>
              <a:latin typeface="Arial"/>
              <a:ea typeface="Arial"/>
              <a:cs typeface="Arial"/>
              <a:sym typeface="Arial"/>
            </a:endParaRPr>
          </a:p>
        </p:txBody>
      </p:sp>
      <p:sp>
        <p:nvSpPr>
          <p:cNvPr id="1160" name="Google Shape;1160;p28"/>
          <p:cNvSpPr txBox="1"/>
          <p:nvPr/>
        </p:nvSpPr>
        <p:spPr>
          <a:xfrm>
            <a:off x="536451" y="732781"/>
            <a:ext cx="3645900" cy="2397300"/>
          </a:xfrm>
          <a:prstGeom prst="rect">
            <a:avLst/>
          </a:prstGeom>
          <a:noFill/>
          <a:ln>
            <a:noFill/>
          </a:ln>
        </p:spPr>
        <p:txBody>
          <a:bodyPr spcFirstLastPara="1" wrap="square" lIns="0" tIns="11425" rIns="0" bIns="0" anchor="t" anchorCtr="0">
            <a:spAutoFit/>
          </a:bodyPr>
          <a:lstStyle/>
          <a:p>
            <a:pPr marL="38100" marR="0" lvl="0" indent="-60325" algn="just" rtl="0">
              <a:lnSpc>
                <a:spcPct val="100000"/>
              </a:lnSpc>
              <a:spcBef>
                <a:spcPts val="0"/>
              </a:spcBef>
              <a:spcAft>
                <a:spcPts val="0"/>
              </a:spcAft>
              <a:buClr>
                <a:srgbClr val="000000"/>
              </a:buClr>
              <a:buSzPts val="950"/>
              <a:buFont typeface="Arial"/>
              <a:buChar char="•"/>
            </a:pPr>
            <a:r>
              <a:rPr lang="en-US" sz="900" b="0" i="0" u="none" strike="noStrike" cap="none">
                <a:solidFill>
                  <a:srgbClr val="000000"/>
                </a:solidFill>
                <a:latin typeface="Arial"/>
                <a:ea typeface="Arial"/>
                <a:cs typeface="Arial"/>
                <a:sym typeface="Arial"/>
              </a:rPr>
              <a:t>Policy iteration consists of two simultaneous, interacting processes, one making the value function consistent with the current policy (policy evaluation), and the other making the policy greedy with respect to the current value function (policy improvement). </a:t>
            </a:r>
            <a:endParaRPr sz="900" b="0" i="0" u="none" strike="noStrike" cap="none">
              <a:solidFill>
                <a:srgbClr val="000000"/>
              </a:solidFill>
              <a:latin typeface="Arial"/>
              <a:ea typeface="Arial"/>
              <a:cs typeface="Arial"/>
              <a:sym typeface="Arial"/>
            </a:endParaRPr>
          </a:p>
          <a:p>
            <a:pPr marL="38100" marR="0" lvl="0" indent="-60325" algn="just" rtl="0">
              <a:lnSpc>
                <a:spcPct val="100000"/>
              </a:lnSpc>
              <a:spcBef>
                <a:spcPts val="0"/>
              </a:spcBef>
              <a:spcAft>
                <a:spcPts val="0"/>
              </a:spcAft>
              <a:buClr>
                <a:srgbClr val="000000"/>
              </a:buClr>
              <a:buSzPts val="950"/>
              <a:buFont typeface="Arial"/>
              <a:buChar char="•"/>
            </a:pPr>
            <a:r>
              <a:rPr lang="en-US" sz="900" b="0" i="0" u="none" strike="noStrike" cap="none">
                <a:solidFill>
                  <a:srgbClr val="000000"/>
                </a:solidFill>
                <a:latin typeface="Arial"/>
                <a:ea typeface="Arial"/>
                <a:cs typeface="Arial"/>
                <a:sym typeface="Arial"/>
              </a:rPr>
              <a:t>In policy iteration, these two processes alternate, each completing before the other begins,</a:t>
            </a:r>
            <a:r>
              <a:rPr lang="en-US" sz="900" b="1" i="0" u="none" strike="noStrike" cap="none">
                <a:solidFill>
                  <a:srgbClr val="FF0000"/>
                </a:solidFill>
                <a:latin typeface="Arial"/>
                <a:ea typeface="Arial"/>
                <a:cs typeface="Arial"/>
                <a:sym typeface="Arial"/>
              </a:rPr>
              <a:t> but this is not really necessary.</a:t>
            </a:r>
            <a:endParaRPr/>
          </a:p>
          <a:p>
            <a:pPr marL="38100" marR="0" lvl="0" indent="0" algn="just" rtl="0">
              <a:lnSpc>
                <a:spcPct val="100000"/>
              </a:lnSpc>
              <a:spcBef>
                <a:spcPts val="0"/>
              </a:spcBef>
              <a:spcAft>
                <a:spcPts val="0"/>
              </a:spcAft>
              <a:buClr>
                <a:srgbClr val="000000"/>
              </a:buClr>
              <a:buSzPts val="950"/>
              <a:buFont typeface="Arial"/>
              <a:buNone/>
            </a:pPr>
            <a:endParaRPr sz="900" b="1" i="0" u="none" strike="noStrike" cap="none">
              <a:solidFill>
                <a:srgbClr val="FF0000"/>
              </a:solidFill>
              <a:latin typeface="Arial"/>
              <a:ea typeface="Arial"/>
              <a:cs typeface="Arial"/>
              <a:sym typeface="Arial"/>
            </a:endParaRPr>
          </a:p>
          <a:p>
            <a:pPr marL="38100" marR="0" lvl="0" indent="0" algn="just" rtl="0">
              <a:lnSpc>
                <a:spcPct val="100000"/>
              </a:lnSpc>
              <a:spcBef>
                <a:spcPts val="0"/>
              </a:spcBef>
              <a:spcAft>
                <a:spcPts val="0"/>
              </a:spcAft>
              <a:buClr>
                <a:srgbClr val="000000"/>
              </a:buClr>
              <a:buSzPts val="950"/>
              <a:buFont typeface="Arial"/>
              <a:buNone/>
            </a:pPr>
            <a:endParaRPr sz="900" b="1" i="0" u="none" strike="noStrike" cap="none">
              <a:solidFill>
                <a:srgbClr val="FF0000"/>
              </a:solidFill>
              <a:latin typeface="Arial"/>
              <a:ea typeface="Arial"/>
              <a:cs typeface="Arial"/>
              <a:sym typeface="Arial"/>
            </a:endParaRPr>
          </a:p>
          <a:p>
            <a:pPr marL="38100" marR="0" lvl="0" indent="-60325" algn="just" rtl="0">
              <a:lnSpc>
                <a:spcPct val="100000"/>
              </a:lnSpc>
              <a:spcBef>
                <a:spcPts val="0"/>
              </a:spcBef>
              <a:spcAft>
                <a:spcPts val="0"/>
              </a:spcAft>
              <a:buClr>
                <a:srgbClr val="000000"/>
              </a:buClr>
              <a:buSzPts val="950"/>
              <a:buFont typeface="Arial"/>
              <a:buChar char="•"/>
            </a:pPr>
            <a:r>
              <a:rPr lang="en-US" sz="900" b="0" i="0" u="none" strike="noStrike" cap="none">
                <a:solidFill>
                  <a:srgbClr val="000000"/>
                </a:solidFill>
                <a:latin typeface="Arial"/>
                <a:ea typeface="Arial"/>
                <a:cs typeface="Arial"/>
                <a:sym typeface="Arial"/>
              </a:rPr>
              <a:t>Generalized policy iteration (GPI) to refer to the general idea of letting policy-evaluation and policy improvement processes interact, independent of the granularity and other details of the two processes. Almost all reinforcement learning methods are well described as GPI.</a:t>
            </a:r>
            <a:endParaRPr/>
          </a:p>
          <a:p>
            <a:pPr marL="38100" marR="0" lvl="0" indent="0" algn="just" rtl="0">
              <a:lnSpc>
                <a:spcPct val="100000"/>
              </a:lnSpc>
              <a:spcBef>
                <a:spcPts val="0"/>
              </a:spcBef>
              <a:spcAft>
                <a:spcPts val="0"/>
              </a:spcAft>
              <a:buClr>
                <a:srgbClr val="000000"/>
              </a:buClr>
              <a:buSzPts val="950"/>
              <a:buFont typeface="Arial"/>
              <a:buNone/>
            </a:pPr>
            <a:endParaRPr sz="900" b="0" i="0" u="none" strike="noStrike" cap="none">
              <a:solidFill>
                <a:srgbClr val="000000"/>
              </a:solidFill>
              <a:latin typeface="Arial"/>
              <a:ea typeface="Arial"/>
              <a:cs typeface="Arial"/>
              <a:sym typeface="Arial"/>
            </a:endParaRPr>
          </a:p>
          <a:p>
            <a:pPr marL="38100" marR="0" lvl="0" indent="-60325" algn="just" rtl="0">
              <a:lnSpc>
                <a:spcPct val="100000"/>
              </a:lnSpc>
              <a:spcBef>
                <a:spcPts val="0"/>
              </a:spcBef>
              <a:spcAft>
                <a:spcPts val="0"/>
              </a:spcAft>
              <a:buClr>
                <a:srgbClr val="000000"/>
              </a:buClr>
              <a:buSzPts val="950"/>
              <a:buFont typeface="Arial"/>
              <a:buChar char="•"/>
            </a:pPr>
            <a:r>
              <a:rPr lang="en-US" sz="900" b="0" i="0" u="none" strike="noStrike" cap="none">
                <a:solidFill>
                  <a:srgbClr val="000000"/>
                </a:solidFill>
                <a:latin typeface="Arial"/>
                <a:ea typeface="Arial"/>
                <a:cs typeface="Arial"/>
                <a:sym typeface="Arial"/>
              </a:rPr>
              <a:t>In one cycle perform only one iteration of Policy Evaluation (ie.,Value Updates) without waiting for convergence immediately follow by Policy Improvement. </a:t>
            </a:r>
            <a:endParaRPr sz="900" b="1" i="0" u="none" strike="noStrike" cap="none">
              <a:solidFill>
                <a:srgbClr val="FF0000"/>
              </a:solidFill>
              <a:latin typeface="Arial"/>
              <a:ea typeface="Arial"/>
              <a:cs typeface="Arial"/>
              <a:sym typeface="Arial"/>
            </a:endParaRPr>
          </a:p>
        </p:txBody>
      </p:sp>
      <p:sp>
        <p:nvSpPr>
          <p:cNvPr id="1161" name="Google Shape;1161;p28"/>
          <p:cNvSpPr txBox="1"/>
          <p:nvPr/>
        </p:nvSpPr>
        <p:spPr>
          <a:xfrm>
            <a:off x="377076" y="1652500"/>
            <a:ext cx="3093571"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Solution : GPI Generalized Policy Iteration</a:t>
            </a:r>
            <a:endParaRPr sz="1050" b="0" i="0" u="none" strike="noStrike" cap="none">
              <a:solidFill>
                <a:srgbClr val="000000"/>
              </a:solidFill>
              <a:latin typeface="Arial"/>
              <a:ea typeface="Arial"/>
              <a:cs typeface="Arial"/>
              <a:sym typeface="Arial"/>
            </a:endParaRPr>
          </a:p>
        </p:txBody>
      </p:sp>
      <p:grpSp>
        <p:nvGrpSpPr>
          <p:cNvPr id="1162" name="Google Shape;1162;p28"/>
          <p:cNvGrpSpPr/>
          <p:nvPr/>
        </p:nvGrpSpPr>
        <p:grpSpPr>
          <a:xfrm>
            <a:off x="0" y="3109250"/>
            <a:ext cx="5760261" cy="92075"/>
            <a:chOff x="0" y="3109250"/>
            <a:chExt cx="5760261" cy="92075"/>
          </a:xfrm>
        </p:grpSpPr>
        <p:sp>
          <p:nvSpPr>
            <p:cNvPr id="1163" name="Google Shape;1163;p2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4" name="Google Shape;1164;p2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p2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66" name="Google Shape;1166;p2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167" name="Google Shape;1167;p2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28</a:t>
            </a:r>
            <a:endParaRPr/>
          </a:p>
        </p:txBody>
      </p:sp>
      <p:sp>
        <p:nvSpPr>
          <p:cNvPr id="1168" name="Google Shape;1168;p28"/>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169" name="Google Shape;1169;p28"/>
          <p:cNvPicPr preferRelativeResize="0"/>
          <p:nvPr/>
        </p:nvPicPr>
        <p:blipFill rotWithShape="1">
          <a:blip r:embed="rId4">
            <a:alphaModFix/>
          </a:blip>
          <a:srcRect/>
          <a:stretch/>
        </p:blipFill>
        <p:spPr>
          <a:xfrm>
            <a:off x="4236261" y="572010"/>
            <a:ext cx="1524000" cy="2333625"/>
          </a:xfrm>
          <a:prstGeom prst="rect">
            <a:avLst/>
          </a:prstGeom>
          <a:noFill/>
          <a:ln>
            <a:noFill/>
          </a:ln>
        </p:spPr>
      </p:pic>
      <p:sp>
        <p:nvSpPr>
          <p:cNvPr id="1170" name="Google Shape;1170;p28"/>
          <p:cNvSpPr txBox="1"/>
          <p:nvPr/>
        </p:nvSpPr>
        <p:spPr>
          <a:xfrm>
            <a:off x="377076" y="2454869"/>
            <a:ext cx="3093571" cy="177613"/>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Idea (Do this as an exercise for given problem)</a:t>
            </a:r>
            <a:endParaRPr sz="1050" b="0" i="0" u="none" strike="noStrike" cap="none">
              <a:solidFill>
                <a:srgbClr val="000000"/>
              </a:solidFill>
              <a:latin typeface="Arial"/>
              <a:ea typeface="Arial"/>
              <a:cs typeface="Arial"/>
              <a:sym typeface="Arial"/>
            </a:endParaRPr>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2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176" name="Google Shape;1176;p29"/>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1177" name="Google Shape;1177;p29"/>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1</a:t>
            </a:r>
            <a:endParaRPr sz="800" b="0" i="0" u="none" strike="noStrike" cap="none">
              <a:solidFill>
                <a:srgbClr val="000000"/>
              </a:solidFill>
              <a:latin typeface="Calibri"/>
              <a:ea typeface="Calibri"/>
              <a:cs typeface="Calibri"/>
              <a:sym typeface="Calibri"/>
            </a:endParaRPr>
          </a:p>
        </p:txBody>
      </p:sp>
      <p:pic>
        <p:nvPicPr>
          <p:cNvPr id="1178" name="Google Shape;1178;p29"/>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1179" name="Google Shape;1179;p29"/>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2</a:t>
            </a:r>
            <a:endParaRPr sz="800" b="0" i="0" u="none" strike="noStrike" cap="none">
              <a:solidFill>
                <a:srgbClr val="000000"/>
              </a:solidFill>
              <a:latin typeface="Calibri"/>
              <a:ea typeface="Calibri"/>
              <a:cs typeface="Calibri"/>
              <a:sym typeface="Calibri"/>
            </a:endParaRPr>
          </a:p>
        </p:txBody>
      </p:sp>
      <p:pic>
        <p:nvPicPr>
          <p:cNvPr id="1180" name="Google Shape;1180;p29"/>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1181" name="Google Shape;1181;p29"/>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EAEAF7"/>
                </a:solidFill>
                <a:latin typeface="Calibri"/>
                <a:ea typeface="Calibri"/>
                <a:cs typeface="Calibri"/>
                <a:sym typeface="Calibri"/>
              </a:rPr>
              <a:t>3</a:t>
            </a:r>
            <a:endParaRPr sz="800" b="0" i="0" u="none" strike="noStrike" cap="none">
              <a:solidFill>
                <a:srgbClr val="000000"/>
              </a:solidFill>
              <a:latin typeface="Calibri"/>
              <a:ea typeface="Calibri"/>
              <a:cs typeface="Calibri"/>
              <a:sym typeface="Calibri"/>
            </a:endParaRPr>
          </a:p>
        </p:txBody>
      </p:sp>
      <p:pic>
        <p:nvPicPr>
          <p:cNvPr id="1182" name="Google Shape;1182;p29"/>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1183" name="Google Shape;1183;p29"/>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4</a:t>
            </a:r>
            <a:endParaRPr sz="800" b="0" i="0" u="none" strike="noStrike" cap="none">
              <a:solidFill>
                <a:srgbClr val="000000"/>
              </a:solidFill>
              <a:latin typeface="Calibri"/>
              <a:ea typeface="Calibri"/>
              <a:cs typeface="Calibri"/>
              <a:sym typeface="Calibri"/>
            </a:endParaRPr>
          </a:p>
        </p:txBody>
      </p:sp>
      <p:sp>
        <p:nvSpPr>
          <p:cNvPr id="1184" name="Google Shape;1184;p29"/>
          <p:cNvSpPr txBox="1"/>
          <p:nvPr/>
        </p:nvSpPr>
        <p:spPr>
          <a:xfrm>
            <a:off x="563029" y="556604"/>
            <a:ext cx="3241800" cy="1111800"/>
          </a:xfrm>
          <a:prstGeom prst="rect">
            <a:avLst/>
          </a:prstGeom>
          <a:noFill/>
          <a:ln>
            <a:noFill/>
          </a:ln>
        </p:spPr>
        <p:txBody>
          <a:bodyPr spcFirstLastPara="1" wrap="square" lIns="0" tIns="9015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rPr>
              <a:t>MDP</a:t>
            </a:r>
            <a:endParaRPr sz="1400" b="0" i="0" u="none" strike="noStrike" cap="none">
              <a:solidFill>
                <a:srgbClr val="000000"/>
              </a:solidFill>
              <a:latin typeface="Calibri"/>
              <a:ea typeface="Calibri"/>
              <a:cs typeface="Calibri"/>
              <a:sym typeface="Calibri"/>
            </a:endParaRPr>
          </a:p>
          <a:p>
            <a:pPr marL="12700" marR="0" lvl="0" indent="0" algn="l" rtl="0">
              <a:lnSpc>
                <a:spcPct val="100000"/>
              </a:lnSpc>
              <a:spcBef>
                <a:spcPts val="62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rPr>
              <a:t>DP</a:t>
            </a:r>
            <a:endParaRPr sz="1400" b="0" i="0" u="none" strike="noStrike" cap="none">
              <a:solidFill>
                <a:srgbClr val="000000"/>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i="0" u="sng" strike="noStrike" cap="none">
                <a:solidFill>
                  <a:schemeClr val="hlink"/>
                </a:solidFill>
                <a:latin typeface="Calibri"/>
                <a:ea typeface="Calibri"/>
                <a:cs typeface="Calibri"/>
                <a:sym typeface="Calibri"/>
              </a:rPr>
              <a:t>MC</a:t>
            </a:r>
            <a:endParaRPr sz="1400" b="0" i="0" u="none" strike="noStrike" cap="none">
              <a:solidFill>
                <a:srgbClr val="3333B2"/>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i="0" u="sng" strike="noStrike" cap="small">
                <a:solidFill>
                  <a:schemeClr val="hlink"/>
                </a:solidFill>
                <a:latin typeface="Calibri"/>
                <a:ea typeface="Calibri"/>
                <a:cs typeface="Calibri"/>
                <a:sym typeface="Calibri"/>
              </a:rPr>
              <a:t>TD</a:t>
            </a:r>
            <a:endParaRPr sz="1400" b="0" i="0" u="none" strike="noStrike" cap="none">
              <a:solidFill>
                <a:srgbClr val="000000"/>
              </a:solidFill>
              <a:latin typeface="Calibri"/>
              <a:ea typeface="Calibri"/>
              <a:cs typeface="Calibri"/>
              <a:sym typeface="Calibri"/>
            </a:endParaRPr>
          </a:p>
        </p:txBody>
      </p:sp>
      <p:grpSp>
        <p:nvGrpSpPr>
          <p:cNvPr id="1185" name="Google Shape;1185;p29"/>
          <p:cNvGrpSpPr/>
          <p:nvPr/>
        </p:nvGrpSpPr>
        <p:grpSpPr>
          <a:xfrm>
            <a:off x="0" y="3109250"/>
            <a:ext cx="5760261" cy="92075"/>
            <a:chOff x="0" y="3109250"/>
            <a:chExt cx="5760261" cy="92075"/>
          </a:xfrm>
        </p:grpSpPr>
        <p:sp>
          <p:nvSpPr>
            <p:cNvPr id="1186" name="Google Shape;1186;p2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2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8" name="Google Shape;1188;p2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89" name="Google Shape;1189;p2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190" name="Google Shape;1190;p2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SzPts val="600"/>
              <a:buNone/>
            </a:pPr>
            <a:r>
              <a:rPr lang="en-US"/>
              <a:t>29</a:t>
            </a:r>
            <a:endParaRPr/>
          </a:p>
        </p:txBody>
      </p:sp>
      <p:sp>
        <p:nvSpPr>
          <p:cNvPr id="1191" name="Google Shape;1191;p29"/>
          <p:cNvSpPr txBox="1"/>
          <p:nvPr/>
        </p:nvSpPr>
        <p:spPr>
          <a:xfrm>
            <a:off x="2283723" y="3137672"/>
            <a:ext cx="1330036" cy="103426"/>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g3a6c7b9e349_0_2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Problem Definition</a:t>
            </a:r>
            <a:endParaRPr/>
          </a:p>
        </p:txBody>
      </p:sp>
      <p:sp>
        <p:nvSpPr>
          <p:cNvPr id="1197" name="Google Shape;1197;g3a6c7b9e349_0_20"/>
          <p:cNvSpPr/>
          <p:nvPr/>
        </p:nvSpPr>
        <p:spPr>
          <a:xfrm>
            <a:off x="81411" y="475127"/>
            <a:ext cx="5425053" cy="237543"/>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98" name="Google Shape;1198;g3a6c7b9e349_0_20"/>
          <p:cNvPicPr preferRelativeResize="0"/>
          <p:nvPr/>
        </p:nvPicPr>
        <p:blipFill rotWithShape="1">
          <a:blip r:embed="rId3">
            <a:alphaModFix/>
          </a:blip>
          <a:srcRect/>
          <a:stretch/>
        </p:blipFill>
        <p:spPr>
          <a:xfrm>
            <a:off x="82600" y="938301"/>
            <a:ext cx="5426387" cy="128069"/>
          </a:xfrm>
          <a:prstGeom prst="rect">
            <a:avLst/>
          </a:prstGeom>
          <a:noFill/>
          <a:ln>
            <a:noFill/>
          </a:ln>
        </p:spPr>
      </p:pic>
      <p:sp>
        <p:nvSpPr>
          <p:cNvPr id="1199" name="Google Shape;1199;g3a6c7b9e349_0_20"/>
          <p:cNvSpPr/>
          <p:nvPr/>
        </p:nvSpPr>
        <p:spPr>
          <a:xfrm>
            <a:off x="80817" y="712460"/>
            <a:ext cx="5425053" cy="923925"/>
          </a:xfrm>
          <a:custGeom>
            <a:avLst/>
            <a:gdLst/>
            <a:ahLst/>
            <a:cxnLst/>
            <a:rect l="l" t="t" r="r" b="b"/>
            <a:pathLst>
              <a:path w="5142230" h="381000" extrusionOk="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g3a6c7b9e349_0_20"/>
          <p:cNvSpPr/>
          <p:nvPr/>
        </p:nvSpPr>
        <p:spPr>
          <a:xfrm>
            <a:off x="5508987" y="714200"/>
            <a:ext cx="0" cy="29432"/>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1" name="Google Shape;1201;g3a6c7b9e349_0_20"/>
          <p:cNvSpPr/>
          <p:nvPr/>
        </p:nvSpPr>
        <p:spPr>
          <a:xfrm>
            <a:off x="5508987" y="684776"/>
            <a:ext cx="0" cy="29432"/>
          </a:xfrm>
          <a:custGeom>
            <a:avLst/>
            <a:gdLst/>
            <a:ahLst/>
            <a:cxnLst/>
            <a:rect l="l" t="t" r="r" b="b"/>
            <a:pathLst>
              <a:path w="120000" h="12700" extrusionOk="0">
                <a:moveTo>
                  <a:pt x="0" y="12699"/>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2" name="Google Shape;1202;g3a6c7b9e349_0_20"/>
          <p:cNvSpPr/>
          <p:nvPr/>
        </p:nvSpPr>
        <p:spPr>
          <a:xfrm>
            <a:off x="5508987" y="655353"/>
            <a:ext cx="0" cy="29432"/>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g3a6c7b9e349_0_20"/>
          <p:cNvSpPr/>
          <p:nvPr/>
        </p:nvSpPr>
        <p:spPr>
          <a:xfrm>
            <a:off x="5508987" y="611218"/>
            <a:ext cx="0" cy="44148"/>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04" name="Google Shape;1204;g3a6c7b9e349_0_20"/>
          <p:cNvPicPr preferRelativeResize="0"/>
          <p:nvPr/>
        </p:nvPicPr>
        <p:blipFill rotWithShape="1">
          <a:blip r:embed="rId4">
            <a:alphaModFix/>
          </a:blip>
          <a:srcRect/>
          <a:stretch/>
        </p:blipFill>
        <p:spPr>
          <a:xfrm>
            <a:off x="283194" y="1843601"/>
            <a:ext cx="97806" cy="82067"/>
          </a:xfrm>
          <a:prstGeom prst="rect">
            <a:avLst/>
          </a:prstGeom>
          <a:noFill/>
          <a:ln>
            <a:noFill/>
          </a:ln>
        </p:spPr>
      </p:pic>
      <p:pic>
        <p:nvPicPr>
          <p:cNvPr id="1205" name="Google Shape;1205;g3a6c7b9e349_0_20"/>
          <p:cNvPicPr preferRelativeResize="0"/>
          <p:nvPr/>
        </p:nvPicPr>
        <p:blipFill rotWithShape="1">
          <a:blip r:embed="rId5">
            <a:alphaModFix/>
          </a:blip>
          <a:srcRect/>
          <a:stretch/>
        </p:blipFill>
        <p:spPr>
          <a:xfrm>
            <a:off x="283194" y="2209822"/>
            <a:ext cx="97806" cy="82067"/>
          </a:xfrm>
          <a:prstGeom prst="rect">
            <a:avLst/>
          </a:prstGeom>
          <a:noFill/>
          <a:ln>
            <a:noFill/>
          </a:ln>
        </p:spPr>
      </p:pic>
      <p:sp>
        <p:nvSpPr>
          <p:cNvPr id="1206" name="Google Shape;1206;g3a6c7b9e349_0_20"/>
          <p:cNvSpPr txBox="1"/>
          <p:nvPr/>
        </p:nvSpPr>
        <p:spPr>
          <a:xfrm>
            <a:off x="79629" y="475127"/>
            <a:ext cx="5375100" cy="2575800"/>
          </a:xfrm>
          <a:prstGeom prst="rect">
            <a:avLst/>
          </a:prstGeom>
          <a:noFill/>
          <a:ln>
            <a:noFill/>
          </a:ln>
        </p:spPr>
        <p:txBody>
          <a:bodyPr spcFirstLastPara="1" wrap="square" lIns="0" tIns="52700" rIns="0" bIns="0" anchor="t" anchorCtr="0">
            <a:spAutoFit/>
          </a:bodyPr>
          <a:lstStyle/>
          <a:p>
            <a:pPr marL="50800" marR="0" lvl="0" indent="0" algn="just" rtl="0">
              <a:lnSpc>
                <a:spcPct val="100000"/>
              </a:lnSpc>
              <a:spcBef>
                <a:spcPts val="0"/>
              </a:spcBef>
              <a:spcAft>
                <a:spcPts val="0"/>
              </a:spcAft>
              <a:buClr>
                <a:srgbClr val="000000"/>
              </a:buClr>
              <a:buSzPts val="1200"/>
              <a:buFont typeface="Arial"/>
              <a:buNone/>
            </a:pPr>
            <a:r>
              <a:rPr lang="en-US" sz="1200" b="0" i="0" u="none" strike="noStrike" cap="none">
                <a:solidFill>
                  <a:srgbClr val="3333B2"/>
                </a:solidFill>
                <a:latin typeface="Calibri"/>
                <a:ea typeface="Calibri"/>
                <a:cs typeface="Calibri"/>
                <a:sym typeface="Calibri"/>
              </a:rPr>
              <a:t>Race Car Laps</a:t>
            </a:r>
            <a:endParaRPr sz="1200" b="0" i="0" u="none" strike="noStrike" cap="none">
              <a:solidFill>
                <a:srgbClr val="000000"/>
              </a:solidFill>
              <a:latin typeface="Calibri"/>
              <a:ea typeface="Calibri"/>
              <a:cs typeface="Calibri"/>
              <a:sym typeface="Calibri"/>
            </a:endParaRPr>
          </a:p>
          <a:p>
            <a:pPr marL="12700" marR="0" lvl="0" indent="0" algn="l" rtl="0">
              <a:lnSpc>
                <a:spcPct val="100000"/>
              </a:lnSpc>
              <a:spcBef>
                <a:spcPts val="254"/>
              </a:spcBef>
              <a:spcAft>
                <a:spcPts val="0"/>
              </a:spcAft>
              <a:buNone/>
            </a:pPr>
            <a:r>
              <a:rPr lang="en-US" sz="900" b="0" i="0" u="none" strike="noStrike" cap="none">
                <a:solidFill>
                  <a:srgbClr val="000000"/>
                </a:solidFill>
                <a:latin typeface="Arial"/>
                <a:ea typeface="Arial"/>
                <a:cs typeface="Arial"/>
                <a:sym typeface="Arial"/>
              </a:rPr>
              <a:t>In a modified Race car, there is a training track where agent is given a known (sometimes incomplete) map and risk factors(dynamics) may not be known in advance. Agent knows exactly where it is but its actions impact on the engine state change is difficult to predict (UNKNOWN MODEL).  </a:t>
            </a:r>
            <a:endParaRPr/>
          </a:p>
          <a:p>
            <a:pPr marL="12700" marR="0" lvl="0" indent="0" algn="l" rtl="0">
              <a:lnSpc>
                <a:spcPct val="100000"/>
              </a:lnSpc>
              <a:spcBef>
                <a:spcPts val="254"/>
              </a:spcBef>
              <a:spcAft>
                <a:spcPts val="0"/>
              </a:spcAft>
              <a:buNone/>
            </a:pPr>
            <a:r>
              <a:rPr lang="en-US" sz="900" b="0" i="0" u="none" strike="noStrike" cap="none">
                <a:solidFill>
                  <a:srgbClr val="000000"/>
                </a:solidFill>
                <a:latin typeface="Arial"/>
                <a:ea typeface="Arial"/>
                <a:cs typeface="Arial"/>
                <a:sym typeface="Arial"/>
              </a:rPr>
              <a:t>With partial knowledge, the agent can compute optimal policies by trying through random experiments (Sampling). Car shuts down when its engine get overheated (optional terminal state) or Car stops once the predefined no.of.laps are completed.</a:t>
            </a:r>
            <a:endParaRPr/>
          </a:p>
          <a:p>
            <a:pPr marL="12700" marR="0" lvl="0" indent="0" algn="l" rtl="0">
              <a:lnSpc>
                <a:spcPct val="100000"/>
              </a:lnSpc>
              <a:spcBef>
                <a:spcPts val="254"/>
              </a:spcBef>
              <a:spcAft>
                <a:spcPts val="0"/>
              </a:spcAft>
              <a:buNone/>
            </a:pPr>
            <a:r>
              <a:rPr lang="en-US" sz="900" b="0" i="0" u="none" strike="noStrike" cap="none">
                <a:solidFill>
                  <a:srgbClr val="000000"/>
                </a:solidFill>
                <a:latin typeface="Arial"/>
                <a:ea typeface="Arial"/>
                <a:cs typeface="Arial"/>
                <a:sym typeface="Arial"/>
              </a:rPr>
              <a:t> </a:t>
            </a:r>
            <a:r>
              <a:rPr lang="en-US" sz="900" b="0" i="0" u="none" strike="noStrike" cap="none">
                <a:solidFill>
                  <a:srgbClr val="1B1472"/>
                </a:solidFill>
                <a:latin typeface="Arial"/>
                <a:ea typeface="Arial"/>
                <a:cs typeface="Arial"/>
                <a:sym typeface="Arial"/>
              </a:rPr>
              <a:t>Key Characteristics:</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The agent must act under </a:t>
            </a:r>
            <a:r>
              <a:rPr lang="en-US" sz="900" b="1" i="0" u="none" strike="noStrike" cap="none">
                <a:solidFill>
                  <a:srgbClr val="000000"/>
                </a:solidFill>
                <a:latin typeface="Arial"/>
                <a:ea typeface="Arial"/>
                <a:cs typeface="Arial"/>
                <a:sym typeface="Arial"/>
              </a:rPr>
              <a:t>uncertainty</a:t>
            </a:r>
            <a:r>
              <a:rPr lang="en-US" sz="900" b="0" i="0" u="none" strike="noStrike" cap="none">
                <a:solidFill>
                  <a:srgbClr val="000000"/>
                </a:solidFill>
                <a:latin typeface="Arial"/>
                <a:ea typeface="Arial"/>
                <a:cs typeface="Arial"/>
                <a:sym typeface="Arial"/>
              </a:rPr>
              <a:t> — </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percepts are local, and the agent must reason about hidden dangers</a:t>
            </a:r>
            <a:endParaRPr sz="14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Tahoma"/>
                <a:ea typeface="Tahoma"/>
                <a:cs typeface="Tahoma"/>
                <a:sym typeface="Tahoma"/>
              </a:rPr>
              <a:t>Assume there are fuel constraints or/and No.of.Laps to complete!</a:t>
            </a:r>
            <a:endParaRPr sz="1050" b="0" i="0" u="none" strike="noStrike" cap="none">
              <a:solidFill>
                <a:srgbClr val="000000"/>
              </a:solidFill>
              <a:latin typeface="Tahoma"/>
              <a:ea typeface="Tahoma"/>
              <a:cs typeface="Tahoma"/>
              <a:sym typeface="Tahoma"/>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At every time step </a:t>
            </a:r>
            <a:r>
              <a:rPr lang="en-US" sz="900" b="1" i="0" u="none" strike="noStrike" cap="none">
                <a:solidFill>
                  <a:srgbClr val="000000"/>
                </a:solidFill>
                <a:latin typeface="Arial"/>
                <a:ea typeface="Arial"/>
                <a:cs typeface="Arial"/>
                <a:sym typeface="Arial"/>
              </a:rPr>
              <a:t>there is no way clear indication of </a:t>
            </a:r>
            <a:endParaRPr/>
          </a:p>
          <a:p>
            <a:pPr marL="347980" marR="0" lvl="0" indent="0" algn="just" rtl="0">
              <a:lnSpc>
                <a:spcPct val="100000"/>
              </a:lnSpc>
              <a:spcBef>
                <a:spcPts val="335"/>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Impact of next </a:t>
            </a:r>
            <a:r>
              <a:rPr lang="en-US" sz="900" b="0" i="0" u="none" strike="noStrike" cap="none">
                <a:solidFill>
                  <a:srgbClr val="000000"/>
                </a:solidFill>
                <a:latin typeface="Arial"/>
                <a:ea typeface="Arial"/>
                <a:cs typeface="Arial"/>
                <a:sym typeface="Arial"/>
              </a:rPr>
              <a:t>potential engine temperature depending on the </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current engine state. The entire past changes might lead to any </a:t>
            </a:r>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possible state change. Hence </a:t>
            </a:r>
            <a:r>
              <a:rPr lang="en-US" sz="900" b="1" i="0" u="none" strike="noStrike" cap="none">
                <a:solidFill>
                  <a:srgbClr val="000000"/>
                </a:solidFill>
                <a:latin typeface="Arial"/>
                <a:ea typeface="Arial"/>
                <a:cs typeface="Arial"/>
                <a:sym typeface="Arial"/>
              </a:rPr>
              <a:t>immediate reward is not always available</a:t>
            </a:r>
            <a:r>
              <a:rPr lang="en-US"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grpSp>
        <p:nvGrpSpPr>
          <p:cNvPr id="1207" name="Google Shape;1207;g3a6c7b9e349_0_20"/>
          <p:cNvGrpSpPr/>
          <p:nvPr/>
        </p:nvGrpSpPr>
        <p:grpSpPr>
          <a:xfrm>
            <a:off x="0" y="3109250"/>
            <a:ext cx="5760261" cy="92075"/>
            <a:chOff x="0" y="3109250"/>
            <a:chExt cx="5760261" cy="92075"/>
          </a:xfrm>
        </p:grpSpPr>
        <p:sp>
          <p:nvSpPr>
            <p:cNvPr id="1208" name="Google Shape;1208;g3a6c7b9e349_0_2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g3a6c7b9e349_0_2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g3a6c7b9e349_0_2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11" name="Google Shape;1211;g3a6c7b9e349_0_2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212" name="Google Shape;1212;g3a6c7b9e349_0_2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1213" name="Google Shape;1213;g3a6c7b9e349_0_2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29</a:t>
            </a:fld>
            <a:r>
              <a:rPr lang="en-US"/>
              <a:t> </a:t>
            </a:r>
            <a:endParaRPr/>
          </a:p>
        </p:txBody>
      </p:sp>
      <p:pic>
        <p:nvPicPr>
          <p:cNvPr id="1214" name="Google Shape;1214;g3a6c7b9e349_0_20"/>
          <p:cNvPicPr preferRelativeResize="0"/>
          <p:nvPr/>
        </p:nvPicPr>
        <p:blipFill rotWithShape="1">
          <a:blip r:embed="rId5">
            <a:alphaModFix/>
          </a:blip>
          <a:srcRect/>
          <a:stretch/>
        </p:blipFill>
        <p:spPr>
          <a:xfrm>
            <a:off x="283194" y="2362222"/>
            <a:ext cx="97806" cy="82067"/>
          </a:xfrm>
          <a:prstGeom prst="rect">
            <a:avLst/>
          </a:prstGeom>
          <a:noFill/>
          <a:ln>
            <a:noFill/>
          </a:ln>
        </p:spPr>
      </p:pic>
      <p:pic>
        <p:nvPicPr>
          <p:cNvPr id="1215" name="Google Shape;1215;g3a6c7b9e349_0_20"/>
          <p:cNvPicPr preferRelativeResize="0"/>
          <p:nvPr/>
        </p:nvPicPr>
        <p:blipFill rotWithShape="1">
          <a:blip r:embed="rId6">
            <a:alphaModFix/>
          </a:blip>
          <a:srcRect/>
          <a:stretch/>
        </p:blipFill>
        <p:spPr>
          <a:xfrm>
            <a:off x="3925087" y="1706699"/>
            <a:ext cx="1733207" cy="1074881"/>
          </a:xfrm>
          <a:prstGeom prst="rect">
            <a:avLst/>
          </a:prstGeom>
          <a:noFill/>
          <a:ln>
            <a:noFill/>
          </a:ln>
        </p:spPr>
      </p:pic>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19"/>
        <p:cNvGrpSpPr/>
        <p:nvPr/>
      </p:nvGrpSpPr>
      <p:grpSpPr>
        <a:xfrm>
          <a:off x="0" y="0"/>
          <a:ext cx="0" cy="0"/>
          <a:chOff x="0" y="0"/>
          <a:chExt cx="0" cy="0"/>
        </a:xfrm>
      </p:grpSpPr>
      <p:sp>
        <p:nvSpPr>
          <p:cNvPr id="1220" name="Google Shape;1220;g3a6c7b9e349_0_43"/>
          <p:cNvSpPr txBox="1">
            <a:spLocks noGrp="1"/>
          </p:cNvSpPr>
          <p:nvPr>
            <p:ph type="title"/>
          </p:nvPr>
        </p:nvSpPr>
        <p:spPr>
          <a:xfrm>
            <a:off x="82600" y="109545"/>
            <a:ext cx="56832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MARKOV DECISION PROCESS FORMALIZATION </a:t>
            </a:r>
            <a:r>
              <a:rPr lang="en-US" sz="1200">
                <a:solidFill>
                  <a:srgbClr val="FFFFFF"/>
                </a:solidFill>
              </a:rPr>
              <a:t>(Reduced)</a:t>
            </a:r>
            <a:endParaRPr sz="1200"/>
          </a:p>
        </p:txBody>
      </p:sp>
      <p:pic>
        <p:nvPicPr>
          <p:cNvPr id="1221" name="Google Shape;1221;g3a6c7b9e349_0_43"/>
          <p:cNvPicPr preferRelativeResize="0"/>
          <p:nvPr/>
        </p:nvPicPr>
        <p:blipFill rotWithShape="1">
          <a:blip r:embed="rId3">
            <a:alphaModFix/>
          </a:blip>
          <a:srcRect/>
          <a:stretch/>
        </p:blipFill>
        <p:spPr>
          <a:xfrm>
            <a:off x="182676" y="500049"/>
            <a:ext cx="121259" cy="121259"/>
          </a:xfrm>
          <a:prstGeom prst="rect">
            <a:avLst/>
          </a:prstGeom>
          <a:noFill/>
          <a:ln>
            <a:noFill/>
          </a:ln>
        </p:spPr>
      </p:pic>
      <p:sp>
        <p:nvSpPr>
          <p:cNvPr id="1222" name="Google Shape;1222;g3a6c7b9e349_0_43"/>
          <p:cNvSpPr txBox="1"/>
          <p:nvPr/>
        </p:nvSpPr>
        <p:spPr>
          <a:xfrm>
            <a:off x="209626" y="490199"/>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pic>
        <p:nvPicPr>
          <p:cNvPr id="1223" name="Google Shape;1223;g3a6c7b9e349_0_43"/>
          <p:cNvPicPr preferRelativeResize="0"/>
          <p:nvPr/>
        </p:nvPicPr>
        <p:blipFill rotWithShape="1">
          <a:blip r:embed="rId4">
            <a:alphaModFix/>
          </a:blip>
          <a:srcRect/>
          <a:stretch/>
        </p:blipFill>
        <p:spPr>
          <a:xfrm>
            <a:off x="182676" y="1079537"/>
            <a:ext cx="121259" cy="121259"/>
          </a:xfrm>
          <a:prstGeom prst="rect">
            <a:avLst/>
          </a:prstGeom>
          <a:noFill/>
          <a:ln>
            <a:noFill/>
          </a:ln>
        </p:spPr>
      </p:pic>
      <p:sp>
        <p:nvSpPr>
          <p:cNvPr id="1224" name="Google Shape;1224;g3a6c7b9e349_0_43"/>
          <p:cNvSpPr txBox="1"/>
          <p:nvPr/>
        </p:nvSpPr>
        <p:spPr>
          <a:xfrm>
            <a:off x="209626" y="1069688"/>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pic>
        <p:nvPicPr>
          <p:cNvPr id="1225" name="Google Shape;1225;g3a6c7b9e349_0_43"/>
          <p:cNvPicPr preferRelativeResize="0"/>
          <p:nvPr/>
        </p:nvPicPr>
        <p:blipFill rotWithShape="1">
          <a:blip r:embed="rId5">
            <a:alphaModFix/>
          </a:blip>
          <a:srcRect/>
          <a:stretch/>
        </p:blipFill>
        <p:spPr>
          <a:xfrm>
            <a:off x="182676" y="1659026"/>
            <a:ext cx="121259" cy="121259"/>
          </a:xfrm>
          <a:prstGeom prst="rect">
            <a:avLst/>
          </a:prstGeom>
          <a:noFill/>
          <a:ln>
            <a:noFill/>
          </a:ln>
        </p:spPr>
      </p:pic>
      <p:sp>
        <p:nvSpPr>
          <p:cNvPr id="1226" name="Google Shape;1226;g3a6c7b9e349_0_43"/>
          <p:cNvSpPr txBox="1"/>
          <p:nvPr/>
        </p:nvSpPr>
        <p:spPr>
          <a:xfrm>
            <a:off x="209626" y="1649176"/>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1227" name="Google Shape;1227;g3a6c7b9e349_0_43"/>
          <p:cNvSpPr txBox="1"/>
          <p:nvPr/>
        </p:nvSpPr>
        <p:spPr>
          <a:xfrm>
            <a:off x="338892" y="401454"/>
            <a:ext cx="4557900" cy="2434500"/>
          </a:xfrm>
          <a:prstGeom prst="rect">
            <a:avLst/>
          </a:prstGeom>
          <a:noFill/>
          <a:ln>
            <a:noFill/>
          </a:ln>
        </p:spPr>
        <p:txBody>
          <a:bodyPr spcFirstLastPara="1" wrap="square" lIns="0" tIns="65400" rIns="0" bIns="0" anchor="t" anchorCtr="0">
            <a:spAutoFit/>
          </a:bodyPr>
          <a:lstStyle/>
          <a:p>
            <a:pPr marL="381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States (S)</a:t>
            </a:r>
            <a:endParaRPr sz="1050" b="0" i="0" u="none" strike="noStrike" cap="none">
              <a:solidFill>
                <a:srgbClr val="000000"/>
              </a:solidFill>
              <a:latin typeface="Arial"/>
              <a:ea typeface="Arial"/>
              <a:cs typeface="Arial"/>
              <a:sym typeface="Arial"/>
            </a:endParaRPr>
          </a:p>
          <a:p>
            <a:pPr marL="193040" marR="0" lvl="0" indent="-60325" algn="l" rtl="0">
              <a:lnSpc>
                <a:spcPct val="100000"/>
              </a:lnSpc>
              <a:spcBef>
                <a:spcPts val="395"/>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 = (Cool(</a:t>
            </a:r>
            <a:r>
              <a:rPr lang="en-US" sz="950" b="1" i="0" u="none" strike="noStrike" cap="none">
                <a:solidFill>
                  <a:srgbClr val="000000"/>
                </a:solidFill>
                <a:latin typeface="Arial"/>
                <a:ea typeface="Arial"/>
                <a:cs typeface="Arial"/>
                <a:sym typeface="Arial"/>
              </a:rPr>
              <a:t>C</a:t>
            </a:r>
            <a:r>
              <a:rPr lang="en-US" sz="950" b="0" i="0" u="none" strike="noStrike" cap="none">
                <a:solidFill>
                  <a:srgbClr val="000000"/>
                </a:solidFill>
                <a:latin typeface="Arial"/>
                <a:ea typeface="Arial"/>
                <a:cs typeface="Arial"/>
                <a:sym typeface="Arial"/>
              </a:rPr>
              <a:t>), Warm(</a:t>
            </a:r>
            <a:r>
              <a:rPr lang="en-US" sz="950" b="1" i="0" u="none" strike="noStrike" cap="none">
                <a:solidFill>
                  <a:srgbClr val="000000"/>
                </a:solidFill>
                <a:latin typeface="Arial"/>
                <a:ea typeface="Arial"/>
                <a:cs typeface="Arial"/>
                <a:sym typeface="Arial"/>
              </a:rPr>
              <a:t>W</a:t>
            </a:r>
            <a:r>
              <a:rPr lang="en-US" sz="950" b="0" i="0" u="none" strike="noStrike" cap="none">
                <a:solidFill>
                  <a:srgbClr val="000000"/>
                </a:solidFill>
                <a:latin typeface="Arial"/>
                <a:ea typeface="Arial"/>
                <a:cs typeface="Arial"/>
                <a:sym typeface="Arial"/>
              </a:rPr>
              <a:t>), Overheated(</a:t>
            </a:r>
            <a:r>
              <a:rPr lang="en-US" sz="950" b="1" i="0" u="none" strike="noStrike" cap="none">
                <a:solidFill>
                  <a:srgbClr val="000000"/>
                </a:solidFill>
                <a:latin typeface="Arial"/>
                <a:ea typeface="Arial"/>
                <a:cs typeface="Arial"/>
                <a:sym typeface="Arial"/>
              </a:rPr>
              <a:t>O</a:t>
            </a:r>
            <a:r>
              <a:rPr lang="en-US" sz="950" b="0" i="0" u="none" strike="noStrike" cap="none">
                <a:solidFill>
                  <a:srgbClr val="000000"/>
                </a:solidFill>
                <a:latin typeface="Arial"/>
                <a:ea typeface="Arial"/>
                <a:cs typeface="Arial"/>
                <a:sym typeface="Arial"/>
              </a:rPr>
              <a:t>)) #Engine Temperature</a:t>
            </a:r>
            <a:endParaRPr/>
          </a:p>
          <a:p>
            <a:pPr marL="193040" marR="0" lvl="0" indent="-60325" algn="l" rtl="0">
              <a:lnSpc>
                <a:spcPct val="100000"/>
              </a:lnSpc>
              <a:spcBef>
                <a:spcPts val="395"/>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Finite State MDP</a:t>
            </a:r>
            <a:endParaRPr sz="1050" b="0" i="0" u="none" strike="noStrike" cap="none">
              <a:solidFill>
                <a:srgbClr val="1B1472"/>
              </a:solidFill>
              <a:latin typeface="Arial"/>
              <a:ea typeface="Arial"/>
              <a:cs typeface="Arial"/>
              <a:sym typeface="Arial"/>
            </a:endParaRPr>
          </a:p>
          <a:p>
            <a:pPr marL="38100" marR="0" lvl="0" indent="0" algn="l" rtl="0">
              <a:lnSpc>
                <a:spcPct val="100000"/>
              </a:lnSpc>
              <a:spcBef>
                <a:spcPts val="415"/>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Actions (A)</a:t>
            </a:r>
            <a:endParaRPr sz="1050" b="0" i="0" u="none" strike="noStrike" cap="none">
              <a:solidFill>
                <a:srgbClr val="000000"/>
              </a:solidFill>
              <a:latin typeface="Arial"/>
              <a:ea typeface="Arial"/>
              <a:cs typeface="Arial"/>
              <a:sym typeface="Arial"/>
            </a:endParaRPr>
          </a:p>
          <a:p>
            <a:pPr marL="193040" marR="0" lvl="0" indent="-60325" algn="l" rtl="0">
              <a:lnSpc>
                <a:spcPct val="100000"/>
              </a:lnSpc>
              <a:spcBef>
                <a:spcPts val="395"/>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A = </a:t>
            </a:r>
            <a:r>
              <a:rPr lang="en-US" sz="1000" b="0" i="0" u="none" strike="noStrike" cap="none">
                <a:solidFill>
                  <a:srgbClr val="000000"/>
                </a:solidFill>
                <a:latin typeface="Arial"/>
                <a:ea typeface="Arial"/>
                <a:cs typeface="Arial"/>
                <a:sym typeface="Arial"/>
              </a:rPr>
              <a:t>{Go Slow(</a:t>
            </a:r>
            <a:r>
              <a:rPr lang="en-US" sz="1000" b="1" i="0" u="none" strike="noStrike" cap="none">
                <a:solidFill>
                  <a:srgbClr val="000000"/>
                </a:solidFill>
                <a:latin typeface="Arial"/>
                <a:ea typeface="Arial"/>
                <a:cs typeface="Arial"/>
                <a:sym typeface="Arial"/>
              </a:rPr>
              <a:t>S</a:t>
            </a:r>
            <a:r>
              <a:rPr lang="en-US" sz="1000" b="0" i="0" u="none" strike="noStrike" cap="none">
                <a:solidFill>
                  <a:srgbClr val="000000"/>
                </a:solidFill>
                <a:latin typeface="Arial"/>
                <a:ea typeface="Arial"/>
                <a:cs typeface="Arial"/>
                <a:sym typeface="Arial"/>
              </a:rPr>
              <a:t>), Go Fast(</a:t>
            </a:r>
            <a:r>
              <a:rPr lang="en-US" sz="1000" b="1" i="0" u="none" strike="noStrike" cap="none">
                <a:solidFill>
                  <a:srgbClr val="000000"/>
                </a:solidFill>
                <a:latin typeface="Arial"/>
                <a:ea typeface="Arial"/>
                <a:cs typeface="Arial"/>
                <a:sym typeface="Arial"/>
              </a:rPr>
              <a:t>F</a:t>
            </a:r>
            <a:r>
              <a:rPr lang="en-US" sz="1000" b="0" i="0" u="none" strike="noStrike" cap="none">
                <a:solidFill>
                  <a:srgbClr val="000000"/>
                </a:solidFill>
                <a:latin typeface="Arial"/>
                <a:ea typeface="Arial"/>
                <a:cs typeface="Arial"/>
                <a:sym typeface="Arial"/>
              </a:rPr>
              <a:t>)}</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409"/>
              </a:spcBef>
              <a:spcAft>
                <a:spcPts val="0"/>
              </a:spcAft>
              <a:buClr>
                <a:srgbClr val="000000"/>
              </a:buClr>
              <a:buSzPts val="1050"/>
              <a:buFont typeface="Arial"/>
              <a:buNone/>
            </a:pPr>
            <a:endParaRPr sz="1050" b="0" i="0" u="none" strike="noStrike" cap="none">
              <a:solidFill>
                <a:srgbClr val="1B1472"/>
              </a:solidFill>
              <a:latin typeface="Arial"/>
              <a:ea typeface="Arial"/>
              <a:cs typeface="Arial"/>
              <a:sym typeface="Arial"/>
            </a:endParaRPr>
          </a:p>
          <a:p>
            <a:pPr marL="38100" marR="0" lvl="0" indent="0" algn="l" rtl="0">
              <a:lnSpc>
                <a:spcPct val="100000"/>
              </a:lnSpc>
              <a:spcBef>
                <a:spcPts val="409"/>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Rewards (R)</a:t>
            </a:r>
            <a:r>
              <a:rPr lang="en-US" sz="1050" b="0" i="0" u="none" strike="noStrike" cap="none">
                <a:solidFill>
                  <a:srgbClr val="000000"/>
                </a:solidFill>
                <a:latin typeface="Arial"/>
                <a:ea typeface="Arial"/>
                <a:cs typeface="Arial"/>
                <a:sym typeface="Arial"/>
              </a:rPr>
              <a:t> and/or </a:t>
            </a:r>
            <a:r>
              <a:rPr lang="en-US" sz="1050" b="0" i="0" u="none" strike="noStrike" cap="none">
                <a:solidFill>
                  <a:srgbClr val="1B1472"/>
                </a:solidFill>
                <a:latin typeface="Arial"/>
                <a:ea typeface="Arial"/>
                <a:cs typeface="Arial"/>
                <a:sym typeface="Arial"/>
              </a:rPr>
              <a:t>State Transition Probabilities (P) </a:t>
            </a:r>
            <a:endParaRPr/>
          </a:p>
          <a:p>
            <a:pPr marL="38100" marR="0" lvl="0" indent="0" algn="l" rtl="0">
              <a:lnSpc>
                <a:spcPct val="100000"/>
              </a:lnSpc>
              <a:spcBef>
                <a:spcPts val="409"/>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may be non-stationary</a:t>
            </a:r>
            <a:endParaRPr/>
          </a:p>
          <a:p>
            <a:pPr marL="38100" marR="0" lvl="0" indent="0" algn="l" rtl="0">
              <a:lnSpc>
                <a:spcPct val="100000"/>
              </a:lnSpc>
              <a:spcBef>
                <a:spcPts val="409"/>
              </a:spcBef>
              <a:spcAft>
                <a:spcPts val="0"/>
              </a:spcAft>
              <a:buClr>
                <a:srgbClr val="000000"/>
              </a:buClr>
              <a:buSzPts val="1050"/>
              <a:buFont typeface="Arial"/>
              <a:buNone/>
            </a:pPr>
            <a:endParaRPr sz="1050" b="0" i="0" u="none" strike="noStrike" cap="none">
              <a:solidFill>
                <a:srgbClr val="1B1472"/>
              </a:solidFill>
              <a:latin typeface="Arial"/>
              <a:ea typeface="Arial"/>
              <a:cs typeface="Arial"/>
              <a:sym typeface="Arial"/>
            </a:endParaRPr>
          </a:p>
          <a:p>
            <a:pPr marL="38100" marR="0" lvl="0" indent="0" algn="l" rtl="0">
              <a:lnSpc>
                <a:spcPct val="100000"/>
              </a:lnSpc>
              <a:spcBef>
                <a:spcPts val="409"/>
              </a:spcBef>
              <a:spcAft>
                <a:spcPts val="0"/>
              </a:spcAft>
              <a:buClr>
                <a:srgbClr val="000000"/>
              </a:buClr>
              <a:buSzPts val="1050"/>
              <a:buFont typeface="Arial"/>
              <a:buNone/>
            </a:pPr>
            <a:r>
              <a:rPr lang="en-US" sz="1050" b="0" i="0" u="none" strike="noStrike" cap="none">
                <a:solidFill>
                  <a:srgbClr val="000000"/>
                </a:solidFill>
                <a:latin typeface="Arial"/>
                <a:ea typeface="Arial"/>
                <a:cs typeface="Arial"/>
                <a:sym typeface="Arial"/>
              </a:rPr>
              <a:t>Policy still needs estimation of V(S) , Q(S,A) i.e., MDP components but its is not a necessity that the process is expected to follow a Markov Property!! ☺</a:t>
            </a:r>
            <a:endParaRPr sz="1050" b="0" i="0" u="none" strike="noStrike" cap="none">
              <a:solidFill>
                <a:srgbClr val="000000"/>
              </a:solidFill>
              <a:latin typeface="Arial"/>
              <a:ea typeface="Arial"/>
              <a:cs typeface="Arial"/>
              <a:sym typeface="Arial"/>
            </a:endParaRPr>
          </a:p>
        </p:txBody>
      </p:sp>
      <p:grpSp>
        <p:nvGrpSpPr>
          <p:cNvPr id="1228" name="Google Shape;1228;g3a6c7b9e349_0_43"/>
          <p:cNvGrpSpPr/>
          <p:nvPr/>
        </p:nvGrpSpPr>
        <p:grpSpPr>
          <a:xfrm>
            <a:off x="0" y="3109250"/>
            <a:ext cx="5760261" cy="92075"/>
            <a:chOff x="0" y="3109250"/>
            <a:chExt cx="5760261" cy="92075"/>
          </a:xfrm>
        </p:grpSpPr>
        <p:sp>
          <p:nvSpPr>
            <p:cNvPr id="1229" name="Google Shape;1229;g3a6c7b9e349_0_4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g3a6c7b9e349_0_4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1" name="Google Shape;1231;g3a6c7b9e349_0_4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2" name="Google Shape;1232;g3a6c7b9e349_0_4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233" name="Google Shape;1233;g3a6c7b9e349_0_4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30</a:t>
            </a:fld>
            <a:r>
              <a:rPr lang="en-US"/>
              <a:t> </a:t>
            </a:r>
            <a:endParaRPr/>
          </a:p>
        </p:txBody>
      </p:sp>
      <p:grpSp>
        <p:nvGrpSpPr>
          <p:cNvPr id="1234" name="Google Shape;1234;g3a6c7b9e349_0_43"/>
          <p:cNvGrpSpPr/>
          <p:nvPr/>
        </p:nvGrpSpPr>
        <p:grpSpPr>
          <a:xfrm>
            <a:off x="182677" y="2244034"/>
            <a:ext cx="148210" cy="163940"/>
            <a:chOff x="134127" y="2262704"/>
            <a:chExt cx="266997" cy="178837"/>
          </a:xfrm>
        </p:grpSpPr>
        <p:pic>
          <p:nvPicPr>
            <p:cNvPr id="1235" name="Google Shape;1235;g3a6c7b9e349_0_43"/>
            <p:cNvPicPr preferRelativeResize="0"/>
            <p:nvPr/>
          </p:nvPicPr>
          <p:blipFill rotWithShape="1">
            <a:blip r:embed="rId5">
              <a:alphaModFix/>
            </a:blip>
            <a:srcRect/>
            <a:stretch/>
          </p:blipFill>
          <p:spPr>
            <a:xfrm>
              <a:off x="134127" y="2262704"/>
              <a:ext cx="266997" cy="178837"/>
            </a:xfrm>
            <a:prstGeom prst="rect">
              <a:avLst/>
            </a:prstGeom>
            <a:noFill/>
            <a:ln>
              <a:noFill/>
            </a:ln>
          </p:spPr>
        </p:pic>
        <p:sp>
          <p:nvSpPr>
            <p:cNvPr id="1236" name="Google Shape;1236;g3a6c7b9e349_0_43"/>
            <p:cNvSpPr txBox="1"/>
            <p:nvPr/>
          </p:nvSpPr>
          <p:spPr>
            <a:xfrm>
              <a:off x="209626" y="2275554"/>
              <a:ext cx="148200" cy="1140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grpSp>
        <p:nvGrpSpPr>
          <p:cNvPr id="1237" name="Google Shape;1237;g3a6c7b9e349_0_43"/>
          <p:cNvGrpSpPr/>
          <p:nvPr/>
        </p:nvGrpSpPr>
        <p:grpSpPr>
          <a:xfrm>
            <a:off x="519404" y="3558972"/>
            <a:ext cx="266997" cy="178837"/>
            <a:chOff x="286527" y="2415104"/>
            <a:chExt cx="266997" cy="178837"/>
          </a:xfrm>
        </p:grpSpPr>
        <p:pic>
          <p:nvPicPr>
            <p:cNvPr id="1238" name="Google Shape;1238;g3a6c7b9e349_0_43"/>
            <p:cNvPicPr preferRelativeResize="0"/>
            <p:nvPr/>
          </p:nvPicPr>
          <p:blipFill rotWithShape="1">
            <a:blip r:embed="rId5">
              <a:alphaModFix/>
            </a:blip>
            <a:srcRect/>
            <a:stretch/>
          </p:blipFill>
          <p:spPr>
            <a:xfrm>
              <a:off x="286527" y="2415104"/>
              <a:ext cx="266997" cy="178837"/>
            </a:xfrm>
            <a:prstGeom prst="rect">
              <a:avLst/>
            </a:prstGeom>
            <a:noFill/>
            <a:ln>
              <a:noFill/>
            </a:ln>
          </p:spPr>
        </p:pic>
        <p:sp>
          <p:nvSpPr>
            <p:cNvPr id="1239" name="Google Shape;1239;g3a6c7b9e349_0_43"/>
            <p:cNvSpPr txBox="1"/>
            <p:nvPr/>
          </p:nvSpPr>
          <p:spPr>
            <a:xfrm>
              <a:off x="362026" y="2427954"/>
              <a:ext cx="148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5</a:t>
              </a:r>
              <a:endParaRPr sz="600" b="0" i="0" u="none" strike="noStrike" cap="none">
                <a:solidFill>
                  <a:srgbClr val="000000"/>
                </a:solidFill>
                <a:latin typeface="Calibri"/>
                <a:ea typeface="Calibri"/>
                <a:cs typeface="Calibri"/>
                <a:sym typeface="Calibri"/>
              </a:endParaRPr>
            </a:p>
          </p:txBody>
        </p:sp>
      </p:grpSp>
      <p:grpSp>
        <p:nvGrpSpPr>
          <p:cNvPr id="1240" name="Google Shape;1240;g3a6c7b9e349_0_43"/>
          <p:cNvGrpSpPr/>
          <p:nvPr/>
        </p:nvGrpSpPr>
        <p:grpSpPr>
          <a:xfrm>
            <a:off x="1032004" y="3531040"/>
            <a:ext cx="266997" cy="178837"/>
            <a:chOff x="438927" y="2567504"/>
            <a:chExt cx="266997" cy="178837"/>
          </a:xfrm>
        </p:grpSpPr>
        <p:pic>
          <p:nvPicPr>
            <p:cNvPr id="1241" name="Google Shape;1241;g3a6c7b9e349_0_43"/>
            <p:cNvPicPr preferRelativeResize="0"/>
            <p:nvPr/>
          </p:nvPicPr>
          <p:blipFill rotWithShape="1">
            <a:blip r:embed="rId5">
              <a:alphaModFix/>
            </a:blip>
            <a:srcRect/>
            <a:stretch/>
          </p:blipFill>
          <p:spPr>
            <a:xfrm>
              <a:off x="438927" y="2567504"/>
              <a:ext cx="266997" cy="178837"/>
            </a:xfrm>
            <a:prstGeom prst="rect">
              <a:avLst/>
            </a:prstGeom>
            <a:noFill/>
            <a:ln>
              <a:noFill/>
            </a:ln>
          </p:spPr>
        </p:pic>
        <p:sp>
          <p:nvSpPr>
            <p:cNvPr id="1242" name="Google Shape;1242;g3a6c7b9e349_0_43"/>
            <p:cNvSpPr txBox="1"/>
            <p:nvPr/>
          </p:nvSpPr>
          <p:spPr>
            <a:xfrm>
              <a:off x="514426" y="2580354"/>
              <a:ext cx="148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6</a:t>
              </a:r>
              <a:endParaRPr sz="600" b="0" i="0" u="none" strike="noStrike" cap="none">
                <a:solidFill>
                  <a:srgbClr val="000000"/>
                </a:solidFill>
                <a:latin typeface="Calibri"/>
                <a:ea typeface="Calibri"/>
                <a:cs typeface="Calibri"/>
                <a:sym typeface="Calibri"/>
              </a:endParaRPr>
            </a:p>
          </p:txBody>
        </p:sp>
      </p:grpSp>
      <p:grpSp>
        <p:nvGrpSpPr>
          <p:cNvPr id="1243" name="Google Shape;1243;g3a6c7b9e349_0_43"/>
          <p:cNvGrpSpPr/>
          <p:nvPr/>
        </p:nvGrpSpPr>
        <p:grpSpPr>
          <a:xfrm>
            <a:off x="1544604" y="3571203"/>
            <a:ext cx="266997" cy="178837"/>
            <a:chOff x="1452387" y="2885403"/>
            <a:chExt cx="266997" cy="178837"/>
          </a:xfrm>
        </p:grpSpPr>
        <p:pic>
          <p:nvPicPr>
            <p:cNvPr id="1244" name="Google Shape;1244;g3a6c7b9e349_0_43"/>
            <p:cNvPicPr preferRelativeResize="0"/>
            <p:nvPr/>
          </p:nvPicPr>
          <p:blipFill rotWithShape="1">
            <a:blip r:embed="rId5">
              <a:alphaModFix/>
            </a:blip>
            <a:srcRect/>
            <a:stretch/>
          </p:blipFill>
          <p:spPr>
            <a:xfrm>
              <a:off x="1452387" y="2885403"/>
              <a:ext cx="266997" cy="178837"/>
            </a:xfrm>
            <a:prstGeom prst="rect">
              <a:avLst/>
            </a:prstGeom>
            <a:noFill/>
            <a:ln>
              <a:noFill/>
            </a:ln>
          </p:spPr>
        </p:pic>
        <p:sp>
          <p:nvSpPr>
            <p:cNvPr id="1245" name="Google Shape;1245;g3a6c7b9e349_0_43"/>
            <p:cNvSpPr txBox="1"/>
            <p:nvPr/>
          </p:nvSpPr>
          <p:spPr>
            <a:xfrm>
              <a:off x="1527886" y="2898253"/>
              <a:ext cx="148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7</a:t>
              </a:r>
              <a:endParaRPr sz="600" b="0" i="0" u="none" strike="noStrike" cap="none">
                <a:solidFill>
                  <a:srgbClr val="000000"/>
                </a:solidFill>
                <a:latin typeface="Calibri"/>
                <a:ea typeface="Calibri"/>
                <a:cs typeface="Calibri"/>
                <a:sym typeface="Calibri"/>
              </a:endParaRPr>
            </a:p>
          </p:txBody>
        </p:sp>
      </p:grpSp>
      <p:sp>
        <p:nvSpPr>
          <p:cNvPr id="1246" name="Google Shape;1246;g3a6c7b9e349_0_4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247" name="Google Shape;1247;g3a6c7b9e349_0_43"/>
          <p:cNvPicPr preferRelativeResize="0"/>
          <p:nvPr/>
        </p:nvPicPr>
        <p:blipFill rotWithShape="1">
          <a:blip r:embed="rId6">
            <a:alphaModFix/>
          </a:blip>
          <a:srcRect/>
          <a:stretch/>
        </p:blipFill>
        <p:spPr>
          <a:xfrm>
            <a:off x="3967924" y="1079537"/>
            <a:ext cx="1733207" cy="1074881"/>
          </a:xfrm>
          <a:prstGeom prst="rect">
            <a:avLst/>
          </a:prstGeom>
          <a:noFill/>
          <a:ln>
            <a:noFill/>
          </a:ln>
        </p:spPr>
      </p:pic>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g3a6c7b9e349_0_74"/>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 Methods</a:t>
            </a:r>
            <a:endParaRPr/>
          </a:p>
        </p:txBody>
      </p:sp>
      <p:pic>
        <p:nvPicPr>
          <p:cNvPr id="1253" name="Google Shape;1253;g3a6c7b9e349_0_74"/>
          <p:cNvPicPr preferRelativeResize="0"/>
          <p:nvPr/>
        </p:nvPicPr>
        <p:blipFill rotWithShape="1">
          <a:blip r:embed="rId3">
            <a:alphaModFix/>
          </a:blip>
          <a:srcRect/>
          <a:stretch/>
        </p:blipFill>
        <p:spPr>
          <a:xfrm>
            <a:off x="219002" y="583532"/>
            <a:ext cx="121259" cy="121259"/>
          </a:xfrm>
          <a:prstGeom prst="rect">
            <a:avLst/>
          </a:prstGeom>
          <a:noFill/>
          <a:ln>
            <a:noFill/>
          </a:ln>
        </p:spPr>
      </p:pic>
      <p:sp>
        <p:nvSpPr>
          <p:cNvPr id="1254" name="Google Shape;1254;g3a6c7b9e349_0_74"/>
          <p:cNvSpPr txBox="1"/>
          <p:nvPr/>
        </p:nvSpPr>
        <p:spPr>
          <a:xfrm>
            <a:off x="245952" y="573682"/>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sp>
        <p:nvSpPr>
          <p:cNvPr id="1255" name="Google Shape;1255;g3a6c7b9e349_0_74"/>
          <p:cNvSpPr txBox="1"/>
          <p:nvPr/>
        </p:nvSpPr>
        <p:spPr>
          <a:xfrm>
            <a:off x="406632" y="537309"/>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Given</a:t>
            </a:r>
            <a:endParaRPr sz="1050" b="0" i="0" u="none" strike="noStrike" cap="none">
              <a:solidFill>
                <a:srgbClr val="000000"/>
              </a:solidFill>
              <a:latin typeface="Arial"/>
              <a:ea typeface="Arial"/>
              <a:cs typeface="Arial"/>
              <a:sym typeface="Arial"/>
            </a:endParaRPr>
          </a:p>
        </p:txBody>
      </p:sp>
      <p:sp>
        <p:nvSpPr>
          <p:cNvPr id="1256" name="Google Shape;1256;g3a6c7b9e349_0_74"/>
          <p:cNvSpPr txBox="1"/>
          <p:nvPr/>
        </p:nvSpPr>
        <p:spPr>
          <a:xfrm>
            <a:off x="536451" y="732781"/>
            <a:ext cx="24963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 A, optionally R(s, a, s`) </a:t>
            </a:r>
            <a:endParaRPr sz="950" b="0" i="0" u="none" strike="noStrike" cap="none">
              <a:solidFill>
                <a:srgbClr val="000000"/>
              </a:solidFill>
              <a:latin typeface="Arial"/>
              <a:ea typeface="Arial"/>
              <a:cs typeface="Arial"/>
              <a:sym typeface="Arial"/>
            </a:endParaRPr>
          </a:p>
        </p:txBody>
      </p:sp>
      <p:grpSp>
        <p:nvGrpSpPr>
          <p:cNvPr id="1257" name="Google Shape;1257;g3a6c7b9e349_0_74"/>
          <p:cNvGrpSpPr/>
          <p:nvPr/>
        </p:nvGrpSpPr>
        <p:grpSpPr>
          <a:xfrm>
            <a:off x="219002" y="990948"/>
            <a:ext cx="121259" cy="528662"/>
            <a:chOff x="456996" y="1391780"/>
            <a:chExt cx="121259" cy="528662"/>
          </a:xfrm>
        </p:grpSpPr>
        <p:pic>
          <p:nvPicPr>
            <p:cNvPr id="1258" name="Google Shape;1258;g3a6c7b9e349_0_74"/>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1259" name="Google Shape;1259;g3a6c7b9e349_0_74"/>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1260" name="Google Shape;1260;g3a6c7b9e349_0_74"/>
          <p:cNvSpPr txBox="1"/>
          <p:nvPr/>
        </p:nvSpPr>
        <p:spPr>
          <a:xfrm>
            <a:off x="245952" y="981098"/>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sp>
        <p:nvSpPr>
          <p:cNvPr id="1261" name="Google Shape;1261;g3a6c7b9e349_0_74"/>
          <p:cNvSpPr txBox="1"/>
          <p:nvPr/>
        </p:nvSpPr>
        <p:spPr>
          <a:xfrm>
            <a:off x="406632" y="944712"/>
            <a:ext cx="13062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To find</a:t>
            </a:r>
            <a:endParaRPr sz="1050" b="0" i="0" u="none" strike="noStrike" cap="none">
              <a:solidFill>
                <a:srgbClr val="000000"/>
              </a:solidFill>
              <a:latin typeface="Arial"/>
              <a:ea typeface="Arial"/>
              <a:cs typeface="Arial"/>
              <a:sym typeface="Arial"/>
            </a:endParaRPr>
          </a:p>
        </p:txBody>
      </p:sp>
      <p:sp>
        <p:nvSpPr>
          <p:cNvPr id="1262" name="Google Shape;1262;g3a6c7b9e349_0_74"/>
          <p:cNvSpPr txBox="1"/>
          <p:nvPr/>
        </p:nvSpPr>
        <p:spPr>
          <a:xfrm>
            <a:off x="536451" y="1140197"/>
            <a:ext cx="26817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π </a:t>
            </a:r>
            <a:endParaRPr sz="950" b="0" i="0" u="none" strike="noStrike" cap="none">
              <a:solidFill>
                <a:srgbClr val="000000"/>
              </a:solidFill>
              <a:latin typeface="Arial"/>
              <a:ea typeface="Arial"/>
              <a:cs typeface="Arial"/>
              <a:sym typeface="Arial"/>
            </a:endParaRPr>
          </a:p>
        </p:txBody>
      </p:sp>
      <p:sp>
        <p:nvSpPr>
          <p:cNvPr id="1263" name="Google Shape;1263;g3a6c7b9e349_0_74"/>
          <p:cNvSpPr txBox="1"/>
          <p:nvPr/>
        </p:nvSpPr>
        <p:spPr>
          <a:xfrm>
            <a:off x="245952" y="1388501"/>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1264" name="Google Shape;1264;g3a6c7b9e349_0_74"/>
          <p:cNvSpPr txBox="1"/>
          <p:nvPr/>
        </p:nvSpPr>
        <p:spPr>
          <a:xfrm>
            <a:off x="406632" y="1352128"/>
            <a:ext cx="13017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Solution</a:t>
            </a:r>
            <a:endParaRPr sz="1050" b="0" i="0" u="none" strike="noStrike" cap="none">
              <a:solidFill>
                <a:srgbClr val="000000"/>
              </a:solidFill>
              <a:latin typeface="Arial"/>
              <a:ea typeface="Arial"/>
              <a:cs typeface="Arial"/>
              <a:sym typeface="Arial"/>
            </a:endParaRPr>
          </a:p>
        </p:txBody>
      </p:sp>
      <p:sp>
        <p:nvSpPr>
          <p:cNvPr id="1265" name="Google Shape;1265;g3a6c7b9e349_0_74"/>
          <p:cNvSpPr txBox="1"/>
          <p:nvPr/>
        </p:nvSpPr>
        <p:spPr>
          <a:xfrm>
            <a:off x="128632" y="1512226"/>
            <a:ext cx="5358600" cy="1625100"/>
          </a:xfrm>
          <a:prstGeom prst="rect">
            <a:avLst/>
          </a:prstGeom>
          <a:noFill/>
          <a:ln>
            <a:noFill/>
          </a:ln>
        </p:spPr>
        <p:txBody>
          <a:bodyPr spcFirstLastPara="1" wrap="square" lIns="0" tIns="11425" rIns="0" bIns="0" anchor="t" anchorCtr="0">
            <a:spAutoFit/>
          </a:bodyPr>
          <a:lstStyle/>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Sample Episodes</a:t>
            </a:r>
            <a:endParaRPr/>
          </a:p>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Compute estimates of the value by discounted returns</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Simple average</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Weighted average</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Normalized weighted average</a:t>
            </a:r>
            <a:endParaRPr sz="140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grpSp>
        <p:nvGrpSpPr>
          <p:cNvPr id="1266" name="Google Shape;1266;g3a6c7b9e349_0_74"/>
          <p:cNvGrpSpPr/>
          <p:nvPr/>
        </p:nvGrpSpPr>
        <p:grpSpPr>
          <a:xfrm>
            <a:off x="0" y="3109250"/>
            <a:ext cx="5760261" cy="92075"/>
            <a:chOff x="0" y="3109250"/>
            <a:chExt cx="5760261" cy="92075"/>
          </a:xfrm>
        </p:grpSpPr>
        <p:sp>
          <p:nvSpPr>
            <p:cNvPr id="1267" name="Google Shape;1267;g3a6c7b9e349_0_7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g3a6c7b9e349_0_7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g3a6c7b9e349_0_7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70" name="Google Shape;1270;g3a6c7b9e349_0_74"/>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271" name="Google Shape;1271;g3a6c7b9e349_0_7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31</a:t>
            </a:fld>
            <a:r>
              <a:rPr lang="en-US"/>
              <a:t> </a:t>
            </a:r>
            <a:endParaRPr/>
          </a:p>
        </p:txBody>
      </p:sp>
      <p:grpSp>
        <p:nvGrpSpPr>
          <p:cNvPr id="1272" name="Google Shape;1272;g3a6c7b9e349_0_74"/>
          <p:cNvGrpSpPr/>
          <p:nvPr/>
        </p:nvGrpSpPr>
        <p:grpSpPr>
          <a:xfrm>
            <a:off x="201908" y="2191372"/>
            <a:ext cx="148210" cy="163940"/>
            <a:chOff x="134127" y="2262704"/>
            <a:chExt cx="266997" cy="178837"/>
          </a:xfrm>
        </p:grpSpPr>
        <p:pic>
          <p:nvPicPr>
            <p:cNvPr id="1273" name="Google Shape;1273;g3a6c7b9e349_0_74"/>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1274" name="Google Shape;1274;g3a6c7b9e349_0_74"/>
            <p:cNvSpPr txBox="1"/>
            <p:nvPr/>
          </p:nvSpPr>
          <p:spPr>
            <a:xfrm>
              <a:off x="209626" y="2275554"/>
              <a:ext cx="148200" cy="1140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sp>
        <p:nvSpPr>
          <p:cNvPr id="1275" name="Google Shape;1275;g3a6c7b9e349_0_74"/>
          <p:cNvSpPr txBox="1"/>
          <p:nvPr/>
        </p:nvSpPr>
        <p:spPr>
          <a:xfrm>
            <a:off x="421246" y="2174040"/>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Idea</a:t>
            </a:r>
            <a:endParaRPr sz="1050" b="0" i="0" u="none" strike="noStrike" cap="none">
              <a:solidFill>
                <a:srgbClr val="000000"/>
              </a:solidFill>
              <a:latin typeface="Arial"/>
              <a:ea typeface="Arial"/>
              <a:cs typeface="Arial"/>
              <a:sym typeface="Arial"/>
            </a:endParaRPr>
          </a:p>
        </p:txBody>
      </p:sp>
      <p:sp>
        <p:nvSpPr>
          <p:cNvPr id="1276" name="Google Shape;1276;g3a6c7b9e349_0_74"/>
          <p:cNvSpPr txBox="1"/>
          <p:nvPr/>
        </p:nvSpPr>
        <p:spPr>
          <a:xfrm>
            <a:off x="515765" y="2355312"/>
            <a:ext cx="4584300" cy="8889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On Policy : </a:t>
            </a:r>
            <a:endParaRPr sz="950" b="0" i="0" u="none" strike="noStrike" cap="none">
              <a:solidFill>
                <a:srgbClr val="000000"/>
              </a:solidFill>
              <a:latin typeface="Arial"/>
              <a:ea typeface="Arial"/>
              <a:cs typeface="Arial"/>
              <a:sym typeface="Arial"/>
            </a:endParaRPr>
          </a:p>
          <a:p>
            <a:pPr marL="265112" marR="0" lvl="1"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Generate Sample/Experience 🡪 Evaluate using Return 🡪 Improve</a:t>
            </a:r>
            <a:endParaRPr sz="1400" b="0" i="0" u="none" strike="noStrike" cap="none">
              <a:solidFill>
                <a:srgbClr val="000000"/>
              </a:solidFill>
              <a:latin typeface="Arial"/>
              <a:ea typeface="Arial"/>
              <a:cs typeface="Arial"/>
              <a:sym typeface="Arial"/>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Off Policy : </a:t>
            </a:r>
            <a:endParaRPr sz="950" b="0" i="0" u="none" strike="noStrike" cap="none">
              <a:solidFill>
                <a:srgbClr val="000000"/>
              </a:solidFill>
              <a:latin typeface="Arial"/>
              <a:ea typeface="Arial"/>
              <a:cs typeface="Arial"/>
              <a:sym typeface="Arial"/>
            </a:endParaRPr>
          </a:p>
          <a:p>
            <a:pPr marL="287337" marR="0" lvl="0" indent="-107950"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Refer to Sample/Experience generated by another reference(behavior) policy  🡪 Evaluate using Return 🡪 Improve</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1277" name="Google Shape;1277;g3a6c7b9e349_0_74"/>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1278" name="Google Shape;1278;g3a6c7b9e349_0_74"/>
          <p:cNvSpPr/>
          <p:nvPr/>
        </p:nvSpPr>
        <p:spPr>
          <a:xfrm>
            <a:off x="421245" y="2337176"/>
            <a:ext cx="4859700" cy="33300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79" name="Google Shape;1279;g3a6c7b9e349_0_74"/>
          <p:cNvSpPr/>
          <p:nvPr/>
        </p:nvSpPr>
        <p:spPr>
          <a:xfrm>
            <a:off x="421245" y="1816806"/>
            <a:ext cx="4859700" cy="14910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83"/>
        <p:cNvGrpSpPr/>
        <p:nvPr/>
      </p:nvGrpSpPr>
      <p:grpSpPr>
        <a:xfrm>
          <a:off x="0" y="0"/>
          <a:ext cx="0" cy="0"/>
          <a:chOff x="0" y="0"/>
          <a:chExt cx="0" cy="0"/>
        </a:xfrm>
      </p:grpSpPr>
      <p:sp>
        <p:nvSpPr>
          <p:cNvPr id="1284" name="Google Shape;1284;g3a6c7b9e349_0_105"/>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1285" name="Google Shape;1285;g3a6c7b9e349_0_105"/>
          <p:cNvSpPr txBox="1">
            <a:spLocks noGrp="1"/>
          </p:cNvSpPr>
          <p:nvPr>
            <p:ph type="body" idx="1"/>
          </p:nvPr>
        </p:nvSpPr>
        <p:spPr>
          <a:xfrm>
            <a:off x="891520" y="516129"/>
            <a:ext cx="3812400" cy="22164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Monte Carlo Method</a:t>
            </a:r>
            <a:endParaRPr/>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On Policy Control Algorithm</a:t>
            </a:r>
            <a:endParaRPr sz="1600" b="1">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89"/>
        <p:cNvGrpSpPr/>
        <p:nvPr/>
      </p:nvGrpSpPr>
      <p:grpSpPr>
        <a:xfrm>
          <a:off x="0" y="0"/>
          <a:ext cx="0" cy="0"/>
          <a:chOff x="0" y="0"/>
          <a:chExt cx="0" cy="0"/>
        </a:xfrm>
      </p:grpSpPr>
      <p:sp>
        <p:nvSpPr>
          <p:cNvPr id="1290" name="Google Shape;1290;g3a6c7b9e349_0_11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291" name="Google Shape;1291;g3a6c7b9e349_0_11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2" name="Google Shape;1292;g3a6c7b9e349_0_110"/>
          <p:cNvGrpSpPr/>
          <p:nvPr/>
        </p:nvGrpSpPr>
        <p:grpSpPr>
          <a:xfrm>
            <a:off x="0" y="3109250"/>
            <a:ext cx="5760261" cy="92075"/>
            <a:chOff x="0" y="3109250"/>
            <a:chExt cx="5760261" cy="92075"/>
          </a:xfrm>
        </p:grpSpPr>
        <p:sp>
          <p:nvSpPr>
            <p:cNvPr id="1293" name="Google Shape;1293;g3a6c7b9e349_0_11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g3a6c7b9e349_0_11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5" name="Google Shape;1295;g3a6c7b9e349_0_11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96" name="Google Shape;1296;g3a6c7b9e349_0_11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297" name="Google Shape;1297;g3a6c7b9e349_0_11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33</a:t>
            </a:fld>
            <a:endParaRPr/>
          </a:p>
        </p:txBody>
      </p:sp>
      <p:pic>
        <p:nvPicPr>
          <p:cNvPr id="1298" name="Google Shape;1298;g3a6c7b9e349_0_11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299" name="Google Shape;1299;g3a6c7b9e349_0_11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300" name="Google Shape;1300;g3a6c7b9e349_0_11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301" name="Google Shape;1301;g3a6c7b9e349_0_11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02" name="Google Shape;1302;g3a6c7b9e349_0_11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03" name="Google Shape;1303;g3a6c7b9e349_0_11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04" name="Google Shape;1304;g3a6c7b9e349_0_11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305" name="Google Shape;1305;g3a6c7b9e349_0_110"/>
          <p:cNvSpPr/>
          <p:nvPr/>
        </p:nvSpPr>
        <p:spPr>
          <a:xfrm>
            <a:off x="3742393" y="429649"/>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06" name="Google Shape;1306;g3a6c7b9e349_0_11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307" name="Google Shape;1307;g3a6c7b9e349_0_110"/>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308" name="Google Shape;1308;g3a6c7b9e349_0_110"/>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First Visit Policy Evaluation</a:t>
            </a:r>
            <a:endParaRPr sz="750" b="1" i="0" u="none" strike="noStrike" cap="none">
              <a:solidFill>
                <a:srgbClr val="1B1472"/>
              </a:solidFill>
              <a:latin typeface="Arial"/>
              <a:ea typeface="Arial"/>
              <a:cs typeface="Arial"/>
              <a:sym typeface="Arial"/>
            </a:endParaRPr>
          </a:p>
        </p:txBody>
      </p:sp>
      <p:pic>
        <p:nvPicPr>
          <p:cNvPr id="1309" name="Google Shape;1309;g3a6c7b9e349_0_110"/>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310" name="Google Shape;1310;g3a6c7b9e349_0_110"/>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1311" name="Google Shape;1311;g3a6c7b9e349_0_110"/>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1312" name="Google Shape;1312;g3a6c7b9e349_0_11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313" name="Google Shape;1313;g3a6c7b9e349_0_11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314" name="Google Shape;1314;g3a6c7b9e349_0_11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315" name="Google Shape;1315;g3a6c7b9e349_0_11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316" name="Google Shape;1316;g3a6c7b9e349_0_11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317" name="Google Shape;1317;g3a6c7b9e349_0_11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318" name="Google Shape;1318;g3a6c7b9e349_0_110"/>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319" name="Google Shape;1319;g3a6c7b9e349_0_110"/>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320" name="Google Shape;1320;g3a6c7b9e349_0_110"/>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321" name="Google Shape;1321;g3a6c7b9e349_0_110"/>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322" name="Google Shape;1322;g3a6c7b9e349_0_110"/>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323" name="Google Shape;1323;g3a6c7b9e349_0_110"/>
          <p:cNvPicPr preferRelativeResize="0"/>
          <p:nvPr/>
        </p:nvPicPr>
        <p:blipFill rotWithShape="1">
          <a:blip r:embed="rId9">
            <a:alphaModFix/>
          </a:blip>
          <a:srcRect/>
          <a:stretch/>
        </p:blipFill>
        <p:spPr>
          <a:xfrm>
            <a:off x="1912626" y="636360"/>
            <a:ext cx="249913" cy="117267"/>
          </a:xfrm>
          <a:prstGeom prst="rect">
            <a:avLst/>
          </a:prstGeom>
          <a:noFill/>
          <a:ln>
            <a:noFill/>
          </a:ln>
        </p:spPr>
      </p:pic>
      <p:graphicFrame>
        <p:nvGraphicFramePr>
          <p:cNvPr id="1324" name="Google Shape;1324;g3a6c7b9e349_0_110"/>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Fast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325" name="Google Shape;1325;g3a6c7b9e349_0_110"/>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0</a:t>
            </a:r>
            <a:endParaRPr sz="1100" b="1" i="0" u="none" strike="noStrike" cap="none" baseline="-25000">
              <a:solidFill>
                <a:schemeClr val="dk1"/>
              </a:solidFill>
              <a:latin typeface="Arial"/>
              <a:ea typeface="Arial"/>
              <a:cs typeface="Arial"/>
              <a:sym typeface="Arial"/>
            </a:endParaRPr>
          </a:p>
        </p:txBody>
      </p:sp>
      <p:sp>
        <p:nvSpPr>
          <p:cNvPr id="1326" name="Google Shape;1326;g3a6c7b9e349_0_110"/>
          <p:cNvSpPr/>
          <p:nvPr/>
        </p:nvSpPr>
        <p:spPr>
          <a:xfrm>
            <a:off x="3559798" y="766875"/>
            <a:ext cx="675652" cy="2187472"/>
          </a:xfrm>
          <a:custGeom>
            <a:avLst/>
            <a:gdLst/>
            <a:ahLst/>
            <a:cxnLst/>
            <a:rect l="l" t="t" r="r" b="b"/>
            <a:pathLst>
              <a:path w="675652" h="2215162" extrusionOk="0">
                <a:moveTo>
                  <a:pt x="675652" y="2148613"/>
                </a:moveTo>
                <a:cubicBezTo>
                  <a:pt x="372968" y="2225342"/>
                  <a:pt x="70285" y="2302071"/>
                  <a:pt x="8902" y="1970813"/>
                </a:cubicBezTo>
                <a:cubicBezTo>
                  <a:pt x="-52481" y="1639555"/>
                  <a:pt x="220569" y="476446"/>
                  <a:pt x="307352" y="161063"/>
                </a:cubicBezTo>
                <a:cubicBezTo>
                  <a:pt x="394135" y="-154320"/>
                  <a:pt x="492560" y="93330"/>
                  <a:pt x="529602" y="78513"/>
                </a:cubicBezTo>
                <a:cubicBezTo>
                  <a:pt x="566644" y="63696"/>
                  <a:pt x="548123" y="67929"/>
                  <a:pt x="529602" y="72163"/>
                </a:cubicBezTo>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g3a6c7b9e349_0_15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332" name="Google Shape;1332;g3a6c7b9e349_0_15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33" name="Google Shape;1333;g3a6c7b9e349_0_150"/>
          <p:cNvGrpSpPr/>
          <p:nvPr/>
        </p:nvGrpSpPr>
        <p:grpSpPr>
          <a:xfrm>
            <a:off x="0" y="3109250"/>
            <a:ext cx="5760261" cy="92075"/>
            <a:chOff x="0" y="3109250"/>
            <a:chExt cx="5760261" cy="92075"/>
          </a:xfrm>
        </p:grpSpPr>
        <p:sp>
          <p:nvSpPr>
            <p:cNvPr id="1334" name="Google Shape;1334;g3a6c7b9e349_0_15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g3a6c7b9e349_0_15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g3a6c7b9e349_0_15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37" name="Google Shape;1337;g3a6c7b9e349_0_15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338" name="Google Shape;1338;g3a6c7b9e349_0_15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34</a:t>
            </a:fld>
            <a:r>
              <a:rPr lang="en-US"/>
              <a:t> </a:t>
            </a:r>
            <a:endParaRPr/>
          </a:p>
        </p:txBody>
      </p:sp>
      <p:pic>
        <p:nvPicPr>
          <p:cNvPr id="1339" name="Google Shape;1339;g3a6c7b9e349_0_15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340" name="Google Shape;1340;g3a6c7b9e349_0_15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341" name="Google Shape;1341;g3a6c7b9e349_0_15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342" name="Google Shape;1342;g3a6c7b9e349_0_15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43" name="Google Shape;1343;g3a6c7b9e349_0_15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44" name="Google Shape;1344;g3a6c7b9e349_0_15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45" name="Google Shape;1345;g3a6c7b9e349_0_15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346" name="Google Shape;1346;g3a6c7b9e349_0_150"/>
          <p:cNvSpPr/>
          <p:nvPr/>
        </p:nvSpPr>
        <p:spPr>
          <a:xfrm>
            <a:off x="3738895" y="583019"/>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47" name="Google Shape;1347;g3a6c7b9e349_0_15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348" name="Google Shape;1348;g3a6c7b9e349_0_150"/>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349" name="Google Shape;1349;g3a6c7b9e349_0_150"/>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First Visit Policy Evaluation</a:t>
            </a:r>
            <a:endParaRPr sz="750" b="1" i="0" u="none" strike="noStrike" cap="none">
              <a:solidFill>
                <a:srgbClr val="1B1472"/>
              </a:solidFill>
              <a:latin typeface="Arial"/>
              <a:ea typeface="Arial"/>
              <a:cs typeface="Arial"/>
              <a:sym typeface="Arial"/>
            </a:endParaRPr>
          </a:p>
        </p:txBody>
      </p:sp>
      <p:pic>
        <p:nvPicPr>
          <p:cNvPr id="1350" name="Google Shape;1350;g3a6c7b9e349_0_150"/>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351" name="Google Shape;1351;g3a6c7b9e349_0_150"/>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352" name="Google Shape;1352;g3a6c7b9e349_0_15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353" name="Google Shape;1353;g3a6c7b9e349_0_15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354" name="Google Shape;1354;g3a6c7b9e349_0_15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355" name="Google Shape;1355;g3a6c7b9e349_0_15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356" name="Google Shape;1356;g3a6c7b9e349_0_15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357" name="Google Shape;1357;g3a6c7b9e349_0_15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358" name="Google Shape;1358;g3a6c7b9e349_0_150"/>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359" name="Google Shape;1359;g3a6c7b9e349_0_150"/>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360" name="Google Shape;1360;g3a6c7b9e349_0_150"/>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361" name="Google Shape;1361;g3a6c7b9e349_0_150"/>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362" name="Google Shape;1362;g3a6c7b9e349_0_150"/>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363" name="Google Shape;1363;g3a6c7b9e349_0_150"/>
          <p:cNvPicPr preferRelativeResize="0"/>
          <p:nvPr/>
        </p:nvPicPr>
        <p:blipFill rotWithShape="1">
          <a:blip r:embed="rId9">
            <a:alphaModFix/>
          </a:blip>
          <a:srcRect/>
          <a:stretch/>
        </p:blipFill>
        <p:spPr>
          <a:xfrm>
            <a:off x="1912626" y="636360"/>
            <a:ext cx="249913" cy="117267"/>
          </a:xfrm>
          <a:prstGeom prst="rect">
            <a:avLst/>
          </a:prstGeom>
          <a:noFill/>
          <a:ln>
            <a:noFill/>
          </a:ln>
        </p:spPr>
      </p:pic>
      <p:graphicFrame>
        <p:nvGraphicFramePr>
          <p:cNvPr id="1364" name="Google Shape;1364;g3a6c7b9e349_0_150"/>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Fast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365" name="Google Shape;1365;g3a6c7b9e349_0_150"/>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0</a:t>
            </a:r>
            <a:endParaRPr sz="1100" b="1" i="0" u="none" strike="noStrike" cap="none" baseline="-25000">
              <a:solidFill>
                <a:schemeClr val="dk1"/>
              </a:solidFill>
              <a:latin typeface="Arial"/>
              <a:ea typeface="Arial"/>
              <a:cs typeface="Arial"/>
              <a:sym typeface="Arial"/>
            </a:endParaRPr>
          </a:p>
        </p:txBody>
      </p:sp>
      <p:sp>
        <p:nvSpPr>
          <p:cNvPr id="1366" name="Google Shape;1366;g3a6c7b9e349_0_150"/>
          <p:cNvSpPr txBox="1"/>
          <p:nvPr/>
        </p:nvSpPr>
        <p:spPr>
          <a:xfrm>
            <a:off x="82600" y="1717926"/>
            <a:ext cx="2793000" cy="657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367" name="Google Shape;1367;g3a6c7b9e349_0_150"/>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g3a6c7b9e349_0_19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373" name="Google Shape;1373;g3a6c7b9e349_0_19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74" name="Google Shape;1374;g3a6c7b9e349_0_190"/>
          <p:cNvGrpSpPr/>
          <p:nvPr/>
        </p:nvGrpSpPr>
        <p:grpSpPr>
          <a:xfrm>
            <a:off x="0" y="3109250"/>
            <a:ext cx="5760261" cy="92075"/>
            <a:chOff x="0" y="3109250"/>
            <a:chExt cx="5760261" cy="92075"/>
          </a:xfrm>
        </p:grpSpPr>
        <p:sp>
          <p:nvSpPr>
            <p:cNvPr id="1375" name="Google Shape;1375;g3a6c7b9e349_0_19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6" name="Google Shape;1376;g3a6c7b9e349_0_19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7" name="Google Shape;1377;g3a6c7b9e349_0_19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78" name="Google Shape;1378;g3a6c7b9e349_0_19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379" name="Google Shape;1379;g3a6c7b9e349_0_19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35</a:t>
            </a:fld>
            <a:endParaRPr/>
          </a:p>
        </p:txBody>
      </p:sp>
      <p:pic>
        <p:nvPicPr>
          <p:cNvPr id="1380" name="Google Shape;1380;g3a6c7b9e349_0_19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381" name="Google Shape;1381;g3a6c7b9e349_0_19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382" name="Google Shape;1382;g3a6c7b9e349_0_19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383" name="Google Shape;1383;g3a6c7b9e349_0_19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84" name="Google Shape;1384;g3a6c7b9e349_0_19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85" name="Google Shape;1385;g3a6c7b9e349_0_19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386" name="Google Shape;1386;g3a6c7b9e349_0_19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387" name="Google Shape;1387;g3a6c7b9e349_0_190"/>
          <p:cNvSpPr/>
          <p:nvPr/>
        </p:nvSpPr>
        <p:spPr>
          <a:xfrm>
            <a:off x="3742393" y="854966"/>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88" name="Google Shape;1388;g3a6c7b9e349_0_19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389" name="Google Shape;1389;g3a6c7b9e349_0_190"/>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390" name="Google Shape;1390;g3a6c7b9e349_0_190"/>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First Visit Policy Evaluation</a:t>
            </a:r>
            <a:endParaRPr sz="750" b="1" i="0" u="none" strike="noStrike" cap="none">
              <a:solidFill>
                <a:srgbClr val="1B1472"/>
              </a:solidFill>
              <a:latin typeface="Arial"/>
              <a:ea typeface="Arial"/>
              <a:cs typeface="Arial"/>
              <a:sym typeface="Arial"/>
            </a:endParaRPr>
          </a:p>
        </p:txBody>
      </p:sp>
      <p:pic>
        <p:nvPicPr>
          <p:cNvPr id="1391" name="Google Shape;1391;g3a6c7b9e349_0_190"/>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392" name="Google Shape;1392;g3a6c7b9e349_0_190"/>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393" name="Google Shape;1393;g3a6c7b9e349_0_19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394" name="Google Shape;1394;g3a6c7b9e349_0_19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395" name="Google Shape;1395;g3a6c7b9e349_0_19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396" name="Google Shape;1396;g3a6c7b9e349_0_19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397" name="Google Shape;1397;g3a6c7b9e349_0_19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398" name="Google Shape;1398;g3a6c7b9e349_0_19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399" name="Google Shape;1399;g3a6c7b9e349_0_190"/>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400" name="Google Shape;1400;g3a6c7b9e349_0_190"/>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401" name="Google Shape;1401;g3a6c7b9e349_0_190"/>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402" name="Google Shape;1402;g3a6c7b9e349_0_190"/>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403" name="Google Shape;1403;g3a6c7b9e349_0_190"/>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404" name="Google Shape;1404;g3a6c7b9e349_0_190"/>
          <p:cNvPicPr preferRelativeResize="0"/>
          <p:nvPr/>
        </p:nvPicPr>
        <p:blipFill rotWithShape="1">
          <a:blip r:embed="rId9">
            <a:alphaModFix/>
          </a:blip>
          <a:srcRect/>
          <a:stretch/>
        </p:blipFill>
        <p:spPr>
          <a:xfrm>
            <a:off x="1912626" y="636360"/>
            <a:ext cx="249913" cy="117267"/>
          </a:xfrm>
          <a:prstGeom prst="rect">
            <a:avLst/>
          </a:prstGeom>
          <a:noFill/>
          <a:ln>
            <a:noFill/>
          </a:ln>
        </p:spPr>
      </p:pic>
      <p:graphicFrame>
        <p:nvGraphicFramePr>
          <p:cNvPr id="1405" name="Google Shape;1405;g3a6c7b9e349_0_190"/>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Fast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406" name="Google Shape;1406;g3a6c7b9e349_0_190"/>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0</a:t>
            </a:r>
            <a:endParaRPr sz="1100" b="1" i="0" u="none" strike="noStrike" cap="none" baseline="-25000">
              <a:solidFill>
                <a:schemeClr val="dk1"/>
              </a:solidFill>
              <a:latin typeface="Arial"/>
              <a:ea typeface="Arial"/>
              <a:cs typeface="Arial"/>
              <a:sym typeface="Arial"/>
            </a:endParaRPr>
          </a:p>
        </p:txBody>
      </p:sp>
      <p:sp>
        <p:nvSpPr>
          <p:cNvPr id="1407" name="Google Shape;1407;g3a6c7b9e349_0_190"/>
          <p:cNvSpPr txBox="1"/>
          <p:nvPr/>
        </p:nvSpPr>
        <p:spPr>
          <a:xfrm>
            <a:off x="82600" y="1717926"/>
            <a:ext cx="2793000" cy="10890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  </a:t>
            </a:r>
            <a:r>
              <a:rPr lang="en-US" sz="700" b="1" i="0" u="none" strike="noStrike" cap="none">
                <a:solidFill>
                  <a:srgbClr val="FF0000"/>
                </a:solidFill>
                <a:latin typeface="Arial"/>
                <a:ea typeface="Arial"/>
                <a:cs typeface="Arial"/>
                <a:sym typeface="Arial"/>
              </a:rPr>
              <a:t>#Not used in First Visit</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2+ (0.6*1) + (0.6*0.6*2) + (0.6*0.6*0.6-10) = 1.16</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408" name="Google Shape;1408;g3a6c7b9e349_0_190"/>
          <p:cNvSpPr txBox="1"/>
          <p:nvPr/>
        </p:nvSpPr>
        <p:spPr>
          <a:xfrm>
            <a:off x="276708" y="1092903"/>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-4 ,1.16  </a:t>
            </a:r>
            <a:r>
              <a:rPr lang="en-US" sz="800" b="0" i="0" u="none" strike="noStrike" cap="none">
                <a:solidFill>
                  <a:schemeClr val="dk1"/>
                </a:solidFill>
                <a:latin typeface="Calibri"/>
                <a:ea typeface="Calibri"/>
                <a:cs typeface="Calibri"/>
                <a:sym typeface="Calibri"/>
              </a:rPr>
              <a:t> 0       </a:t>
            </a:r>
            <a:r>
              <a:rPr lang="en-US" sz="800" b="1" i="0" u="none" strike="noStrike" cap="none">
                <a:solidFill>
                  <a:schemeClr val="dk1"/>
                </a:solidFill>
                <a:latin typeface="Calibri"/>
                <a:ea typeface="Calibri"/>
                <a:cs typeface="Calibri"/>
                <a:sym typeface="Calibri"/>
              </a:rPr>
              <a:t>-10	-1.4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1409" name="Google Shape;1409;g3a6c7b9e349_0_190"/>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1414" name="Google Shape;1414;g3a6c7b9e349_0_231"/>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415" name="Google Shape;1415;g3a6c7b9e349_0_231"/>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16" name="Google Shape;1416;g3a6c7b9e349_0_231"/>
          <p:cNvGrpSpPr/>
          <p:nvPr/>
        </p:nvGrpSpPr>
        <p:grpSpPr>
          <a:xfrm>
            <a:off x="0" y="3109250"/>
            <a:ext cx="5760261" cy="92075"/>
            <a:chOff x="0" y="3109250"/>
            <a:chExt cx="5760261" cy="92075"/>
          </a:xfrm>
        </p:grpSpPr>
        <p:sp>
          <p:nvSpPr>
            <p:cNvPr id="1417" name="Google Shape;1417;g3a6c7b9e349_0_23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g3a6c7b9e349_0_23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9" name="Google Shape;1419;g3a6c7b9e349_0_23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20" name="Google Shape;1420;g3a6c7b9e349_0_231"/>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421" name="Google Shape;1421;g3a6c7b9e349_0_23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36</a:t>
            </a:fld>
            <a:endParaRPr/>
          </a:p>
        </p:txBody>
      </p:sp>
      <p:pic>
        <p:nvPicPr>
          <p:cNvPr id="1422" name="Google Shape;1422;g3a6c7b9e349_0_231"/>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423" name="Google Shape;1423;g3a6c7b9e349_0_231"/>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424" name="Google Shape;1424;g3a6c7b9e349_0_231"/>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425" name="Google Shape;1425;g3a6c7b9e349_0_231"/>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426" name="Google Shape;1426;g3a6c7b9e349_0_231"/>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427" name="Google Shape;1427;g3a6c7b9e349_0_231"/>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428" name="Google Shape;1428;g3a6c7b9e349_0_231"/>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429" name="Google Shape;1429;g3a6c7b9e349_0_231"/>
          <p:cNvSpPr/>
          <p:nvPr/>
        </p:nvSpPr>
        <p:spPr>
          <a:xfrm>
            <a:off x="3718344" y="901899"/>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30" name="Google Shape;1430;g3a6c7b9e349_0_231"/>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431" name="Google Shape;1431;g3a6c7b9e349_0_231"/>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432" name="Google Shape;1432;g3a6c7b9e349_0_231"/>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First Visit Policy Evaluation</a:t>
            </a:r>
            <a:endParaRPr sz="750" b="1" i="0" u="none" strike="noStrike" cap="none">
              <a:solidFill>
                <a:srgbClr val="1B1472"/>
              </a:solidFill>
              <a:latin typeface="Arial"/>
              <a:ea typeface="Arial"/>
              <a:cs typeface="Arial"/>
              <a:sym typeface="Arial"/>
            </a:endParaRPr>
          </a:p>
        </p:txBody>
      </p:sp>
      <p:pic>
        <p:nvPicPr>
          <p:cNvPr id="1433" name="Google Shape;1433;g3a6c7b9e349_0_231"/>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434" name="Google Shape;1434;g3a6c7b9e349_0_231"/>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435" name="Google Shape;1435;g3a6c7b9e349_0_231"/>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436" name="Google Shape;1436;g3a6c7b9e349_0_231"/>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437" name="Google Shape;1437;g3a6c7b9e349_0_231"/>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438" name="Google Shape;1438;g3a6c7b9e349_0_231"/>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439" name="Google Shape;1439;g3a6c7b9e349_0_231"/>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440" name="Google Shape;1440;g3a6c7b9e349_0_231"/>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441" name="Google Shape;1441;g3a6c7b9e349_0_231"/>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442" name="Google Shape;1442;g3a6c7b9e349_0_231"/>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443" name="Google Shape;1443;g3a6c7b9e349_0_231"/>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444" name="Google Shape;1444;g3a6c7b9e349_0_231"/>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445" name="Google Shape;1445;g3a6c7b9e349_0_231"/>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446" name="Google Shape;1446;g3a6c7b9e349_0_231"/>
          <p:cNvPicPr preferRelativeResize="0"/>
          <p:nvPr/>
        </p:nvPicPr>
        <p:blipFill rotWithShape="1">
          <a:blip r:embed="rId9">
            <a:alphaModFix/>
          </a:blip>
          <a:srcRect/>
          <a:stretch/>
        </p:blipFill>
        <p:spPr>
          <a:xfrm>
            <a:off x="1912626" y="636360"/>
            <a:ext cx="249913" cy="117267"/>
          </a:xfrm>
          <a:prstGeom prst="rect">
            <a:avLst/>
          </a:prstGeom>
          <a:noFill/>
          <a:ln>
            <a:noFill/>
          </a:ln>
        </p:spPr>
      </p:pic>
      <p:graphicFrame>
        <p:nvGraphicFramePr>
          <p:cNvPr id="1447" name="Google Shape;1447;g3a6c7b9e349_0_231"/>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Fast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448" name="Google Shape;1448;g3a6c7b9e349_0_231"/>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0</a:t>
            </a:r>
            <a:endParaRPr sz="1100" b="1" i="0" u="none" strike="noStrike" cap="none" baseline="-25000">
              <a:solidFill>
                <a:schemeClr val="dk1"/>
              </a:solidFill>
              <a:latin typeface="Arial"/>
              <a:ea typeface="Arial"/>
              <a:cs typeface="Arial"/>
              <a:sym typeface="Arial"/>
            </a:endParaRPr>
          </a:p>
        </p:txBody>
      </p:sp>
      <p:sp>
        <p:nvSpPr>
          <p:cNvPr id="1449" name="Google Shape;1449;g3a6c7b9e349_0_231"/>
          <p:cNvSpPr txBox="1"/>
          <p:nvPr/>
        </p:nvSpPr>
        <p:spPr>
          <a:xfrm>
            <a:off x="82600" y="1717926"/>
            <a:ext cx="2793000" cy="10890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  </a:t>
            </a:r>
            <a:r>
              <a:rPr lang="en-US" sz="700" b="1" i="0" u="none" strike="noStrike" cap="none">
                <a:solidFill>
                  <a:srgbClr val="FF0000"/>
                </a:solidFill>
                <a:latin typeface="Arial"/>
                <a:ea typeface="Arial"/>
                <a:cs typeface="Arial"/>
                <a:sym typeface="Arial"/>
              </a:rPr>
              <a:t>#Not used in First Visit</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2+ (0.6*1) + (0.6*0.6*2) + (0.6*0.6*0.6-10) = 1.16</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450" name="Google Shape;1450;g3a6c7b9e349_0_231"/>
          <p:cNvSpPr txBox="1"/>
          <p:nvPr/>
        </p:nvSpPr>
        <p:spPr>
          <a:xfrm>
            <a:off x="2500996" y="1723967"/>
            <a:ext cx="14262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Q(W, F)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Q(C, F)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Q(W, S)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Q(C, F) =  1.16</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451" name="Google Shape;1451;g3a6c7b9e349_0_231"/>
          <p:cNvSpPr txBox="1"/>
          <p:nvPr/>
        </p:nvSpPr>
        <p:spPr>
          <a:xfrm>
            <a:off x="276708" y="1092903"/>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0" i="0" u="none" strike="sngStrike" cap="none">
                <a:solidFill>
                  <a:schemeClr val="dk1"/>
                </a:solidFill>
                <a:latin typeface="Calibri"/>
                <a:ea typeface="Calibri"/>
                <a:cs typeface="Calibri"/>
                <a:sym typeface="Calibri"/>
              </a:rPr>
              <a:t> </a:t>
            </a:r>
            <a:r>
              <a:rPr lang="en-US" sz="800" b="1" i="0" u="none" strike="sngStrike" cap="none">
                <a:solidFill>
                  <a:schemeClr val="dk1"/>
                </a:solidFill>
                <a:latin typeface="Calibri"/>
                <a:ea typeface="Calibri"/>
                <a:cs typeface="Calibri"/>
                <a:sym typeface="Calibri"/>
              </a:rPr>
              <a:t>-4 ,</a:t>
            </a:r>
            <a:r>
              <a:rPr lang="en-US" sz="800" b="1" i="0" u="none" strike="noStrike" cap="none">
                <a:solidFill>
                  <a:schemeClr val="dk1"/>
                </a:solidFill>
                <a:latin typeface="Calibri"/>
                <a:ea typeface="Calibri"/>
                <a:cs typeface="Calibri"/>
                <a:sym typeface="Calibri"/>
              </a:rPr>
              <a:t>1.16  </a:t>
            </a:r>
            <a:r>
              <a:rPr lang="en-US" sz="800" b="0" i="0" u="none" strike="noStrike" cap="none">
                <a:solidFill>
                  <a:schemeClr val="dk1"/>
                </a:solidFill>
                <a:latin typeface="Calibri"/>
                <a:ea typeface="Calibri"/>
                <a:cs typeface="Calibri"/>
                <a:sym typeface="Calibri"/>
              </a:rPr>
              <a:t> 0       </a:t>
            </a:r>
            <a:r>
              <a:rPr lang="en-US" sz="800" b="1" i="0" u="none" strike="noStrike" cap="none">
                <a:solidFill>
                  <a:schemeClr val="dk1"/>
                </a:solidFill>
                <a:latin typeface="Calibri"/>
                <a:ea typeface="Calibri"/>
                <a:cs typeface="Calibri"/>
                <a:sym typeface="Calibri"/>
              </a:rPr>
              <a:t>-10	-1.4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1452" name="Google Shape;1452;g3a6c7b9e349_0_231"/>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g3a6c7b9e349_0_27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458" name="Google Shape;1458;g3a6c7b9e349_0_27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59" name="Google Shape;1459;g3a6c7b9e349_0_273"/>
          <p:cNvGrpSpPr/>
          <p:nvPr/>
        </p:nvGrpSpPr>
        <p:grpSpPr>
          <a:xfrm>
            <a:off x="0" y="3109250"/>
            <a:ext cx="5760261" cy="92075"/>
            <a:chOff x="0" y="3109250"/>
            <a:chExt cx="5760261" cy="92075"/>
          </a:xfrm>
        </p:grpSpPr>
        <p:sp>
          <p:nvSpPr>
            <p:cNvPr id="1460" name="Google Shape;1460;g3a6c7b9e349_0_27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1" name="Google Shape;1461;g3a6c7b9e349_0_27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2" name="Google Shape;1462;g3a6c7b9e349_0_27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63" name="Google Shape;1463;g3a6c7b9e349_0_27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464" name="Google Shape;1464;g3a6c7b9e349_0_27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37</a:t>
            </a:fld>
            <a:endParaRPr/>
          </a:p>
        </p:txBody>
      </p:sp>
      <p:pic>
        <p:nvPicPr>
          <p:cNvPr id="1465" name="Google Shape;1465;g3a6c7b9e349_0_273"/>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466" name="Google Shape;1466;g3a6c7b9e349_0_273"/>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467" name="Google Shape;1467;g3a6c7b9e349_0_273"/>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468" name="Google Shape;1468;g3a6c7b9e349_0_27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469" name="Google Shape;1469;g3a6c7b9e349_0_27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470" name="Google Shape;1470;g3a6c7b9e349_0_27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471" name="Google Shape;1471;g3a6c7b9e349_0_27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472" name="Google Shape;1472;g3a6c7b9e349_0_273"/>
          <p:cNvSpPr/>
          <p:nvPr/>
        </p:nvSpPr>
        <p:spPr>
          <a:xfrm>
            <a:off x="3708870" y="1039581"/>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3" name="Google Shape;1473;g3a6c7b9e349_0_27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474" name="Google Shape;1474;g3a6c7b9e349_0_273"/>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475" name="Google Shape;1475;g3a6c7b9e349_0_273"/>
          <p:cNvSpPr txBox="1"/>
          <p:nvPr/>
        </p:nvSpPr>
        <p:spPr>
          <a:xfrm>
            <a:off x="4521763" y="2786200"/>
            <a:ext cx="12057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Policy Improvement</a:t>
            </a:r>
            <a:endParaRPr sz="750" b="1" i="0" u="none" strike="noStrike" cap="none">
              <a:solidFill>
                <a:srgbClr val="1B1472"/>
              </a:solidFill>
              <a:latin typeface="Arial"/>
              <a:ea typeface="Arial"/>
              <a:cs typeface="Arial"/>
              <a:sym typeface="Arial"/>
            </a:endParaRPr>
          </a:p>
        </p:txBody>
      </p:sp>
      <p:pic>
        <p:nvPicPr>
          <p:cNvPr id="1476" name="Google Shape;1476;g3a6c7b9e349_0_273"/>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477" name="Google Shape;1477;g3a6c7b9e349_0_273"/>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478" name="Google Shape;1478;g3a6c7b9e349_0_27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479" name="Google Shape;1479;g3a6c7b9e349_0_27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480" name="Google Shape;1480;g3a6c7b9e349_0_27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481" name="Google Shape;1481;g3a6c7b9e349_0_27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482" name="Google Shape;1482;g3a6c7b9e349_0_27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483" name="Google Shape;1483;g3a6c7b9e349_0_27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484" name="Google Shape;1484;g3a6c7b9e349_0_273"/>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485" name="Google Shape;1485;g3a6c7b9e349_0_273"/>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486" name="Google Shape;1486;g3a6c7b9e349_0_273"/>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487" name="Google Shape;1487;g3a6c7b9e349_0_273"/>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488" name="Google Shape;1488;g3a6c7b9e349_0_273"/>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489" name="Google Shape;1489;g3a6c7b9e349_0_273"/>
          <p:cNvPicPr preferRelativeResize="0"/>
          <p:nvPr/>
        </p:nvPicPr>
        <p:blipFill rotWithShape="1">
          <a:blip r:embed="rId9">
            <a:alphaModFix/>
          </a:blip>
          <a:srcRect/>
          <a:stretch/>
        </p:blipFill>
        <p:spPr>
          <a:xfrm>
            <a:off x="1912626" y="636360"/>
            <a:ext cx="249913" cy="117267"/>
          </a:xfrm>
          <a:prstGeom prst="rect">
            <a:avLst/>
          </a:prstGeom>
          <a:noFill/>
          <a:ln>
            <a:noFill/>
          </a:ln>
        </p:spPr>
      </p:pic>
      <p:sp>
        <p:nvSpPr>
          <p:cNvPr id="1490" name="Google Shape;1490;g3a6c7b9e349_0_273"/>
          <p:cNvSpPr txBox="1"/>
          <p:nvPr/>
        </p:nvSpPr>
        <p:spPr>
          <a:xfrm>
            <a:off x="82600" y="1717926"/>
            <a:ext cx="2793000" cy="10890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  </a:t>
            </a:r>
            <a:r>
              <a:rPr lang="en-US" sz="700" b="1" i="0" u="none" strike="noStrike" cap="none">
                <a:solidFill>
                  <a:srgbClr val="FF0000"/>
                </a:solidFill>
                <a:latin typeface="Arial"/>
                <a:ea typeface="Arial"/>
                <a:cs typeface="Arial"/>
                <a:sym typeface="Arial"/>
              </a:rPr>
              <a:t>#Not used in First Visit</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2+ (0.6*1) + (0.6*0.6*2) + (0.6*0.6*0.6-10) = 1.16</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491" name="Google Shape;1491;g3a6c7b9e349_0_273"/>
          <p:cNvSpPr txBox="1"/>
          <p:nvPr/>
        </p:nvSpPr>
        <p:spPr>
          <a:xfrm>
            <a:off x="2500996" y="1723967"/>
            <a:ext cx="14262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Q(W, F)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Q(C, F)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Q(W, S)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Q(C, F) =  1.16</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492" name="Google Shape;1492;g3a6c7b9e349_0_273"/>
          <p:cNvSpPr txBox="1"/>
          <p:nvPr/>
        </p:nvSpPr>
        <p:spPr>
          <a:xfrm>
            <a:off x="276708" y="1092903"/>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 1.16  </a:t>
            </a:r>
            <a:r>
              <a:rPr lang="en-US" sz="800" b="0" i="0" u="none" strike="noStrike" cap="none">
                <a:solidFill>
                  <a:schemeClr val="dk1"/>
                </a:solidFill>
                <a:latin typeface="Calibri"/>
                <a:ea typeface="Calibri"/>
                <a:cs typeface="Calibri"/>
                <a:sym typeface="Calibri"/>
              </a:rPr>
              <a:t>     0       </a:t>
            </a:r>
            <a:r>
              <a:rPr lang="en-US" sz="800" b="1" i="0" u="none" strike="noStrike" cap="none">
                <a:solidFill>
                  <a:schemeClr val="dk1"/>
                </a:solidFill>
                <a:latin typeface="Calibri"/>
                <a:ea typeface="Calibri"/>
                <a:cs typeface="Calibri"/>
                <a:sym typeface="Calibri"/>
              </a:rPr>
              <a:t>-10	-1.4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graphicFrame>
        <p:nvGraphicFramePr>
          <p:cNvPr id="1493" name="Google Shape;1493;g3a6c7b9e349_0_273"/>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b="1" u="none" strike="noStrike" cap="none">
                          <a:solidFill>
                            <a:srgbClr val="00B0F0"/>
                          </a:solidFill>
                        </a:rPr>
                        <a:t>Slow</a:t>
                      </a:r>
                      <a:endParaRPr sz="600" b="1" u="none" strike="noStrike" cap="none">
                        <a:solidFill>
                          <a:srgbClr val="00B0F0"/>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494" name="Google Shape;1494;g3a6c7b9e349_0_273"/>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1</a:t>
            </a:r>
            <a:endParaRPr sz="1100" b="1" i="0" u="none" strike="noStrike" cap="none" baseline="-25000">
              <a:solidFill>
                <a:schemeClr val="dk1"/>
              </a:solidFill>
              <a:latin typeface="Arial"/>
              <a:ea typeface="Arial"/>
              <a:cs typeface="Arial"/>
              <a:sym typeface="Arial"/>
            </a:endParaRPr>
          </a:p>
        </p:txBody>
      </p:sp>
      <p:sp>
        <p:nvSpPr>
          <p:cNvPr id="1495" name="Google Shape;1495;g3a6c7b9e349_0_273"/>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99"/>
        <p:cNvGrpSpPr/>
        <p:nvPr/>
      </p:nvGrpSpPr>
      <p:grpSpPr>
        <a:xfrm>
          <a:off x="0" y="0"/>
          <a:ext cx="0" cy="0"/>
          <a:chOff x="0" y="0"/>
          <a:chExt cx="0" cy="0"/>
        </a:xfrm>
      </p:grpSpPr>
      <p:sp>
        <p:nvSpPr>
          <p:cNvPr id="1500" name="Google Shape;1500;g3a6c7b9e349_0_31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501" name="Google Shape;1501;g3a6c7b9e349_0_31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02" name="Google Shape;1502;g3a6c7b9e349_0_315"/>
          <p:cNvGrpSpPr/>
          <p:nvPr/>
        </p:nvGrpSpPr>
        <p:grpSpPr>
          <a:xfrm>
            <a:off x="0" y="3109250"/>
            <a:ext cx="5760261" cy="92075"/>
            <a:chOff x="0" y="3109250"/>
            <a:chExt cx="5760261" cy="92075"/>
          </a:xfrm>
        </p:grpSpPr>
        <p:sp>
          <p:nvSpPr>
            <p:cNvPr id="1503" name="Google Shape;1503;g3a6c7b9e349_0_31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4" name="Google Shape;1504;g3a6c7b9e349_0_31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5" name="Google Shape;1505;g3a6c7b9e349_0_31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06" name="Google Shape;1506;g3a6c7b9e349_0_31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507" name="Google Shape;1507;g3a6c7b9e349_0_31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38</a:t>
            </a:fld>
            <a:r>
              <a:rPr lang="en-US"/>
              <a:t> </a:t>
            </a:r>
            <a:endParaRPr/>
          </a:p>
        </p:txBody>
      </p:sp>
      <p:pic>
        <p:nvPicPr>
          <p:cNvPr id="1508" name="Google Shape;1508;g3a6c7b9e349_0_315"/>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509" name="Google Shape;1509;g3a6c7b9e349_0_315"/>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510" name="Google Shape;1510;g3a6c7b9e349_0_315"/>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511" name="Google Shape;1511;g3a6c7b9e349_0_31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512" name="Google Shape;1512;g3a6c7b9e349_0_31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513" name="Google Shape;1513;g3a6c7b9e349_0_31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514" name="Google Shape;1514;g3a6c7b9e349_0_31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515" name="Google Shape;1515;g3a6c7b9e349_0_315"/>
          <p:cNvSpPr/>
          <p:nvPr/>
        </p:nvSpPr>
        <p:spPr>
          <a:xfrm>
            <a:off x="3734078" y="519891"/>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16" name="Google Shape;1516;g3a6c7b9e349_0_31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517" name="Google Shape;1517;g3a6c7b9e349_0_315"/>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518" name="Google Shape;1518;g3a6c7b9e349_0_315"/>
          <p:cNvSpPr txBox="1"/>
          <p:nvPr/>
        </p:nvSpPr>
        <p:spPr>
          <a:xfrm>
            <a:off x="4521763" y="2786200"/>
            <a:ext cx="12057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Policy Evaluation</a:t>
            </a:r>
            <a:endParaRPr sz="750" b="1" i="0" u="none" strike="noStrike" cap="none">
              <a:solidFill>
                <a:srgbClr val="1B1472"/>
              </a:solidFill>
              <a:latin typeface="Arial"/>
              <a:ea typeface="Arial"/>
              <a:cs typeface="Arial"/>
              <a:sym typeface="Arial"/>
            </a:endParaRPr>
          </a:p>
        </p:txBody>
      </p:sp>
      <p:pic>
        <p:nvPicPr>
          <p:cNvPr id="1519" name="Google Shape;1519;g3a6c7b9e349_0_315"/>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520" name="Google Shape;1520;g3a6c7b9e349_0_315"/>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521" name="Google Shape;1521;g3a6c7b9e349_0_31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522" name="Google Shape;1522;g3a6c7b9e349_0_31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523" name="Google Shape;1523;g3a6c7b9e349_0_31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524" name="Google Shape;1524;g3a6c7b9e349_0_31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525" name="Google Shape;1525;g3a6c7b9e349_0_31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526" name="Google Shape;1526;g3a6c7b9e349_0_31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527" name="Google Shape;1527;g3a6c7b9e349_0_315"/>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528" name="Google Shape;1528;g3a6c7b9e349_0_315"/>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529" name="Google Shape;1529;g3a6c7b9e349_0_315"/>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530" name="Google Shape;1530;g3a6c7b9e349_0_315"/>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531" name="Google Shape;1531;g3a6c7b9e349_0_315"/>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532" name="Google Shape;1532;g3a6c7b9e349_0_315"/>
          <p:cNvPicPr preferRelativeResize="0"/>
          <p:nvPr/>
        </p:nvPicPr>
        <p:blipFill rotWithShape="1">
          <a:blip r:embed="rId9">
            <a:alphaModFix/>
          </a:blip>
          <a:srcRect/>
          <a:stretch/>
        </p:blipFill>
        <p:spPr>
          <a:xfrm>
            <a:off x="1912626" y="636360"/>
            <a:ext cx="249913" cy="117267"/>
          </a:xfrm>
          <a:prstGeom prst="rect">
            <a:avLst/>
          </a:prstGeom>
          <a:noFill/>
          <a:ln>
            <a:noFill/>
          </a:ln>
        </p:spPr>
      </p:pic>
      <p:sp>
        <p:nvSpPr>
          <p:cNvPr id="1533" name="Google Shape;1533;g3a6c7b9e349_0_315"/>
          <p:cNvSpPr txBox="1"/>
          <p:nvPr/>
        </p:nvSpPr>
        <p:spPr>
          <a:xfrm>
            <a:off x="82600" y="1717926"/>
            <a:ext cx="2793000" cy="16278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  </a:t>
            </a:r>
            <a:r>
              <a:rPr lang="en-US" sz="700" b="1" i="0" u="none" strike="noStrike" cap="none">
                <a:solidFill>
                  <a:srgbClr val="FF0000"/>
                </a:solidFill>
                <a:latin typeface="Arial"/>
                <a:ea typeface="Arial"/>
                <a:cs typeface="Arial"/>
                <a:sym typeface="Arial"/>
              </a:rPr>
              <a:t>#Not used in First Visit</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2+ (0.6*1) + (0.6*0.6*2) + (0.6*0.6*0.6-10) = 1.16</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2 + (0.6)(-10) = -4  </a:t>
            </a:r>
            <a:endParaRPr sz="7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534" name="Google Shape;1534;g3a6c7b9e349_0_315"/>
          <p:cNvSpPr txBox="1"/>
          <p:nvPr/>
        </p:nvSpPr>
        <p:spPr>
          <a:xfrm>
            <a:off x="2500996" y="1723967"/>
            <a:ext cx="14262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Q(W, F)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Q(C, F)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Q(W, S)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Q(C, F) =  1.16</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535" name="Google Shape;1535;g3a6c7b9e349_0_315"/>
          <p:cNvSpPr txBox="1"/>
          <p:nvPr/>
        </p:nvSpPr>
        <p:spPr>
          <a:xfrm>
            <a:off x="276708" y="1092903"/>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 1.16  </a:t>
            </a:r>
            <a:r>
              <a:rPr lang="en-US" sz="800" b="0" i="0" u="none" strike="noStrike" cap="none">
                <a:solidFill>
                  <a:schemeClr val="dk1"/>
                </a:solidFill>
                <a:latin typeface="Calibri"/>
                <a:ea typeface="Calibri"/>
                <a:cs typeface="Calibri"/>
                <a:sym typeface="Calibri"/>
              </a:rPr>
              <a:t>     0       </a:t>
            </a:r>
            <a:r>
              <a:rPr lang="en-US" sz="800" b="1" i="0" u="none" strike="noStrike" cap="none">
                <a:solidFill>
                  <a:schemeClr val="dk1"/>
                </a:solidFill>
                <a:latin typeface="Calibri"/>
                <a:ea typeface="Calibri"/>
                <a:cs typeface="Calibri"/>
                <a:sym typeface="Calibri"/>
              </a:rPr>
              <a:t>-10	-1.4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graphicFrame>
        <p:nvGraphicFramePr>
          <p:cNvPr id="1536" name="Google Shape;1536;g3a6c7b9e349_0_315"/>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b="1" u="none" strike="noStrike" cap="none">
                          <a:solidFill>
                            <a:srgbClr val="00B0F0"/>
                          </a:solidFill>
                        </a:rPr>
                        <a:t>Slow</a:t>
                      </a:r>
                      <a:endParaRPr sz="600" b="1" u="none" strike="noStrike" cap="none">
                        <a:solidFill>
                          <a:srgbClr val="00B0F0"/>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537" name="Google Shape;1537;g3a6c7b9e349_0_315"/>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1</a:t>
            </a:r>
            <a:endParaRPr sz="1100" b="1" i="0" u="none" strike="noStrike" cap="none" baseline="-25000">
              <a:solidFill>
                <a:schemeClr val="dk1"/>
              </a:solidFill>
              <a:latin typeface="Arial"/>
              <a:ea typeface="Arial"/>
              <a:cs typeface="Arial"/>
              <a:sym typeface="Arial"/>
            </a:endParaRPr>
          </a:p>
        </p:txBody>
      </p:sp>
      <p:sp>
        <p:nvSpPr>
          <p:cNvPr id="1538" name="Google Shape;1538;g3a6c7b9e349_0_315"/>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42"/>
        <p:cNvGrpSpPr/>
        <p:nvPr/>
      </p:nvGrpSpPr>
      <p:grpSpPr>
        <a:xfrm>
          <a:off x="0" y="0"/>
          <a:ext cx="0" cy="0"/>
          <a:chOff x="0" y="0"/>
          <a:chExt cx="0" cy="0"/>
        </a:xfrm>
      </p:grpSpPr>
      <p:sp>
        <p:nvSpPr>
          <p:cNvPr id="1543" name="Google Shape;1543;g3a6c7b9e349_0_357"/>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544" name="Google Shape;1544;g3a6c7b9e349_0_357"/>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45" name="Google Shape;1545;g3a6c7b9e349_0_357"/>
          <p:cNvGrpSpPr/>
          <p:nvPr/>
        </p:nvGrpSpPr>
        <p:grpSpPr>
          <a:xfrm>
            <a:off x="0" y="3109250"/>
            <a:ext cx="5760261" cy="92075"/>
            <a:chOff x="0" y="3109250"/>
            <a:chExt cx="5760261" cy="92075"/>
          </a:xfrm>
        </p:grpSpPr>
        <p:sp>
          <p:nvSpPr>
            <p:cNvPr id="1546" name="Google Shape;1546;g3a6c7b9e349_0_35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7" name="Google Shape;1547;g3a6c7b9e349_0_35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8" name="Google Shape;1548;g3a6c7b9e349_0_35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49" name="Google Shape;1549;g3a6c7b9e349_0_357"/>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550" name="Google Shape;1550;g3a6c7b9e349_0_35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39</a:t>
            </a:fld>
            <a:r>
              <a:rPr lang="en-US"/>
              <a:t> </a:t>
            </a:r>
            <a:endParaRPr/>
          </a:p>
        </p:txBody>
      </p:sp>
      <p:pic>
        <p:nvPicPr>
          <p:cNvPr id="1551" name="Google Shape;1551;g3a6c7b9e349_0_357"/>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552" name="Google Shape;1552;g3a6c7b9e349_0_357"/>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553" name="Google Shape;1553;g3a6c7b9e349_0_357"/>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554" name="Google Shape;1554;g3a6c7b9e349_0_357"/>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555" name="Google Shape;1555;g3a6c7b9e349_0_357"/>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556" name="Google Shape;1556;g3a6c7b9e349_0_357"/>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557" name="Google Shape;1557;g3a6c7b9e349_0_357"/>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558" name="Google Shape;1558;g3a6c7b9e349_0_357"/>
          <p:cNvSpPr/>
          <p:nvPr/>
        </p:nvSpPr>
        <p:spPr>
          <a:xfrm>
            <a:off x="3724076" y="10239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59" name="Google Shape;1559;g3a6c7b9e349_0_357"/>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560" name="Google Shape;1560;g3a6c7b9e349_0_357"/>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561" name="Google Shape;1561;g3a6c7b9e349_0_357"/>
          <p:cNvSpPr txBox="1"/>
          <p:nvPr/>
        </p:nvSpPr>
        <p:spPr>
          <a:xfrm>
            <a:off x="4521763" y="2786200"/>
            <a:ext cx="12057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Policy PE &amp; PI</a:t>
            </a:r>
            <a:endParaRPr sz="750" b="1" i="0" u="none" strike="noStrike" cap="none">
              <a:solidFill>
                <a:srgbClr val="1B1472"/>
              </a:solidFill>
              <a:latin typeface="Arial"/>
              <a:ea typeface="Arial"/>
              <a:cs typeface="Arial"/>
              <a:sym typeface="Arial"/>
            </a:endParaRPr>
          </a:p>
        </p:txBody>
      </p:sp>
      <p:pic>
        <p:nvPicPr>
          <p:cNvPr id="1562" name="Google Shape;1562;g3a6c7b9e349_0_357"/>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563" name="Google Shape;1563;g3a6c7b9e349_0_357"/>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564" name="Google Shape;1564;g3a6c7b9e349_0_357"/>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565" name="Google Shape;1565;g3a6c7b9e349_0_357"/>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566" name="Google Shape;1566;g3a6c7b9e349_0_357"/>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567" name="Google Shape;1567;g3a6c7b9e349_0_357"/>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568" name="Google Shape;1568;g3a6c7b9e349_0_357"/>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569" name="Google Shape;1569;g3a6c7b9e349_0_357"/>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570" name="Google Shape;1570;g3a6c7b9e349_0_357"/>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571" name="Google Shape;1571;g3a6c7b9e349_0_357"/>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572" name="Google Shape;1572;g3a6c7b9e349_0_357"/>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573" name="Google Shape;1573;g3a6c7b9e349_0_357"/>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574" name="Google Shape;1574;g3a6c7b9e349_0_357"/>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575" name="Google Shape;1575;g3a6c7b9e349_0_357"/>
          <p:cNvPicPr preferRelativeResize="0"/>
          <p:nvPr/>
        </p:nvPicPr>
        <p:blipFill rotWithShape="1">
          <a:blip r:embed="rId9">
            <a:alphaModFix/>
          </a:blip>
          <a:srcRect/>
          <a:stretch/>
        </p:blipFill>
        <p:spPr>
          <a:xfrm>
            <a:off x="1912626" y="636360"/>
            <a:ext cx="249913" cy="117267"/>
          </a:xfrm>
          <a:prstGeom prst="rect">
            <a:avLst/>
          </a:prstGeom>
          <a:noFill/>
          <a:ln>
            <a:noFill/>
          </a:ln>
        </p:spPr>
      </p:pic>
      <p:sp>
        <p:nvSpPr>
          <p:cNvPr id="1576" name="Google Shape;1576;g3a6c7b9e349_0_357"/>
          <p:cNvSpPr txBox="1"/>
          <p:nvPr/>
        </p:nvSpPr>
        <p:spPr>
          <a:xfrm>
            <a:off x="82600" y="1717926"/>
            <a:ext cx="2793000" cy="16278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  </a:t>
            </a:r>
            <a:r>
              <a:rPr lang="en-US" sz="700" b="1" i="0" u="none" strike="noStrike" cap="none">
                <a:solidFill>
                  <a:srgbClr val="FF0000"/>
                </a:solidFill>
                <a:latin typeface="Arial"/>
                <a:ea typeface="Arial"/>
                <a:cs typeface="Arial"/>
                <a:sym typeface="Arial"/>
              </a:rPr>
              <a:t>#Not used in First Visit</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2+ (0.6*1) + (0.6*0.6*2) + (0.6*0.6*0.6-10) = 1.16</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2 + (0.6)(-10) = -4  </a:t>
            </a:r>
            <a:endParaRPr sz="7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577" name="Google Shape;1577;g3a6c7b9e349_0_357"/>
          <p:cNvSpPr txBox="1"/>
          <p:nvPr/>
        </p:nvSpPr>
        <p:spPr>
          <a:xfrm>
            <a:off x="2500996" y="1723967"/>
            <a:ext cx="1426200" cy="17355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Q(W, F)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Q(C, F)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Q(W, S)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Q(C, F) =  1.16</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a:t>
            </a: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Q(W, F)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Q(C, F) =  </a:t>
            </a:r>
            <a:r>
              <a:rPr lang="en-US" sz="700" b="1" i="0" u="none" strike="noStrike" cap="none">
                <a:solidFill>
                  <a:srgbClr val="002060"/>
                </a:solidFill>
                <a:latin typeface="Arial"/>
                <a:ea typeface="Arial"/>
                <a:cs typeface="Arial"/>
                <a:sym typeface="Arial"/>
              </a:rPr>
              <a:t>avg(1.16,-4) = -1.42 </a:t>
            </a:r>
            <a:endParaRPr sz="700" b="1" i="0" u="none" strike="noStrike" cap="none">
              <a:solidFill>
                <a:srgbClr val="00206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Q(C, S) = -1.4</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578" name="Google Shape;1578;g3a6c7b9e349_0_357"/>
          <p:cNvSpPr txBox="1"/>
          <p:nvPr/>
        </p:nvSpPr>
        <p:spPr>
          <a:xfrm>
            <a:off x="276708" y="1092903"/>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 1.16  </a:t>
            </a:r>
            <a:r>
              <a:rPr lang="en-US" sz="800" b="0" i="0" u="none" strike="noStrike" cap="none">
                <a:solidFill>
                  <a:schemeClr val="dk1"/>
                </a:solidFill>
                <a:latin typeface="Calibri"/>
                <a:ea typeface="Calibri"/>
                <a:cs typeface="Calibri"/>
                <a:sym typeface="Calibri"/>
              </a:rPr>
              <a:t>     0       </a:t>
            </a:r>
            <a:r>
              <a:rPr lang="en-US" sz="800" b="1" i="0" u="none" strike="noStrike" cap="none">
                <a:solidFill>
                  <a:schemeClr val="dk1"/>
                </a:solidFill>
                <a:latin typeface="Calibri"/>
                <a:ea typeface="Calibri"/>
                <a:cs typeface="Calibri"/>
                <a:sym typeface="Calibri"/>
              </a:rPr>
              <a:t>-10	-1.4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1579" name="Google Shape;1579;g3a6c7b9e349_0_357"/>
          <p:cNvSpPr txBox="1"/>
          <p:nvPr/>
        </p:nvSpPr>
        <p:spPr>
          <a:xfrm>
            <a:off x="289408" y="1379078"/>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002060"/>
                </a:solidFill>
                <a:latin typeface="Calibri"/>
                <a:ea typeface="Calibri"/>
                <a:cs typeface="Calibri"/>
                <a:sym typeface="Calibri"/>
              </a:rPr>
              <a:t>  </a:t>
            </a:r>
            <a:r>
              <a:rPr lang="en-US" sz="800" b="1" i="0" u="none" strike="noStrike" cap="none">
                <a:solidFill>
                  <a:srgbClr val="002060"/>
                </a:solidFill>
                <a:latin typeface="Calibri"/>
                <a:ea typeface="Calibri"/>
                <a:cs typeface="Calibri"/>
                <a:sym typeface="Calibri"/>
              </a:rPr>
              <a:t>-1.42    </a:t>
            </a:r>
            <a:r>
              <a:rPr lang="en-US" sz="800" b="1" i="0" u="none" strike="noStrike" cap="none">
                <a:solidFill>
                  <a:schemeClr val="dk1"/>
                </a:solidFill>
                <a:latin typeface="Calibri"/>
                <a:ea typeface="Calibri"/>
                <a:cs typeface="Calibri"/>
                <a:sym typeface="Calibri"/>
              </a:rPr>
              <a:t>-1.4</a:t>
            </a: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-10	 </a:t>
            </a:r>
            <a:r>
              <a:rPr lang="en-US" sz="800" b="0" i="0" u="none" strike="noStrike" cap="none">
                <a:solidFill>
                  <a:schemeClr val="dk1"/>
                </a:solidFill>
                <a:latin typeface="Calibri"/>
                <a:ea typeface="Calibri"/>
                <a:cs typeface="Calibri"/>
                <a:sym typeface="Calibri"/>
              </a:rPr>
              <a:t>0</a:t>
            </a: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graphicFrame>
        <p:nvGraphicFramePr>
          <p:cNvPr id="1580" name="Google Shape;1580;g3a6c7b9e349_0_357"/>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b="1" u="none" strike="noStrike" cap="none">
                          <a:solidFill>
                            <a:srgbClr val="00B0F0"/>
                          </a:solidFill>
                        </a:rPr>
                        <a:t>Slow</a:t>
                      </a:r>
                      <a:endParaRPr sz="600" b="1" u="none" strike="noStrike" cap="none">
                        <a:solidFill>
                          <a:srgbClr val="00B0F0"/>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581" name="Google Shape;1581;g3a6c7b9e349_0_357"/>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1</a:t>
            </a:r>
            <a:endParaRPr sz="1100" b="1" i="0" u="none" strike="noStrike" cap="none" baseline="-25000">
              <a:solidFill>
                <a:schemeClr val="dk1"/>
              </a:solidFill>
              <a:latin typeface="Arial"/>
              <a:ea typeface="Arial"/>
              <a:cs typeface="Arial"/>
              <a:sym typeface="Arial"/>
            </a:endParaRPr>
          </a:p>
        </p:txBody>
      </p:sp>
      <p:sp>
        <p:nvSpPr>
          <p:cNvPr id="1582" name="Google Shape;1582;g3a6c7b9e349_0_357"/>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g3a6c7b9e349_0_40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588" name="Google Shape;1588;g3a6c7b9e349_0_40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89" name="Google Shape;1589;g3a6c7b9e349_0_400"/>
          <p:cNvGrpSpPr/>
          <p:nvPr/>
        </p:nvGrpSpPr>
        <p:grpSpPr>
          <a:xfrm>
            <a:off x="0" y="3109250"/>
            <a:ext cx="5760261" cy="92075"/>
            <a:chOff x="0" y="3109250"/>
            <a:chExt cx="5760261" cy="92075"/>
          </a:xfrm>
        </p:grpSpPr>
        <p:sp>
          <p:nvSpPr>
            <p:cNvPr id="1590" name="Google Shape;1590;g3a6c7b9e349_0_40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1" name="Google Shape;1591;g3a6c7b9e349_0_40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2" name="Google Shape;1592;g3a6c7b9e349_0_40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93" name="Google Shape;1593;g3a6c7b9e349_0_40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594" name="Google Shape;1594;g3a6c7b9e349_0_40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40</a:t>
            </a:fld>
            <a:endParaRPr/>
          </a:p>
        </p:txBody>
      </p:sp>
      <p:pic>
        <p:nvPicPr>
          <p:cNvPr id="1595" name="Google Shape;1595;g3a6c7b9e349_0_40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596" name="Google Shape;1596;g3a6c7b9e349_0_40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597" name="Google Shape;1597;g3a6c7b9e349_0_40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598" name="Google Shape;1598;g3a6c7b9e349_0_40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599" name="Google Shape;1599;g3a6c7b9e349_0_40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600" name="Google Shape;1600;g3a6c7b9e349_0_40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601" name="Google Shape;1601;g3a6c7b9e349_0_40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602" name="Google Shape;1602;g3a6c7b9e349_0_400"/>
          <p:cNvSpPr/>
          <p:nvPr/>
        </p:nvSpPr>
        <p:spPr>
          <a:xfrm>
            <a:off x="3732405" y="521996"/>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03" name="Google Shape;1603;g3a6c7b9e349_0_40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604" name="Google Shape;1604;g3a6c7b9e349_0_400"/>
          <p:cNvPicPr preferRelativeResize="0"/>
          <p:nvPr/>
        </p:nvPicPr>
        <p:blipFill rotWithShape="1">
          <a:blip r:embed="rId6">
            <a:alphaModFix/>
          </a:blip>
          <a:srcRect/>
          <a:stretch/>
        </p:blipFill>
        <p:spPr>
          <a:xfrm>
            <a:off x="3839748" y="1991159"/>
            <a:ext cx="1923500" cy="995858"/>
          </a:xfrm>
          <a:prstGeom prst="rect">
            <a:avLst/>
          </a:prstGeom>
          <a:noFill/>
          <a:ln>
            <a:noFill/>
          </a:ln>
        </p:spPr>
      </p:pic>
      <p:pic>
        <p:nvPicPr>
          <p:cNvPr id="1605" name="Google Shape;1605;g3a6c7b9e349_0_400"/>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606" name="Google Shape;1606;g3a6c7b9e349_0_400"/>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607" name="Google Shape;1607;g3a6c7b9e349_0_40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608" name="Google Shape;1608;g3a6c7b9e349_0_40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609" name="Google Shape;1609;g3a6c7b9e349_0_40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610" name="Google Shape;1610;g3a6c7b9e349_0_40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611" name="Google Shape;1611;g3a6c7b9e349_0_40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612" name="Google Shape;1612;g3a6c7b9e349_0_40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613" name="Google Shape;1613;g3a6c7b9e349_0_400"/>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614" name="Google Shape;1614;g3a6c7b9e349_0_400"/>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615" name="Google Shape;1615;g3a6c7b9e349_0_400"/>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616" name="Google Shape;1616;g3a6c7b9e349_0_400"/>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617" name="Google Shape;1617;g3a6c7b9e349_0_400"/>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618" name="Google Shape;1618;g3a6c7b9e349_0_400"/>
          <p:cNvPicPr preferRelativeResize="0"/>
          <p:nvPr/>
        </p:nvPicPr>
        <p:blipFill rotWithShape="1">
          <a:blip r:embed="rId9">
            <a:alphaModFix/>
          </a:blip>
          <a:srcRect/>
          <a:stretch/>
        </p:blipFill>
        <p:spPr>
          <a:xfrm>
            <a:off x="1912626" y="636360"/>
            <a:ext cx="249913" cy="117267"/>
          </a:xfrm>
          <a:prstGeom prst="rect">
            <a:avLst/>
          </a:prstGeom>
          <a:noFill/>
          <a:ln>
            <a:noFill/>
          </a:ln>
        </p:spPr>
      </p:pic>
      <p:sp>
        <p:nvSpPr>
          <p:cNvPr id="1619" name="Google Shape;1619;g3a6c7b9e349_0_400"/>
          <p:cNvSpPr txBox="1"/>
          <p:nvPr/>
        </p:nvSpPr>
        <p:spPr>
          <a:xfrm>
            <a:off x="82600" y="1717926"/>
            <a:ext cx="2793000" cy="9813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3: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a:t>
            </a:r>
            <a:endParaRPr sz="7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1+ (0.6*1) + (0.6*0.6*2) + (0.6*0.6*0.6-10) = 0.16</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620" name="Google Shape;1620;g3a6c7b9e349_0_400"/>
          <p:cNvSpPr txBox="1"/>
          <p:nvPr/>
        </p:nvSpPr>
        <p:spPr>
          <a:xfrm>
            <a:off x="2500996" y="1723967"/>
            <a:ext cx="16242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3:</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Q(W, F)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Q(C, F) </a:t>
            </a:r>
            <a:r>
              <a:rPr lang="en-US" sz="700" b="1" i="0" u="none" strike="noStrike" cap="none">
                <a:solidFill>
                  <a:srgbClr val="002060"/>
                </a:solidFill>
                <a:latin typeface="Arial"/>
                <a:ea typeface="Arial"/>
                <a:cs typeface="Arial"/>
                <a:sym typeface="Arial"/>
              </a:rPr>
              <a:t>=  avg(-4,1.16,-4) = -2.28</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Q(C, S)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Q(C, S) =  </a:t>
            </a:r>
            <a:r>
              <a:rPr lang="en-US" sz="700" b="1" i="0" u="none" strike="noStrike" cap="none">
                <a:solidFill>
                  <a:srgbClr val="002060"/>
                </a:solidFill>
                <a:latin typeface="Arial"/>
                <a:ea typeface="Arial"/>
                <a:cs typeface="Arial"/>
                <a:sym typeface="Arial"/>
              </a:rPr>
              <a:t>avg(0.16,-1.4) </a:t>
            </a:r>
            <a:endParaRPr/>
          </a:p>
          <a:p>
            <a:pPr marL="0" marR="0" lvl="0" indent="0" algn="l" rtl="0">
              <a:lnSpc>
                <a:spcPct val="100000"/>
              </a:lnSpc>
              <a:spcBef>
                <a:spcPts val="0"/>
              </a:spcBef>
              <a:spcAft>
                <a:spcPts val="0"/>
              </a:spcAft>
              <a:buNone/>
            </a:pPr>
            <a:r>
              <a:rPr lang="en-US" sz="700" b="1" i="0" u="none" strike="noStrike" cap="none">
                <a:solidFill>
                  <a:srgbClr val="002060"/>
                </a:solidFill>
                <a:latin typeface="Arial"/>
                <a:ea typeface="Arial"/>
                <a:cs typeface="Arial"/>
                <a:sym typeface="Arial"/>
              </a:rPr>
              <a:t>                    = -0.62</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621" name="Google Shape;1621;g3a6c7b9e349_0_400"/>
          <p:cNvSpPr txBox="1"/>
          <p:nvPr/>
        </p:nvSpPr>
        <p:spPr>
          <a:xfrm>
            <a:off x="276708" y="1092903"/>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1.16  </a:t>
            </a:r>
            <a:r>
              <a:rPr lang="en-US" sz="800" b="0" i="0" u="none" strike="noStrike" cap="none">
                <a:solidFill>
                  <a:schemeClr val="dk1"/>
                </a:solidFill>
                <a:latin typeface="Calibri"/>
                <a:ea typeface="Calibri"/>
                <a:cs typeface="Calibri"/>
                <a:sym typeface="Calibri"/>
              </a:rPr>
              <a:t>       0       </a:t>
            </a:r>
            <a:r>
              <a:rPr lang="en-US" sz="800" b="1" i="0" u="none" strike="noStrike" cap="none">
                <a:solidFill>
                  <a:schemeClr val="dk1"/>
                </a:solidFill>
                <a:latin typeface="Calibri"/>
                <a:ea typeface="Calibri"/>
                <a:cs typeface="Calibri"/>
                <a:sym typeface="Calibri"/>
              </a:rPr>
              <a:t>-10	-1.4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1622" name="Google Shape;1622;g3a6c7b9e349_0_400"/>
          <p:cNvSpPr txBox="1"/>
          <p:nvPr/>
        </p:nvSpPr>
        <p:spPr>
          <a:xfrm>
            <a:off x="289408" y="1379078"/>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002060"/>
                </a:solidFill>
                <a:latin typeface="Calibri"/>
                <a:ea typeface="Calibri"/>
                <a:cs typeface="Calibri"/>
                <a:sym typeface="Calibri"/>
              </a:rPr>
              <a:t>  </a:t>
            </a:r>
            <a:r>
              <a:rPr lang="en-US" sz="800" b="1" i="0" u="none" strike="noStrike" cap="none">
                <a:solidFill>
                  <a:srgbClr val="002060"/>
                </a:solidFill>
                <a:latin typeface="Calibri"/>
                <a:ea typeface="Calibri"/>
                <a:cs typeface="Calibri"/>
                <a:sym typeface="Calibri"/>
              </a:rPr>
              <a:t>-1.42    </a:t>
            </a:r>
            <a:r>
              <a:rPr lang="en-US" sz="800" b="1" i="0" u="none" strike="noStrike" cap="none">
                <a:solidFill>
                  <a:schemeClr val="dk1"/>
                </a:solidFill>
                <a:latin typeface="Calibri"/>
                <a:ea typeface="Calibri"/>
                <a:cs typeface="Calibri"/>
                <a:sym typeface="Calibri"/>
              </a:rPr>
              <a:t>-1.4</a:t>
            </a: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-10	 </a:t>
            </a:r>
            <a:r>
              <a:rPr lang="en-US" sz="800" b="0" i="0" u="none" strike="noStrike" cap="none">
                <a:solidFill>
                  <a:schemeClr val="dk1"/>
                </a:solidFill>
                <a:latin typeface="Calibri"/>
                <a:ea typeface="Calibri"/>
                <a:cs typeface="Calibri"/>
                <a:sym typeface="Calibri"/>
              </a:rPr>
              <a:t>0</a:t>
            </a: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graphicFrame>
        <p:nvGraphicFramePr>
          <p:cNvPr id="1623" name="Google Shape;1623;g3a6c7b9e349_0_400"/>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b="1" u="none" strike="noStrike" cap="none">
                          <a:solidFill>
                            <a:srgbClr val="00B0F0"/>
                          </a:solidFill>
                        </a:rPr>
                        <a:t>Slow</a:t>
                      </a:r>
                      <a:endParaRPr sz="600" b="1" u="none" strike="noStrike" cap="none">
                        <a:solidFill>
                          <a:srgbClr val="00B0F0"/>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624" name="Google Shape;1624;g3a6c7b9e349_0_400"/>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1</a:t>
            </a:r>
            <a:endParaRPr sz="1100" b="1" i="0" u="none" strike="noStrike" cap="none" baseline="-25000">
              <a:solidFill>
                <a:schemeClr val="dk1"/>
              </a:solidFill>
              <a:latin typeface="Arial"/>
              <a:ea typeface="Arial"/>
              <a:cs typeface="Arial"/>
              <a:sym typeface="Arial"/>
            </a:endParaRPr>
          </a:p>
        </p:txBody>
      </p:sp>
      <p:sp>
        <p:nvSpPr>
          <p:cNvPr id="1625" name="Google Shape;1625;g3a6c7b9e349_0_400"/>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First Visit Policy Evaluation</a:t>
            </a:r>
            <a:endParaRPr sz="750" b="1" i="0" u="none" strike="noStrike" cap="none">
              <a:solidFill>
                <a:srgbClr val="1B1472"/>
              </a:solidFill>
              <a:latin typeface="Arial"/>
              <a:ea typeface="Arial"/>
              <a:cs typeface="Arial"/>
              <a:sym typeface="Arial"/>
            </a:endParaRPr>
          </a:p>
        </p:txBody>
      </p:sp>
      <p:sp>
        <p:nvSpPr>
          <p:cNvPr id="1626" name="Google Shape;1626;g3a6c7b9e349_0_400"/>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30"/>
        <p:cNvGrpSpPr/>
        <p:nvPr/>
      </p:nvGrpSpPr>
      <p:grpSpPr>
        <a:xfrm>
          <a:off x="0" y="0"/>
          <a:ext cx="0" cy="0"/>
          <a:chOff x="0" y="0"/>
          <a:chExt cx="0" cy="0"/>
        </a:xfrm>
      </p:grpSpPr>
      <p:sp>
        <p:nvSpPr>
          <p:cNvPr id="1631" name="Google Shape;1631;g3a6c7b9e349_0_44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632" name="Google Shape;1632;g3a6c7b9e349_0_44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33" name="Google Shape;1633;g3a6c7b9e349_0_443"/>
          <p:cNvGrpSpPr/>
          <p:nvPr/>
        </p:nvGrpSpPr>
        <p:grpSpPr>
          <a:xfrm>
            <a:off x="0" y="3109250"/>
            <a:ext cx="5760261" cy="92075"/>
            <a:chOff x="0" y="3109250"/>
            <a:chExt cx="5760261" cy="92075"/>
          </a:xfrm>
        </p:grpSpPr>
        <p:sp>
          <p:nvSpPr>
            <p:cNvPr id="1634" name="Google Shape;1634;g3a6c7b9e349_0_44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5" name="Google Shape;1635;g3a6c7b9e349_0_44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6" name="Google Shape;1636;g3a6c7b9e349_0_44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37" name="Google Shape;1637;g3a6c7b9e349_0_44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638" name="Google Shape;1638;g3a6c7b9e349_0_44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41</a:t>
            </a:fld>
            <a:endParaRPr/>
          </a:p>
        </p:txBody>
      </p:sp>
      <p:pic>
        <p:nvPicPr>
          <p:cNvPr id="1639" name="Google Shape;1639;g3a6c7b9e349_0_443"/>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640" name="Google Shape;1640;g3a6c7b9e349_0_443"/>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641" name="Google Shape;1641;g3a6c7b9e349_0_443"/>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642" name="Google Shape;1642;g3a6c7b9e349_0_44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643" name="Google Shape;1643;g3a6c7b9e349_0_44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644" name="Google Shape;1644;g3a6c7b9e349_0_44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645" name="Google Shape;1645;g3a6c7b9e349_0_44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646" name="Google Shape;1646;g3a6c7b9e349_0_443"/>
          <p:cNvSpPr/>
          <p:nvPr/>
        </p:nvSpPr>
        <p:spPr>
          <a:xfrm>
            <a:off x="3724076" y="1046320"/>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647" name="Google Shape;1647;g3a6c7b9e349_0_44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648" name="Google Shape;1648;g3a6c7b9e349_0_443"/>
          <p:cNvPicPr preferRelativeResize="0"/>
          <p:nvPr/>
        </p:nvPicPr>
        <p:blipFill rotWithShape="1">
          <a:blip r:embed="rId6">
            <a:alphaModFix/>
          </a:blip>
          <a:srcRect/>
          <a:stretch/>
        </p:blipFill>
        <p:spPr>
          <a:xfrm>
            <a:off x="3839748" y="1991159"/>
            <a:ext cx="1923500" cy="995858"/>
          </a:xfrm>
          <a:prstGeom prst="rect">
            <a:avLst/>
          </a:prstGeom>
          <a:noFill/>
          <a:ln>
            <a:noFill/>
          </a:ln>
        </p:spPr>
      </p:pic>
      <p:pic>
        <p:nvPicPr>
          <p:cNvPr id="1649" name="Google Shape;1649;g3a6c7b9e349_0_443"/>
          <p:cNvPicPr preferRelativeResize="0"/>
          <p:nvPr/>
        </p:nvPicPr>
        <p:blipFill rotWithShape="1">
          <a:blip r:embed="rId7">
            <a:alphaModFix/>
          </a:blip>
          <a:srcRect/>
          <a:stretch/>
        </p:blipFill>
        <p:spPr>
          <a:xfrm>
            <a:off x="3939676" y="65683"/>
            <a:ext cx="1828395" cy="1169057"/>
          </a:xfrm>
          <a:prstGeom prst="rect">
            <a:avLst/>
          </a:prstGeom>
          <a:noFill/>
          <a:ln>
            <a:noFill/>
          </a:ln>
        </p:spPr>
      </p:pic>
      <p:sp>
        <p:nvSpPr>
          <p:cNvPr id="1650" name="Google Shape;1650;g3a6c7b9e349_0_443"/>
          <p:cNvSpPr/>
          <p:nvPr/>
        </p:nvSpPr>
        <p:spPr>
          <a:xfrm>
            <a:off x="5282693" y="16947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1651" name="Google Shape;1651;g3a6c7b9e349_0_443"/>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a:p>
          <a:p>
            <a:pPr marL="0" marR="0" lvl="0" indent="0" algn="l" rtl="0">
              <a:lnSpc>
                <a:spcPct val="100000"/>
              </a:lnSpc>
              <a:spcBef>
                <a:spcPts val="0"/>
              </a:spcBef>
              <a:spcAft>
                <a:spcPts val="0"/>
              </a:spcAft>
              <a:buNone/>
            </a:pPr>
            <a:endParaRPr sz="700" b="1" baseline="-25000"/>
          </a:p>
          <a:p>
            <a:pPr marL="0" marR="0" lvl="0" indent="0" algn="l" rtl="0">
              <a:lnSpc>
                <a:spcPct val="100000"/>
              </a:lnSpc>
              <a:spcBef>
                <a:spcPts val="0"/>
              </a:spcBef>
              <a:spcAft>
                <a:spcPts val="0"/>
              </a:spcAft>
              <a:buNone/>
            </a:pPr>
            <a:endParaRPr sz="700" b="1" baseline="-25000"/>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cxnSp>
        <p:nvCxnSpPr>
          <p:cNvPr id="1652" name="Google Shape;1652;g3a6c7b9e349_0_44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653" name="Google Shape;1653;g3a6c7b9e349_0_44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654" name="Google Shape;1654;g3a6c7b9e349_0_44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655" name="Google Shape;1655;g3a6c7b9e349_0_44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656" name="Google Shape;1656;g3a6c7b9e349_0_44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657" name="Google Shape;1657;g3a6c7b9e349_0_44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658" name="Google Shape;1658;g3a6c7b9e349_0_443"/>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659" name="Google Shape;1659;g3a6c7b9e349_0_443"/>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660" name="Google Shape;1660;g3a6c7b9e349_0_443"/>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661" name="Google Shape;1661;g3a6c7b9e349_0_443"/>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662" name="Google Shape;1662;g3a6c7b9e349_0_443"/>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663" name="Google Shape;1663;g3a6c7b9e349_0_443"/>
          <p:cNvPicPr preferRelativeResize="0"/>
          <p:nvPr/>
        </p:nvPicPr>
        <p:blipFill rotWithShape="1">
          <a:blip r:embed="rId9">
            <a:alphaModFix/>
          </a:blip>
          <a:srcRect/>
          <a:stretch/>
        </p:blipFill>
        <p:spPr>
          <a:xfrm>
            <a:off x="1912626" y="636360"/>
            <a:ext cx="249913" cy="117267"/>
          </a:xfrm>
          <a:prstGeom prst="rect">
            <a:avLst/>
          </a:prstGeom>
          <a:noFill/>
          <a:ln>
            <a:noFill/>
          </a:ln>
        </p:spPr>
      </p:pic>
      <p:sp>
        <p:nvSpPr>
          <p:cNvPr id="1664" name="Google Shape;1664;g3a6c7b9e349_0_443"/>
          <p:cNvSpPr txBox="1"/>
          <p:nvPr/>
        </p:nvSpPr>
        <p:spPr>
          <a:xfrm>
            <a:off x="2500996" y="1723967"/>
            <a:ext cx="16242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3:</a:t>
            </a:r>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Q(W, F)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Q(C, F) </a:t>
            </a:r>
            <a:r>
              <a:rPr lang="en-US" sz="700" b="1" i="0" u="none" strike="noStrike" cap="none">
                <a:solidFill>
                  <a:srgbClr val="002060"/>
                </a:solidFill>
                <a:latin typeface="Arial"/>
                <a:ea typeface="Arial"/>
                <a:cs typeface="Arial"/>
                <a:sym typeface="Arial"/>
              </a:rPr>
              <a:t>=  avg(-4,1.16,-4) = -2.28</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Q(C, S)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Q(C, S) =  </a:t>
            </a:r>
            <a:r>
              <a:rPr lang="en-US" sz="700" b="1" i="0" u="none" strike="noStrike" cap="none">
                <a:solidFill>
                  <a:srgbClr val="002060"/>
                </a:solidFill>
                <a:latin typeface="Arial"/>
                <a:ea typeface="Arial"/>
                <a:cs typeface="Arial"/>
                <a:sym typeface="Arial"/>
              </a:rPr>
              <a:t>avg(0.16,-1.4) </a:t>
            </a:r>
            <a:endParaRPr/>
          </a:p>
          <a:p>
            <a:pPr marL="0" marR="0" lvl="0" indent="0" algn="l" rtl="0">
              <a:lnSpc>
                <a:spcPct val="100000"/>
              </a:lnSpc>
              <a:spcBef>
                <a:spcPts val="0"/>
              </a:spcBef>
              <a:spcAft>
                <a:spcPts val="0"/>
              </a:spcAft>
              <a:buNone/>
            </a:pPr>
            <a:r>
              <a:rPr lang="en-US" sz="700" b="1" i="0" u="none" strike="noStrike" cap="none">
                <a:solidFill>
                  <a:srgbClr val="002060"/>
                </a:solidFill>
                <a:latin typeface="Arial"/>
                <a:ea typeface="Arial"/>
                <a:cs typeface="Arial"/>
                <a:sym typeface="Arial"/>
              </a:rPr>
              <a:t>                    = -0.62</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1665" name="Google Shape;1665;g3a6c7b9e349_0_443"/>
          <p:cNvSpPr txBox="1"/>
          <p:nvPr/>
        </p:nvSpPr>
        <p:spPr>
          <a:xfrm>
            <a:off x="276708" y="1092903"/>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1.16  </a:t>
            </a:r>
            <a:r>
              <a:rPr lang="en-US" sz="800" b="0" i="0" u="none" strike="noStrike" cap="none">
                <a:solidFill>
                  <a:schemeClr val="dk1"/>
                </a:solidFill>
                <a:latin typeface="Calibri"/>
                <a:ea typeface="Calibri"/>
                <a:cs typeface="Calibri"/>
                <a:sym typeface="Calibri"/>
              </a:rPr>
              <a:t>      0       </a:t>
            </a:r>
            <a:r>
              <a:rPr lang="en-US" sz="800" b="1" i="0" u="none" strike="noStrike" cap="none">
                <a:solidFill>
                  <a:schemeClr val="dk1"/>
                </a:solidFill>
                <a:latin typeface="Calibri"/>
                <a:ea typeface="Calibri"/>
                <a:cs typeface="Calibri"/>
                <a:sym typeface="Calibri"/>
              </a:rPr>
              <a:t>-10	-1.4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1666" name="Google Shape;1666;g3a6c7b9e349_0_443"/>
          <p:cNvSpPr txBox="1"/>
          <p:nvPr/>
        </p:nvSpPr>
        <p:spPr>
          <a:xfrm>
            <a:off x="289408" y="1379078"/>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002060"/>
                </a:solidFill>
                <a:latin typeface="Calibri"/>
                <a:ea typeface="Calibri"/>
                <a:cs typeface="Calibri"/>
                <a:sym typeface="Calibri"/>
              </a:rPr>
              <a:t>  </a:t>
            </a:r>
            <a:r>
              <a:rPr lang="en-US" sz="800" b="1" i="0" u="none" strike="noStrike" cap="none">
                <a:solidFill>
                  <a:srgbClr val="002060"/>
                </a:solidFill>
                <a:latin typeface="Calibri"/>
                <a:ea typeface="Calibri"/>
                <a:cs typeface="Calibri"/>
                <a:sym typeface="Calibri"/>
              </a:rPr>
              <a:t>-1.42    </a:t>
            </a:r>
            <a:r>
              <a:rPr lang="en-US" sz="800" b="1" i="0" u="none" strike="noStrike" cap="none">
                <a:solidFill>
                  <a:schemeClr val="dk1"/>
                </a:solidFill>
                <a:latin typeface="Calibri"/>
                <a:ea typeface="Calibri"/>
                <a:cs typeface="Calibri"/>
                <a:sym typeface="Calibri"/>
              </a:rPr>
              <a:t>-1.4</a:t>
            </a: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-10	 </a:t>
            </a:r>
            <a:r>
              <a:rPr lang="en-US" sz="800" b="0" i="0" u="none" strike="noStrike" cap="none">
                <a:solidFill>
                  <a:schemeClr val="dk1"/>
                </a:solidFill>
                <a:latin typeface="Calibri"/>
                <a:ea typeface="Calibri"/>
                <a:cs typeface="Calibri"/>
                <a:sym typeface="Calibri"/>
              </a:rPr>
              <a:t>0</a:t>
            </a: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graphicFrame>
        <p:nvGraphicFramePr>
          <p:cNvPr id="1667" name="Google Shape;1667;g3a6c7b9e349_0_443"/>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37350">
                  <a:extLst>
                    <a:ext uri="{9D8B030D-6E8A-4147-A177-3AD203B41FA5}">
                      <a16:colId xmlns:a16="http://schemas.microsoft.com/office/drawing/2014/main" val="20003"/>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Best Action</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Slow</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b="1" u="none" strike="noStrike" cap="none">
                          <a:solidFill>
                            <a:srgbClr val="00B0F0"/>
                          </a:solidFill>
                        </a:rPr>
                        <a:t>Slow</a:t>
                      </a:r>
                      <a:endParaRPr sz="600" b="1" u="none" strike="noStrike" cap="none">
                        <a:solidFill>
                          <a:srgbClr val="00B0F0"/>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0.2</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0.8</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668" name="Google Shape;1668;g3a6c7b9e349_0_443"/>
          <p:cNvSpPr txBox="1"/>
          <p:nvPr/>
        </p:nvSpPr>
        <p:spPr>
          <a:xfrm>
            <a:off x="3817894" y="1199847"/>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r>
              <a:rPr lang="en-US" sz="1100" b="1" i="0" u="none" strike="noStrike" cap="none" baseline="-25000">
                <a:solidFill>
                  <a:schemeClr val="dk1"/>
                </a:solidFill>
                <a:latin typeface="Arial"/>
                <a:ea typeface="Arial"/>
                <a:cs typeface="Arial"/>
                <a:sym typeface="Arial"/>
              </a:rPr>
              <a:t>2</a:t>
            </a:r>
            <a:endParaRPr sz="1100" b="1" i="0" u="none" strike="noStrike" cap="none" baseline="-25000">
              <a:solidFill>
                <a:schemeClr val="dk1"/>
              </a:solidFill>
              <a:latin typeface="Arial"/>
              <a:ea typeface="Arial"/>
              <a:cs typeface="Arial"/>
              <a:sym typeface="Arial"/>
            </a:endParaRPr>
          </a:p>
        </p:txBody>
      </p:sp>
      <p:sp>
        <p:nvSpPr>
          <p:cNvPr id="1669" name="Google Shape;1669;g3a6c7b9e349_0_443"/>
          <p:cNvSpPr txBox="1"/>
          <p:nvPr/>
        </p:nvSpPr>
        <p:spPr>
          <a:xfrm>
            <a:off x="3276600" y="2786200"/>
            <a:ext cx="2451000" cy="3231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After PE PI no change in </a:t>
            </a:r>
            <a:r>
              <a:rPr lang="en-US" sz="700" b="1" i="0" u="none" strike="noStrike" cap="none">
                <a:solidFill>
                  <a:schemeClr val="dk1"/>
                </a:solidFill>
                <a:latin typeface="Arial"/>
                <a:ea typeface="Arial"/>
                <a:cs typeface="Arial"/>
                <a:sym typeface="Arial"/>
              </a:rPr>
              <a:t>π. </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Policy converges towards safer actions</a:t>
            </a:r>
            <a:r>
              <a:rPr lang="en-US" sz="700" b="1" i="0" u="none" strike="noStrike" cap="none">
                <a:solidFill>
                  <a:srgbClr val="1B1472"/>
                </a:solidFill>
                <a:latin typeface="Arial"/>
                <a:ea typeface="Arial"/>
                <a:cs typeface="Arial"/>
                <a:sym typeface="Arial"/>
              </a:rPr>
              <a:t> </a:t>
            </a:r>
            <a:endParaRPr sz="700" b="1" i="0" u="none" strike="noStrike" cap="none">
              <a:solidFill>
                <a:srgbClr val="1B1472"/>
              </a:solidFill>
              <a:latin typeface="Arial"/>
              <a:ea typeface="Arial"/>
              <a:cs typeface="Arial"/>
              <a:sym typeface="Arial"/>
            </a:endParaRPr>
          </a:p>
        </p:txBody>
      </p:sp>
      <p:sp>
        <p:nvSpPr>
          <p:cNvPr id="1670" name="Google Shape;1670;g3a6c7b9e349_0_443"/>
          <p:cNvSpPr/>
          <p:nvPr/>
        </p:nvSpPr>
        <p:spPr>
          <a:xfrm>
            <a:off x="316189" y="17013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671" name="Google Shape;1671;g3a6c7b9e349_0_443"/>
          <p:cNvSpPr txBox="1"/>
          <p:nvPr/>
        </p:nvSpPr>
        <p:spPr>
          <a:xfrm>
            <a:off x="295758" y="1658478"/>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002060"/>
                </a:solidFill>
                <a:latin typeface="Calibri"/>
                <a:ea typeface="Calibri"/>
                <a:cs typeface="Calibri"/>
                <a:sym typeface="Calibri"/>
              </a:rPr>
              <a:t>  </a:t>
            </a:r>
            <a:r>
              <a:rPr lang="en-US" sz="800" b="1" i="0" u="none" strike="noStrike" cap="none">
                <a:solidFill>
                  <a:srgbClr val="002060"/>
                </a:solidFill>
                <a:latin typeface="Calibri"/>
                <a:ea typeface="Calibri"/>
                <a:cs typeface="Calibri"/>
                <a:sym typeface="Calibri"/>
              </a:rPr>
              <a:t>-2.28   </a:t>
            </a:r>
            <a:r>
              <a:rPr lang="en-US" sz="800" b="1" i="0" u="none" strike="noStrike" cap="none">
                <a:solidFill>
                  <a:schemeClr val="dk1"/>
                </a:solidFill>
                <a:latin typeface="Calibri"/>
                <a:ea typeface="Calibri"/>
                <a:cs typeface="Calibri"/>
                <a:sym typeface="Calibri"/>
              </a:rPr>
              <a:t>-0.62</a:t>
            </a: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-10	 </a:t>
            </a:r>
            <a:r>
              <a:rPr lang="en-US" sz="800" b="0" i="0" u="none" strike="noStrike" cap="none">
                <a:solidFill>
                  <a:schemeClr val="dk1"/>
                </a:solidFill>
                <a:latin typeface="Calibri"/>
                <a:ea typeface="Calibri"/>
                <a:cs typeface="Calibri"/>
                <a:sym typeface="Calibri"/>
              </a:rPr>
              <a:t>0</a:t>
            </a: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cxnSp>
        <p:nvCxnSpPr>
          <p:cNvPr id="1672" name="Google Shape;1672;g3a6c7b9e349_0_443"/>
          <p:cNvCxnSpPr/>
          <p:nvPr/>
        </p:nvCxnSpPr>
        <p:spPr>
          <a:xfrm>
            <a:off x="910106" y="1689397"/>
            <a:ext cx="0" cy="225300"/>
          </a:xfrm>
          <a:prstGeom prst="straightConnector1">
            <a:avLst/>
          </a:prstGeom>
          <a:noFill/>
          <a:ln w="9525" cap="flat" cmpd="sng">
            <a:solidFill>
              <a:schemeClr val="dk1"/>
            </a:solidFill>
            <a:prstDash val="solid"/>
            <a:round/>
            <a:headEnd type="none" w="sm" len="sm"/>
            <a:tailEnd type="none" w="sm" len="sm"/>
          </a:ln>
        </p:spPr>
      </p:cxnSp>
      <p:cxnSp>
        <p:nvCxnSpPr>
          <p:cNvPr id="1673" name="Google Shape;1673;g3a6c7b9e349_0_443"/>
          <p:cNvCxnSpPr/>
          <p:nvPr/>
        </p:nvCxnSpPr>
        <p:spPr>
          <a:xfrm>
            <a:off x="1566089" y="1696024"/>
            <a:ext cx="0" cy="225300"/>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77"/>
        <p:cNvGrpSpPr/>
        <p:nvPr/>
      </p:nvGrpSpPr>
      <p:grpSpPr>
        <a:xfrm>
          <a:off x="0" y="0"/>
          <a:ext cx="0" cy="0"/>
          <a:chOff x="0" y="0"/>
          <a:chExt cx="0" cy="0"/>
        </a:xfrm>
      </p:grpSpPr>
      <p:sp>
        <p:nvSpPr>
          <p:cNvPr id="1678" name="Google Shape;1678;g3a6c7b9e349_0_489"/>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 Methods</a:t>
            </a:r>
            <a:endParaRPr/>
          </a:p>
        </p:txBody>
      </p:sp>
      <p:pic>
        <p:nvPicPr>
          <p:cNvPr id="1679" name="Google Shape;1679;g3a6c7b9e349_0_489"/>
          <p:cNvPicPr preferRelativeResize="0"/>
          <p:nvPr/>
        </p:nvPicPr>
        <p:blipFill rotWithShape="1">
          <a:blip r:embed="rId3">
            <a:alphaModFix/>
          </a:blip>
          <a:srcRect/>
          <a:stretch/>
        </p:blipFill>
        <p:spPr>
          <a:xfrm>
            <a:off x="219002" y="583532"/>
            <a:ext cx="121259" cy="121259"/>
          </a:xfrm>
          <a:prstGeom prst="rect">
            <a:avLst/>
          </a:prstGeom>
          <a:noFill/>
          <a:ln>
            <a:noFill/>
          </a:ln>
        </p:spPr>
      </p:pic>
      <p:sp>
        <p:nvSpPr>
          <p:cNvPr id="1680" name="Google Shape;1680;g3a6c7b9e349_0_489"/>
          <p:cNvSpPr txBox="1"/>
          <p:nvPr/>
        </p:nvSpPr>
        <p:spPr>
          <a:xfrm>
            <a:off x="245952" y="573682"/>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sp>
        <p:nvSpPr>
          <p:cNvPr id="1681" name="Google Shape;1681;g3a6c7b9e349_0_489"/>
          <p:cNvSpPr txBox="1"/>
          <p:nvPr/>
        </p:nvSpPr>
        <p:spPr>
          <a:xfrm>
            <a:off x="406632" y="537309"/>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Given</a:t>
            </a:r>
            <a:endParaRPr sz="1050" b="0" i="0" u="none" strike="noStrike" cap="none">
              <a:solidFill>
                <a:srgbClr val="000000"/>
              </a:solidFill>
              <a:latin typeface="Arial"/>
              <a:ea typeface="Arial"/>
              <a:cs typeface="Arial"/>
              <a:sym typeface="Arial"/>
            </a:endParaRPr>
          </a:p>
        </p:txBody>
      </p:sp>
      <p:sp>
        <p:nvSpPr>
          <p:cNvPr id="1682" name="Google Shape;1682;g3a6c7b9e349_0_489"/>
          <p:cNvSpPr txBox="1"/>
          <p:nvPr/>
        </p:nvSpPr>
        <p:spPr>
          <a:xfrm>
            <a:off x="536451" y="732781"/>
            <a:ext cx="24963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 A, optionally R(s, a, s`) </a:t>
            </a:r>
            <a:endParaRPr sz="950" b="0" i="0" u="none" strike="noStrike" cap="none">
              <a:solidFill>
                <a:srgbClr val="000000"/>
              </a:solidFill>
              <a:latin typeface="Arial"/>
              <a:ea typeface="Arial"/>
              <a:cs typeface="Arial"/>
              <a:sym typeface="Arial"/>
            </a:endParaRPr>
          </a:p>
        </p:txBody>
      </p:sp>
      <p:grpSp>
        <p:nvGrpSpPr>
          <p:cNvPr id="1683" name="Google Shape;1683;g3a6c7b9e349_0_489"/>
          <p:cNvGrpSpPr/>
          <p:nvPr/>
        </p:nvGrpSpPr>
        <p:grpSpPr>
          <a:xfrm>
            <a:off x="219002" y="990948"/>
            <a:ext cx="121259" cy="528662"/>
            <a:chOff x="456996" y="1391780"/>
            <a:chExt cx="121259" cy="528662"/>
          </a:xfrm>
        </p:grpSpPr>
        <p:pic>
          <p:nvPicPr>
            <p:cNvPr id="1684" name="Google Shape;1684;g3a6c7b9e349_0_489"/>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1685" name="Google Shape;1685;g3a6c7b9e349_0_489"/>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1686" name="Google Shape;1686;g3a6c7b9e349_0_489"/>
          <p:cNvSpPr txBox="1"/>
          <p:nvPr/>
        </p:nvSpPr>
        <p:spPr>
          <a:xfrm>
            <a:off x="245952" y="981098"/>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sp>
        <p:nvSpPr>
          <p:cNvPr id="1687" name="Google Shape;1687;g3a6c7b9e349_0_489"/>
          <p:cNvSpPr txBox="1"/>
          <p:nvPr/>
        </p:nvSpPr>
        <p:spPr>
          <a:xfrm>
            <a:off x="406632" y="944712"/>
            <a:ext cx="13062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To find</a:t>
            </a:r>
            <a:endParaRPr sz="1050" b="0" i="0" u="none" strike="noStrike" cap="none">
              <a:solidFill>
                <a:srgbClr val="000000"/>
              </a:solidFill>
              <a:latin typeface="Arial"/>
              <a:ea typeface="Arial"/>
              <a:cs typeface="Arial"/>
              <a:sym typeface="Arial"/>
            </a:endParaRPr>
          </a:p>
        </p:txBody>
      </p:sp>
      <p:sp>
        <p:nvSpPr>
          <p:cNvPr id="1688" name="Google Shape;1688;g3a6c7b9e349_0_489"/>
          <p:cNvSpPr txBox="1"/>
          <p:nvPr/>
        </p:nvSpPr>
        <p:spPr>
          <a:xfrm>
            <a:off x="536451" y="1140197"/>
            <a:ext cx="26817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π . This is referred to as </a:t>
            </a:r>
            <a:r>
              <a:rPr lang="en-US" sz="950" b="1" i="0" u="none" strike="noStrike" cap="none">
                <a:solidFill>
                  <a:srgbClr val="000000"/>
                </a:solidFill>
                <a:latin typeface="Arial"/>
                <a:ea typeface="Arial"/>
                <a:cs typeface="Arial"/>
                <a:sym typeface="Arial"/>
              </a:rPr>
              <a:t>TARGET</a:t>
            </a:r>
            <a:r>
              <a:rPr lang="en-US" sz="950" b="0" i="0" u="none" strike="noStrike" cap="none">
                <a:solidFill>
                  <a:srgbClr val="000000"/>
                </a:solidFill>
                <a:latin typeface="Arial"/>
                <a:ea typeface="Arial"/>
                <a:cs typeface="Arial"/>
                <a:sym typeface="Arial"/>
              </a:rPr>
              <a:t> policy</a:t>
            </a:r>
            <a:endParaRPr sz="950" b="0" i="0" u="none" strike="noStrike" cap="none">
              <a:solidFill>
                <a:srgbClr val="000000"/>
              </a:solidFill>
              <a:latin typeface="Arial"/>
              <a:ea typeface="Arial"/>
              <a:cs typeface="Arial"/>
              <a:sym typeface="Arial"/>
            </a:endParaRPr>
          </a:p>
        </p:txBody>
      </p:sp>
      <p:sp>
        <p:nvSpPr>
          <p:cNvPr id="1689" name="Google Shape;1689;g3a6c7b9e349_0_489"/>
          <p:cNvSpPr txBox="1"/>
          <p:nvPr/>
        </p:nvSpPr>
        <p:spPr>
          <a:xfrm>
            <a:off x="245952" y="1388501"/>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1690" name="Google Shape;1690;g3a6c7b9e349_0_489"/>
          <p:cNvSpPr txBox="1"/>
          <p:nvPr/>
        </p:nvSpPr>
        <p:spPr>
          <a:xfrm>
            <a:off x="406632" y="1352128"/>
            <a:ext cx="13017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Solution</a:t>
            </a:r>
            <a:endParaRPr sz="1050" b="0" i="0" u="none" strike="noStrike" cap="none">
              <a:solidFill>
                <a:srgbClr val="000000"/>
              </a:solidFill>
              <a:latin typeface="Arial"/>
              <a:ea typeface="Arial"/>
              <a:cs typeface="Arial"/>
              <a:sym typeface="Arial"/>
            </a:endParaRPr>
          </a:p>
        </p:txBody>
      </p:sp>
      <p:sp>
        <p:nvSpPr>
          <p:cNvPr id="1691" name="Google Shape;1691;g3a6c7b9e349_0_489"/>
          <p:cNvSpPr txBox="1"/>
          <p:nvPr/>
        </p:nvSpPr>
        <p:spPr>
          <a:xfrm>
            <a:off x="128632" y="1512226"/>
            <a:ext cx="5358600" cy="1625100"/>
          </a:xfrm>
          <a:prstGeom prst="rect">
            <a:avLst/>
          </a:prstGeom>
          <a:noFill/>
          <a:ln>
            <a:noFill/>
          </a:ln>
        </p:spPr>
        <p:txBody>
          <a:bodyPr spcFirstLastPara="1" wrap="square" lIns="0" tIns="11425" rIns="0" bIns="0" anchor="t" anchorCtr="0">
            <a:spAutoFit/>
          </a:bodyPr>
          <a:lstStyle/>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Sample Episodes</a:t>
            </a:r>
            <a:endParaRPr/>
          </a:p>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Compute estimates of the value by discounted returns</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Simple average</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Weighted average</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Normalized weighted average</a:t>
            </a:r>
            <a:endParaRPr sz="140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grpSp>
        <p:nvGrpSpPr>
          <p:cNvPr id="1692" name="Google Shape;1692;g3a6c7b9e349_0_489"/>
          <p:cNvGrpSpPr/>
          <p:nvPr/>
        </p:nvGrpSpPr>
        <p:grpSpPr>
          <a:xfrm>
            <a:off x="0" y="3109250"/>
            <a:ext cx="5760261" cy="92075"/>
            <a:chOff x="0" y="3109250"/>
            <a:chExt cx="5760261" cy="92075"/>
          </a:xfrm>
        </p:grpSpPr>
        <p:sp>
          <p:nvSpPr>
            <p:cNvPr id="1693" name="Google Shape;1693;g3a6c7b9e349_0_48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4" name="Google Shape;1694;g3a6c7b9e349_0_48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5" name="Google Shape;1695;g3a6c7b9e349_0_48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96" name="Google Shape;1696;g3a6c7b9e349_0_489"/>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697" name="Google Shape;1697;g3a6c7b9e349_0_48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42</a:t>
            </a:fld>
            <a:r>
              <a:rPr lang="en-US"/>
              <a:t> </a:t>
            </a:r>
            <a:endParaRPr/>
          </a:p>
        </p:txBody>
      </p:sp>
      <p:grpSp>
        <p:nvGrpSpPr>
          <p:cNvPr id="1698" name="Google Shape;1698;g3a6c7b9e349_0_489"/>
          <p:cNvGrpSpPr/>
          <p:nvPr/>
        </p:nvGrpSpPr>
        <p:grpSpPr>
          <a:xfrm>
            <a:off x="201908" y="2191372"/>
            <a:ext cx="148210" cy="163940"/>
            <a:chOff x="134127" y="2262704"/>
            <a:chExt cx="266997" cy="178837"/>
          </a:xfrm>
        </p:grpSpPr>
        <p:pic>
          <p:nvPicPr>
            <p:cNvPr id="1699" name="Google Shape;1699;g3a6c7b9e349_0_489"/>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1700" name="Google Shape;1700;g3a6c7b9e349_0_489"/>
            <p:cNvSpPr txBox="1"/>
            <p:nvPr/>
          </p:nvSpPr>
          <p:spPr>
            <a:xfrm>
              <a:off x="209626" y="2275554"/>
              <a:ext cx="148200" cy="1140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sp>
        <p:nvSpPr>
          <p:cNvPr id="1701" name="Google Shape;1701;g3a6c7b9e349_0_489"/>
          <p:cNvSpPr txBox="1"/>
          <p:nvPr/>
        </p:nvSpPr>
        <p:spPr>
          <a:xfrm>
            <a:off x="421246" y="2174040"/>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Idea</a:t>
            </a:r>
            <a:endParaRPr sz="1050" b="0" i="0" u="none" strike="noStrike" cap="none">
              <a:solidFill>
                <a:srgbClr val="000000"/>
              </a:solidFill>
              <a:latin typeface="Arial"/>
              <a:ea typeface="Arial"/>
              <a:cs typeface="Arial"/>
              <a:sym typeface="Arial"/>
            </a:endParaRPr>
          </a:p>
        </p:txBody>
      </p:sp>
      <p:sp>
        <p:nvSpPr>
          <p:cNvPr id="1702" name="Google Shape;1702;g3a6c7b9e349_0_489"/>
          <p:cNvSpPr txBox="1"/>
          <p:nvPr/>
        </p:nvSpPr>
        <p:spPr>
          <a:xfrm>
            <a:off x="563815" y="2355312"/>
            <a:ext cx="4769700" cy="8889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On Policy : </a:t>
            </a:r>
            <a:endParaRPr sz="950" b="0" i="0" u="none" strike="noStrike" cap="none">
              <a:solidFill>
                <a:srgbClr val="000000"/>
              </a:solidFill>
              <a:latin typeface="Arial"/>
              <a:ea typeface="Arial"/>
              <a:cs typeface="Arial"/>
              <a:sym typeface="Arial"/>
            </a:endParaRPr>
          </a:p>
          <a:p>
            <a:pPr marL="265112" marR="0" lvl="1"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Generate Sample/Experience 🡪 Evaluate using Return 🡪 Improve</a:t>
            </a:r>
            <a:endParaRPr sz="1400" b="0" i="0" u="none" strike="noStrike" cap="none">
              <a:solidFill>
                <a:srgbClr val="000000"/>
              </a:solidFill>
              <a:latin typeface="Arial"/>
              <a:ea typeface="Arial"/>
              <a:cs typeface="Arial"/>
              <a:sym typeface="Arial"/>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Off Policy : </a:t>
            </a:r>
            <a:endParaRPr sz="950" b="0" i="0" u="none" strike="noStrike" cap="none">
              <a:solidFill>
                <a:srgbClr val="000000"/>
              </a:solidFill>
              <a:latin typeface="Arial"/>
              <a:ea typeface="Arial"/>
              <a:cs typeface="Arial"/>
              <a:sym typeface="Arial"/>
            </a:endParaRPr>
          </a:p>
          <a:p>
            <a:pPr marL="287337" marR="0" lvl="0" indent="-107950"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Refer to Sample/Experience generated by another reference(</a:t>
            </a:r>
            <a:r>
              <a:rPr lang="en-US" sz="950" b="1" i="0" u="none" strike="noStrike" cap="none">
                <a:solidFill>
                  <a:srgbClr val="000000"/>
                </a:solidFill>
                <a:latin typeface="Arial"/>
                <a:ea typeface="Arial"/>
                <a:cs typeface="Arial"/>
                <a:sym typeface="Arial"/>
              </a:rPr>
              <a:t>BEHAVIOUR</a:t>
            </a:r>
            <a:r>
              <a:rPr lang="en-US" sz="950" b="0" i="0" u="none" strike="noStrike" cap="none">
                <a:solidFill>
                  <a:srgbClr val="000000"/>
                </a:solidFill>
                <a:latin typeface="Arial"/>
                <a:ea typeface="Arial"/>
                <a:cs typeface="Arial"/>
                <a:sym typeface="Arial"/>
              </a:rPr>
              <a:t>) policy  🡪 Evaluate using Return 🡪 Improve</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1703" name="Google Shape;1703;g3a6c7b9e349_0_489"/>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1704" name="Google Shape;1704;g3a6c7b9e349_0_489"/>
          <p:cNvSpPr/>
          <p:nvPr/>
        </p:nvSpPr>
        <p:spPr>
          <a:xfrm>
            <a:off x="450299" y="2668963"/>
            <a:ext cx="4903500" cy="41880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05" name="Google Shape;1705;g3a6c7b9e349_0_489"/>
          <p:cNvSpPr/>
          <p:nvPr/>
        </p:nvSpPr>
        <p:spPr>
          <a:xfrm>
            <a:off x="461001" y="2101726"/>
            <a:ext cx="4859700" cy="14910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g3a6c7b9e349_0_520"/>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1711" name="Google Shape;1711;g3a6c7b9e349_0_520"/>
          <p:cNvSpPr txBox="1">
            <a:spLocks noGrp="1"/>
          </p:cNvSpPr>
          <p:nvPr>
            <p:ph type="body" idx="1"/>
          </p:nvPr>
        </p:nvSpPr>
        <p:spPr>
          <a:xfrm>
            <a:off x="891520" y="516129"/>
            <a:ext cx="3812400" cy="22164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Monte Carlo Method</a:t>
            </a:r>
            <a:endParaRPr/>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Off Policy Control Algorithm</a:t>
            </a:r>
            <a:endParaRPr sz="1600" b="1">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15"/>
        <p:cNvGrpSpPr/>
        <p:nvPr/>
      </p:nvGrpSpPr>
      <p:grpSpPr>
        <a:xfrm>
          <a:off x="0" y="0"/>
          <a:ext cx="0" cy="0"/>
          <a:chOff x="0" y="0"/>
          <a:chExt cx="0" cy="0"/>
        </a:xfrm>
      </p:grpSpPr>
      <p:sp>
        <p:nvSpPr>
          <p:cNvPr id="1716" name="Google Shape;1716;g3a6c7b9e349_0_52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717" name="Google Shape;1717;g3a6c7b9e349_0_52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18" name="Google Shape;1718;g3a6c7b9e349_0_525"/>
          <p:cNvGrpSpPr/>
          <p:nvPr/>
        </p:nvGrpSpPr>
        <p:grpSpPr>
          <a:xfrm>
            <a:off x="0" y="3109250"/>
            <a:ext cx="5760261" cy="92075"/>
            <a:chOff x="0" y="3109250"/>
            <a:chExt cx="5760261" cy="92075"/>
          </a:xfrm>
        </p:grpSpPr>
        <p:sp>
          <p:nvSpPr>
            <p:cNvPr id="1719" name="Google Shape;1719;g3a6c7b9e349_0_52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0" name="Google Shape;1720;g3a6c7b9e349_0_52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1" name="Google Shape;1721;g3a6c7b9e349_0_52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22" name="Google Shape;1722;g3a6c7b9e349_0_52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723" name="Google Shape;1723;g3a6c7b9e349_0_52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44</a:t>
            </a:fld>
            <a:endParaRPr/>
          </a:p>
        </p:txBody>
      </p:sp>
      <p:pic>
        <p:nvPicPr>
          <p:cNvPr id="1724" name="Google Shape;1724;g3a6c7b9e349_0_525"/>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725" name="Google Shape;1725;g3a6c7b9e349_0_525"/>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726" name="Google Shape;1726;g3a6c7b9e349_0_525"/>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727" name="Google Shape;1727;g3a6c7b9e349_0_52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728" name="Google Shape;1728;g3a6c7b9e349_0_52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729" name="Google Shape;1729;g3a6c7b9e349_0_52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730" name="Google Shape;1730;g3a6c7b9e349_0_52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731" name="Google Shape;1731;g3a6c7b9e349_0_525"/>
          <p:cNvSpPr/>
          <p:nvPr/>
        </p:nvSpPr>
        <p:spPr>
          <a:xfrm>
            <a:off x="4037705" y="115735"/>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32" name="Google Shape;1732;g3a6c7b9e349_0_52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733" name="Google Shape;1733;g3a6c7b9e349_0_525"/>
          <p:cNvPicPr preferRelativeResize="0"/>
          <p:nvPr/>
        </p:nvPicPr>
        <p:blipFill rotWithShape="1">
          <a:blip r:embed="rId6">
            <a:alphaModFix/>
          </a:blip>
          <a:srcRect/>
          <a:stretch/>
        </p:blipFill>
        <p:spPr>
          <a:xfrm>
            <a:off x="3839748" y="1991159"/>
            <a:ext cx="1923500" cy="995858"/>
          </a:xfrm>
          <a:prstGeom prst="rect">
            <a:avLst/>
          </a:prstGeom>
          <a:noFill/>
          <a:ln>
            <a:noFill/>
          </a:ln>
        </p:spPr>
      </p:pic>
      <p:cxnSp>
        <p:nvCxnSpPr>
          <p:cNvPr id="1734" name="Google Shape;1734;g3a6c7b9e349_0_52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735" name="Google Shape;1735;g3a6c7b9e349_0_52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736" name="Google Shape;1736;g3a6c7b9e349_0_52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737" name="Google Shape;1737;g3a6c7b9e349_0_52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738" name="Google Shape;1738;g3a6c7b9e349_0_52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739" name="Google Shape;1739;g3a6c7b9e349_0_52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740" name="Google Shape;1740;g3a6c7b9e349_0_525"/>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1741" name="Google Shape;1741;g3a6c7b9e349_0_525"/>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1742" name="Google Shape;1742;g3a6c7b9e349_0_525"/>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1743" name="Google Shape;1743;g3a6c7b9e349_0_525"/>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1744" name="Google Shape;1744;g3a6c7b9e349_0_525"/>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1745" name="Google Shape;1745;g3a6c7b9e349_0_525"/>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1746" name="Google Shape;1746;g3a6c7b9e349_0_525"/>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747" name="Google Shape;1747;g3a6c7b9e349_0_525"/>
          <p:cNvSpPr txBox="1"/>
          <p:nvPr/>
        </p:nvSpPr>
        <p:spPr>
          <a:xfrm>
            <a:off x="3130550" y="2786200"/>
            <a:ext cx="2596800" cy="3231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Assume deterministic Target policy. Hence </a:t>
            </a:r>
            <a:r>
              <a:rPr lang="en-US" sz="600" b="1" i="0" u="none" strike="noStrike" cap="none">
                <a:solidFill>
                  <a:srgbClr val="000000"/>
                </a:solidFill>
                <a:latin typeface="Arial"/>
                <a:ea typeface="Arial"/>
                <a:cs typeface="Arial"/>
                <a:sym typeface="Arial"/>
              </a:rPr>
              <a:t>π(A</a:t>
            </a:r>
            <a:r>
              <a:rPr lang="en-US" sz="600" b="1" i="0" u="none" strike="noStrike" cap="none" baseline="-25000">
                <a:solidFill>
                  <a:srgbClr val="000000"/>
                </a:solidFill>
                <a:latin typeface="Arial"/>
                <a:ea typeface="Arial"/>
                <a:cs typeface="Arial"/>
                <a:sym typeface="Arial"/>
              </a:rPr>
              <a:t>t </a:t>
            </a:r>
            <a:r>
              <a:rPr lang="en-US" sz="600" b="1" i="0" u="none" strike="noStrike" cap="none">
                <a:solidFill>
                  <a:srgbClr val="000000"/>
                </a:solidFill>
                <a:latin typeface="Arial"/>
                <a:ea typeface="Arial"/>
                <a:cs typeface="Arial"/>
                <a:sym typeface="Arial"/>
              </a:rPr>
              <a:t>| S</a:t>
            </a:r>
            <a:r>
              <a:rPr lang="en-US" sz="600" b="1" i="0" u="none" strike="noStrike" cap="none" baseline="-25000">
                <a:solidFill>
                  <a:srgbClr val="000000"/>
                </a:solidFill>
                <a:latin typeface="Arial"/>
                <a:ea typeface="Arial"/>
                <a:cs typeface="Arial"/>
                <a:sym typeface="Arial"/>
              </a:rPr>
              <a:t>t</a:t>
            </a:r>
            <a:r>
              <a:rPr lang="en-US" sz="600" b="1" i="0" u="none" strike="noStrike" cap="none">
                <a:solidFill>
                  <a:srgbClr val="000000"/>
                </a:solidFill>
                <a:latin typeface="Arial"/>
                <a:ea typeface="Arial"/>
                <a:cs typeface="Arial"/>
                <a:sym typeface="Arial"/>
              </a:rPr>
              <a:t>) = 1</a:t>
            </a:r>
            <a:r>
              <a:rPr lang="en-US" sz="700" b="1" i="0" u="none" strike="noStrike" cap="none">
                <a:solidFill>
                  <a:srgbClr val="1B1472"/>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But the behavior policy (b) is Stochastic as defined</a:t>
            </a:r>
            <a:endParaRPr sz="700" b="1" i="0" u="none" strike="noStrike" cap="none">
              <a:solidFill>
                <a:srgbClr val="1B1472"/>
              </a:solidFill>
              <a:latin typeface="Arial"/>
              <a:ea typeface="Arial"/>
              <a:cs typeface="Arial"/>
              <a:sym typeface="Arial"/>
            </a:endParaRPr>
          </a:p>
        </p:txBody>
      </p:sp>
      <p:pic>
        <p:nvPicPr>
          <p:cNvPr id="1748" name="Google Shape;1748;g3a6c7b9e349_0_525"/>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1749" name="Google Shape;1749;g3a6c7b9e349_0_525"/>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1750" name="Google Shape;1750;g3a6c7b9e349_0_525"/>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
        <p:nvSpPr>
          <p:cNvPr id="1751" name="Google Shape;1751;g3a6c7b9e349_0_525"/>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sp>
        <p:nvSpPr>
          <p:cNvPr id="1752" name="Google Shape;1752;g3a6c7b9e349_0_525"/>
          <p:cNvSpPr/>
          <p:nvPr/>
        </p:nvSpPr>
        <p:spPr>
          <a:xfrm rot="397778">
            <a:off x="3649569" y="1072585"/>
            <a:ext cx="775428" cy="1772934"/>
          </a:xfrm>
          <a:custGeom>
            <a:avLst/>
            <a:gdLst/>
            <a:ahLst/>
            <a:cxnLst/>
            <a:rect l="l" t="t" r="r" b="b"/>
            <a:pathLst>
              <a:path w="675652" h="2215162" extrusionOk="0">
                <a:moveTo>
                  <a:pt x="675652" y="2148613"/>
                </a:moveTo>
                <a:cubicBezTo>
                  <a:pt x="372968" y="2225342"/>
                  <a:pt x="70285" y="2302071"/>
                  <a:pt x="8902" y="1970813"/>
                </a:cubicBezTo>
                <a:cubicBezTo>
                  <a:pt x="-52481" y="1639555"/>
                  <a:pt x="220569" y="476446"/>
                  <a:pt x="307352" y="161063"/>
                </a:cubicBezTo>
                <a:cubicBezTo>
                  <a:pt x="394135" y="-154320"/>
                  <a:pt x="492560" y="93330"/>
                  <a:pt x="529602" y="78513"/>
                </a:cubicBezTo>
                <a:cubicBezTo>
                  <a:pt x="566644" y="63696"/>
                  <a:pt x="548123" y="67929"/>
                  <a:pt x="529602" y="72163"/>
                </a:cubicBezTo>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56"/>
        <p:cNvGrpSpPr/>
        <p:nvPr/>
      </p:nvGrpSpPr>
      <p:grpSpPr>
        <a:xfrm>
          <a:off x="0" y="0"/>
          <a:ext cx="0" cy="0"/>
          <a:chOff x="0" y="0"/>
          <a:chExt cx="0" cy="0"/>
        </a:xfrm>
      </p:grpSpPr>
      <p:pic>
        <p:nvPicPr>
          <p:cNvPr id="1757" name="Google Shape;1757;g3a6c7b9e349_0_565"/>
          <p:cNvPicPr preferRelativeResize="0"/>
          <p:nvPr/>
        </p:nvPicPr>
        <p:blipFill rotWithShape="1">
          <a:blip r:embed="rId3">
            <a:alphaModFix/>
          </a:blip>
          <a:srcRect/>
          <a:stretch/>
        </p:blipFill>
        <p:spPr>
          <a:xfrm>
            <a:off x="4208286" y="-21386"/>
            <a:ext cx="1536015" cy="1262904"/>
          </a:xfrm>
          <a:prstGeom prst="rect">
            <a:avLst/>
          </a:prstGeom>
          <a:noFill/>
          <a:ln>
            <a:noFill/>
          </a:ln>
        </p:spPr>
      </p:pic>
      <p:sp>
        <p:nvSpPr>
          <p:cNvPr id="1758" name="Google Shape;1758;g3a6c7b9e349_0_56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759" name="Google Shape;1759;g3a6c7b9e349_0_56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60" name="Google Shape;1760;g3a6c7b9e349_0_565"/>
          <p:cNvGrpSpPr/>
          <p:nvPr/>
        </p:nvGrpSpPr>
        <p:grpSpPr>
          <a:xfrm>
            <a:off x="0" y="3109250"/>
            <a:ext cx="5760261" cy="92075"/>
            <a:chOff x="0" y="3109250"/>
            <a:chExt cx="5760261" cy="92075"/>
          </a:xfrm>
        </p:grpSpPr>
        <p:sp>
          <p:nvSpPr>
            <p:cNvPr id="1761" name="Google Shape;1761;g3a6c7b9e349_0_56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2" name="Google Shape;1762;g3a6c7b9e349_0_56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3" name="Google Shape;1763;g3a6c7b9e349_0_56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64" name="Google Shape;1764;g3a6c7b9e349_0_56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765" name="Google Shape;1765;g3a6c7b9e349_0_56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45</a:t>
            </a:fld>
            <a:r>
              <a:rPr lang="en-US"/>
              <a:t> </a:t>
            </a:r>
            <a:endParaRPr/>
          </a:p>
        </p:txBody>
      </p:sp>
      <p:pic>
        <p:nvPicPr>
          <p:cNvPr id="1766" name="Google Shape;1766;g3a6c7b9e349_0_565"/>
          <p:cNvPicPr preferRelativeResize="0"/>
          <p:nvPr/>
        </p:nvPicPr>
        <p:blipFill rotWithShape="1">
          <a:blip r:embed="rId4">
            <a:alphaModFix/>
          </a:blip>
          <a:srcRect/>
          <a:stretch/>
        </p:blipFill>
        <p:spPr>
          <a:xfrm>
            <a:off x="485263" y="408737"/>
            <a:ext cx="253340" cy="263412"/>
          </a:xfrm>
          <a:prstGeom prst="rect">
            <a:avLst/>
          </a:prstGeom>
          <a:noFill/>
          <a:ln>
            <a:noFill/>
          </a:ln>
        </p:spPr>
      </p:pic>
      <p:pic>
        <p:nvPicPr>
          <p:cNvPr id="1767" name="Google Shape;1767;g3a6c7b9e349_0_565"/>
          <p:cNvPicPr preferRelativeResize="0"/>
          <p:nvPr/>
        </p:nvPicPr>
        <p:blipFill rotWithShape="1">
          <a:blip r:embed="rId5">
            <a:alphaModFix/>
          </a:blip>
          <a:srcRect/>
          <a:stretch/>
        </p:blipFill>
        <p:spPr>
          <a:xfrm>
            <a:off x="1742348" y="375332"/>
            <a:ext cx="268790" cy="301041"/>
          </a:xfrm>
          <a:prstGeom prst="rect">
            <a:avLst/>
          </a:prstGeom>
          <a:noFill/>
          <a:ln>
            <a:noFill/>
          </a:ln>
        </p:spPr>
      </p:pic>
      <p:pic>
        <p:nvPicPr>
          <p:cNvPr id="1768" name="Google Shape;1768;g3a6c7b9e349_0_565"/>
          <p:cNvPicPr preferRelativeResize="0"/>
          <p:nvPr/>
        </p:nvPicPr>
        <p:blipFill rotWithShape="1">
          <a:blip r:embed="rId6">
            <a:alphaModFix/>
          </a:blip>
          <a:srcRect/>
          <a:stretch/>
        </p:blipFill>
        <p:spPr>
          <a:xfrm>
            <a:off x="1139997" y="415805"/>
            <a:ext cx="276927" cy="275955"/>
          </a:xfrm>
          <a:prstGeom prst="rect">
            <a:avLst/>
          </a:prstGeom>
          <a:noFill/>
          <a:ln>
            <a:noFill/>
          </a:ln>
        </p:spPr>
      </p:pic>
      <p:sp>
        <p:nvSpPr>
          <p:cNvPr id="1769" name="Google Shape;1769;g3a6c7b9e349_0_56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770" name="Google Shape;1770;g3a6c7b9e349_0_56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771" name="Google Shape;1771;g3a6c7b9e349_0_56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772" name="Google Shape;1772;g3a6c7b9e349_0_56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773" name="Google Shape;1773;g3a6c7b9e349_0_565"/>
          <p:cNvSpPr/>
          <p:nvPr/>
        </p:nvSpPr>
        <p:spPr>
          <a:xfrm>
            <a:off x="4046663" y="122634"/>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74" name="Google Shape;1774;g3a6c7b9e349_0_56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775" name="Google Shape;1775;g3a6c7b9e349_0_565"/>
          <p:cNvPicPr preferRelativeResize="0"/>
          <p:nvPr/>
        </p:nvPicPr>
        <p:blipFill rotWithShape="1">
          <a:blip r:embed="rId7">
            <a:alphaModFix/>
          </a:blip>
          <a:srcRect/>
          <a:stretch/>
        </p:blipFill>
        <p:spPr>
          <a:xfrm>
            <a:off x="3839748" y="1991159"/>
            <a:ext cx="1923500" cy="995858"/>
          </a:xfrm>
          <a:prstGeom prst="rect">
            <a:avLst/>
          </a:prstGeom>
          <a:noFill/>
          <a:ln>
            <a:noFill/>
          </a:ln>
        </p:spPr>
      </p:pic>
      <p:sp>
        <p:nvSpPr>
          <p:cNvPr id="1776" name="Google Shape;1776;g3a6c7b9e349_0_565"/>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US" sz="700" b="1" i="0" u="none" strike="noStrike" cap="none">
                <a:solidFill>
                  <a:srgbClr val="1B1472"/>
                </a:solidFill>
                <a:latin typeface="Arial"/>
                <a:ea typeface="Arial"/>
                <a:cs typeface="Arial"/>
                <a:sym typeface="Arial"/>
              </a:rPr>
              <a:t>Every Visit Policy Evaluation</a:t>
            </a:r>
            <a:endParaRPr sz="700" b="1" i="0" u="none" strike="noStrike" cap="none">
              <a:solidFill>
                <a:srgbClr val="1B1472"/>
              </a:solidFill>
              <a:latin typeface="Arial"/>
              <a:ea typeface="Arial"/>
              <a:cs typeface="Arial"/>
              <a:sym typeface="Arial"/>
            </a:endParaRPr>
          </a:p>
        </p:txBody>
      </p:sp>
      <p:sp>
        <p:nvSpPr>
          <p:cNvPr id="1777" name="Google Shape;1777;g3a6c7b9e349_0_565"/>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cxnSp>
        <p:nvCxnSpPr>
          <p:cNvPr id="1778" name="Google Shape;1778;g3a6c7b9e349_0_56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779" name="Google Shape;1779;g3a6c7b9e349_0_56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780" name="Google Shape;1780;g3a6c7b9e349_0_56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781" name="Google Shape;1781;g3a6c7b9e349_0_56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782" name="Google Shape;1782;g3a6c7b9e349_0_56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783" name="Google Shape;1783;g3a6c7b9e349_0_56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784" name="Google Shape;1784;g3a6c7b9e349_0_565"/>
          <p:cNvPicPr preferRelativeResize="0"/>
          <p:nvPr/>
        </p:nvPicPr>
        <p:blipFill rotWithShape="1">
          <a:blip r:embed="rId8">
            <a:alphaModFix/>
          </a:blip>
          <a:srcRect/>
          <a:stretch/>
        </p:blipFill>
        <p:spPr>
          <a:xfrm>
            <a:off x="325079" y="652004"/>
            <a:ext cx="247568" cy="107156"/>
          </a:xfrm>
          <a:prstGeom prst="rect">
            <a:avLst/>
          </a:prstGeom>
          <a:noFill/>
          <a:ln>
            <a:noFill/>
          </a:ln>
        </p:spPr>
      </p:pic>
      <p:pic>
        <p:nvPicPr>
          <p:cNvPr id="1785" name="Google Shape;1785;g3a6c7b9e349_0_565"/>
          <p:cNvPicPr preferRelativeResize="0"/>
          <p:nvPr/>
        </p:nvPicPr>
        <p:blipFill rotWithShape="1">
          <a:blip r:embed="rId9">
            <a:alphaModFix/>
          </a:blip>
          <a:srcRect/>
          <a:stretch/>
        </p:blipFill>
        <p:spPr>
          <a:xfrm>
            <a:off x="660303" y="649609"/>
            <a:ext cx="249913" cy="117267"/>
          </a:xfrm>
          <a:prstGeom prst="rect">
            <a:avLst/>
          </a:prstGeom>
          <a:noFill/>
          <a:ln>
            <a:noFill/>
          </a:ln>
        </p:spPr>
      </p:pic>
      <p:pic>
        <p:nvPicPr>
          <p:cNvPr id="1786" name="Google Shape;1786;g3a6c7b9e349_0_565"/>
          <p:cNvPicPr preferRelativeResize="0"/>
          <p:nvPr/>
        </p:nvPicPr>
        <p:blipFill rotWithShape="1">
          <a:blip r:embed="rId8">
            <a:alphaModFix/>
          </a:blip>
          <a:srcRect/>
          <a:stretch/>
        </p:blipFill>
        <p:spPr>
          <a:xfrm>
            <a:off x="967808" y="638754"/>
            <a:ext cx="247568" cy="107156"/>
          </a:xfrm>
          <a:prstGeom prst="rect">
            <a:avLst/>
          </a:prstGeom>
          <a:noFill/>
          <a:ln>
            <a:noFill/>
          </a:ln>
        </p:spPr>
      </p:pic>
      <p:pic>
        <p:nvPicPr>
          <p:cNvPr id="1787" name="Google Shape;1787;g3a6c7b9e349_0_565"/>
          <p:cNvPicPr preferRelativeResize="0"/>
          <p:nvPr/>
        </p:nvPicPr>
        <p:blipFill rotWithShape="1">
          <a:blip r:embed="rId9">
            <a:alphaModFix/>
          </a:blip>
          <a:srcRect/>
          <a:stretch/>
        </p:blipFill>
        <p:spPr>
          <a:xfrm>
            <a:off x="1303032" y="636359"/>
            <a:ext cx="249913" cy="117267"/>
          </a:xfrm>
          <a:prstGeom prst="rect">
            <a:avLst/>
          </a:prstGeom>
          <a:noFill/>
          <a:ln>
            <a:noFill/>
          </a:ln>
        </p:spPr>
      </p:pic>
      <p:pic>
        <p:nvPicPr>
          <p:cNvPr id="1788" name="Google Shape;1788;g3a6c7b9e349_0_565"/>
          <p:cNvPicPr preferRelativeResize="0"/>
          <p:nvPr/>
        </p:nvPicPr>
        <p:blipFill rotWithShape="1">
          <a:blip r:embed="rId8">
            <a:alphaModFix/>
          </a:blip>
          <a:srcRect/>
          <a:stretch/>
        </p:blipFill>
        <p:spPr>
          <a:xfrm>
            <a:off x="1577402" y="638755"/>
            <a:ext cx="247568" cy="107156"/>
          </a:xfrm>
          <a:prstGeom prst="rect">
            <a:avLst/>
          </a:prstGeom>
          <a:noFill/>
          <a:ln>
            <a:noFill/>
          </a:ln>
        </p:spPr>
      </p:pic>
      <p:pic>
        <p:nvPicPr>
          <p:cNvPr id="1789" name="Google Shape;1789;g3a6c7b9e349_0_565"/>
          <p:cNvPicPr preferRelativeResize="0"/>
          <p:nvPr/>
        </p:nvPicPr>
        <p:blipFill rotWithShape="1">
          <a:blip r:embed="rId9">
            <a:alphaModFix/>
          </a:blip>
          <a:srcRect/>
          <a:stretch/>
        </p:blipFill>
        <p:spPr>
          <a:xfrm>
            <a:off x="1912626" y="636360"/>
            <a:ext cx="249913" cy="117267"/>
          </a:xfrm>
          <a:prstGeom prst="rect">
            <a:avLst/>
          </a:prstGeom>
          <a:noFill/>
          <a:ln>
            <a:noFill/>
          </a:ln>
        </p:spPr>
      </p:pic>
      <p:graphicFrame>
        <p:nvGraphicFramePr>
          <p:cNvPr id="1790" name="Google Shape;1790;g3a6c7b9e349_0_565"/>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791" name="Google Shape;1791;g3a6c7b9e349_0_565"/>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sp>
        <p:nvSpPr>
          <p:cNvPr id="1792" name="Google Shape;1792;g3a6c7b9e349_0_565"/>
          <p:cNvSpPr/>
          <p:nvPr/>
        </p:nvSpPr>
        <p:spPr>
          <a:xfrm rot="180767">
            <a:off x="3624346" y="762100"/>
            <a:ext cx="674896" cy="2190562"/>
          </a:xfrm>
          <a:custGeom>
            <a:avLst/>
            <a:gdLst/>
            <a:ahLst/>
            <a:cxnLst/>
            <a:rect l="l" t="t" r="r" b="b"/>
            <a:pathLst>
              <a:path w="675652" h="2215162" extrusionOk="0">
                <a:moveTo>
                  <a:pt x="675652" y="2148613"/>
                </a:moveTo>
                <a:cubicBezTo>
                  <a:pt x="372968" y="2225342"/>
                  <a:pt x="70285" y="2302071"/>
                  <a:pt x="8902" y="1970813"/>
                </a:cubicBezTo>
                <a:cubicBezTo>
                  <a:pt x="-52481" y="1639555"/>
                  <a:pt x="220569" y="476446"/>
                  <a:pt x="307352" y="161063"/>
                </a:cubicBezTo>
                <a:cubicBezTo>
                  <a:pt x="394135" y="-154320"/>
                  <a:pt x="492560" y="93330"/>
                  <a:pt x="529602" y="78513"/>
                </a:cubicBezTo>
                <a:cubicBezTo>
                  <a:pt x="566644" y="63696"/>
                  <a:pt x="548123" y="67929"/>
                  <a:pt x="529602" y="72163"/>
                </a:cubicBezTo>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aphicFrame>
        <p:nvGraphicFramePr>
          <p:cNvPr id="1793" name="Google Shape;1793;g3a6c7b9e349_0_565"/>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58950">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794" name="Google Shape;1794;g3a6c7b9e349_0_565"/>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795" name="Google Shape;1795;g3a6c7b9e349_0_565"/>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796" name="Google Shape;1796;g3a6c7b9e349_0_565"/>
          <p:cNvSpPr/>
          <p:nvPr/>
        </p:nvSpPr>
        <p:spPr>
          <a:xfrm>
            <a:off x="9200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797" name="Google Shape;1797;g3a6c7b9e349_0_565"/>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01"/>
        <p:cNvGrpSpPr/>
        <p:nvPr/>
      </p:nvGrpSpPr>
      <p:grpSpPr>
        <a:xfrm>
          <a:off x="0" y="0"/>
          <a:ext cx="0" cy="0"/>
          <a:chOff x="0" y="0"/>
          <a:chExt cx="0" cy="0"/>
        </a:xfrm>
      </p:grpSpPr>
      <p:sp>
        <p:nvSpPr>
          <p:cNvPr id="1802" name="Google Shape;1802;g3a6c7b9e349_0_609"/>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803" name="Google Shape;1803;g3a6c7b9e349_0_609"/>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04" name="Google Shape;1804;g3a6c7b9e349_0_609"/>
          <p:cNvGrpSpPr/>
          <p:nvPr/>
        </p:nvGrpSpPr>
        <p:grpSpPr>
          <a:xfrm>
            <a:off x="0" y="3109250"/>
            <a:ext cx="5760261" cy="92075"/>
            <a:chOff x="0" y="3109250"/>
            <a:chExt cx="5760261" cy="92075"/>
          </a:xfrm>
        </p:grpSpPr>
        <p:sp>
          <p:nvSpPr>
            <p:cNvPr id="1805" name="Google Shape;1805;g3a6c7b9e349_0_60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6" name="Google Shape;1806;g3a6c7b9e349_0_60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7" name="Google Shape;1807;g3a6c7b9e349_0_60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08" name="Google Shape;1808;g3a6c7b9e349_0_609"/>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809" name="Google Shape;1809;g3a6c7b9e349_0_60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46</a:t>
            </a:fld>
            <a:r>
              <a:rPr lang="en-US"/>
              <a:t> </a:t>
            </a:r>
            <a:endParaRPr/>
          </a:p>
        </p:txBody>
      </p:sp>
      <p:pic>
        <p:nvPicPr>
          <p:cNvPr id="1810" name="Google Shape;1810;g3a6c7b9e349_0_609"/>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811" name="Google Shape;1811;g3a6c7b9e349_0_609"/>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812" name="Google Shape;1812;g3a6c7b9e349_0_609"/>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813" name="Google Shape;1813;g3a6c7b9e349_0_609"/>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814" name="Google Shape;1814;g3a6c7b9e349_0_609"/>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815" name="Google Shape;1815;g3a6c7b9e349_0_609"/>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816" name="Google Shape;1816;g3a6c7b9e349_0_609"/>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817" name="Google Shape;1817;g3a6c7b9e349_0_609"/>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818" name="Google Shape;1818;g3a6c7b9e349_0_609"/>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819" name="Google Shape;1819;g3a6c7b9e349_0_609"/>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First Visit Policy Evaluation</a:t>
            </a:r>
            <a:endParaRPr sz="750" b="1" i="0" u="none" strike="noStrike" cap="none">
              <a:solidFill>
                <a:srgbClr val="1B1472"/>
              </a:solidFill>
              <a:latin typeface="Arial"/>
              <a:ea typeface="Arial"/>
              <a:cs typeface="Arial"/>
              <a:sym typeface="Arial"/>
            </a:endParaRPr>
          </a:p>
        </p:txBody>
      </p:sp>
      <p:cxnSp>
        <p:nvCxnSpPr>
          <p:cNvPr id="1820" name="Google Shape;1820;g3a6c7b9e349_0_609"/>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821" name="Google Shape;1821;g3a6c7b9e349_0_609"/>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822" name="Google Shape;1822;g3a6c7b9e349_0_609"/>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823" name="Google Shape;1823;g3a6c7b9e349_0_609"/>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824" name="Google Shape;1824;g3a6c7b9e349_0_609"/>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825" name="Google Shape;1825;g3a6c7b9e349_0_609"/>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826" name="Google Shape;1826;g3a6c7b9e349_0_609"/>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1827" name="Google Shape;1827;g3a6c7b9e349_0_609"/>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1828" name="Google Shape;1828;g3a6c7b9e349_0_609"/>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1829" name="Google Shape;1829;g3a6c7b9e349_0_609"/>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1830" name="Google Shape;1830;g3a6c7b9e349_0_609"/>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1831" name="Google Shape;1831;g3a6c7b9e349_0_609"/>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1832" name="Google Shape;1832;g3a6c7b9e349_0_609"/>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833" name="Google Shape;1833;g3a6c7b9e349_0_609"/>
          <p:cNvSpPr txBox="1"/>
          <p:nvPr/>
        </p:nvSpPr>
        <p:spPr>
          <a:xfrm>
            <a:off x="82600" y="1717926"/>
            <a:ext cx="2793000" cy="657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1834" name="Google Shape;1834;g3a6c7b9e349_0_609"/>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1835" name="Google Shape;1835;g3a6c7b9e349_0_609"/>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1836" name="Google Shape;1836;g3a6c7b9e349_0_609"/>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1837" name="Google Shape;1837;g3a6c7b9e349_0_609"/>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58950">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838" name="Google Shape;1838;g3a6c7b9e349_0_609"/>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839" name="Google Shape;1839;g3a6c7b9e349_0_609"/>
          <p:cNvSpPr/>
          <p:nvPr/>
        </p:nvSpPr>
        <p:spPr>
          <a:xfrm>
            <a:off x="4046663" y="579834"/>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40" name="Google Shape;1840;g3a6c7b9e349_0_609"/>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841" name="Google Shape;1841;g3a6c7b9e349_0_609"/>
          <p:cNvSpPr/>
          <p:nvPr/>
        </p:nvSpPr>
        <p:spPr>
          <a:xfrm>
            <a:off x="9200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842" name="Google Shape;1842;g3a6c7b9e349_0_609"/>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846"/>
        <p:cNvGrpSpPr/>
        <p:nvPr/>
      </p:nvGrpSpPr>
      <p:grpSpPr>
        <a:xfrm>
          <a:off x="0" y="0"/>
          <a:ext cx="0" cy="0"/>
          <a:chOff x="0" y="0"/>
          <a:chExt cx="0" cy="0"/>
        </a:xfrm>
      </p:grpSpPr>
      <p:sp>
        <p:nvSpPr>
          <p:cNvPr id="1847" name="Google Shape;1847;g3a6c7b9e349_0_65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848" name="Google Shape;1848;g3a6c7b9e349_0_65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49" name="Google Shape;1849;g3a6c7b9e349_0_653"/>
          <p:cNvGrpSpPr/>
          <p:nvPr/>
        </p:nvGrpSpPr>
        <p:grpSpPr>
          <a:xfrm>
            <a:off x="0" y="3109250"/>
            <a:ext cx="5760261" cy="92075"/>
            <a:chOff x="0" y="3109250"/>
            <a:chExt cx="5760261" cy="92075"/>
          </a:xfrm>
        </p:grpSpPr>
        <p:sp>
          <p:nvSpPr>
            <p:cNvPr id="1850" name="Google Shape;1850;g3a6c7b9e349_0_65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1" name="Google Shape;1851;g3a6c7b9e349_0_65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2" name="Google Shape;1852;g3a6c7b9e349_0_65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53" name="Google Shape;1853;g3a6c7b9e349_0_65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854" name="Google Shape;1854;g3a6c7b9e349_0_65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47</a:t>
            </a:fld>
            <a:r>
              <a:rPr lang="en-US"/>
              <a:t> </a:t>
            </a:r>
            <a:endParaRPr/>
          </a:p>
        </p:txBody>
      </p:sp>
      <p:pic>
        <p:nvPicPr>
          <p:cNvPr id="1855" name="Google Shape;1855;g3a6c7b9e349_0_653"/>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856" name="Google Shape;1856;g3a6c7b9e349_0_653"/>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857" name="Google Shape;1857;g3a6c7b9e349_0_653"/>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858" name="Google Shape;1858;g3a6c7b9e349_0_65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859" name="Google Shape;1859;g3a6c7b9e349_0_65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860" name="Google Shape;1860;g3a6c7b9e349_0_65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861" name="Google Shape;1861;g3a6c7b9e349_0_65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862" name="Google Shape;1862;g3a6c7b9e349_0_65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863" name="Google Shape;1863;g3a6c7b9e349_0_653"/>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864" name="Google Shape;1864;g3a6c7b9e349_0_653"/>
          <p:cNvSpPr txBox="1"/>
          <p:nvPr/>
        </p:nvSpPr>
        <p:spPr>
          <a:xfrm>
            <a:off x="4256235" y="2786200"/>
            <a:ext cx="14712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First Visit Policy Evaluation</a:t>
            </a:r>
            <a:endParaRPr sz="750" b="1" i="0" u="none" strike="noStrike" cap="none">
              <a:solidFill>
                <a:srgbClr val="1B1472"/>
              </a:solidFill>
              <a:latin typeface="Arial"/>
              <a:ea typeface="Arial"/>
              <a:cs typeface="Arial"/>
              <a:sym typeface="Arial"/>
            </a:endParaRPr>
          </a:p>
        </p:txBody>
      </p:sp>
      <p:cxnSp>
        <p:nvCxnSpPr>
          <p:cNvPr id="1865" name="Google Shape;1865;g3a6c7b9e349_0_65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866" name="Google Shape;1866;g3a6c7b9e349_0_65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867" name="Google Shape;1867;g3a6c7b9e349_0_65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868" name="Google Shape;1868;g3a6c7b9e349_0_65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869" name="Google Shape;1869;g3a6c7b9e349_0_65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870" name="Google Shape;1870;g3a6c7b9e349_0_65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871" name="Google Shape;1871;g3a6c7b9e349_0_653"/>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1872" name="Google Shape;1872;g3a6c7b9e349_0_653"/>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1873" name="Google Shape;1873;g3a6c7b9e349_0_653"/>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1874" name="Google Shape;1874;g3a6c7b9e349_0_653"/>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1875" name="Google Shape;1875;g3a6c7b9e349_0_653"/>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1876" name="Google Shape;1876;g3a6c7b9e349_0_653"/>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1877" name="Google Shape;1877;g3a6c7b9e349_0_653"/>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878" name="Google Shape;1878;g3a6c7b9e349_0_653"/>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1879" name="Google Shape;1879;g3a6c7b9e349_0_653"/>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1880" name="Google Shape;1880;g3a6c7b9e349_0_653"/>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1881" name="Google Shape;1881;g3a6c7b9e349_0_653"/>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1882" name="Google Shape;1882;g3a6c7b9e349_0_653"/>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58950">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3</a:t>
                      </a:r>
                      <a:endParaRPr sz="600"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883" name="Google Shape;1883;g3a6c7b9e349_0_653"/>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884" name="Google Shape;1884;g3a6c7b9e349_0_653"/>
          <p:cNvSpPr/>
          <p:nvPr/>
        </p:nvSpPr>
        <p:spPr>
          <a:xfrm>
            <a:off x="4026096" y="7716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85" name="Google Shape;1885;g3a6c7b9e349_0_653"/>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886" name="Google Shape;1886;g3a6c7b9e349_0_653"/>
          <p:cNvSpPr/>
          <p:nvPr/>
        </p:nvSpPr>
        <p:spPr>
          <a:xfrm>
            <a:off x="9200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887" name="Google Shape;1887;g3a6c7b9e349_0_653"/>
          <p:cNvSpPr/>
          <p:nvPr/>
        </p:nvSpPr>
        <p:spPr>
          <a:xfrm>
            <a:off x="152400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88" name="Google Shape;1888;g3a6c7b9e349_0_653"/>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92"/>
        <p:cNvGrpSpPr/>
        <p:nvPr/>
      </p:nvGrpSpPr>
      <p:grpSpPr>
        <a:xfrm>
          <a:off x="0" y="0"/>
          <a:ext cx="0" cy="0"/>
          <a:chOff x="0" y="0"/>
          <a:chExt cx="0" cy="0"/>
        </a:xfrm>
      </p:grpSpPr>
      <p:sp>
        <p:nvSpPr>
          <p:cNvPr id="1893" name="Google Shape;1893;g3a6c7b9e349_0_698"/>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894" name="Google Shape;1894;g3a6c7b9e349_0_698"/>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95" name="Google Shape;1895;g3a6c7b9e349_0_698"/>
          <p:cNvGrpSpPr/>
          <p:nvPr/>
        </p:nvGrpSpPr>
        <p:grpSpPr>
          <a:xfrm>
            <a:off x="0" y="3109250"/>
            <a:ext cx="5760261" cy="92075"/>
            <a:chOff x="0" y="3109250"/>
            <a:chExt cx="5760261" cy="92075"/>
          </a:xfrm>
        </p:grpSpPr>
        <p:sp>
          <p:nvSpPr>
            <p:cNvPr id="1896" name="Google Shape;1896;g3a6c7b9e349_0_69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7" name="Google Shape;1897;g3a6c7b9e349_0_69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8" name="Google Shape;1898;g3a6c7b9e349_0_69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99" name="Google Shape;1899;g3a6c7b9e349_0_698"/>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900" name="Google Shape;1900;g3a6c7b9e349_0_69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48</a:t>
            </a:fld>
            <a:endParaRPr/>
          </a:p>
        </p:txBody>
      </p:sp>
      <p:pic>
        <p:nvPicPr>
          <p:cNvPr id="1901" name="Google Shape;1901;g3a6c7b9e349_0_698"/>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902" name="Google Shape;1902;g3a6c7b9e349_0_698"/>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903" name="Google Shape;1903;g3a6c7b9e349_0_698"/>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904" name="Google Shape;1904;g3a6c7b9e349_0_698"/>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05" name="Google Shape;1905;g3a6c7b9e349_0_698"/>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06" name="Google Shape;1906;g3a6c7b9e349_0_698"/>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07" name="Google Shape;1907;g3a6c7b9e349_0_698"/>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1908" name="Google Shape;1908;g3a6c7b9e349_0_698"/>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909" name="Google Shape;1909;g3a6c7b9e349_0_698"/>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910" name="Google Shape;1910;g3a6c7b9e349_0_698"/>
          <p:cNvSpPr txBox="1"/>
          <p:nvPr/>
        </p:nvSpPr>
        <p:spPr>
          <a:xfrm>
            <a:off x="3168650" y="2786200"/>
            <a:ext cx="25587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Compute Return &amp; Update the Count for Averaging</a:t>
            </a:r>
            <a:endParaRPr sz="750" b="1" i="0" u="none" strike="noStrike" cap="none">
              <a:solidFill>
                <a:srgbClr val="1B1472"/>
              </a:solidFill>
              <a:latin typeface="Arial"/>
              <a:ea typeface="Arial"/>
              <a:cs typeface="Arial"/>
              <a:sym typeface="Arial"/>
            </a:endParaRPr>
          </a:p>
        </p:txBody>
      </p:sp>
      <p:cxnSp>
        <p:nvCxnSpPr>
          <p:cNvPr id="1911" name="Google Shape;1911;g3a6c7b9e349_0_698"/>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912" name="Google Shape;1912;g3a6c7b9e349_0_698"/>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913" name="Google Shape;1913;g3a6c7b9e349_0_698"/>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914" name="Google Shape;1914;g3a6c7b9e349_0_698"/>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915" name="Google Shape;1915;g3a6c7b9e349_0_698"/>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916" name="Google Shape;1916;g3a6c7b9e349_0_698"/>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917" name="Google Shape;1917;g3a6c7b9e349_0_698"/>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1918" name="Google Shape;1918;g3a6c7b9e349_0_698"/>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1919" name="Google Shape;1919;g3a6c7b9e349_0_698"/>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1920" name="Google Shape;1920;g3a6c7b9e349_0_698"/>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1921" name="Google Shape;1921;g3a6c7b9e349_0_698"/>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1922" name="Google Shape;1922;g3a6c7b9e349_0_698"/>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1923" name="Google Shape;1923;g3a6c7b9e349_0_698"/>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924" name="Google Shape;1924;g3a6c7b9e349_0_698"/>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1925" name="Google Shape;1925;g3a6c7b9e349_0_698"/>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1926" name="Google Shape;1926;g3a6c7b9e349_0_698"/>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1927" name="Google Shape;1927;g3a6c7b9e349_0_698"/>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1928" name="Google Shape;1928;g3a6c7b9e349_0_698"/>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89400">
                  <a:extLst>
                    <a:ext uri="{9D8B030D-6E8A-4147-A177-3AD203B41FA5}">
                      <a16:colId xmlns:a16="http://schemas.microsoft.com/office/drawing/2014/main" val="20000"/>
                    </a:ext>
                  </a:extLst>
                </a:gridCol>
                <a:gridCol w="29832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3</a:t>
                      </a:r>
                      <a:endParaRPr sz="600"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929" name="Google Shape;1929;g3a6c7b9e349_0_698"/>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a:t>
            </a:r>
            <a:r>
              <a:rPr lang="en-US" sz="800" b="1" i="0" u="none" strike="noStrike" cap="none">
                <a:solidFill>
                  <a:schemeClr val="dk1"/>
                </a:solidFill>
                <a:latin typeface="Calibri"/>
                <a:ea typeface="Calibri"/>
                <a:cs typeface="Calibri"/>
                <a:sym typeface="Calibri"/>
              </a:rPr>
              <a:t>1</a:t>
            </a:r>
            <a:r>
              <a:rPr lang="en-US" sz="800" b="0" i="0" u="none" strike="noStrike" cap="none">
                <a:solidFill>
                  <a:schemeClr val="dk1"/>
                </a:solidFill>
                <a:latin typeface="Calibri"/>
                <a:ea typeface="Calibri"/>
                <a:cs typeface="Calibri"/>
                <a:sym typeface="Calibri"/>
              </a:rPr>
              <a:t>	0            0             0</a:t>
            </a:r>
            <a:endParaRPr sz="300" b="0" i="0" u="none" strike="noStrike" cap="none">
              <a:solidFill>
                <a:srgbClr val="000000"/>
              </a:solidFill>
              <a:latin typeface="Arial"/>
              <a:ea typeface="Arial"/>
              <a:cs typeface="Arial"/>
              <a:sym typeface="Arial"/>
            </a:endParaRPr>
          </a:p>
        </p:txBody>
      </p:sp>
      <p:sp>
        <p:nvSpPr>
          <p:cNvPr id="1930" name="Google Shape;1930;g3a6c7b9e349_0_698"/>
          <p:cNvSpPr/>
          <p:nvPr/>
        </p:nvSpPr>
        <p:spPr>
          <a:xfrm>
            <a:off x="4026096" y="8859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31" name="Google Shape;1931;g3a6c7b9e349_0_698"/>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932" name="Google Shape;1932;g3a6c7b9e349_0_698"/>
          <p:cNvSpPr/>
          <p:nvPr/>
        </p:nvSpPr>
        <p:spPr>
          <a:xfrm>
            <a:off x="9200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933" name="Google Shape;1933;g3a6c7b9e349_0_698"/>
          <p:cNvSpPr/>
          <p:nvPr/>
        </p:nvSpPr>
        <p:spPr>
          <a:xfrm>
            <a:off x="152400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34" name="Google Shape;1934;g3a6c7b9e349_0_698"/>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38"/>
        <p:cNvGrpSpPr/>
        <p:nvPr/>
      </p:nvGrpSpPr>
      <p:grpSpPr>
        <a:xfrm>
          <a:off x="0" y="0"/>
          <a:ext cx="0" cy="0"/>
          <a:chOff x="0" y="0"/>
          <a:chExt cx="0" cy="0"/>
        </a:xfrm>
      </p:grpSpPr>
      <p:sp>
        <p:nvSpPr>
          <p:cNvPr id="1939" name="Google Shape;1939;g3a6c7b9e349_0_74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940" name="Google Shape;1940;g3a6c7b9e349_0_74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41" name="Google Shape;1941;g3a6c7b9e349_0_743"/>
          <p:cNvGrpSpPr/>
          <p:nvPr/>
        </p:nvGrpSpPr>
        <p:grpSpPr>
          <a:xfrm>
            <a:off x="0" y="3109250"/>
            <a:ext cx="5760261" cy="92075"/>
            <a:chOff x="0" y="3109250"/>
            <a:chExt cx="5760261" cy="92075"/>
          </a:xfrm>
        </p:grpSpPr>
        <p:sp>
          <p:nvSpPr>
            <p:cNvPr id="1942" name="Google Shape;1942;g3a6c7b9e349_0_74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3" name="Google Shape;1943;g3a6c7b9e349_0_74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4" name="Google Shape;1944;g3a6c7b9e349_0_74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45" name="Google Shape;1945;g3a6c7b9e349_0_74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946" name="Google Shape;1946;g3a6c7b9e349_0_74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49</a:t>
            </a:fld>
            <a:endParaRPr/>
          </a:p>
        </p:txBody>
      </p:sp>
      <p:pic>
        <p:nvPicPr>
          <p:cNvPr id="1947" name="Google Shape;1947;g3a6c7b9e349_0_743"/>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948" name="Google Shape;1948;g3a6c7b9e349_0_743"/>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949" name="Google Shape;1949;g3a6c7b9e349_0_743"/>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950" name="Google Shape;1950;g3a6c7b9e349_0_74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51" name="Google Shape;1951;g3a6c7b9e349_0_74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52" name="Google Shape;1952;g3a6c7b9e349_0_74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53" name="Google Shape;1953;g3a6c7b9e349_0_74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a:t>
            </a:r>
            <a:r>
              <a:rPr lang="en-US" sz="800" b="1" i="0" u="none" strike="noStrike" cap="none">
                <a:solidFill>
                  <a:schemeClr val="dk1"/>
                </a:solidFill>
                <a:latin typeface="Calibri"/>
                <a:ea typeface="Calibri"/>
                <a:cs typeface="Calibri"/>
                <a:sym typeface="Calibri"/>
              </a:rPr>
              <a:t>-10</a:t>
            </a:r>
            <a:r>
              <a:rPr lang="en-US" sz="800" b="0" i="0" u="none" strike="noStrike" cap="none">
                <a:solidFill>
                  <a:schemeClr val="dk1"/>
                </a:solidFill>
                <a:latin typeface="Calibri"/>
                <a:ea typeface="Calibri"/>
                <a:cs typeface="Calibri"/>
                <a:sym typeface="Calibri"/>
              </a:rPr>
              <a:t>	0            0             0</a:t>
            </a:r>
            <a:endParaRPr sz="300" b="0" i="0" u="none" strike="noStrike" cap="none">
              <a:solidFill>
                <a:srgbClr val="000000"/>
              </a:solidFill>
              <a:latin typeface="Arial"/>
              <a:ea typeface="Arial"/>
              <a:cs typeface="Arial"/>
              <a:sym typeface="Arial"/>
            </a:endParaRPr>
          </a:p>
        </p:txBody>
      </p:sp>
      <p:sp>
        <p:nvSpPr>
          <p:cNvPr id="1954" name="Google Shape;1954;g3a6c7b9e349_0_74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1955" name="Google Shape;1955;g3a6c7b9e349_0_743"/>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1956" name="Google Shape;1956;g3a6c7b9e349_0_743"/>
          <p:cNvSpPr txBox="1"/>
          <p:nvPr/>
        </p:nvSpPr>
        <p:spPr>
          <a:xfrm>
            <a:off x="572122" y="2786200"/>
            <a:ext cx="5155200" cy="3231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1B1472"/>
                </a:solidFill>
                <a:latin typeface="Arial"/>
                <a:ea typeface="Arial"/>
                <a:cs typeface="Arial"/>
                <a:sym typeface="Arial"/>
              </a:rPr>
              <a:t>Compute the action value Q(W,F) using incremental update form adapted to perform normalized weighted average based updates. This is the </a:t>
            </a:r>
            <a:r>
              <a:rPr lang="en-US" sz="600" b="1" i="0" u="none" strike="noStrike" cap="none">
                <a:solidFill>
                  <a:srgbClr val="FF0000"/>
                </a:solidFill>
                <a:latin typeface="Arial"/>
                <a:ea typeface="Arial"/>
                <a:cs typeface="Arial"/>
                <a:sym typeface="Arial"/>
              </a:rPr>
              <a:t>WEIGHTED IMPORTANCE SAMPLING METHOD, </a:t>
            </a:r>
            <a:r>
              <a:rPr lang="en-US" sz="600" b="1" i="0" u="none" strike="noStrike" cap="none">
                <a:solidFill>
                  <a:srgbClr val="002060"/>
                </a:solidFill>
                <a:latin typeface="Arial"/>
                <a:ea typeface="Arial"/>
                <a:cs typeface="Arial"/>
                <a:sym typeface="Arial"/>
              </a:rPr>
              <a:t>which bounds the variance due to the normalizing effect!</a:t>
            </a:r>
            <a:endParaRPr sz="600" b="1" i="0" u="none" strike="noStrike" cap="none">
              <a:solidFill>
                <a:srgbClr val="002060"/>
              </a:solidFill>
              <a:latin typeface="Arial"/>
              <a:ea typeface="Arial"/>
              <a:cs typeface="Arial"/>
              <a:sym typeface="Arial"/>
            </a:endParaRPr>
          </a:p>
        </p:txBody>
      </p:sp>
      <p:cxnSp>
        <p:nvCxnSpPr>
          <p:cNvPr id="1957" name="Google Shape;1957;g3a6c7b9e349_0_74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1958" name="Google Shape;1958;g3a6c7b9e349_0_74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1959" name="Google Shape;1959;g3a6c7b9e349_0_74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1960" name="Google Shape;1960;g3a6c7b9e349_0_74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1961" name="Google Shape;1961;g3a6c7b9e349_0_74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1962" name="Google Shape;1962;g3a6c7b9e349_0_74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1963" name="Google Shape;1963;g3a6c7b9e349_0_743"/>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1964" name="Google Shape;1964;g3a6c7b9e349_0_743"/>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1965" name="Google Shape;1965;g3a6c7b9e349_0_743"/>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1966" name="Google Shape;1966;g3a6c7b9e349_0_743"/>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1967" name="Google Shape;1967;g3a6c7b9e349_0_743"/>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1968" name="Google Shape;1968;g3a6c7b9e349_0_743"/>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1969" name="Google Shape;1969;g3a6c7b9e349_0_743"/>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970" name="Google Shape;1970;g3a6c7b9e349_0_743"/>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1971" name="Google Shape;1971;g3a6c7b9e349_0_743"/>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1972" name="Google Shape;1972;g3a6c7b9e349_0_743"/>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1973" name="Google Shape;1973;g3a6c7b9e349_0_743"/>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1974" name="Google Shape;1974;g3a6c7b9e349_0_743"/>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403300">
                  <a:extLst>
                    <a:ext uri="{9D8B030D-6E8A-4147-A177-3AD203B41FA5}">
                      <a16:colId xmlns:a16="http://schemas.microsoft.com/office/drawing/2014/main" val="20000"/>
                    </a:ext>
                  </a:extLst>
                </a:gridCol>
                <a:gridCol w="30897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3</a:t>
                      </a:r>
                      <a:endParaRPr sz="600"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975" name="Google Shape;1975;g3a6c7b9e349_0_743"/>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1	0            0             0</a:t>
            </a:r>
            <a:endParaRPr sz="300" b="0" i="0" u="none" strike="noStrike" cap="none">
              <a:solidFill>
                <a:srgbClr val="000000"/>
              </a:solidFill>
              <a:latin typeface="Arial"/>
              <a:ea typeface="Arial"/>
              <a:cs typeface="Arial"/>
              <a:sym typeface="Arial"/>
            </a:endParaRPr>
          </a:p>
        </p:txBody>
      </p:sp>
      <p:sp>
        <p:nvSpPr>
          <p:cNvPr id="1976" name="Google Shape;1976;g3a6c7b9e349_0_743"/>
          <p:cNvSpPr/>
          <p:nvPr/>
        </p:nvSpPr>
        <p:spPr>
          <a:xfrm>
            <a:off x="4026096" y="9367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77" name="Google Shape;1977;g3a6c7b9e349_0_743"/>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978" name="Google Shape;1978;g3a6c7b9e349_0_743"/>
          <p:cNvSpPr/>
          <p:nvPr/>
        </p:nvSpPr>
        <p:spPr>
          <a:xfrm>
            <a:off x="9200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1979" name="Google Shape;1979;g3a6c7b9e349_0_743"/>
          <p:cNvSpPr/>
          <p:nvPr/>
        </p:nvSpPr>
        <p:spPr>
          <a:xfrm>
            <a:off x="152400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80" name="Google Shape;1980;g3a6c7b9e349_0_743"/>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sp>
        <p:nvSpPr>
          <p:cNvPr id="1985" name="Google Shape;1985;g3a6c7b9e349_0_788"/>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1986" name="Google Shape;1986;g3a6c7b9e349_0_788"/>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87" name="Google Shape;1987;g3a6c7b9e349_0_788"/>
          <p:cNvGrpSpPr/>
          <p:nvPr/>
        </p:nvGrpSpPr>
        <p:grpSpPr>
          <a:xfrm>
            <a:off x="0" y="3109250"/>
            <a:ext cx="5760261" cy="92075"/>
            <a:chOff x="0" y="3109250"/>
            <a:chExt cx="5760261" cy="92075"/>
          </a:xfrm>
        </p:grpSpPr>
        <p:sp>
          <p:nvSpPr>
            <p:cNvPr id="1988" name="Google Shape;1988;g3a6c7b9e349_0_78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9" name="Google Shape;1989;g3a6c7b9e349_0_78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g3a6c7b9e349_0_78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91" name="Google Shape;1991;g3a6c7b9e349_0_788"/>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1992" name="Google Shape;1992;g3a6c7b9e349_0_78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50</a:t>
            </a:fld>
            <a:endParaRPr/>
          </a:p>
        </p:txBody>
      </p:sp>
      <p:pic>
        <p:nvPicPr>
          <p:cNvPr id="1993" name="Google Shape;1993;g3a6c7b9e349_0_788"/>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1994" name="Google Shape;1994;g3a6c7b9e349_0_788"/>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1995" name="Google Shape;1995;g3a6c7b9e349_0_788"/>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1996" name="Google Shape;1996;g3a6c7b9e349_0_788"/>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97" name="Google Shape;1997;g3a6c7b9e349_0_788"/>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98" name="Google Shape;1998;g3a6c7b9e349_0_788"/>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1999" name="Google Shape;1999;g3a6c7b9e349_0_788"/>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a:t>
            </a:r>
            <a:r>
              <a:rPr lang="en-US" sz="800" b="1" i="0" u="none" strike="noStrike" cap="none">
                <a:solidFill>
                  <a:schemeClr val="dk1"/>
                </a:solidFill>
                <a:latin typeface="Calibri"/>
                <a:ea typeface="Calibri"/>
                <a:cs typeface="Calibri"/>
                <a:sym typeface="Calibri"/>
              </a:rPr>
              <a:t>-10</a:t>
            </a:r>
            <a:r>
              <a:rPr lang="en-US" sz="800" b="0" i="0" u="none" strike="noStrike" cap="none">
                <a:solidFill>
                  <a:schemeClr val="dk1"/>
                </a:solidFill>
                <a:latin typeface="Calibri"/>
                <a:ea typeface="Calibri"/>
                <a:cs typeface="Calibri"/>
                <a:sym typeface="Calibri"/>
              </a:rPr>
              <a:t>	0            0             0</a:t>
            </a:r>
            <a:endParaRPr sz="300" b="0" i="0" u="none" strike="noStrike" cap="none">
              <a:solidFill>
                <a:srgbClr val="000000"/>
              </a:solidFill>
              <a:latin typeface="Arial"/>
              <a:ea typeface="Arial"/>
              <a:cs typeface="Arial"/>
              <a:sym typeface="Arial"/>
            </a:endParaRPr>
          </a:p>
        </p:txBody>
      </p:sp>
      <p:sp>
        <p:nvSpPr>
          <p:cNvPr id="2000" name="Google Shape;2000;g3a6c7b9e349_0_788"/>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001" name="Google Shape;2001;g3a6c7b9e349_0_788"/>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2002" name="Google Shape;2002;g3a6c7b9e349_0_788"/>
          <p:cNvSpPr txBox="1"/>
          <p:nvPr/>
        </p:nvSpPr>
        <p:spPr>
          <a:xfrm>
            <a:off x="3505200" y="2786200"/>
            <a:ext cx="2222400" cy="3231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US" sz="700" b="1" i="0" u="none" strike="noStrike" cap="none">
                <a:solidFill>
                  <a:srgbClr val="1B1472"/>
                </a:solidFill>
                <a:latin typeface="Arial"/>
                <a:ea typeface="Arial"/>
                <a:cs typeface="Arial"/>
                <a:sym typeface="Arial"/>
              </a:rPr>
              <a:t>The best action is not the currently encountered action in the sample!</a:t>
            </a:r>
            <a:endParaRPr sz="700" b="1" i="0" u="none" strike="noStrike" cap="none">
              <a:solidFill>
                <a:srgbClr val="1B1472"/>
              </a:solidFill>
              <a:latin typeface="Arial"/>
              <a:ea typeface="Arial"/>
              <a:cs typeface="Arial"/>
              <a:sym typeface="Arial"/>
            </a:endParaRPr>
          </a:p>
        </p:txBody>
      </p:sp>
      <p:cxnSp>
        <p:nvCxnSpPr>
          <p:cNvPr id="2003" name="Google Shape;2003;g3a6c7b9e349_0_788"/>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004" name="Google Shape;2004;g3a6c7b9e349_0_788"/>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005" name="Google Shape;2005;g3a6c7b9e349_0_788"/>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006" name="Google Shape;2006;g3a6c7b9e349_0_788"/>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007" name="Google Shape;2007;g3a6c7b9e349_0_788"/>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008" name="Google Shape;2008;g3a6c7b9e349_0_788"/>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009" name="Google Shape;2009;g3a6c7b9e349_0_788"/>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010" name="Google Shape;2010;g3a6c7b9e349_0_788"/>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011" name="Google Shape;2011;g3a6c7b9e349_0_788"/>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012" name="Google Shape;2012;g3a6c7b9e349_0_788"/>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013" name="Google Shape;2013;g3a6c7b9e349_0_788"/>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014" name="Google Shape;2014;g3a6c7b9e349_0_788"/>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015" name="Google Shape;2015;g3a6c7b9e349_0_788"/>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016" name="Google Shape;2016;g3a6c7b9e349_0_788"/>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017" name="Google Shape;2017;g3a6c7b9e349_0_788"/>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018" name="Google Shape;2018;g3a6c7b9e349_0_788"/>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019" name="Google Shape;2019;g3a6c7b9e349_0_788"/>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020" name="Google Shape;2020;g3a6c7b9e349_0_788"/>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420325">
                  <a:extLst>
                    <a:ext uri="{9D8B030D-6E8A-4147-A177-3AD203B41FA5}">
                      <a16:colId xmlns:a16="http://schemas.microsoft.com/office/drawing/2014/main" val="20000"/>
                    </a:ext>
                  </a:extLst>
                </a:gridCol>
                <a:gridCol w="32202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3</a:t>
                      </a:r>
                      <a:endParaRPr sz="600"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2021" name="Google Shape;2021;g3a6c7b9e349_0_788"/>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1	0            0             0</a:t>
            </a:r>
            <a:endParaRPr sz="300" b="0" i="0" u="none" strike="noStrike" cap="none">
              <a:solidFill>
                <a:srgbClr val="000000"/>
              </a:solidFill>
              <a:latin typeface="Arial"/>
              <a:ea typeface="Arial"/>
              <a:cs typeface="Arial"/>
              <a:sym typeface="Arial"/>
            </a:endParaRPr>
          </a:p>
        </p:txBody>
      </p:sp>
      <p:sp>
        <p:nvSpPr>
          <p:cNvPr id="2022" name="Google Shape;2022;g3a6c7b9e349_0_788"/>
          <p:cNvSpPr/>
          <p:nvPr/>
        </p:nvSpPr>
        <p:spPr>
          <a:xfrm>
            <a:off x="4026096" y="10002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23" name="Google Shape;2023;g3a6c7b9e349_0_788"/>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024" name="Google Shape;2024;g3a6c7b9e349_0_788"/>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025" name="Google Shape;2025;g3a6c7b9e349_0_788"/>
          <p:cNvSpPr/>
          <p:nvPr/>
        </p:nvSpPr>
        <p:spPr>
          <a:xfrm>
            <a:off x="152400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26" name="Google Shape;2026;g3a6c7b9e349_0_788"/>
          <p:cNvSpPr txBox="1"/>
          <p:nvPr/>
        </p:nvSpPr>
        <p:spPr>
          <a:xfrm>
            <a:off x="3295460" y="906586"/>
            <a:ext cx="743700" cy="3348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1B1472"/>
                </a:solidFill>
                <a:latin typeface="Arial"/>
                <a:ea typeface="Arial"/>
                <a:cs typeface="Arial"/>
                <a:sym typeface="Arial"/>
              </a:rPr>
              <a:t>Policy Improvement</a:t>
            </a:r>
            <a:endParaRPr sz="600" b="1" i="0" u="none" strike="noStrike" cap="none">
              <a:solidFill>
                <a:srgbClr val="1B1472"/>
              </a:solidFill>
              <a:latin typeface="Arial"/>
              <a:ea typeface="Arial"/>
              <a:cs typeface="Arial"/>
              <a:sym typeface="Arial"/>
            </a:endParaRPr>
          </a:p>
        </p:txBody>
      </p:sp>
      <p:sp>
        <p:nvSpPr>
          <p:cNvPr id="2027" name="Google Shape;2027;g3a6c7b9e349_0_788"/>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31"/>
        <p:cNvGrpSpPr/>
        <p:nvPr/>
      </p:nvGrpSpPr>
      <p:grpSpPr>
        <a:xfrm>
          <a:off x="0" y="0"/>
          <a:ext cx="0" cy="0"/>
          <a:chOff x="0" y="0"/>
          <a:chExt cx="0" cy="0"/>
        </a:xfrm>
      </p:grpSpPr>
      <p:sp>
        <p:nvSpPr>
          <p:cNvPr id="2032" name="Google Shape;2032;g3a6c7b9e349_0_834"/>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033" name="Google Shape;2033;g3a6c7b9e349_0_834"/>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34" name="Google Shape;2034;g3a6c7b9e349_0_834"/>
          <p:cNvGrpSpPr/>
          <p:nvPr/>
        </p:nvGrpSpPr>
        <p:grpSpPr>
          <a:xfrm>
            <a:off x="0" y="3109250"/>
            <a:ext cx="5760261" cy="92075"/>
            <a:chOff x="0" y="3109250"/>
            <a:chExt cx="5760261" cy="92075"/>
          </a:xfrm>
        </p:grpSpPr>
        <p:sp>
          <p:nvSpPr>
            <p:cNvPr id="2035" name="Google Shape;2035;g3a6c7b9e349_0_83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6" name="Google Shape;2036;g3a6c7b9e349_0_83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7" name="Google Shape;2037;g3a6c7b9e349_0_83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38" name="Google Shape;2038;g3a6c7b9e349_0_834"/>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039" name="Google Shape;2039;g3a6c7b9e349_0_83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51</a:t>
            </a:fld>
            <a:endParaRPr/>
          </a:p>
        </p:txBody>
      </p:sp>
      <p:pic>
        <p:nvPicPr>
          <p:cNvPr id="2040" name="Google Shape;2040;g3a6c7b9e349_0_834"/>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041" name="Google Shape;2041;g3a6c7b9e349_0_834"/>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042" name="Google Shape;2042;g3a6c7b9e349_0_834"/>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043" name="Google Shape;2043;g3a6c7b9e349_0_834"/>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044" name="Google Shape;2044;g3a6c7b9e349_0_834"/>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045" name="Google Shape;2045;g3a6c7b9e349_0_834"/>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046" name="Google Shape;2046;g3a6c7b9e349_0_834"/>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a:t>
            </a:r>
            <a:r>
              <a:rPr lang="en-US" sz="800" b="1" i="0" u="none" strike="noStrike" cap="none">
                <a:solidFill>
                  <a:schemeClr val="dk1"/>
                </a:solidFill>
                <a:latin typeface="Calibri"/>
                <a:ea typeface="Calibri"/>
                <a:cs typeface="Calibri"/>
                <a:sym typeface="Calibri"/>
              </a:rPr>
              <a:t>-10</a:t>
            </a:r>
            <a:r>
              <a:rPr lang="en-US" sz="800" b="0" i="0" u="none" strike="noStrike" cap="none">
                <a:solidFill>
                  <a:schemeClr val="dk1"/>
                </a:solidFill>
                <a:latin typeface="Calibri"/>
                <a:ea typeface="Calibri"/>
                <a:cs typeface="Calibri"/>
                <a:sym typeface="Calibri"/>
              </a:rPr>
              <a:t>	0            0             0</a:t>
            </a:r>
            <a:endParaRPr sz="300" b="0" i="0" u="none" strike="noStrike" cap="none">
              <a:solidFill>
                <a:srgbClr val="000000"/>
              </a:solidFill>
              <a:latin typeface="Arial"/>
              <a:ea typeface="Arial"/>
              <a:cs typeface="Arial"/>
              <a:sym typeface="Arial"/>
            </a:endParaRPr>
          </a:p>
        </p:txBody>
      </p:sp>
      <p:sp>
        <p:nvSpPr>
          <p:cNvPr id="2047" name="Google Shape;2047;g3a6c7b9e349_0_834"/>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048" name="Google Shape;2048;g3a6c7b9e349_0_834"/>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2049" name="Google Shape;2049;g3a6c7b9e349_0_834"/>
          <p:cNvSpPr txBox="1"/>
          <p:nvPr/>
        </p:nvSpPr>
        <p:spPr>
          <a:xfrm>
            <a:off x="3314700" y="2786200"/>
            <a:ext cx="24129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Exits to the next time step without W update!</a:t>
            </a:r>
            <a:endParaRPr sz="750" b="1" i="0" u="none" strike="noStrike" cap="none">
              <a:solidFill>
                <a:srgbClr val="1B1472"/>
              </a:solidFill>
              <a:latin typeface="Arial"/>
              <a:ea typeface="Arial"/>
              <a:cs typeface="Arial"/>
              <a:sym typeface="Arial"/>
            </a:endParaRPr>
          </a:p>
        </p:txBody>
      </p:sp>
      <p:cxnSp>
        <p:nvCxnSpPr>
          <p:cNvPr id="2050" name="Google Shape;2050;g3a6c7b9e349_0_834"/>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051" name="Google Shape;2051;g3a6c7b9e349_0_834"/>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052" name="Google Shape;2052;g3a6c7b9e349_0_834"/>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053" name="Google Shape;2053;g3a6c7b9e349_0_834"/>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054" name="Google Shape;2054;g3a6c7b9e349_0_834"/>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055" name="Google Shape;2055;g3a6c7b9e349_0_834"/>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056" name="Google Shape;2056;g3a6c7b9e349_0_834"/>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057" name="Google Shape;2057;g3a6c7b9e349_0_834"/>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058" name="Google Shape;2058;g3a6c7b9e349_0_834"/>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059" name="Google Shape;2059;g3a6c7b9e349_0_834"/>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060" name="Google Shape;2060;g3a6c7b9e349_0_834"/>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061" name="Google Shape;2061;g3a6c7b9e349_0_834"/>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062" name="Google Shape;2062;g3a6c7b9e349_0_834"/>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063" name="Google Shape;2063;g3a6c7b9e349_0_834"/>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064" name="Google Shape;2064;g3a6c7b9e349_0_834"/>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065" name="Google Shape;2065;g3a6c7b9e349_0_834"/>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066" name="Google Shape;2066;g3a6c7b9e349_0_834"/>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067" name="Google Shape;2067;g3a6c7b9e349_0_834"/>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437175">
                  <a:extLst>
                    <a:ext uri="{9D8B030D-6E8A-4147-A177-3AD203B41FA5}">
                      <a16:colId xmlns:a16="http://schemas.microsoft.com/office/drawing/2014/main" val="20000"/>
                    </a:ext>
                  </a:extLst>
                </a:gridCol>
                <a:gridCol w="33492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3</a:t>
                      </a:r>
                      <a:endParaRPr sz="600"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2068" name="Google Shape;2068;g3a6c7b9e349_0_834"/>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1	0            0             0</a:t>
            </a:r>
            <a:endParaRPr sz="300" b="0" i="0" u="none" strike="noStrike" cap="none">
              <a:solidFill>
                <a:srgbClr val="000000"/>
              </a:solidFill>
              <a:latin typeface="Arial"/>
              <a:ea typeface="Arial"/>
              <a:cs typeface="Arial"/>
              <a:sym typeface="Arial"/>
            </a:endParaRPr>
          </a:p>
        </p:txBody>
      </p:sp>
      <p:sp>
        <p:nvSpPr>
          <p:cNvPr id="2069" name="Google Shape;2069;g3a6c7b9e349_0_834"/>
          <p:cNvSpPr/>
          <p:nvPr/>
        </p:nvSpPr>
        <p:spPr>
          <a:xfrm>
            <a:off x="4026096" y="10383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070" name="Google Shape;2070;g3a6c7b9e349_0_834"/>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071" name="Google Shape;2071;g3a6c7b9e349_0_834"/>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072" name="Google Shape;2072;g3a6c7b9e349_0_834"/>
          <p:cNvSpPr/>
          <p:nvPr/>
        </p:nvSpPr>
        <p:spPr>
          <a:xfrm>
            <a:off x="152400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73" name="Google Shape;2073;g3a6c7b9e349_0_834"/>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77"/>
        <p:cNvGrpSpPr/>
        <p:nvPr/>
      </p:nvGrpSpPr>
      <p:grpSpPr>
        <a:xfrm>
          <a:off x="0" y="0"/>
          <a:ext cx="0" cy="0"/>
          <a:chOff x="0" y="0"/>
          <a:chExt cx="0" cy="0"/>
        </a:xfrm>
      </p:grpSpPr>
      <p:sp>
        <p:nvSpPr>
          <p:cNvPr id="2078" name="Google Shape;2078;g3a6c7b9e349_0_879"/>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079" name="Google Shape;2079;g3a6c7b9e349_0_879"/>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80" name="Google Shape;2080;g3a6c7b9e349_0_879"/>
          <p:cNvGrpSpPr/>
          <p:nvPr/>
        </p:nvGrpSpPr>
        <p:grpSpPr>
          <a:xfrm>
            <a:off x="0" y="3109250"/>
            <a:ext cx="5760261" cy="92075"/>
            <a:chOff x="0" y="3109250"/>
            <a:chExt cx="5760261" cy="92075"/>
          </a:xfrm>
        </p:grpSpPr>
        <p:sp>
          <p:nvSpPr>
            <p:cNvPr id="2081" name="Google Shape;2081;g3a6c7b9e349_0_87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2" name="Google Shape;2082;g3a6c7b9e349_0_87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3" name="Google Shape;2083;g3a6c7b9e349_0_87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84" name="Google Shape;2084;g3a6c7b9e349_0_879"/>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085" name="Google Shape;2085;g3a6c7b9e349_0_87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52</a:t>
            </a:fld>
            <a:endParaRPr/>
          </a:p>
        </p:txBody>
      </p:sp>
      <p:pic>
        <p:nvPicPr>
          <p:cNvPr id="2086" name="Google Shape;2086;g3a6c7b9e349_0_879"/>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087" name="Google Shape;2087;g3a6c7b9e349_0_879"/>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088" name="Google Shape;2088;g3a6c7b9e349_0_879"/>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089" name="Google Shape;2089;g3a6c7b9e349_0_879"/>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090" name="Google Shape;2090;g3a6c7b9e349_0_879"/>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091" name="Google Shape;2091;g3a6c7b9e349_0_879"/>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092" name="Google Shape;2092;g3a6c7b9e349_0_879"/>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-10	0            0             0</a:t>
            </a:r>
            <a:endParaRPr sz="300" b="0" i="0" u="none" strike="noStrike" cap="none">
              <a:solidFill>
                <a:srgbClr val="000000"/>
              </a:solidFill>
              <a:latin typeface="Arial"/>
              <a:ea typeface="Arial"/>
              <a:cs typeface="Arial"/>
              <a:sym typeface="Arial"/>
            </a:endParaRPr>
          </a:p>
        </p:txBody>
      </p:sp>
      <p:sp>
        <p:nvSpPr>
          <p:cNvPr id="2093" name="Google Shape;2093;g3a6c7b9e349_0_879"/>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094" name="Google Shape;2094;g3a6c7b9e349_0_879"/>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2095" name="Google Shape;2095;g3a6c7b9e349_0_879"/>
          <p:cNvSpPr txBox="1"/>
          <p:nvPr/>
        </p:nvSpPr>
        <p:spPr>
          <a:xfrm>
            <a:off x="4749800" y="2786200"/>
            <a:ext cx="9777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Continue ……..</a:t>
            </a:r>
            <a:endParaRPr sz="750" b="1" i="0" u="none" strike="noStrike" cap="none">
              <a:solidFill>
                <a:srgbClr val="1B1472"/>
              </a:solidFill>
              <a:latin typeface="Arial"/>
              <a:ea typeface="Arial"/>
              <a:cs typeface="Arial"/>
              <a:sym typeface="Arial"/>
            </a:endParaRPr>
          </a:p>
        </p:txBody>
      </p:sp>
      <p:cxnSp>
        <p:nvCxnSpPr>
          <p:cNvPr id="2096" name="Google Shape;2096;g3a6c7b9e349_0_879"/>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097" name="Google Shape;2097;g3a6c7b9e349_0_879"/>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098" name="Google Shape;2098;g3a6c7b9e349_0_879"/>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099" name="Google Shape;2099;g3a6c7b9e349_0_879"/>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100" name="Google Shape;2100;g3a6c7b9e349_0_879"/>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101" name="Google Shape;2101;g3a6c7b9e349_0_879"/>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102" name="Google Shape;2102;g3a6c7b9e349_0_879"/>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103" name="Google Shape;2103;g3a6c7b9e349_0_879"/>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104" name="Google Shape;2104;g3a6c7b9e349_0_879"/>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105" name="Google Shape;2105;g3a6c7b9e349_0_879"/>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106" name="Google Shape;2106;g3a6c7b9e349_0_879"/>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107" name="Google Shape;2107;g3a6c7b9e349_0_879"/>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108" name="Google Shape;2108;g3a6c7b9e349_0_879"/>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109" name="Google Shape;2109;g3a6c7b9e349_0_879"/>
          <p:cNvSpPr txBox="1"/>
          <p:nvPr/>
        </p:nvSpPr>
        <p:spPr>
          <a:xfrm>
            <a:off x="82600" y="1717926"/>
            <a:ext cx="2793000" cy="9813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 </a:t>
            </a:r>
            <a:r>
              <a:rPr lang="en-US" sz="700" b="1" i="0" u="none" strike="noStrike" cap="none">
                <a:solidFill>
                  <a:srgbClr val="FF0000"/>
                </a:solidFill>
                <a:latin typeface="Arial"/>
                <a:ea typeface="Arial"/>
                <a:cs typeface="Arial"/>
                <a:sym typeface="Arial"/>
              </a:rPr>
              <a:t>#WILL BE used in EVERY Visit</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110" name="Google Shape;2110;g3a6c7b9e349_0_879"/>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111" name="Google Shape;2111;g3a6c7b9e349_0_879"/>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112" name="Google Shape;2112;g3a6c7b9e349_0_879"/>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113" name="Google Shape;2113;g3a6c7b9e349_0_879"/>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99225">
                  <a:extLst>
                    <a:ext uri="{9D8B030D-6E8A-4147-A177-3AD203B41FA5}">
                      <a16:colId xmlns:a16="http://schemas.microsoft.com/office/drawing/2014/main" val="20000"/>
                    </a:ext>
                  </a:extLst>
                </a:gridCol>
                <a:gridCol w="305850">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2</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2114" name="Google Shape;2114;g3a6c7b9e349_0_879"/>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1	0            0             0</a:t>
            </a:r>
            <a:endParaRPr sz="300" b="0" i="0" u="none" strike="noStrike" cap="none">
              <a:solidFill>
                <a:srgbClr val="000000"/>
              </a:solidFill>
              <a:latin typeface="Arial"/>
              <a:ea typeface="Arial"/>
              <a:cs typeface="Arial"/>
              <a:sym typeface="Arial"/>
            </a:endParaRPr>
          </a:p>
        </p:txBody>
      </p:sp>
      <p:sp>
        <p:nvSpPr>
          <p:cNvPr id="2115" name="Google Shape;2115;g3a6c7b9e349_0_879"/>
          <p:cNvSpPr/>
          <p:nvPr/>
        </p:nvSpPr>
        <p:spPr>
          <a:xfrm>
            <a:off x="4026096" y="82883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16" name="Google Shape;2116;g3a6c7b9e349_0_879"/>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117" name="Google Shape;2117;g3a6c7b9e349_0_879"/>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118" name="Google Shape;2118;g3a6c7b9e349_0_879"/>
          <p:cNvSpPr/>
          <p:nvPr/>
        </p:nvSpPr>
        <p:spPr>
          <a:xfrm>
            <a:off x="11747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19" name="Google Shape;2119;g3a6c7b9e349_0_879"/>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23"/>
        <p:cNvGrpSpPr/>
        <p:nvPr/>
      </p:nvGrpSpPr>
      <p:grpSpPr>
        <a:xfrm>
          <a:off x="0" y="0"/>
          <a:ext cx="0" cy="0"/>
          <a:chOff x="0" y="0"/>
          <a:chExt cx="0" cy="0"/>
        </a:xfrm>
      </p:grpSpPr>
      <p:sp>
        <p:nvSpPr>
          <p:cNvPr id="2124" name="Google Shape;2124;g3a6c7b9e349_0_924"/>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125" name="Google Shape;2125;g3a6c7b9e349_0_924"/>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26" name="Google Shape;2126;g3a6c7b9e349_0_924"/>
          <p:cNvGrpSpPr/>
          <p:nvPr/>
        </p:nvGrpSpPr>
        <p:grpSpPr>
          <a:xfrm>
            <a:off x="0" y="3109250"/>
            <a:ext cx="5760261" cy="92075"/>
            <a:chOff x="0" y="3109250"/>
            <a:chExt cx="5760261" cy="92075"/>
          </a:xfrm>
        </p:grpSpPr>
        <p:sp>
          <p:nvSpPr>
            <p:cNvPr id="2127" name="Google Shape;2127;g3a6c7b9e349_0_92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8" name="Google Shape;2128;g3a6c7b9e349_0_92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9" name="Google Shape;2129;g3a6c7b9e349_0_92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30" name="Google Shape;2130;g3a6c7b9e349_0_924"/>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131" name="Google Shape;2131;g3a6c7b9e349_0_92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53</a:t>
            </a:fld>
            <a:endParaRPr/>
          </a:p>
        </p:txBody>
      </p:sp>
      <p:pic>
        <p:nvPicPr>
          <p:cNvPr id="2132" name="Google Shape;2132;g3a6c7b9e349_0_924"/>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133" name="Google Shape;2133;g3a6c7b9e349_0_924"/>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134" name="Google Shape;2134;g3a6c7b9e349_0_924"/>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135" name="Google Shape;2135;g3a6c7b9e349_0_924"/>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136" name="Google Shape;2136;g3a6c7b9e349_0_924"/>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137" name="Google Shape;2137;g3a6c7b9e349_0_924"/>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138" name="Google Shape;2138;g3a6c7b9e349_0_924"/>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-4</a:t>
            </a:r>
            <a:r>
              <a:rPr lang="en-US" sz="800" b="0" i="0" u="none" strike="noStrike" cap="none">
                <a:solidFill>
                  <a:schemeClr val="dk1"/>
                </a:solidFill>
                <a:latin typeface="Calibri"/>
                <a:ea typeface="Calibri"/>
                <a:cs typeface="Calibri"/>
                <a:sym typeface="Calibri"/>
              </a:rPr>
              <a:t>              0       -10	0            0             0</a:t>
            </a:r>
            <a:endParaRPr sz="300" b="0" i="0" u="none" strike="noStrike" cap="none">
              <a:solidFill>
                <a:srgbClr val="000000"/>
              </a:solidFill>
              <a:latin typeface="Arial"/>
              <a:ea typeface="Arial"/>
              <a:cs typeface="Arial"/>
              <a:sym typeface="Arial"/>
            </a:endParaRPr>
          </a:p>
        </p:txBody>
      </p:sp>
      <p:sp>
        <p:nvSpPr>
          <p:cNvPr id="2139" name="Google Shape;2139;g3a6c7b9e349_0_924"/>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140" name="Google Shape;2140;g3a6c7b9e349_0_924"/>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2141" name="Google Shape;2141;g3a6c7b9e349_0_924"/>
          <p:cNvSpPr txBox="1"/>
          <p:nvPr/>
        </p:nvSpPr>
        <p:spPr>
          <a:xfrm>
            <a:off x="4069268" y="2786200"/>
            <a:ext cx="16581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No change in W! Exit to next t</a:t>
            </a:r>
            <a:endParaRPr sz="750" b="1" i="0" u="none" strike="noStrike" cap="none">
              <a:solidFill>
                <a:srgbClr val="1B1472"/>
              </a:solidFill>
              <a:latin typeface="Arial"/>
              <a:ea typeface="Arial"/>
              <a:cs typeface="Arial"/>
              <a:sym typeface="Arial"/>
            </a:endParaRPr>
          </a:p>
        </p:txBody>
      </p:sp>
      <p:cxnSp>
        <p:nvCxnSpPr>
          <p:cNvPr id="2142" name="Google Shape;2142;g3a6c7b9e349_0_924"/>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143" name="Google Shape;2143;g3a6c7b9e349_0_924"/>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144" name="Google Shape;2144;g3a6c7b9e349_0_924"/>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145" name="Google Shape;2145;g3a6c7b9e349_0_924"/>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146" name="Google Shape;2146;g3a6c7b9e349_0_924"/>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147" name="Google Shape;2147;g3a6c7b9e349_0_924"/>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148" name="Google Shape;2148;g3a6c7b9e349_0_924"/>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149" name="Google Shape;2149;g3a6c7b9e349_0_924"/>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150" name="Google Shape;2150;g3a6c7b9e349_0_924"/>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151" name="Google Shape;2151;g3a6c7b9e349_0_924"/>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152" name="Google Shape;2152;g3a6c7b9e349_0_924"/>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153" name="Google Shape;2153;g3a6c7b9e349_0_924"/>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154" name="Google Shape;2154;g3a6c7b9e349_0_924"/>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155" name="Google Shape;2155;g3a6c7b9e349_0_924"/>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156" name="Google Shape;2156;g3a6c7b9e349_0_924"/>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157" name="Google Shape;2157;g3a6c7b9e349_0_924"/>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158" name="Google Shape;2158;g3a6c7b9e349_0_924"/>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159" name="Google Shape;2159;g3a6c7b9e349_0_924"/>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99225">
                  <a:extLst>
                    <a:ext uri="{9D8B030D-6E8A-4147-A177-3AD203B41FA5}">
                      <a16:colId xmlns:a16="http://schemas.microsoft.com/office/drawing/2014/main" val="20000"/>
                    </a:ext>
                  </a:extLst>
                </a:gridCol>
                <a:gridCol w="305850">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-4</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2</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2160" name="Google Shape;2160;g3a6c7b9e349_0_924"/>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a:t>
            </a:r>
            <a:r>
              <a:rPr lang="en-US" sz="800" b="0" i="0" u="none" strike="noStrike" cap="none">
                <a:solidFill>
                  <a:schemeClr val="dk1"/>
                </a:solidFill>
                <a:latin typeface="Calibri"/>
                <a:ea typeface="Calibri"/>
                <a:cs typeface="Calibri"/>
                <a:sym typeface="Calibri"/>
              </a:rPr>
              <a:t>              0          1	0            0             0</a:t>
            </a:r>
            <a:endParaRPr sz="300" b="0" i="0" u="none" strike="noStrike" cap="none">
              <a:solidFill>
                <a:srgbClr val="000000"/>
              </a:solidFill>
              <a:latin typeface="Arial"/>
              <a:ea typeface="Arial"/>
              <a:cs typeface="Arial"/>
              <a:sym typeface="Arial"/>
            </a:endParaRPr>
          </a:p>
        </p:txBody>
      </p:sp>
      <p:sp>
        <p:nvSpPr>
          <p:cNvPr id="2161" name="Google Shape;2161;g3a6c7b9e349_0_924"/>
          <p:cNvSpPr/>
          <p:nvPr/>
        </p:nvSpPr>
        <p:spPr>
          <a:xfrm>
            <a:off x="4026096" y="10637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62" name="Google Shape;2162;g3a6c7b9e349_0_924"/>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163" name="Google Shape;2163;g3a6c7b9e349_0_924"/>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164" name="Google Shape;2164;g3a6c7b9e349_0_924"/>
          <p:cNvSpPr/>
          <p:nvPr/>
        </p:nvSpPr>
        <p:spPr>
          <a:xfrm>
            <a:off x="11747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65" name="Google Shape;2165;g3a6c7b9e349_0_924"/>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69"/>
        <p:cNvGrpSpPr/>
        <p:nvPr/>
      </p:nvGrpSpPr>
      <p:grpSpPr>
        <a:xfrm>
          <a:off x="0" y="0"/>
          <a:ext cx="0" cy="0"/>
          <a:chOff x="0" y="0"/>
          <a:chExt cx="0" cy="0"/>
        </a:xfrm>
      </p:grpSpPr>
      <p:sp>
        <p:nvSpPr>
          <p:cNvPr id="2170" name="Google Shape;2170;g3a6c7b9e349_0_969"/>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171" name="Google Shape;2171;g3a6c7b9e349_0_969"/>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72" name="Google Shape;2172;g3a6c7b9e349_0_969"/>
          <p:cNvGrpSpPr/>
          <p:nvPr/>
        </p:nvGrpSpPr>
        <p:grpSpPr>
          <a:xfrm>
            <a:off x="0" y="3109250"/>
            <a:ext cx="5760261" cy="92075"/>
            <a:chOff x="0" y="3109250"/>
            <a:chExt cx="5760261" cy="92075"/>
          </a:xfrm>
        </p:grpSpPr>
        <p:sp>
          <p:nvSpPr>
            <p:cNvPr id="2173" name="Google Shape;2173;g3a6c7b9e349_0_96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4" name="Google Shape;2174;g3a6c7b9e349_0_96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5" name="Google Shape;2175;g3a6c7b9e349_0_96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76" name="Google Shape;2176;g3a6c7b9e349_0_969"/>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177" name="Google Shape;2177;g3a6c7b9e349_0_96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54</a:t>
            </a:fld>
            <a:endParaRPr/>
          </a:p>
        </p:txBody>
      </p:sp>
      <p:pic>
        <p:nvPicPr>
          <p:cNvPr id="2178" name="Google Shape;2178;g3a6c7b9e349_0_969"/>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179" name="Google Shape;2179;g3a6c7b9e349_0_969"/>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180" name="Google Shape;2180;g3a6c7b9e349_0_969"/>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181" name="Google Shape;2181;g3a6c7b9e349_0_969"/>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182" name="Google Shape;2182;g3a6c7b9e349_0_969"/>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183" name="Google Shape;2183;g3a6c7b9e349_0_969"/>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184" name="Google Shape;2184;g3a6c7b9e349_0_969"/>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-4              0       -10	</a:t>
            </a:r>
            <a:r>
              <a:rPr lang="en-US" sz="800" b="1" i="0" u="none" strike="noStrike" cap="none">
                <a:solidFill>
                  <a:schemeClr val="dk1"/>
                </a:solidFill>
                <a:latin typeface="Calibri"/>
                <a:ea typeface="Calibri"/>
                <a:cs typeface="Calibri"/>
                <a:sym typeface="Calibri"/>
              </a:rPr>
              <a:t>-1.4</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2185" name="Google Shape;2185;g3a6c7b9e349_0_969"/>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186" name="Google Shape;2186;g3a6c7b9e349_0_969"/>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2187" name="Google Shape;2187;g3a6c7b9e349_0_969"/>
          <p:cNvSpPr txBox="1"/>
          <p:nvPr/>
        </p:nvSpPr>
        <p:spPr>
          <a:xfrm>
            <a:off x="4069268" y="2786200"/>
            <a:ext cx="1658100" cy="2769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Continue ……..</a:t>
            </a:r>
            <a:endParaRPr sz="750" b="1" i="0" u="none" strike="noStrike" cap="none">
              <a:solidFill>
                <a:srgbClr val="1B1472"/>
              </a:solidFill>
              <a:latin typeface="Arial"/>
              <a:ea typeface="Arial"/>
              <a:cs typeface="Arial"/>
              <a:sym typeface="Arial"/>
            </a:endParaRPr>
          </a:p>
        </p:txBody>
      </p:sp>
      <p:cxnSp>
        <p:nvCxnSpPr>
          <p:cNvPr id="2188" name="Google Shape;2188;g3a6c7b9e349_0_969"/>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189" name="Google Shape;2189;g3a6c7b9e349_0_969"/>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190" name="Google Shape;2190;g3a6c7b9e349_0_969"/>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191" name="Google Shape;2191;g3a6c7b9e349_0_969"/>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192" name="Google Shape;2192;g3a6c7b9e349_0_969"/>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193" name="Google Shape;2193;g3a6c7b9e349_0_969"/>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194" name="Google Shape;2194;g3a6c7b9e349_0_969"/>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195" name="Google Shape;2195;g3a6c7b9e349_0_969"/>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196" name="Google Shape;2196;g3a6c7b9e349_0_969"/>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197" name="Google Shape;2197;g3a6c7b9e349_0_969"/>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198" name="Google Shape;2198;g3a6c7b9e349_0_969"/>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199" name="Google Shape;2199;g3a6c7b9e349_0_969"/>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200" name="Google Shape;2200;g3a6c7b9e349_0_969"/>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201" name="Google Shape;2201;g3a6c7b9e349_0_969"/>
          <p:cNvSpPr txBox="1"/>
          <p:nvPr/>
        </p:nvSpPr>
        <p:spPr>
          <a:xfrm>
            <a:off x="82600" y="1717926"/>
            <a:ext cx="2793000" cy="9813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202" name="Google Shape;2202;g3a6c7b9e349_0_969"/>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203" name="Google Shape;2203;g3a6c7b9e349_0_969"/>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204" name="Google Shape;2204;g3a6c7b9e349_0_969"/>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205" name="Google Shape;2205;g3a6c7b9e349_0_969"/>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433725">
                  <a:extLst>
                    <a:ext uri="{9D8B030D-6E8A-4147-A177-3AD203B41FA5}">
                      <a16:colId xmlns:a16="http://schemas.microsoft.com/office/drawing/2014/main" val="20000"/>
                    </a:ext>
                  </a:extLst>
                </a:gridCol>
                <a:gridCol w="33227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-1.4</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2206" name="Google Shape;2206;g3a6c7b9e349_0_969"/>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1              0          1	</a:t>
            </a:r>
            <a:r>
              <a:rPr lang="en-US" sz="800" b="1" i="0" u="none" strike="noStrike" cap="none">
                <a:solidFill>
                  <a:schemeClr val="dk1"/>
                </a:solidFill>
                <a:latin typeface="Calibri"/>
                <a:ea typeface="Calibri"/>
                <a:cs typeface="Calibri"/>
                <a:sym typeface="Calibri"/>
              </a:rPr>
              <a:t>1</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2207" name="Google Shape;2207;g3a6c7b9e349_0_969"/>
          <p:cNvSpPr/>
          <p:nvPr/>
        </p:nvSpPr>
        <p:spPr>
          <a:xfrm>
            <a:off x="4026096" y="80343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08" name="Google Shape;2208;g3a6c7b9e349_0_969"/>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209" name="Google Shape;2209;g3a6c7b9e349_0_969"/>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210" name="Google Shape;2210;g3a6c7b9e349_0_969"/>
          <p:cNvSpPr/>
          <p:nvPr/>
        </p:nvSpPr>
        <p:spPr>
          <a:xfrm>
            <a:off x="82550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11" name="Google Shape;2211;g3a6c7b9e349_0_969"/>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6" name="Google Shape;2216;g3a6c7b9e349_0_1014"/>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217" name="Google Shape;2217;g3a6c7b9e349_0_1014"/>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18" name="Google Shape;2218;g3a6c7b9e349_0_1014"/>
          <p:cNvGrpSpPr/>
          <p:nvPr/>
        </p:nvGrpSpPr>
        <p:grpSpPr>
          <a:xfrm>
            <a:off x="0" y="3109250"/>
            <a:ext cx="5760261" cy="92075"/>
            <a:chOff x="0" y="3109250"/>
            <a:chExt cx="5760261" cy="92075"/>
          </a:xfrm>
        </p:grpSpPr>
        <p:sp>
          <p:nvSpPr>
            <p:cNvPr id="2219" name="Google Shape;2219;g3a6c7b9e349_0_101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0" name="Google Shape;2220;g3a6c7b9e349_0_101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1" name="Google Shape;2221;g3a6c7b9e349_0_101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22" name="Google Shape;2222;g3a6c7b9e349_0_1014"/>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223" name="Google Shape;2223;g3a6c7b9e349_0_101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55</a:t>
            </a:fld>
            <a:endParaRPr/>
          </a:p>
        </p:txBody>
      </p:sp>
      <p:pic>
        <p:nvPicPr>
          <p:cNvPr id="2224" name="Google Shape;2224;g3a6c7b9e349_0_1014"/>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225" name="Google Shape;2225;g3a6c7b9e349_0_1014"/>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226" name="Google Shape;2226;g3a6c7b9e349_0_1014"/>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227" name="Google Shape;2227;g3a6c7b9e349_0_1014"/>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28" name="Google Shape;2228;g3a6c7b9e349_0_1014"/>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29" name="Google Shape;2229;g3a6c7b9e349_0_1014"/>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30" name="Google Shape;2230;g3a6c7b9e349_0_1014"/>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-4              0       -10	</a:t>
            </a:r>
            <a:r>
              <a:rPr lang="en-US" sz="800" b="1" i="0" u="none" strike="noStrike" cap="none">
                <a:solidFill>
                  <a:schemeClr val="dk1"/>
                </a:solidFill>
                <a:latin typeface="Calibri"/>
                <a:ea typeface="Calibri"/>
                <a:cs typeface="Calibri"/>
                <a:sym typeface="Calibri"/>
              </a:rPr>
              <a:t>-1.4</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2231" name="Google Shape;2231;g3a6c7b9e349_0_1014"/>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232" name="Google Shape;2232;g3a6c7b9e349_0_1014"/>
          <p:cNvPicPr preferRelativeResize="0"/>
          <p:nvPr/>
        </p:nvPicPr>
        <p:blipFill rotWithShape="1">
          <a:blip r:embed="rId6">
            <a:alphaModFix/>
          </a:blip>
          <a:srcRect/>
          <a:stretch/>
        </p:blipFill>
        <p:spPr>
          <a:xfrm>
            <a:off x="3839748" y="1991159"/>
            <a:ext cx="1923500" cy="995858"/>
          </a:xfrm>
          <a:prstGeom prst="rect">
            <a:avLst/>
          </a:prstGeom>
          <a:noFill/>
          <a:ln>
            <a:noFill/>
          </a:ln>
        </p:spPr>
      </p:pic>
      <p:sp>
        <p:nvSpPr>
          <p:cNvPr id="2233" name="Google Shape;2233;g3a6c7b9e349_0_1014"/>
          <p:cNvSpPr txBox="1"/>
          <p:nvPr/>
        </p:nvSpPr>
        <p:spPr>
          <a:xfrm>
            <a:off x="3187700" y="2786200"/>
            <a:ext cx="2539800" cy="3231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At t=1 the best action &amp; current action is same .Hence the Global Weight for WIS is updated</a:t>
            </a:r>
            <a:endParaRPr sz="750" b="1" i="0" u="none" strike="noStrike" cap="none">
              <a:solidFill>
                <a:srgbClr val="1B1472"/>
              </a:solidFill>
              <a:latin typeface="Arial"/>
              <a:ea typeface="Arial"/>
              <a:cs typeface="Arial"/>
              <a:sym typeface="Arial"/>
            </a:endParaRPr>
          </a:p>
        </p:txBody>
      </p:sp>
      <p:cxnSp>
        <p:nvCxnSpPr>
          <p:cNvPr id="2234" name="Google Shape;2234;g3a6c7b9e349_0_1014"/>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235" name="Google Shape;2235;g3a6c7b9e349_0_1014"/>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236" name="Google Shape;2236;g3a6c7b9e349_0_1014"/>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237" name="Google Shape;2237;g3a6c7b9e349_0_1014"/>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238" name="Google Shape;2238;g3a6c7b9e349_0_1014"/>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239" name="Google Shape;2239;g3a6c7b9e349_0_1014"/>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240" name="Google Shape;2240;g3a6c7b9e349_0_1014"/>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241" name="Google Shape;2241;g3a6c7b9e349_0_1014"/>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242" name="Google Shape;2242;g3a6c7b9e349_0_1014"/>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243" name="Google Shape;2243;g3a6c7b9e349_0_1014"/>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244" name="Google Shape;2244;g3a6c7b9e349_0_1014"/>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245" name="Google Shape;2245;g3a6c7b9e349_0_1014"/>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246" name="Google Shape;2246;g3a6c7b9e349_0_1014"/>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247" name="Google Shape;2247;g3a6c7b9e349_0_1014"/>
          <p:cNvSpPr txBox="1"/>
          <p:nvPr/>
        </p:nvSpPr>
        <p:spPr>
          <a:xfrm>
            <a:off x="82600" y="1717926"/>
            <a:ext cx="2793000" cy="9813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248" name="Google Shape;2248;g3a6c7b9e349_0_1014"/>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249" name="Google Shape;2249;g3a6c7b9e349_0_1014"/>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250" name="Google Shape;2250;g3a6c7b9e349_0_1014"/>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251" name="Google Shape;2251;g3a6c7b9e349_0_1014"/>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433725">
                  <a:extLst>
                    <a:ext uri="{9D8B030D-6E8A-4147-A177-3AD203B41FA5}">
                      <a16:colId xmlns:a16="http://schemas.microsoft.com/office/drawing/2014/main" val="20000"/>
                    </a:ext>
                  </a:extLst>
                </a:gridCol>
                <a:gridCol w="33227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-1.4</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2.5</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2252" name="Google Shape;2252;g3a6c7b9e349_0_1014"/>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1              0          1	</a:t>
            </a:r>
            <a:r>
              <a:rPr lang="en-US" sz="800" b="1" i="0" u="none" strike="noStrike" cap="none">
                <a:solidFill>
                  <a:schemeClr val="dk1"/>
                </a:solidFill>
                <a:latin typeface="Calibri"/>
                <a:ea typeface="Calibri"/>
                <a:cs typeface="Calibri"/>
                <a:sym typeface="Calibri"/>
              </a:rPr>
              <a:t>1</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2253" name="Google Shape;2253;g3a6c7b9e349_0_1014"/>
          <p:cNvSpPr/>
          <p:nvPr/>
        </p:nvSpPr>
        <p:spPr>
          <a:xfrm>
            <a:off x="4026096" y="11018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254" name="Google Shape;2254;g3a6c7b9e349_0_1014"/>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255" name="Google Shape;2255;g3a6c7b9e349_0_1014"/>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256" name="Google Shape;2256;g3a6c7b9e349_0_1014"/>
          <p:cNvSpPr/>
          <p:nvPr/>
        </p:nvSpPr>
        <p:spPr>
          <a:xfrm>
            <a:off x="82550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57" name="Google Shape;2257;g3a6c7b9e349_0_1014"/>
          <p:cNvSpPr txBox="1"/>
          <p:nvPr/>
        </p:nvSpPr>
        <p:spPr>
          <a:xfrm>
            <a:off x="3178226" y="785712"/>
            <a:ext cx="764100" cy="415500"/>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W = 1/b(S|W) </a:t>
            </a:r>
            <a:endParaRPr/>
          </a:p>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 1/0.4</a:t>
            </a:r>
            <a:endParaRPr/>
          </a:p>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=2.5</a:t>
            </a:r>
            <a:endParaRPr sz="700" b="0" i="0" u="none" strike="noStrike" cap="none">
              <a:solidFill>
                <a:srgbClr val="000000"/>
              </a:solidFill>
              <a:latin typeface="Arial"/>
              <a:ea typeface="Arial"/>
              <a:cs typeface="Arial"/>
              <a:sym typeface="Arial"/>
            </a:endParaRPr>
          </a:p>
        </p:txBody>
      </p:sp>
      <p:cxnSp>
        <p:nvCxnSpPr>
          <p:cNvPr id="2258" name="Google Shape;2258;g3a6c7b9e349_0_1014"/>
          <p:cNvCxnSpPr>
            <a:stCxn id="2257" idx="1"/>
          </p:cNvCxnSpPr>
          <p:nvPr/>
        </p:nvCxnSpPr>
        <p:spPr>
          <a:xfrm flipH="1">
            <a:off x="2987126" y="993462"/>
            <a:ext cx="191100" cy="900"/>
          </a:xfrm>
          <a:prstGeom prst="straightConnector1">
            <a:avLst/>
          </a:prstGeom>
          <a:noFill/>
          <a:ln w="9525" cap="flat" cmpd="sng">
            <a:solidFill>
              <a:srgbClr val="4A7DBA"/>
            </a:solidFill>
            <a:prstDash val="solid"/>
            <a:round/>
            <a:headEnd type="none" w="sm" len="sm"/>
            <a:tailEnd type="triangle" w="med" len="med"/>
          </a:ln>
        </p:spPr>
      </p:cxnSp>
      <p:sp>
        <p:nvSpPr>
          <p:cNvPr id="2259" name="Google Shape;2259;g3a6c7b9e349_0_1014"/>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63"/>
        <p:cNvGrpSpPr/>
        <p:nvPr/>
      </p:nvGrpSpPr>
      <p:grpSpPr>
        <a:xfrm>
          <a:off x="0" y="0"/>
          <a:ext cx="0" cy="0"/>
          <a:chOff x="0" y="0"/>
          <a:chExt cx="0" cy="0"/>
        </a:xfrm>
      </p:grpSpPr>
      <p:sp>
        <p:nvSpPr>
          <p:cNvPr id="2264" name="Google Shape;2264;g3a6c7b9e349_0_1061"/>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265" name="Google Shape;2265;g3a6c7b9e349_0_1061"/>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66" name="Google Shape;2266;g3a6c7b9e349_0_1061"/>
          <p:cNvGrpSpPr/>
          <p:nvPr/>
        </p:nvGrpSpPr>
        <p:grpSpPr>
          <a:xfrm>
            <a:off x="0" y="3109250"/>
            <a:ext cx="5760261" cy="92075"/>
            <a:chOff x="0" y="3109250"/>
            <a:chExt cx="5760261" cy="92075"/>
          </a:xfrm>
        </p:grpSpPr>
        <p:sp>
          <p:nvSpPr>
            <p:cNvPr id="2267" name="Google Shape;2267;g3a6c7b9e349_0_106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8" name="Google Shape;2268;g3a6c7b9e349_0_106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9" name="Google Shape;2269;g3a6c7b9e349_0_106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70" name="Google Shape;2270;g3a6c7b9e349_0_1061"/>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271" name="Google Shape;2271;g3a6c7b9e349_0_106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56</a:t>
            </a:fld>
            <a:r>
              <a:rPr lang="en-US"/>
              <a:t> </a:t>
            </a:r>
            <a:endParaRPr/>
          </a:p>
        </p:txBody>
      </p:sp>
      <p:pic>
        <p:nvPicPr>
          <p:cNvPr id="2272" name="Google Shape;2272;g3a6c7b9e349_0_1061"/>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273" name="Google Shape;2273;g3a6c7b9e349_0_1061"/>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274" name="Google Shape;2274;g3a6c7b9e349_0_1061"/>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275" name="Google Shape;2275;g3a6c7b9e349_0_1061"/>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76" name="Google Shape;2276;g3a6c7b9e349_0_1061"/>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77" name="Google Shape;2277;g3a6c7b9e349_0_1061"/>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278" name="Google Shape;2278;g3a6c7b9e349_0_1061"/>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FF0000"/>
                </a:solidFill>
                <a:latin typeface="Calibri"/>
                <a:ea typeface="Calibri"/>
                <a:cs typeface="Calibri"/>
                <a:sym typeface="Calibri"/>
              </a:rPr>
              <a:t> -3.14          </a:t>
            </a:r>
            <a:r>
              <a:rPr lang="en-US" sz="800" b="0" i="0" u="none" strike="noStrike" cap="none">
                <a:solidFill>
                  <a:schemeClr val="dk1"/>
                </a:solidFill>
                <a:latin typeface="Calibri"/>
                <a:ea typeface="Calibri"/>
                <a:cs typeface="Calibri"/>
                <a:sym typeface="Calibri"/>
              </a:rPr>
              <a:t>0       -10	</a:t>
            </a:r>
            <a:r>
              <a:rPr lang="en-US" sz="800" b="1" i="0" u="none" strike="noStrike" cap="none">
                <a:solidFill>
                  <a:schemeClr val="dk1"/>
                </a:solidFill>
                <a:latin typeface="Calibri"/>
                <a:ea typeface="Calibri"/>
                <a:cs typeface="Calibri"/>
                <a:sym typeface="Calibri"/>
              </a:rPr>
              <a:t>-1.4</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2279" name="Google Shape;2279;g3a6c7b9e349_0_1061"/>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280" name="Google Shape;2280;g3a6c7b9e349_0_1061"/>
          <p:cNvPicPr preferRelativeResize="0"/>
          <p:nvPr/>
        </p:nvPicPr>
        <p:blipFill rotWithShape="1">
          <a:blip r:embed="rId6">
            <a:alphaModFix/>
          </a:blip>
          <a:srcRect/>
          <a:stretch/>
        </p:blipFill>
        <p:spPr>
          <a:xfrm>
            <a:off x="3839748" y="1991159"/>
            <a:ext cx="1923500" cy="995858"/>
          </a:xfrm>
          <a:prstGeom prst="rect">
            <a:avLst/>
          </a:prstGeom>
          <a:noFill/>
          <a:ln>
            <a:noFill/>
          </a:ln>
        </p:spPr>
      </p:pic>
      <p:cxnSp>
        <p:nvCxnSpPr>
          <p:cNvPr id="2281" name="Google Shape;2281;g3a6c7b9e349_0_1061"/>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282" name="Google Shape;2282;g3a6c7b9e349_0_1061"/>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283" name="Google Shape;2283;g3a6c7b9e349_0_1061"/>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284" name="Google Shape;2284;g3a6c7b9e349_0_1061"/>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285" name="Google Shape;2285;g3a6c7b9e349_0_1061"/>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286" name="Google Shape;2286;g3a6c7b9e349_0_1061"/>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287" name="Google Shape;2287;g3a6c7b9e349_0_1061"/>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288" name="Google Shape;2288;g3a6c7b9e349_0_1061"/>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289" name="Google Shape;2289;g3a6c7b9e349_0_1061"/>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290" name="Google Shape;2290;g3a6c7b9e349_0_1061"/>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291" name="Google Shape;2291;g3a6c7b9e349_0_1061"/>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292" name="Google Shape;2292;g3a6c7b9e349_0_1061"/>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293" name="Google Shape;2293;g3a6c7b9e349_0_1061"/>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294" name="Google Shape;2294;g3a6c7b9e349_0_1061"/>
          <p:cNvSpPr txBox="1"/>
          <p:nvPr/>
        </p:nvSpPr>
        <p:spPr>
          <a:xfrm>
            <a:off x="82600" y="1717926"/>
            <a:ext cx="27930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G</a:t>
            </a:r>
            <a:r>
              <a:rPr lang="en-US" sz="700" b="1" i="0" u="none" strike="noStrike" cap="none" baseline="-25000">
                <a:solidFill>
                  <a:schemeClr val="dk1"/>
                </a:solidFill>
                <a:latin typeface="Arial"/>
                <a:ea typeface="Arial"/>
                <a:cs typeface="Arial"/>
                <a:sym typeface="Arial"/>
              </a:rPr>
              <a:t>3</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2 + (0.6)(-10)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2+ (0.6*1) + (0.6*0.6*2) + (0.6*0.6*0.6-10) = 1.16</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295" name="Google Shape;2295;g3a6c7b9e349_0_1061"/>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296" name="Google Shape;2296;g3a6c7b9e349_0_1061"/>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297" name="Google Shape;2297;g3a6c7b9e349_0_1061"/>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298" name="Google Shape;2298;g3a6c7b9e349_0_1061"/>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433725">
                  <a:extLst>
                    <a:ext uri="{9D8B030D-6E8A-4147-A177-3AD203B41FA5}">
                      <a16:colId xmlns:a16="http://schemas.microsoft.com/office/drawing/2014/main" val="20000"/>
                    </a:ext>
                  </a:extLst>
                </a:gridCol>
                <a:gridCol w="33227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-1.4</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2.5</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0</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solidFill>
                            <a:srgbClr val="FF0000"/>
                          </a:solidFill>
                        </a:rPr>
                        <a:t>S</a:t>
                      </a:r>
                      <a:endParaRPr sz="600" b="1" u="none" strike="noStrike" cap="none">
                        <a:solidFill>
                          <a:srgbClr val="FF0000"/>
                        </a:solidFill>
                      </a:endParaRPr>
                    </a:p>
                  </a:txBody>
                  <a:tcPr marL="91450" marR="91450" marT="45725" marB="45725"/>
                </a:tc>
                <a:extLst>
                  <a:ext uri="{0D108BD9-81ED-4DB2-BD59-A6C34878D82A}">
                    <a16:rowId xmlns:a16="http://schemas.microsoft.com/office/drawing/2014/main" val="10005"/>
                  </a:ext>
                </a:extLst>
              </a:tr>
            </a:tbl>
          </a:graphicData>
        </a:graphic>
      </p:graphicFrame>
      <p:sp>
        <p:nvSpPr>
          <p:cNvPr id="2299" name="Google Shape;2299;g3a6c7b9e349_0_1061"/>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a:t>
            </a:r>
            <a:r>
              <a:rPr lang="en-US" sz="800" b="0" i="0" u="none" strike="noStrike" cap="none">
                <a:solidFill>
                  <a:srgbClr val="FF0000"/>
                </a:solidFill>
                <a:latin typeface="Calibri"/>
                <a:ea typeface="Calibri"/>
                <a:cs typeface="Calibri"/>
                <a:sym typeface="Calibri"/>
              </a:rPr>
              <a:t> </a:t>
            </a:r>
            <a:r>
              <a:rPr lang="en-US" sz="800" b="1" i="0" u="none" strike="noStrike" cap="none">
                <a:solidFill>
                  <a:srgbClr val="FF0000"/>
                </a:solidFill>
                <a:latin typeface="Calibri"/>
                <a:ea typeface="Calibri"/>
                <a:cs typeface="Calibri"/>
                <a:sym typeface="Calibri"/>
              </a:rPr>
              <a:t>3.5</a:t>
            </a:r>
            <a:r>
              <a:rPr lang="en-US" sz="800" b="0" i="0" u="none" strike="noStrike" cap="none">
                <a:solidFill>
                  <a:srgbClr val="FF0000"/>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0          1	</a:t>
            </a:r>
            <a:r>
              <a:rPr lang="en-US" sz="800" b="1" i="0" u="none" strike="noStrike" cap="none">
                <a:solidFill>
                  <a:schemeClr val="dk1"/>
                </a:solidFill>
                <a:latin typeface="Calibri"/>
                <a:ea typeface="Calibri"/>
                <a:cs typeface="Calibri"/>
                <a:sym typeface="Calibri"/>
              </a:rPr>
              <a:t>1</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2300" name="Google Shape;2300;g3a6c7b9e349_0_1061"/>
          <p:cNvSpPr/>
          <p:nvPr/>
        </p:nvSpPr>
        <p:spPr>
          <a:xfrm>
            <a:off x="4026096" y="106378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01" name="Google Shape;2301;g3a6c7b9e349_0_1061"/>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302" name="Google Shape;2302;g3a6c7b9e349_0_1061"/>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303" name="Google Shape;2303;g3a6c7b9e349_0_1061"/>
          <p:cNvSpPr/>
          <p:nvPr/>
        </p:nvSpPr>
        <p:spPr>
          <a:xfrm>
            <a:off x="5143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04" name="Google Shape;2304;g3a6c7b9e349_0_1061"/>
          <p:cNvSpPr txBox="1"/>
          <p:nvPr/>
        </p:nvSpPr>
        <p:spPr>
          <a:xfrm>
            <a:off x="3244850" y="2786200"/>
            <a:ext cx="2482500" cy="3516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Continuing to next t=0……..</a:t>
            </a:r>
            <a:endParaRPr/>
          </a:p>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After update observe that the episode terminates </a:t>
            </a:r>
            <a:endParaRPr sz="750" b="1" i="0" u="none" strike="noStrike" cap="none">
              <a:solidFill>
                <a:srgbClr val="1B1472"/>
              </a:solidFill>
              <a:latin typeface="Arial"/>
              <a:ea typeface="Arial"/>
              <a:cs typeface="Arial"/>
              <a:sym typeface="Arial"/>
            </a:endParaRPr>
          </a:p>
        </p:txBody>
      </p:sp>
      <p:sp>
        <p:nvSpPr>
          <p:cNvPr id="2305" name="Google Shape;2305;g3a6c7b9e349_0_1061"/>
          <p:cNvSpPr txBox="1"/>
          <p:nvPr/>
        </p:nvSpPr>
        <p:spPr>
          <a:xfrm>
            <a:off x="82600" y="2509228"/>
            <a:ext cx="1902900" cy="246900"/>
          </a:xfrm>
          <a:prstGeom prst="rect">
            <a:avLst/>
          </a:pr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306" name="Google Shape;2306;g3a6c7b9e349_0_1061"/>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10"/>
        <p:cNvGrpSpPr/>
        <p:nvPr/>
      </p:nvGrpSpPr>
      <p:grpSpPr>
        <a:xfrm>
          <a:off x="0" y="0"/>
          <a:ext cx="0" cy="0"/>
          <a:chOff x="0" y="0"/>
          <a:chExt cx="0" cy="0"/>
        </a:xfrm>
      </p:grpSpPr>
      <p:sp>
        <p:nvSpPr>
          <p:cNvPr id="2311" name="Google Shape;2311;g3a6c7b9e349_0_1107"/>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312" name="Google Shape;2312;g3a6c7b9e349_0_1107"/>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13" name="Google Shape;2313;g3a6c7b9e349_0_1107"/>
          <p:cNvGrpSpPr/>
          <p:nvPr/>
        </p:nvGrpSpPr>
        <p:grpSpPr>
          <a:xfrm>
            <a:off x="0" y="3109250"/>
            <a:ext cx="5760261" cy="92075"/>
            <a:chOff x="0" y="3109250"/>
            <a:chExt cx="5760261" cy="92075"/>
          </a:xfrm>
        </p:grpSpPr>
        <p:sp>
          <p:nvSpPr>
            <p:cNvPr id="2314" name="Google Shape;2314;g3a6c7b9e349_0_110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5" name="Google Shape;2315;g3a6c7b9e349_0_110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6" name="Google Shape;2316;g3a6c7b9e349_0_110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17" name="Google Shape;2317;g3a6c7b9e349_0_1107"/>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318" name="Google Shape;2318;g3a6c7b9e349_0_110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57</a:t>
            </a:fld>
            <a:r>
              <a:rPr lang="en-US"/>
              <a:t> </a:t>
            </a:r>
            <a:endParaRPr/>
          </a:p>
        </p:txBody>
      </p:sp>
      <p:pic>
        <p:nvPicPr>
          <p:cNvPr id="2319" name="Google Shape;2319;g3a6c7b9e349_0_1107"/>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320" name="Google Shape;2320;g3a6c7b9e349_0_1107"/>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321" name="Google Shape;2321;g3a6c7b9e349_0_1107"/>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322" name="Google Shape;2322;g3a6c7b9e349_0_1107"/>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323" name="Google Shape;2323;g3a6c7b9e349_0_1107"/>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324" name="Google Shape;2324;g3a6c7b9e349_0_1107"/>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325" name="Google Shape;2325;g3a6c7b9e349_0_1107"/>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-3.14          0       -10	-1.4       0             0</a:t>
            </a:r>
            <a:endParaRPr sz="300" b="0" i="0" u="none" strike="noStrike" cap="none">
              <a:solidFill>
                <a:schemeClr val="dk1"/>
              </a:solidFill>
              <a:latin typeface="Arial"/>
              <a:ea typeface="Arial"/>
              <a:cs typeface="Arial"/>
              <a:sym typeface="Arial"/>
            </a:endParaRPr>
          </a:p>
        </p:txBody>
      </p:sp>
      <p:sp>
        <p:nvSpPr>
          <p:cNvPr id="2326" name="Google Shape;2326;g3a6c7b9e349_0_1107"/>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327" name="Google Shape;2327;g3a6c7b9e349_0_1107"/>
          <p:cNvPicPr preferRelativeResize="0"/>
          <p:nvPr/>
        </p:nvPicPr>
        <p:blipFill rotWithShape="1">
          <a:blip r:embed="rId6">
            <a:alphaModFix/>
          </a:blip>
          <a:srcRect/>
          <a:stretch/>
        </p:blipFill>
        <p:spPr>
          <a:xfrm>
            <a:off x="3839748" y="1991159"/>
            <a:ext cx="1923500" cy="995858"/>
          </a:xfrm>
          <a:prstGeom prst="rect">
            <a:avLst/>
          </a:prstGeom>
          <a:noFill/>
          <a:ln>
            <a:noFill/>
          </a:ln>
        </p:spPr>
      </p:pic>
      <p:cxnSp>
        <p:nvCxnSpPr>
          <p:cNvPr id="2328" name="Google Shape;2328;g3a6c7b9e349_0_1107"/>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329" name="Google Shape;2329;g3a6c7b9e349_0_1107"/>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330" name="Google Shape;2330;g3a6c7b9e349_0_1107"/>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331" name="Google Shape;2331;g3a6c7b9e349_0_1107"/>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332" name="Google Shape;2332;g3a6c7b9e349_0_1107"/>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333" name="Google Shape;2333;g3a6c7b9e349_0_1107"/>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334" name="Google Shape;2334;g3a6c7b9e349_0_1107"/>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335" name="Google Shape;2335;g3a6c7b9e349_0_1107"/>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336" name="Google Shape;2336;g3a6c7b9e349_0_1107"/>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337" name="Google Shape;2337;g3a6c7b9e349_0_1107"/>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338" name="Google Shape;2338;g3a6c7b9e349_0_1107"/>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339" name="Google Shape;2339;g3a6c7b9e349_0_1107"/>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340" name="Google Shape;2340;g3a6c7b9e349_0_1107"/>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341" name="Google Shape;2341;g3a6c7b9e349_0_1107"/>
          <p:cNvSpPr txBox="1"/>
          <p:nvPr/>
        </p:nvSpPr>
        <p:spPr>
          <a:xfrm>
            <a:off x="82600" y="1717926"/>
            <a:ext cx="2793000" cy="9813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342" name="Google Shape;2342;g3a6c7b9e349_0_1107"/>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343" name="Google Shape;2343;g3a6c7b9e349_0_1107"/>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344" name="Google Shape;2344;g3a6c7b9e349_0_1107"/>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345" name="Google Shape;2345;g3a6c7b9e349_0_1107"/>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45050">
                  <a:extLst>
                    <a:ext uri="{9D8B030D-6E8A-4147-A177-3AD203B41FA5}">
                      <a16:colId xmlns:a16="http://schemas.microsoft.com/office/drawing/2014/main" val="20000"/>
                    </a:ext>
                  </a:extLst>
                </a:gridCol>
                <a:gridCol w="44747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2</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0 🡪-10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2</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solidFill>
                            <a:srgbClr val="FF0000"/>
                          </a:solidFill>
                        </a:rPr>
                        <a:t>S</a:t>
                      </a:r>
                      <a:endParaRPr sz="600" b="1" u="none" strike="noStrike" cap="none">
                        <a:solidFill>
                          <a:srgbClr val="FF0000"/>
                        </a:solidFill>
                      </a:endParaRPr>
                    </a:p>
                  </a:txBody>
                  <a:tcPr marL="91450" marR="91450" marT="45725" marB="45725"/>
                </a:tc>
                <a:extLst>
                  <a:ext uri="{0D108BD9-81ED-4DB2-BD59-A6C34878D82A}">
                    <a16:rowId xmlns:a16="http://schemas.microsoft.com/office/drawing/2014/main" val="10005"/>
                  </a:ext>
                </a:extLst>
              </a:tr>
            </a:tbl>
          </a:graphicData>
        </a:graphic>
      </p:graphicFrame>
      <p:sp>
        <p:nvSpPr>
          <p:cNvPr id="2346" name="Google Shape;2346;g3a6c7b9e349_0_1107"/>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3.5              0        </a:t>
            </a:r>
            <a:r>
              <a:rPr lang="en-US" sz="800" b="1" i="0" u="none" strike="noStrike" cap="none">
                <a:solidFill>
                  <a:srgbClr val="FF0000"/>
                </a:solidFill>
                <a:latin typeface="Calibri"/>
                <a:ea typeface="Calibri"/>
                <a:cs typeface="Calibri"/>
                <a:sym typeface="Calibri"/>
              </a:rPr>
              <a:t>2</a:t>
            </a:r>
            <a:r>
              <a:rPr lang="en-US" sz="800" b="0" i="0" u="none" strike="noStrike" cap="none">
                <a:solidFill>
                  <a:schemeClr val="dk1"/>
                </a:solidFill>
                <a:latin typeface="Calibri"/>
                <a:ea typeface="Calibri"/>
                <a:cs typeface="Calibri"/>
                <a:sym typeface="Calibri"/>
              </a:rPr>
              <a:t>	  1          0             0</a:t>
            </a:r>
            <a:endParaRPr sz="300" b="0" i="0" u="none" strike="noStrike" cap="none">
              <a:solidFill>
                <a:schemeClr val="dk1"/>
              </a:solidFill>
              <a:latin typeface="Arial"/>
              <a:ea typeface="Arial"/>
              <a:cs typeface="Arial"/>
              <a:sym typeface="Arial"/>
            </a:endParaRPr>
          </a:p>
        </p:txBody>
      </p:sp>
      <p:sp>
        <p:nvSpPr>
          <p:cNvPr id="2347" name="Google Shape;2347;g3a6c7b9e349_0_1107"/>
          <p:cNvSpPr/>
          <p:nvPr/>
        </p:nvSpPr>
        <p:spPr>
          <a:xfrm>
            <a:off x="4044959" y="527112"/>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48" name="Google Shape;2348;g3a6c7b9e349_0_1107"/>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349" name="Google Shape;2349;g3a6c7b9e349_0_1107"/>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350" name="Google Shape;2350;g3a6c7b9e349_0_1107"/>
          <p:cNvSpPr/>
          <p:nvPr/>
        </p:nvSpPr>
        <p:spPr>
          <a:xfrm>
            <a:off x="1186763" y="1939512"/>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51" name="Google Shape;2351;g3a6c7b9e349_0_1107"/>
          <p:cNvSpPr txBox="1"/>
          <p:nvPr/>
        </p:nvSpPr>
        <p:spPr>
          <a:xfrm>
            <a:off x="3092450" y="2786200"/>
            <a:ext cx="2634900" cy="3516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Generate new episode from “b” . Continue ……</a:t>
            </a:r>
            <a:endParaRPr/>
          </a:p>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Results of every time-step in Episode 2 is shown</a:t>
            </a:r>
            <a:endParaRPr sz="750" b="1" i="0" u="none" strike="noStrike" cap="none">
              <a:solidFill>
                <a:srgbClr val="1B1472"/>
              </a:solidFill>
              <a:latin typeface="Arial"/>
              <a:ea typeface="Arial"/>
              <a:cs typeface="Arial"/>
              <a:sym typeface="Arial"/>
            </a:endParaRPr>
          </a:p>
        </p:txBody>
      </p:sp>
      <p:sp>
        <p:nvSpPr>
          <p:cNvPr id="2352" name="Google Shape;2352;g3a6c7b9e349_0_1107"/>
          <p:cNvSpPr txBox="1"/>
          <p:nvPr/>
        </p:nvSpPr>
        <p:spPr>
          <a:xfrm>
            <a:off x="54070" y="2369191"/>
            <a:ext cx="1902900" cy="244500"/>
          </a:xfrm>
          <a:prstGeom prst="rect">
            <a:avLst/>
          </a:pr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353" name="Google Shape;2353;g3a6c7b9e349_0_1107"/>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357"/>
        <p:cNvGrpSpPr/>
        <p:nvPr/>
      </p:nvGrpSpPr>
      <p:grpSpPr>
        <a:xfrm>
          <a:off x="0" y="0"/>
          <a:ext cx="0" cy="0"/>
          <a:chOff x="0" y="0"/>
          <a:chExt cx="0" cy="0"/>
        </a:xfrm>
      </p:grpSpPr>
      <p:sp>
        <p:nvSpPr>
          <p:cNvPr id="2358" name="Google Shape;2358;g3a6c7b9e349_0_115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359" name="Google Shape;2359;g3a6c7b9e349_0_115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60" name="Google Shape;2360;g3a6c7b9e349_0_1153"/>
          <p:cNvGrpSpPr/>
          <p:nvPr/>
        </p:nvGrpSpPr>
        <p:grpSpPr>
          <a:xfrm>
            <a:off x="0" y="3109250"/>
            <a:ext cx="5760261" cy="92075"/>
            <a:chOff x="0" y="3109250"/>
            <a:chExt cx="5760261" cy="92075"/>
          </a:xfrm>
        </p:grpSpPr>
        <p:sp>
          <p:nvSpPr>
            <p:cNvPr id="2361" name="Google Shape;2361;g3a6c7b9e349_0_115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2" name="Google Shape;2362;g3a6c7b9e349_0_115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3" name="Google Shape;2363;g3a6c7b9e349_0_115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64" name="Google Shape;2364;g3a6c7b9e349_0_115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365" name="Google Shape;2365;g3a6c7b9e349_0_115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58</a:t>
            </a:fld>
            <a:r>
              <a:rPr lang="en-US"/>
              <a:t> </a:t>
            </a:r>
            <a:endParaRPr/>
          </a:p>
        </p:txBody>
      </p:sp>
      <p:pic>
        <p:nvPicPr>
          <p:cNvPr id="2366" name="Google Shape;2366;g3a6c7b9e349_0_1153"/>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367" name="Google Shape;2367;g3a6c7b9e349_0_1153"/>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368" name="Google Shape;2368;g3a6c7b9e349_0_1153"/>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369" name="Google Shape;2369;g3a6c7b9e349_0_115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370" name="Google Shape;2370;g3a6c7b9e349_0_115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371" name="Google Shape;2371;g3a6c7b9e349_0_115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372" name="Google Shape;2372;g3a6c7b9e349_0_115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rgbClr val="FF0000"/>
                </a:solidFill>
                <a:latin typeface="Calibri"/>
                <a:ea typeface="Calibri"/>
                <a:cs typeface="Calibri"/>
                <a:sym typeface="Calibri"/>
              </a:rPr>
              <a:t>-7.01</a:t>
            </a:r>
            <a:r>
              <a:rPr lang="en-US" sz="800" b="0" i="0" u="none" strike="noStrike" cap="none">
                <a:solidFill>
                  <a:schemeClr val="dk1"/>
                </a:solidFill>
                <a:latin typeface="Calibri"/>
                <a:ea typeface="Calibri"/>
                <a:cs typeface="Calibri"/>
                <a:sym typeface="Calibri"/>
              </a:rPr>
              <a:t>         0       -10	-1.4       0             0</a:t>
            </a:r>
            <a:endParaRPr sz="300" b="0" i="0" u="none" strike="noStrike" cap="none">
              <a:solidFill>
                <a:schemeClr val="dk1"/>
              </a:solidFill>
              <a:latin typeface="Arial"/>
              <a:ea typeface="Arial"/>
              <a:cs typeface="Arial"/>
              <a:sym typeface="Arial"/>
            </a:endParaRPr>
          </a:p>
        </p:txBody>
      </p:sp>
      <p:sp>
        <p:nvSpPr>
          <p:cNvPr id="2373" name="Google Shape;2373;g3a6c7b9e349_0_115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374" name="Google Shape;2374;g3a6c7b9e349_0_1153"/>
          <p:cNvPicPr preferRelativeResize="0"/>
          <p:nvPr/>
        </p:nvPicPr>
        <p:blipFill rotWithShape="1">
          <a:blip r:embed="rId6">
            <a:alphaModFix/>
          </a:blip>
          <a:srcRect/>
          <a:stretch/>
        </p:blipFill>
        <p:spPr>
          <a:xfrm>
            <a:off x="3839748" y="1991159"/>
            <a:ext cx="1923500" cy="995858"/>
          </a:xfrm>
          <a:prstGeom prst="rect">
            <a:avLst/>
          </a:prstGeom>
          <a:noFill/>
          <a:ln>
            <a:noFill/>
          </a:ln>
        </p:spPr>
      </p:pic>
      <p:cxnSp>
        <p:nvCxnSpPr>
          <p:cNvPr id="2375" name="Google Shape;2375;g3a6c7b9e349_0_115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376" name="Google Shape;2376;g3a6c7b9e349_0_115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377" name="Google Shape;2377;g3a6c7b9e349_0_115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378" name="Google Shape;2378;g3a6c7b9e349_0_115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379" name="Google Shape;2379;g3a6c7b9e349_0_115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380" name="Google Shape;2380;g3a6c7b9e349_0_115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381" name="Google Shape;2381;g3a6c7b9e349_0_1153"/>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382" name="Google Shape;2382;g3a6c7b9e349_0_1153"/>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383" name="Google Shape;2383;g3a6c7b9e349_0_1153"/>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384" name="Google Shape;2384;g3a6c7b9e349_0_1153"/>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385" name="Google Shape;2385;g3a6c7b9e349_0_1153"/>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386" name="Google Shape;2386;g3a6c7b9e349_0_1153"/>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387" name="Google Shape;2387;g3a6c7b9e349_0_1153"/>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388" name="Google Shape;2388;g3a6c7b9e349_0_1153"/>
          <p:cNvSpPr txBox="1"/>
          <p:nvPr/>
        </p:nvSpPr>
        <p:spPr>
          <a:xfrm>
            <a:off x="82600" y="1717926"/>
            <a:ext cx="27930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2 + (0.6)(-10) = -4  </a:t>
            </a:r>
            <a:endParaRPr sz="7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389" name="Google Shape;2389;g3a6c7b9e349_0_1153"/>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390" name="Google Shape;2390;g3a6c7b9e349_0_1153"/>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391" name="Google Shape;2391;g3a6c7b9e349_0_1153"/>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392" name="Google Shape;2392;g3a6c7b9e349_0_1153"/>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45050">
                  <a:extLst>
                    <a:ext uri="{9D8B030D-6E8A-4147-A177-3AD203B41FA5}">
                      <a16:colId xmlns:a16="http://schemas.microsoft.com/office/drawing/2014/main" val="20000"/>
                    </a:ext>
                  </a:extLst>
                </a:gridCol>
                <a:gridCol w="44747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2</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-10🡪-4</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1</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F</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solidFill>
                            <a:srgbClr val="FF0000"/>
                          </a:solidFill>
                        </a:rPr>
                        <a:t>S</a:t>
                      </a:r>
                      <a:endParaRPr sz="600" b="1" u="none" strike="noStrike" cap="none">
                        <a:solidFill>
                          <a:srgbClr val="FF0000"/>
                        </a:solidFill>
                      </a:endParaRPr>
                    </a:p>
                  </a:txBody>
                  <a:tcPr marL="91450" marR="91450" marT="45725" marB="45725"/>
                </a:tc>
                <a:extLst>
                  <a:ext uri="{0D108BD9-81ED-4DB2-BD59-A6C34878D82A}">
                    <a16:rowId xmlns:a16="http://schemas.microsoft.com/office/drawing/2014/main" val="10005"/>
                  </a:ext>
                </a:extLst>
              </a:tr>
            </a:tbl>
          </a:graphicData>
        </a:graphic>
      </p:graphicFrame>
      <p:sp>
        <p:nvSpPr>
          <p:cNvPr id="2393" name="Google Shape;2393;g3a6c7b9e349_0_1153"/>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rgbClr val="FF0000"/>
                </a:solidFill>
                <a:latin typeface="Calibri"/>
                <a:ea typeface="Calibri"/>
                <a:cs typeface="Calibri"/>
                <a:sym typeface="Calibri"/>
              </a:rPr>
              <a:t>4.5</a:t>
            </a:r>
            <a:r>
              <a:rPr lang="en-US" sz="800" b="0" i="0" u="none" strike="noStrike" cap="none">
                <a:solidFill>
                  <a:schemeClr val="dk1"/>
                </a:solidFill>
                <a:latin typeface="Calibri"/>
                <a:ea typeface="Calibri"/>
                <a:cs typeface="Calibri"/>
                <a:sym typeface="Calibri"/>
              </a:rPr>
              <a:t>              0        2	  1          0             0</a:t>
            </a:r>
            <a:endParaRPr sz="300" b="0" i="0" u="none" strike="noStrike" cap="none">
              <a:solidFill>
                <a:schemeClr val="dk1"/>
              </a:solidFill>
              <a:latin typeface="Arial"/>
              <a:ea typeface="Arial"/>
              <a:cs typeface="Arial"/>
              <a:sym typeface="Arial"/>
            </a:endParaRPr>
          </a:p>
        </p:txBody>
      </p:sp>
      <p:sp>
        <p:nvSpPr>
          <p:cNvPr id="2394" name="Google Shape;2394;g3a6c7b9e349_0_1153"/>
          <p:cNvSpPr/>
          <p:nvPr/>
        </p:nvSpPr>
        <p:spPr>
          <a:xfrm>
            <a:off x="4044959" y="787462"/>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95" name="Google Shape;2395;g3a6c7b9e349_0_1153"/>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396" name="Google Shape;2396;g3a6c7b9e349_0_1153"/>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397" name="Google Shape;2397;g3a6c7b9e349_0_1153"/>
          <p:cNvSpPr/>
          <p:nvPr/>
        </p:nvSpPr>
        <p:spPr>
          <a:xfrm>
            <a:off x="875613" y="1939512"/>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98" name="Google Shape;2398;g3a6c7b9e349_0_1153"/>
          <p:cNvSpPr txBox="1"/>
          <p:nvPr/>
        </p:nvSpPr>
        <p:spPr>
          <a:xfrm>
            <a:off x="3092450" y="2786200"/>
            <a:ext cx="2634900" cy="3516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Continue ……</a:t>
            </a:r>
            <a:endParaRPr/>
          </a:p>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Results of every time-step in Episode 2 is shown</a:t>
            </a:r>
            <a:endParaRPr sz="750" b="1" i="0" u="none" strike="noStrike" cap="none">
              <a:solidFill>
                <a:srgbClr val="1B1472"/>
              </a:solidFill>
              <a:latin typeface="Arial"/>
              <a:ea typeface="Arial"/>
              <a:cs typeface="Arial"/>
              <a:sym typeface="Arial"/>
            </a:endParaRPr>
          </a:p>
        </p:txBody>
      </p:sp>
      <p:sp>
        <p:nvSpPr>
          <p:cNvPr id="2399" name="Google Shape;2399;g3a6c7b9e349_0_1153"/>
          <p:cNvSpPr txBox="1"/>
          <p:nvPr/>
        </p:nvSpPr>
        <p:spPr>
          <a:xfrm>
            <a:off x="54070" y="2369191"/>
            <a:ext cx="2022300" cy="246300"/>
          </a:xfrm>
          <a:prstGeom prst="rect">
            <a:avLst/>
          </a:pr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400" name="Google Shape;2400;g3a6c7b9e349_0_1153"/>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404"/>
        <p:cNvGrpSpPr/>
        <p:nvPr/>
      </p:nvGrpSpPr>
      <p:grpSpPr>
        <a:xfrm>
          <a:off x="0" y="0"/>
          <a:ext cx="0" cy="0"/>
          <a:chOff x="0" y="0"/>
          <a:chExt cx="0" cy="0"/>
        </a:xfrm>
      </p:grpSpPr>
      <p:sp>
        <p:nvSpPr>
          <p:cNvPr id="2405" name="Google Shape;2405;g3a6c7b9e349_0_1199"/>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406" name="Google Shape;2406;g3a6c7b9e349_0_1199"/>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07" name="Google Shape;2407;g3a6c7b9e349_0_1199"/>
          <p:cNvGrpSpPr/>
          <p:nvPr/>
        </p:nvGrpSpPr>
        <p:grpSpPr>
          <a:xfrm>
            <a:off x="0" y="3109250"/>
            <a:ext cx="5760261" cy="92075"/>
            <a:chOff x="0" y="3109250"/>
            <a:chExt cx="5760261" cy="92075"/>
          </a:xfrm>
        </p:grpSpPr>
        <p:sp>
          <p:nvSpPr>
            <p:cNvPr id="2408" name="Google Shape;2408;g3a6c7b9e349_0_119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9" name="Google Shape;2409;g3a6c7b9e349_0_119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0" name="Google Shape;2410;g3a6c7b9e349_0_119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11" name="Google Shape;2411;g3a6c7b9e349_0_1199"/>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412" name="Google Shape;2412;g3a6c7b9e349_0_119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59</a:t>
            </a:fld>
            <a:r>
              <a:rPr lang="en-US"/>
              <a:t> </a:t>
            </a:r>
            <a:endParaRPr/>
          </a:p>
        </p:txBody>
      </p:sp>
      <p:pic>
        <p:nvPicPr>
          <p:cNvPr id="2413" name="Google Shape;2413;g3a6c7b9e349_0_1199"/>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414" name="Google Shape;2414;g3a6c7b9e349_0_1199"/>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415" name="Google Shape;2415;g3a6c7b9e349_0_1199"/>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416" name="Google Shape;2416;g3a6c7b9e349_0_1199"/>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417" name="Google Shape;2417;g3a6c7b9e349_0_1199"/>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418" name="Google Shape;2418;g3a6c7b9e349_0_1199"/>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419" name="Google Shape;2419;g3a6c7b9e349_0_1199"/>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-7.01     </a:t>
            </a:r>
            <a:r>
              <a:rPr lang="en-US" sz="800" b="1" i="0" u="none" strike="noStrike" cap="none">
                <a:solidFill>
                  <a:srgbClr val="FF0000"/>
                </a:solidFill>
                <a:latin typeface="Calibri"/>
                <a:ea typeface="Calibri"/>
                <a:cs typeface="Calibri"/>
                <a:sym typeface="Calibri"/>
              </a:rPr>
              <a:t>-1.4</a:t>
            </a:r>
            <a:r>
              <a:rPr lang="en-US" sz="800" b="0" i="0" u="none" strike="noStrike" cap="none">
                <a:solidFill>
                  <a:schemeClr val="dk1"/>
                </a:solidFill>
                <a:latin typeface="Calibri"/>
                <a:ea typeface="Calibri"/>
                <a:cs typeface="Calibri"/>
                <a:sym typeface="Calibri"/>
              </a:rPr>
              <a:t>       -10	-1.4       0             0</a:t>
            </a:r>
            <a:endParaRPr sz="300" b="0" i="0" u="none" strike="noStrike" cap="none">
              <a:solidFill>
                <a:schemeClr val="dk1"/>
              </a:solidFill>
              <a:latin typeface="Arial"/>
              <a:ea typeface="Arial"/>
              <a:cs typeface="Arial"/>
              <a:sym typeface="Arial"/>
            </a:endParaRPr>
          </a:p>
        </p:txBody>
      </p:sp>
      <p:sp>
        <p:nvSpPr>
          <p:cNvPr id="2420" name="Google Shape;2420;g3a6c7b9e349_0_1199"/>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421" name="Google Shape;2421;g3a6c7b9e349_0_1199"/>
          <p:cNvPicPr preferRelativeResize="0"/>
          <p:nvPr/>
        </p:nvPicPr>
        <p:blipFill rotWithShape="1">
          <a:blip r:embed="rId6">
            <a:alphaModFix/>
          </a:blip>
          <a:srcRect/>
          <a:stretch/>
        </p:blipFill>
        <p:spPr>
          <a:xfrm>
            <a:off x="3839748" y="1991159"/>
            <a:ext cx="1923500" cy="995858"/>
          </a:xfrm>
          <a:prstGeom prst="rect">
            <a:avLst/>
          </a:prstGeom>
          <a:noFill/>
          <a:ln>
            <a:noFill/>
          </a:ln>
        </p:spPr>
      </p:pic>
      <p:cxnSp>
        <p:nvCxnSpPr>
          <p:cNvPr id="2422" name="Google Shape;2422;g3a6c7b9e349_0_1199"/>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423" name="Google Shape;2423;g3a6c7b9e349_0_1199"/>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424" name="Google Shape;2424;g3a6c7b9e349_0_1199"/>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425" name="Google Shape;2425;g3a6c7b9e349_0_1199"/>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426" name="Google Shape;2426;g3a6c7b9e349_0_1199"/>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427" name="Google Shape;2427;g3a6c7b9e349_0_1199"/>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428" name="Google Shape;2428;g3a6c7b9e349_0_1199"/>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429" name="Google Shape;2429;g3a6c7b9e349_0_1199"/>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430" name="Google Shape;2430;g3a6c7b9e349_0_1199"/>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431" name="Google Shape;2431;g3a6c7b9e349_0_1199"/>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432" name="Google Shape;2432;g3a6c7b9e349_0_1199"/>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433" name="Google Shape;2433;g3a6c7b9e349_0_1199"/>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434" name="Google Shape;2434;g3a6c7b9e349_0_1199"/>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435" name="Google Shape;2435;g3a6c7b9e349_0_1199"/>
          <p:cNvSpPr txBox="1"/>
          <p:nvPr/>
        </p:nvSpPr>
        <p:spPr>
          <a:xfrm>
            <a:off x="82600" y="1717926"/>
            <a:ext cx="2793000" cy="14121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G=0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G</a:t>
            </a:r>
            <a:r>
              <a:rPr lang="en-US" sz="700" b="1" i="0" u="none" strike="noStrike" cap="none" baseline="-25000">
                <a:solidFill>
                  <a:schemeClr val="dk1"/>
                </a:solidFill>
                <a:latin typeface="Arial"/>
                <a:ea typeface="Arial"/>
                <a:cs typeface="Arial"/>
                <a:sym typeface="Arial"/>
              </a:rPr>
              <a:t>2</a:t>
            </a:r>
            <a:r>
              <a:rPr lang="en-US" sz="700" b="1" i="0" u="none" strike="noStrike" cap="none">
                <a:solidFill>
                  <a:schemeClr val="dk1"/>
                </a:solidFill>
                <a:latin typeface="Arial"/>
                <a:ea typeface="Arial"/>
                <a:cs typeface="Arial"/>
                <a:sym typeface="Arial"/>
              </a:rPr>
              <a:t> = -10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G</a:t>
            </a:r>
            <a:r>
              <a:rPr lang="en-US" sz="700" b="1" i="0" u="none" strike="noStrike" cap="none" baseline="-25000">
                <a:solidFill>
                  <a:schemeClr val="dk1"/>
                </a:solidFill>
                <a:latin typeface="Arial"/>
                <a:ea typeface="Arial"/>
                <a:cs typeface="Arial"/>
                <a:sym typeface="Arial"/>
              </a:rPr>
              <a:t>1</a:t>
            </a:r>
            <a:r>
              <a:rPr lang="en-US" sz="700" b="1" i="0" u="none" strike="noStrike" cap="none">
                <a:solidFill>
                  <a:schemeClr val="dk1"/>
                </a:solidFill>
                <a:latin typeface="Arial"/>
                <a:ea typeface="Arial"/>
                <a:cs typeface="Arial"/>
                <a:sym typeface="Arial"/>
              </a:rPr>
              <a:t> = 2 + (0.6)(-10) = -4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G</a:t>
            </a:r>
            <a:r>
              <a:rPr lang="en-US" sz="700" b="1" i="0" u="none" strike="noStrike" cap="none" baseline="-25000">
                <a:solidFill>
                  <a:schemeClr val="dk1"/>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 = 1+ (0.6*2) + (0.6*0.6*-10) = -1.4</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a:t>
            </a:r>
            <a:endParaRPr sz="7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436" name="Google Shape;2436;g3a6c7b9e349_0_1199"/>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437" name="Google Shape;2437;g3a6c7b9e349_0_1199"/>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438" name="Google Shape;2438;g3a6c7b9e349_0_1199"/>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439" name="Google Shape;2439;g3a6c7b9e349_0_1199"/>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66300">
                  <a:extLst>
                    <a:ext uri="{9D8B030D-6E8A-4147-A177-3AD203B41FA5}">
                      <a16:colId xmlns:a16="http://schemas.microsoft.com/office/drawing/2014/main" val="20000"/>
                    </a:ext>
                  </a:extLst>
                </a:gridCol>
                <a:gridCol w="47502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2</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-4🡪-1.4</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solidFill>
                            <a:srgbClr val="FF0000"/>
                          </a:solidFill>
                        </a:rPr>
                        <a:t>1.67</a:t>
                      </a:r>
                      <a:endParaRPr sz="600" b="1" u="none" strike="noStrike" cap="none">
                        <a:solidFill>
                          <a:srgbClr val="FF0000"/>
                        </a:solidFill>
                      </a:endParaRPr>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t>0</a:t>
                      </a:r>
                      <a:endParaRPr sz="600" b="1" u="none" strike="noStrike" cap="none"/>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u="none" strike="noStrike" cap="none"/>
                        <a:t>S</a:t>
                      </a:r>
                      <a:endParaRPr sz="600" u="none" strike="noStrike" cap="none"/>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600" b="1" u="none" strike="noStrike" cap="none">
                          <a:solidFill>
                            <a:srgbClr val="FF0000"/>
                          </a:solidFill>
                        </a:rPr>
                        <a:t>S</a:t>
                      </a:r>
                      <a:endParaRPr sz="600" b="1" u="none" strike="noStrike" cap="none">
                        <a:solidFill>
                          <a:srgbClr val="FF0000"/>
                        </a:solidFill>
                      </a:endParaRPr>
                    </a:p>
                  </a:txBody>
                  <a:tcPr marL="91450" marR="91450" marT="45725" marB="45725"/>
                </a:tc>
                <a:extLst>
                  <a:ext uri="{0D108BD9-81ED-4DB2-BD59-A6C34878D82A}">
                    <a16:rowId xmlns:a16="http://schemas.microsoft.com/office/drawing/2014/main" val="10005"/>
                  </a:ext>
                </a:extLst>
              </a:tr>
            </a:tbl>
          </a:graphicData>
        </a:graphic>
      </p:graphicFrame>
      <p:sp>
        <p:nvSpPr>
          <p:cNvPr id="2440" name="Google Shape;2440;g3a6c7b9e349_0_1199"/>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4.5            </a:t>
            </a:r>
            <a:r>
              <a:rPr lang="en-US" sz="800" b="1" i="0" u="none" strike="noStrike" cap="none">
                <a:solidFill>
                  <a:srgbClr val="FF0000"/>
                </a:solidFill>
                <a:latin typeface="Calibri"/>
                <a:ea typeface="Calibri"/>
                <a:cs typeface="Calibri"/>
                <a:sym typeface="Calibri"/>
              </a:rPr>
              <a:t> 1</a:t>
            </a:r>
            <a:r>
              <a:rPr lang="en-US" sz="800" b="0" i="0" u="none" strike="noStrike" cap="none">
                <a:solidFill>
                  <a:schemeClr val="dk1"/>
                </a:solidFill>
                <a:latin typeface="Calibri"/>
                <a:ea typeface="Calibri"/>
                <a:cs typeface="Calibri"/>
                <a:sym typeface="Calibri"/>
              </a:rPr>
              <a:t>        2	  1          0             0</a:t>
            </a:r>
            <a:endParaRPr sz="300" b="0" i="0" u="none" strike="noStrike" cap="none">
              <a:solidFill>
                <a:schemeClr val="dk1"/>
              </a:solidFill>
              <a:latin typeface="Arial"/>
              <a:ea typeface="Arial"/>
              <a:cs typeface="Arial"/>
              <a:sym typeface="Arial"/>
            </a:endParaRPr>
          </a:p>
        </p:txBody>
      </p:sp>
      <p:sp>
        <p:nvSpPr>
          <p:cNvPr id="2441" name="Google Shape;2441;g3a6c7b9e349_0_1199"/>
          <p:cNvSpPr/>
          <p:nvPr/>
        </p:nvSpPr>
        <p:spPr>
          <a:xfrm>
            <a:off x="4044959" y="787462"/>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442" name="Google Shape;2442;g3a6c7b9e349_0_1199"/>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443" name="Google Shape;2443;g3a6c7b9e349_0_1199"/>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444" name="Google Shape;2444;g3a6c7b9e349_0_1199"/>
          <p:cNvSpPr/>
          <p:nvPr/>
        </p:nvSpPr>
        <p:spPr>
          <a:xfrm>
            <a:off x="513663" y="1939512"/>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45" name="Google Shape;2445;g3a6c7b9e349_0_1199"/>
          <p:cNvSpPr txBox="1"/>
          <p:nvPr/>
        </p:nvSpPr>
        <p:spPr>
          <a:xfrm>
            <a:off x="3092450" y="2786200"/>
            <a:ext cx="2634900" cy="3516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This completes processing second episode. Continue next episode</a:t>
            </a:r>
            <a:endParaRPr sz="750" b="1" i="0" u="none" strike="noStrike" cap="none">
              <a:solidFill>
                <a:srgbClr val="1B1472"/>
              </a:solidFill>
              <a:latin typeface="Arial"/>
              <a:ea typeface="Arial"/>
              <a:cs typeface="Arial"/>
              <a:sym typeface="Arial"/>
            </a:endParaRPr>
          </a:p>
        </p:txBody>
      </p:sp>
      <p:sp>
        <p:nvSpPr>
          <p:cNvPr id="2446" name="Google Shape;2446;g3a6c7b9e349_0_1199"/>
          <p:cNvSpPr txBox="1"/>
          <p:nvPr/>
        </p:nvSpPr>
        <p:spPr>
          <a:xfrm>
            <a:off x="80402" y="2540052"/>
            <a:ext cx="2022300" cy="244500"/>
          </a:xfrm>
          <a:prstGeom prst="rect">
            <a:avLst/>
          </a:pr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447" name="Google Shape;2447;g3a6c7b9e349_0_1199"/>
          <p:cNvSpPr txBox="1"/>
          <p:nvPr/>
        </p:nvSpPr>
        <p:spPr>
          <a:xfrm>
            <a:off x="3178226" y="785712"/>
            <a:ext cx="764100" cy="415500"/>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W = 1/b(S|W) </a:t>
            </a:r>
            <a:endParaRPr/>
          </a:p>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 1/0.6</a:t>
            </a:r>
            <a:endParaRPr/>
          </a:p>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=~1.67</a:t>
            </a:r>
            <a:endParaRPr sz="700" b="0" i="0" u="none" strike="noStrike" cap="none">
              <a:solidFill>
                <a:srgbClr val="000000"/>
              </a:solidFill>
              <a:latin typeface="Arial"/>
              <a:ea typeface="Arial"/>
              <a:cs typeface="Arial"/>
              <a:sym typeface="Arial"/>
            </a:endParaRPr>
          </a:p>
        </p:txBody>
      </p:sp>
      <p:cxnSp>
        <p:nvCxnSpPr>
          <p:cNvPr id="2448" name="Google Shape;2448;g3a6c7b9e349_0_1199"/>
          <p:cNvCxnSpPr>
            <a:stCxn id="2447" idx="1"/>
          </p:cNvCxnSpPr>
          <p:nvPr/>
        </p:nvCxnSpPr>
        <p:spPr>
          <a:xfrm flipH="1">
            <a:off x="2987126" y="993462"/>
            <a:ext cx="191100" cy="900"/>
          </a:xfrm>
          <a:prstGeom prst="straightConnector1">
            <a:avLst/>
          </a:prstGeom>
          <a:noFill/>
          <a:ln w="9525" cap="flat" cmpd="sng">
            <a:solidFill>
              <a:srgbClr val="4A7DBA"/>
            </a:solidFill>
            <a:prstDash val="solid"/>
            <a:round/>
            <a:headEnd type="none" w="sm" len="sm"/>
            <a:tailEnd type="triangle" w="med" len="med"/>
          </a:ln>
        </p:spPr>
      </p:cxnSp>
      <p:sp>
        <p:nvSpPr>
          <p:cNvPr id="2449" name="Google Shape;2449;g3a6c7b9e349_0_1199"/>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53"/>
        <p:cNvGrpSpPr/>
        <p:nvPr/>
      </p:nvGrpSpPr>
      <p:grpSpPr>
        <a:xfrm>
          <a:off x="0" y="0"/>
          <a:ext cx="0" cy="0"/>
          <a:chOff x="0" y="0"/>
          <a:chExt cx="0" cy="0"/>
        </a:xfrm>
      </p:grpSpPr>
      <p:sp>
        <p:nvSpPr>
          <p:cNvPr id="2454" name="Google Shape;2454;g3a6c7b9e349_0_1247"/>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 Methods</a:t>
            </a:r>
            <a:endParaRPr/>
          </a:p>
        </p:txBody>
      </p:sp>
      <p:pic>
        <p:nvPicPr>
          <p:cNvPr id="2455" name="Google Shape;2455;g3a6c7b9e349_0_1247"/>
          <p:cNvPicPr preferRelativeResize="0"/>
          <p:nvPr/>
        </p:nvPicPr>
        <p:blipFill rotWithShape="1">
          <a:blip r:embed="rId3">
            <a:alphaModFix/>
          </a:blip>
          <a:srcRect/>
          <a:stretch/>
        </p:blipFill>
        <p:spPr>
          <a:xfrm>
            <a:off x="219002" y="583532"/>
            <a:ext cx="121259" cy="121259"/>
          </a:xfrm>
          <a:prstGeom prst="rect">
            <a:avLst/>
          </a:prstGeom>
          <a:noFill/>
          <a:ln>
            <a:noFill/>
          </a:ln>
        </p:spPr>
      </p:pic>
      <p:sp>
        <p:nvSpPr>
          <p:cNvPr id="2456" name="Google Shape;2456;g3a6c7b9e349_0_1247"/>
          <p:cNvSpPr txBox="1"/>
          <p:nvPr/>
        </p:nvSpPr>
        <p:spPr>
          <a:xfrm>
            <a:off x="245952" y="573682"/>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sp>
        <p:nvSpPr>
          <p:cNvPr id="2457" name="Google Shape;2457;g3a6c7b9e349_0_1247"/>
          <p:cNvSpPr txBox="1"/>
          <p:nvPr/>
        </p:nvSpPr>
        <p:spPr>
          <a:xfrm>
            <a:off x="406632" y="537309"/>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Given</a:t>
            </a:r>
            <a:endParaRPr sz="1050" b="0" i="0" u="none" strike="noStrike" cap="none">
              <a:solidFill>
                <a:srgbClr val="000000"/>
              </a:solidFill>
              <a:latin typeface="Arial"/>
              <a:ea typeface="Arial"/>
              <a:cs typeface="Arial"/>
              <a:sym typeface="Arial"/>
            </a:endParaRPr>
          </a:p>
        </p:txBody>
      </p:sp>
      <p:sp>
        <p:nvSpPr>
          <p:cNvPr id="2458" name="Google Shape;2458;g3a6c7b9e349_0_1247"/>
          <p:cNvSpPr txBox="1"/>
          <p:nvPr/>
        </p:nvSpPr>
        <p:spPr>
          <a:xfrm>
            <a:off x="536451" y="732781"/>
            <a:ext cx="24963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 A, optionally R(s, a, s`) </a:t>
            </a:r>
            <a:endParaRPr sz="950" b="0" i="0" u="none" strike="noStrike" cap="none">
              <a:solidFill>
                <a:srgbClr val="000000"/>
              </a:solidFill>
              <a:latin typeface="Arial"/>
              <a:ea typeface="Arial"/>
              <a:cs typeface="Arial"/>
              <a:sym typeface="Arial"/>
            </a:endParaRPr>
          </a:p>
        </p:txBody>
      </p:sp>
      <p:grpSp>
        <p:nvGrpSpPr>
          <p:cNvPr id="2459" name="Google Shape;2459;g3a6c7b9e349_0_1247"/>
          <p:cNvGrpSpPr/>
          <p:nvPr/>
        </p:nvGrpSpPr>
        <p:grpSpPr>
          <a:xfrm>
            <a:off x="219002" y="990948"/>
            <a:ext cx="121259" cy="528662"/>
            <a:chOff x="456996" y="1391780"/>
            <a:chExt cx="121259" cy="528662"/>
          </a:xfrm>
        </p:grpSpPr>
        <p:pic>
          <p:nvPicPr>
            <p:cNvPr id="2460" name="Google Shape;2460;g3a6c7b9e349_0_1247"/>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2461" name="Google Shape;2461;g3a6c7b9e349_0_1247"/>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2462" name="Google Shape;2462;g3a6c7b9e349_0_1247"/>
          <p:cNvSpPr txBox="1"/>
          <p:nvPr/>
        </p:nvSpPr>
        <p:spPr>
          <a:xfrm>
            <a:off x="245952" y="981098"/>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sp>
        <p:nvSpPr>
          <p:cNvPr id="2463" name="Google Shape;2463;g3a6c7b9e349_0_1247"/>
          <p:cNvSpPr txBox="1"/>
          <p:nvPr/>
        </p:nvSpPr>
        <p:spPr>
          <a:xfrm>
            <a:off x="406632" y="944712"/>
            <a:ext cx="13062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To find</a:t>
            </a:r>
            <a:endParaRPr sz="1050" b="0" i="0" u="none" strike="noStrike" cap="none">
              <a:solidFill>
                <a:srgbClr val="000000"/>
              </a:solidFill>
              <a:latin typeface="Arial"/>
              <a:ea typeface="Arial"/>
              <a:cs typeface="Arial"/>
              <a:sym typeface="Arial"/>
            </a:endParaRPr>
          </a:p>
        </p:txBody>
      </p:sp>
      <p:sp>
        <p:nvSpPr>
          <p:cNvPr id="2464" name="Google Shape;2464;g3a6c7b9e349_0_1247"/>
          <p:cNvSpPr txBox="1"/>
          <p:nvPr/>
        </p:nvSpPr>
        <p:spPr>
          <a:xfrm>
            <a:off x="536451" y="1140197"/>
            <a:ext cx="26817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π . This is referred to as </a:t>
            </a:r>
            <a:r>
              <a:rPr lang="en-US" sz="950" b="1" i="0" u="none" strike="noStrike" cap="none">
                <a:solidFill>
                  <a:srgbClr val="000000"/>
                </a:solidFill>
                <a:latin typeface="Arial"/>
                <a:ea typeface="Arial"/>
                <a:cs typeface="Arial"/>
                <a:sym typeface="Arial"/>
              </a:rPr>
              <a:t>TARGET</a:t>
            </a:r>
            <a:r>
              <a:rPr lang="en-US" sz="950" b="0" i="0" u="none" strike="noStrike" cap="none">
                <a:solidFill>
                  <a:srgbClr val="000000"/>
                </a:solidFill>
                <a:latin typeface="Arial"/>
                <a:ea typeface="Arial"/>
                <a:cs typeface="Arial"/>
                <a:sym typeface="Arial"/>
              </a:rPr>
              <a:t> policy</a:t>
            </a:r>
            <a:endParaRPr sz="950" b="0" i="0" u="none" strike="noStrike" cap="none">
              <a:solidFill>
                <a:srgbClr val="000000"/>
              </a:solidFill>
              <a:latin typeface="Arial"/>
              <a:ea typeface="Arial"/>
              <a:cs typeface="Arial"/>
              <a:sym typeface="Arial"/>
            </a:endParaRPr>
          </a:p>
        </p:txBody>
      </p:sp>
      <p:sp>
        <p:nvSpPr>
          <p:cNvPr id="2465" name="Google Shape;2465;g3a6c7b9e349_0_1247"/>
          <p:cNvSpPr txBox="1"/>
          <p:nvPr/>
        </p:nvSpPr>
        <p:spPr>
          <a:xfrm>
            <a:off x="245952" y="1388501"/>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2466" name="Google Shape;2466;g3a6c7b9e349_0_1247"/>
          <p:cNvSpPr txBox="1"/>
          <p:nvPr/>
        </p:nvSpPr>
        <p:spPr>
          <a:xfrm>
            <a:off x="406632" y="1352128"/>
            <a:ext cx="13017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Solution</a:t>
            </a:r>
            <a:endParaRPr sz="1050" b="0" i="0" u="none" strike="noStrike" cap="none">
              <a:solidFill>
                <a:srgbClr val="000000"/>
              </a:solidFill>
              <a:latin typeface="Arial"/>
              <a:ea typeface="Arial"/>
              <a:cs typeface="Arial"/>
              <a:sym typeface="Arial"/>
            </a:endParaRPr>
          </a:p>
        </p:txBody>
      </p:sp>
      <p:sp>
        <p:nvSpPr>
          <p:cNvPr id="2467" name="Google Shape;2467;g3a6c7b9e349_0_1247"/>
          <p:cNvSpPr txBox="1"/>
          <p:nvPr/>
        </p:nvSpPr>
        <p:spPr>
          <a:xfrm>
            <a:off x="128632" y="1512226"/>
            <a:ext cx="5358600" cy="1625100"/>
          </a:xfrm>
          <a:prstGeom prst="rect">
            <a:avLst/>
          </a:prstGeom>
          <a:noFill/>
          <a:ln>
            <a:noFill/>
          </a:ln>
        </p:spPr>
        <p:txBody>
          <a:bodyPr spcFirstLastPara="1" wrap="square" lIns="0" tIns="11425" rIns="0" bIns="0" anchor="t" anchorCtr="0">
            <a:spAutoFit/>
          </a:bodyPr>
          <a:lstStyle/>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Sample Episodes</a:t>
            </a:r>
            <a:endParaRPr/>
          </a:p>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Compute estimates of the value by discounted returns</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Simple average</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Weighted average  (OIS : Ordinary Importance Sampling)</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Normalized weighted average (WIS : Weighted Importance Sampling)</a:t>
            </a:r>
            <a:endParaRPr sz="140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grpSp>
        <p:nvGrpSpPr>
          <p:cNvPr id="2468" name="Google Shape;2468;g3a6c7b9e349_0_1247"/>
          <p:cNvGrpSpPr/>
          <p:nvPr/>
        </p:nvGrpSpPr>
        <p:grpSpPr>
          <a:xfrm>
            <a:off x="0" y="3109250"/>
            <a:ext cx="5760261" cy="92075"/>
            <a:chOff x="0" y="3109250"/>
            <a:chExt cx="5760261" cy="92075"/>
          </a:xfrm>
        </p:grpSpPr>
        <p:sp>
          <p:nvSpPr>
            <p:cNvPr id="2469" name="Google Shape;2469;g3a6c7b9e349_0_124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0" name="Google Shape;2470;g3a6c7b9e349_0_124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1" name="Google Shape;2471;g3a6c7b9e349_0_124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72" name="Google Shape;2472;g3a6c7b9e349_0_1247"/>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473" name="Google Shape;2473;g3a6c7b9e349_0_124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60</a:t>
            </a:fld>
            <a:r>
              <a:rPr lang="en-US"/>
              <a:t> </a:t>
            </a:r>
            <a:endParaRPr/>
          </a:p>
        </p:txBody>
      </p:sp>
      <p:grpSp>
        <p:nvGrpSpPr>
          <p:cNvPr id="2474" name="Google Shape;2474;g3a6c7b9e349_0_1247"/>
          <p:cNvGrpSpPr/>
          <p:nvPr/>
        </p:nvGrpSpPr>
        <p:grpSpPr>
          <a:xfrm>
            <a:off x="201908" y="2191372"/>
            <a:ext cx="148210" cy="163940"/>
            <a:chOff x="134127" y="2262704"/>
            <a:chExt cx="266997" cy="178837"/>
          </a:xfrm>
        </p:grpSpPr>
        <p:pic>
          <p:nvPicPr>
            <p:cNvPr id="2475" name="Google Shape;2475;g3a6c7b9e349_0_1247"/>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2476" name="Google Shape;2476;g3a6c7b9e349_0_1247"/>
            <p:cNvSpPr txBox="1"/>
            <p:nvPr/>
          </p:nvSpPr>
          <p:spPr>
            <a:xfrm>
              <a:off x="209626" y="2275554"/>
              <a:ext cx="148200" cy="1140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sp>
        <p:nvSpPr>
          <p:cNvPr id="2477" name="Google Shape;2477;g3a6c7b9e349_0_1247"/>
          <p:cNvSpPr txBox="1"/>
          <p:nvPr/>
        </p:nvSpPr>
        <p:spPr>
          <a:xfrm>
            <a:off x="421246" y="2174040"/>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Idea</a:t>
            </a:r>
            <a:endParaRPr sz="1050" b="0" i="0" u="none" strike="noStrike" cap="none">
              <a:solidFill>
                <a:srgbClr val="000000"/>
              </a:solidFill>
              <a:latin typeface="Arial"/>
              <a:ea typeface="Arial"/>
              <a:cs typeface="Arial"/>
              <a:sym typeface="Arial"/>
            </a:endParaRPr>
          </a:p>
        </p:txBody>
      </p:sp>
      <p:sp>
        <p:nvSpPr>
          <p:cNvPr id="2478" name="Google Shape;2478;g3a6c7b9e349_0_1247"/>
          <p:cNvSpPr txBox="1"/>
          <p:nvPr/>
        </p:nvSpPr>
        <p:spPr>
          <a:xfrm>
            <a:off x="450290" y="2355300"/>
            <a:ext cx="4769700" cy="8889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On Policy : </a:t>
            </a:r>
            <a:endParaRPr sz="950" b="0" i="0" u="none" strike="noStrike" cap="none">
              <a:solidFill>
                <a:srgbClr val="000000"/>
              </a:solidFill>
              <a:latin typeface="Arial"/>
              <a:ea typeface="Arial"/>
              <a:cs typeface="Arial"/>
              <a:sym typeface="Arial"/>
            </a:endParaRPr>
          </a:p>
          <a:p>
            <a:pPr marL="265112" marR="0" lvl="1"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Generate Sample/Experience 🡪 Evaluate using Return 🡪 Improve</a:t>
            </a:r>
            <a:endParaRPr sz="1400" b="0" i="0" u="none" strike="noStrike" cap="none">
              <a:solidFill>
                <a:srgbClr val="000000"/>
              </a:solidFill>
              <a:latin typeface="Arial"/>
              <a:ea typeface="Arial"/>
              <a:cs typeface="Arial"/>
              <a:sym typeface="Arial"/>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Off Policy : </a:t>
            </a:r>
            <a:endParaRPr sz="950" b="0" i="0" u="none" strike="noStrike" cap="none">
              <a:solidFill>
                <a:srgbClr val="000000"/>
              </a:solidFill>
              <a:latin typeface="Arial"/>
              <a:ea typeface="Arial"/>
              <a:cs typeface="Arial"/>
              <a:sym typeface="Arial"/>
            </a:endParaRPr>
          </a:p>
          <a:p>
            <a:pPr marL="287337" marR="0" lvl="0" indent="-107950"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Refer to Sample/Experience generated by another reference(</a:t>
            </a:r>
            <a:r>
              <a:rPr lang="en-US" sz="950" b="1" i="0" u="none" strike="noStrike" cap="none">
                <a:solidFill>
                  <a:srgbClr val="000000"/>
                </a:solidFill>
                <a:latin typeface="Arial"/>
                <a:ea typeface="Arial"/>
                <a:cs typeface="Arial"/>
                <a:sym typeface="Arial"/>
              </a:rPr>
              <a:t>BEHAVIOUR</a:t>
            </a:r>
            <a:r>
              <a:rPr lang="en-US" sz="950" b="0" i="0" u="none" strike="noStrike" cap="none">
                <a:solidFill>
                  <a:srgbClr val="000000"/>
                </a:solidFill>
                <a:latin typeface="Arial"/>
                <a:ea typeface="Arial"/>
                <a:cs typeface="Arial"/>
                <a:sym typeface="Arial"/>
              </a:rPr>
              <a:t>) policy  🡪 Evaluate using Return 🡪 Improve</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2479" name="Google Shape;2479;g3a6c7b9e349_0_1247"/>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480" name="Google Shape;2480;g3a6c7b9e349_0_1247"/>
          <p:cNvSpPr/>
          <p:nvPr/>
        </p:nvSpPr>
        <p:spPr>
          <a:xfrm>
            <a:off x="450299" y="2668963"/>
            <a:ext cx="4903500" cy="41880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481" name="Google Shape;2481;g3a6c7b9e349_0_1247"/>
          <p:cNvSpPr/>
          <p:nvPr/>
        </p:nvSpPr>
        <p:spPr>
          <a:xfrm>
            <a:off x="450299" y="1955622"/>
            <a:ext cx="4859700" cy="14910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p:transition>
    <p:fade thruBlk="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85"/>
        <p:cNvGrpSpPr/>
        <p:nvPr/>
      </p:nvGrpSpPr>
      <p:grpSpPr>
        <a:xfrm>
          <a:off x="0" y="0"/>
          <a:ext cx="0" cy="0"/>
          <a:chOff x="0" y="0"/>
          <a:chExt cx="0" cy="0"/>
        </a:xfrm>
      </p:grpSpPr>
      <p:sp>
        <p:nvSpPr>
          <p:cNvPr id="2486" name="Google Shape;2486;g3a6c7b9e349_0_1278"/>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487" name="Google Shape;2487;g3a6c7b9e349_0_1278"/>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88" name="Google Shape;2488;g3a6c7b9e349_0_1278"/>
          <p:cNvGrpSpPr/>
          <p:nvPr/>
        </p:nvGrpSpPr>
        <p:grpSpPr>
          <a:xfrm>
            <a:off x="0" y="3109250"/>
            <a:ext cx="5760261" cy="92075"/>
            <a:chOff x="0" y="3109250"/>
            <a:chExt cx="5760261" cy="92075"/>
          </a:xfrm>
        </p:grpSpPr>
        <p:sp>
          <p:nvSpPr>
            <p:cNvPr id="2489" name="Google Shape;2489;g3a6c7b9e349_0_127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0" name="Google Shape;2490;g3a6c7b9e349_0_127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1" name="Google Shape;2491;g3a6c7b9e349_0_127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92" name="Google Shape;2492;g3a6c7b9e349_0_1278"/>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493" name="Google Shape;2493;g3a6c7b9e349_0_127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61</a:t>
            </a:fld>
            <a:endParaRPr/>
          </a:p>
        </p:txBody>
      </p:sp>
      <p:pic>
        <p:nvPicPr>
          <p:cNvPr id="2494" name="Google Shape;2494;g3a6c7b9e349_0_1278"/>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495" name="Google Shape;2495;g3a6c7b9e349_0_1278"/>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496" name="Google Shape;2496;g3a6c7b9e349_0_1278"/>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497" name="Google Shape;2497;g3a6c7b9e349_0_1278"/>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498" name="Google Shape;2498;g3a6c7b9e349_0_1278"/>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499" name="Google Shape;2499;g3a6c7b9e349_0_1278"/>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500" name="Google Shape;2500;g3a6c7b9e349_0_1278"/>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-7.01     -1.4       -10	-1.4       0             0</a:t>
            </a:r>
            <a:endParaRPr sz="300" b="0" i="0" u="none" strike="noStrike" cap="none">
              <a:solidFill>
                <a:schemeClr val="dk1"/>
              </a:solidFill>
              <a:latin typeface="Arial"/>
              <a:ea typeface="Arial"/>
              <a:cs typeface="Arial"/>
              <a:sym typeface="Arial"/>
            </a:endParaRPr>
          </a:p>
        </p:txBody>
      </p:sp>
      <p:sp>
        <p:nvSpPr>
          <p:cNvPr id="2501" name="Google Shape;2501;g3a6c7b9e349_0_1278"/>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502" name="Google Shape;2502;g3a6c7b9e349_0_1278"/>
          <p:cNvPicPr preferRelativeResize="0"/>
          <p:nvPr/>
        </p:nvPicPr>
        <p:blipFill rotWithShape="1">
          <a:blip r:embed="rId6">
            <a:alphaModFix/>
          </a:blip>
          <a:srcRect/>
          <a:stretch/>
        </p:blipFill>
        <p:spPr>
          <a:xfrm>
            <a:off x="3839748" y="1991159"/>
            <a:ext cx="1923500" cy="995858"/>
          </a:xfrm>
          <a:prstGeom prst="rect">
            <a:avLst/>
          </a:prstGeom>
          <a:noFill/>
          <a:ln>
            <a:noFill/>
          </a:ln>
        </p:spPr>
      </p:pic>
      <p:cxnSp>
        <p:nvCxnSpPr>
          <p:cNvPr id="2503" name="Google Shape;2503;g3a6c7b9e349_0_1278"/>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504" name="Google Shape;2504;g3a6c7b9e349_0_1278"/>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505" name="Google Shape;2505;g3a6c7b9e349_0_1278"/>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506" name="Google Shape;2506;g3a6c7b9e349_0_1278"/>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507" name="Google Shape;2507;g3a6c7b9e349_0_1278"/>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508" name="Google Shape;2508;g3a6c7b9e349_0_1278"/>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509" name="Google Shape;2509;g3a6c7b9e349_0_1278"/>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510" name="Google Shape;2510;g3a6c7b9e349_0_1278"/>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511" name="Google Shape;2511;g3a6c7b9e349_0_1278"/>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512" name="Google Shape;2512;g3a6c7b9e349_0_1278"/>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513" name="Google Shape;2513;g3a6c7b9e349_0_1278"/>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514" name="Google Shape;2514;g3a6c7b9e349_0_1278"/>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515" name="Google Shape;2515;g3a6c7b9e349_0_1278"/>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516" name="Google Shape;2516;g3a6c7b9e349_0_1278"/>
          <p:cNvSpPr txBox="1"/>
          <p:nvPr/>
        </p:nvSpPr>
        <p:spPr>
          <a:xfrm>
            <a:off x="82600" y="1717926"/>
            <a:ext cx="2793000" cy="10890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a:t>
            </a:r>
            <a:endParaRPr sz="7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517" name="Google Shape;2517;g3a6c7b9e349_0_1278"/>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518" name="Google Shape;2518;g3a6c7b9e349_0_1278"/>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519" name="Google Shape;2519;g3a6c7b9e349_0_1278"/>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520" name="Google Shape;2520;g3a6c7b9e349_0_1278"/>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66300">
                  <a:extLst>
                    <a:ext uri="{9D8B030D-6E8A-4147-A177-3AD203B41FA5}">
                      <a16:colId xmlns:a16="http://schemas.microsoft.com/office/drawing/2014/main" val="20000"/>
                    </a:ext>
                  </a:extLst>
                </a:gridCol>
                <a:gridCol w="47502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endParaRPr sz="600" b="1" u="none" strike="noStrike" cap="none">
                        <a:solidFill>
                          <a:schemeClr val="dk1"/>
                        </a:solidFill>
                      </a:endParaRPr>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b="0" u="none" strike="noStrike" cap="none">
                        <a:solidFill>
                          <a:schemeClr val="dk1"/>
                        </a:solidFill>
                      </a:endParaRPr>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b="0" u="none" strike="noStrike" cap="none">
                        <a:solidFill>
                          <a:schemeClr val="dk1"/>
                        </a:solidFill>
                      </a:endParaRPr>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b="0" u="none" strike="noStrike" cap="none">
                        <a:solidFill>
                          <a:schemeClr val="dk1"/>
                        </a:solidFill>
                      </a:endParaRPr>
                    </a:p>
                  </a:txBody>
                  <a:tcPr marL="91450" marR="91450" marT="45725" marB="45725"/>
                </a:tc>
                <a:extLst>
                  <a:ext uri="{0D108BD9-81ED-4DB2-BD59-A6C34878D82A}">
                    <a16:rowId xmlns:a16="http://schemas.microsoft.com/office/drawing/2014/main" val="10005"/>
                  </a:ext>
                </a:extLst>
              </a:tr>
            </a:tbl>
          </a:graphicData>
        </a:graphic>
      </p:graphicFrame>
      <p:sp>
        <p:nvSpPr>
          <p:cNvPr id="2521" name="Google Shape;2521;g3a6c7b9e349_0_1278"/>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4.5             1        2	  1          0             0</a:t>
            </a:r>
            <a:endParaRPr sz="300" b="0" i="0" u="none" strike="noStrike" cap="none">
              <a:solidFill>
                <a:schemeClr val="dk1"/>
              </a:solidFill>
              <a:latin typeface="Arial"/>
              <a:ea typeface="Arial"/>
              <a:cs typeface="Arial"/>
              <a:sym typeface="Arial"/>
            </a:endParaRPr>
          </a:p>
        </p:txBody>
      </p:sp>
      <p:sp>
        <p:nvSpPr>
          <p:cNvPr id="2522" name="Google Shape;2522;g3a6c7b9e349_0_1278"/>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523" name="Google Shape;2523;g3a6c7b9e349_0_1278"/>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524" name="Google Shape;2524;g3a6c7b9e349_0_1278"/>
          <p:cNvSpPr txBox="1"/>
          <p:nvPr/>
        </p:nvSpPr>
        <p:spPr>
          <a:xfrm>
            <a:off x="177801" y="2162713"/>
            <a:ext cx="3435900" cy="766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75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None/>
            </a:pPr>
            <a:r>
              <a:rPr lang="en-US" sz="750" b="1" i="0" u="none" strike="noStrike" cap="none">
                <a:solidFill>
                  <a:srgbClr val="FF0000"/>
                </a:solidFill>
                <a:latin typeface="Arial"/>
                <a:ea typeface="Arial"/>
                <a:cs typeface="Arial"/>
                <a:sym typeface="Arial"/>
              </a:rPr>
              <a:t>Important Note : </a:t>
            </a:r>
            <a:r>
              <a:rPr lang="en-US" sz="750" b="1" i="0" u="none" strike="noStrike" cap="none">
                <a:solidFill>
                  <a:srgbClr val="1B1472"/>
                </a:solidFill>
                <a:latin typeface="Arial"/>
                <a:ea typeface="Arial"/>
                <a:cs typeface="Arial"/>
                <a:sym typeface="Arial"/>
              </a:rPr>
              <a:t>The Ordinary Importance Sampling (OIS) is unbiased but will produce high variance. The same given algorithm can be adapted to perform ordinary importance sampling by changing only the count update equation to : </a:t>
            </a:r>
            <a:r>
              <a:rPr lang="en-US" sz="750" b="1" i="0" u="none" strike="noStrike" cap="none">
                <a:solidFill>
                  <a:srgbClr val="FF0000"/>
                </a:solidFill>
                <a:latin typeface="Arial"/>
                <a:ea typeface="Arial"/>
                <a:cs typeface="Arial"/>
                <a:sym typeface="Arial"/>
              </a:rPr>
              <a:t>C(St,At) 🡨 C(St,At) + 1</a:t>
            </a:r>
            <a:endParaRPr sz="750" b="1" i="0" u="none" strike="noStrike" cap="none">
              <a:solidFill>
                <a:srgbClr val="FF0000"/>
              </a:solidFill>
              <a:latin typeface="Arial"/>
              <a:ea typeface="Arial"/>
              <a:cs typeface="Arial"/>
              <a:sym typeface="Arial"/>
            </a:endParaRPr>
          </a:p>
        </p:txBody>
      </p:sp>
      <p:cxnSp>
        <p:nvCxnSpPr>
          <p:cNvPr id="2525" name="Google Shape;2525;g3a6c7b9e349_0_1278"/>
          <p:cNvCxnSpPr>
            <a:stCxn id="2524" idx="2"/>
          </p:cNvCxnSpPr>
          <p:nvPr/>
        </p:nvCxnSpPr>
        <p:spPr>
          <a:xfrm rot="-5400000">
            <a:off x="2057751" y="752413"/>
            <a:ext cx="2014500" cy="2338500"/>
          </a:xfrm>
          <a:prstGeom prst="curvedConnector4">
            <a:avLst>
              <a:gd name="adj1" fmla="val -11348"/>
              <a:gd name="adj2" fmla="val 86733"/>
            </a:avLst>
          </a:prstGeom>
          <a:noFill/>
          <a:ln w="9525" cap="flat" cmpd="sng">
            <a:solidFill>
              <a:srgbClr val="FF0000"/>
            </a:solidFill>
            <a:prstDash val="solid"/>
            <a:round/>
            <a:headEnd type="none" w="sm" len="sm"/>
            <a:tailEnd type="triangle" w="med" len="med"/>
          </a:ln>
        </p:spPr>
      </p:cxnSp>
      <p:sp>
        <p:nvSpPr>
          <p:cNvPr id="2526" name="Google Shape;2526;g3a6c7b9e349_0_1278"/>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530"/>
        <p:cNvGrpSpPr/>
        <p:nvPr/>
      </p:nvGrpSpPr>
      <p:grpSpPr>
        <a:xfrm>
          <a:off x="0" y="0"/>
          <a:ext cx="0" cy="0"/>
          <a:chOff x="0" y="0"/>
          <a:chExt cx="0" cy="0"/>
        </a:xfrm>
      </p:grpSpPr>
      <p:sp>
        <p:nvSpPr>
          <p:cNvPr id="2531" name="Google Shape;2531;g3a6c7b9e349_0_1322"/>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Monte Carlo</a:t>
            </a:r>
            <a:endParaRPr/>
          </a:p>
        </p:txBody>
      </p:sp>
      <p:sp>
        <p:nvSpPr>
          <p:cNvPr id="2532" name="Google Shape;2532;g3a6c7b9e349_0_1322"/>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533" name="Google Shape;2533;g3a6c7b9e349_0_1322"/>
          <p:cNvGrpSpPr/>
          <p:nvPr/>
        </p:nvGrpSpPr>
        <p:grpSpPr>
          <a:xfrm>
            <a:off x="0" y="3109250"/>
            <a:ext cx="5760261" cy="92075"/>
            <a:chOff x="0" y="3109250"/>
            <a:chExt cx="5760261" cy="92075"/>
          </a:xfrm>
        </p:grpSpPr>
        <p:sp>
          <p:nvSpPr>
            <p:cNvPr id="2534" name="Google Shape;2534;g3a6c7b9e349_0_132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5" name="Google Shape;2535;g3a6c7b9e349_0_132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6" name="Google Shape;2536;g3a6c7b9e349_0_132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37" name="Google Shape;2537;g3a6c7b9e349_0_1322"/>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538" name="Google Shape;2538;g3a6c7b9e349_0_132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62</a:t>
            </a:fld>
            <a:endParaRPr/>
          </a:p>
        </p:txBody>
      </p:sp>
      <p:pic>
        <p:nvPicPr>
          <p:cNvPr id="2539" name="Google Shape;2539;g3a6c7b9e349_0_1322"/>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540" name="Google Shape;2540;g3a6c7b9e349_0_1322"/>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541" name="Google Shape;2541;g3a6c7b9e349_0_1322"/>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542" name="Google Shape;2542;g3a6c7b9e349_0_1322"/>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543" name="Google Shape;2543;g3a6c7b9e349_0_1322"/>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544" name="Google Shape;2544;g3a6c7b9e349_0_1322"/>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545" name="Google Shape;2545;g3a6c7b9e349_0_1322"/>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-7.01     -1.4       -10	-1.4       0             0</a:t>
            </a:r>
            <a:endParaRPr sz="300" b="0" i="0" u="none" strike="noStrike" cap="none">
              <a:solidFill>
                <a:schemeClr val="dk1"/>
              </a:solidFill>
              <a:latin typeface="Arial"/>
              <a:ea typeface="Arial"/>
              <a:cs typeface="Arial"/>
              <a:sym typeface="Arial"/>
            </a:endParaRPr>
          </a:p>
        </p:txBody>
      </p:sp>
      <p:sp>
        <p:nvSpPr>
          <p:cNvPr id="2546" name="Google Shape;2546;g3a6c7b9e349_0_1322"/>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547" name="Google Shape;2547;g3a6c7b9e349_0_1322"/>
          <p:cNvPicPr preferRelativeResize="0"/>
          <p:nvPr/>
        </p:nvPicPr>
        <p:blipFill rotWithShape="1">
          <a:blip r:embed="rId6">
            <a:alphaModFix/>
          </a:blip>
          <a:srcRect/>
          <a:stretch/>
        </p:blipFill>
        <p:spPr>
          <a:xfrm>
            <a:off x="3839748" y="1991159"/>
            <a:ext cx="1923500" cy="995858"/>
          </a:xfrm>
          <a:prstGeom prst="rect">
            <a:avLst/>
          </a:prstGeom>
          <a:noFill/>
          <a:ln>
            <a:noFill/>
          </a:ln>
        </p:spPr>
      </p:pic>
      <p:cxnSp>
        <p:nvCxnSpPr>
          <p:cNvPr id="2548" name="Google Shape;2548;g3a6c7b9e349_0_1322"/>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549" name="Google Shape;2549;g3a6c7b9e349_0_1322"/>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550" name="Google Shape;2550;g3a6c7b9e349_0_1322"/>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551" name="Google Shape;2551;g3a6c7b9e349_0_1322"/>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552" name="Google Shape;2552;g3a6c7b9e349_0_1322"/>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553" name="Google Shape;2553;g3a6c7b9e349_0_1322"/>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554" name="Google Shape;2554;g3a6c7b9e349_0_1322"/>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555" name="Google Shape;2555;g3a6c7b9e349_0_1322"/>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556" name="Google Shape;2556;g3a6c7b9e349_0_1322"/>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557" name="Google Shape;2557;g3a6c7b9e349_0_1322"/>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558" name="Google Shape;2558;g3a6c7b9e349_0_1322"/>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559" name="Google Shape;2559;g3a6c7b9e349_0_1322"/>
          <p:cNvPicPr preferRelativeResize="0"/>
          <p:nvPr/>
        </p:nvPicPr>
        <p:blipFill rotWithShape="1">
          <a:blip r:embed="rId8">
            <a:alphaModFix/>
          </a:blip>
          <a:srcRect/>
          <a:stretch/>
        </p:blipFill>
        <p:spPr>
          <a:xfrm>
            <a:off x="1912626" y="636360"/>
            <a:ext cx="249913" cy="117267"/>
          </a:xfrm>
          <a:prstGeom prst="rect">
            <a:avLst/>
          </a:prstGeom>
          <a:noFill/>
          <a:ln>
            <a:noFill/>
          </a:ln>
        </p:spPr>
      </p:pic>
      <p:graphicFrame>
        <p:nvGraphicFramePr>
          <p:cNvPr id="2560" name="Google Shape;2560;g3a6c7b9e349_0_1322"/>
          <p:cNvGraphicFramePr/>
          <p:nvPr/>
        </p:nvGraphicFramePr>
        <p:xfrm>
          <a:off x="4069267" y="1233327"/>
          <a:ext cx="3000000" cy="3000000"/>
        </p:xfrm>
        <a:graphic>
          <a:graphicData uri="http://schemas.openxmlformats.org/drawingml/2006/table">
            <a:tbl>
              <a:tblPr firstRow="1" bandRow="1">
                <a:noFill/>
                <a:tableStyleId>{F97AB370-09F2-4B06-AB82-BC6DADC2435D}</a:tableStyleId>
              </a:tblPr>
              <a:tblGrid>
                <a:gridCol w="572575">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37350">
                  <a:extLst>
                    <a:ext uri="{9D8B030D-6E8A-4147-A177-3AD203B41FA5}">
                      <a16:colId xmlns:a16="http://schemas.microsoft.com/office/drawing/2014/main" val="20002"/>
                    </a:ext>
                  </a:extLst>
                </a:gridCol>
              </a:tblGrid>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State</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P(F)</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P(S)</a:t>
                      </a:r>
                      <a:endParaRPr sz="600" u="none" strike="noStrike" cap="none"/>
                    </a:p>
                  </a:txBody>
                  <a:tcPr marL="91450" marR="91450" marT="45725" marB="45725"/>
                </a:tc>
                <a:extLst>
                  <a:ext uri="{0D108BD9-81ED-4DB2-BD59-A6C34878D82A}">
                    <a16:rowId xmlns:a16="http://schemas.microsoft.com/office/drawing/2014/main" val="10000"/>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Cool</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extLst>
                  <a:ext uri="{0D108BD9-81ED-4DB2-BD59-A6C34878D82A}">
                    <a16:rowId xmlns:a16="http://schemas.microsoft.com/office/drawing/2014/main" val="10001"/>
                  </a:ext>
                </a:extLst>
              </a:tr>
              <a:tr h="187050">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Warm</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0.6</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0.4</a:t>
                      </a:r>
                      <a:endParaRPr sz="600" u="none" strike="noStrike" cap="none"/>
                    </a:p>
                  </a:txBody>
                  <a:tcPr marL="91450" marR="91450" marT="45725" marB="45725"/>
                </a:tc>
                <a:extLst>
                  <a:ext uri="{0D108BD9-81ED-4DB2-BD59-A6C34878D82A}">
                    <a16:rowId xmlns:a16="http://schemas.microsoft.com/office/drawing/2014/main" val="10002"/>
                  </a:ext>
                </a:extLst>
              </a:tr>
              <a:tr h="187050">
                <a:tc>
                  <a:txBody>
                    <a:bodyPr/>
                    <a:lstStyle/>
                    <a:p>
                      <a:pPr marL="0" marR="0" lvl="0" indent="0" algn="l" rtl="0">
                        <a:lnSpc>
                          <a:spcPct val="100000"/>
                        </a:lnSpc>
                        <a:spcBef>
                          <a:spcPts val="0"/>
                        </a:spcBef>
                        <a:spcAft>
                          <a:spcPts val="0"/>
                        </a:spcAft>
                        <a:buClr>
                          <a:srgbClr val="000000"/>
                        </a:buClr>
                        <a:buSzPts val="500"/>
                        <a:buFont typeface="Arial"/>
                        <a:buNone/>
                      </a:pPr>
                      <a:r>
                        <a:rPr lang="en-US" sz="500" u="none" strike="noStrike" cap="none"/>
                        <a:t>Overheated</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600"/>
                        <a:buFont typeface="Arial"/>
                        <a:buNone/>
                      </a:pPr>
                      <a:r>
                        <a:rPr lang="en-US" sz="600" u="none" strike="noStrike" cap="none"/>
                        <a:t>-</a:t>
                      </a:r>
                      <a:endParaRPr sz="6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2561" name="Google Shape;2561;g3a6c7b9e349_0_1322"/>
          <p:cNvSpPr txBox="1"/>
          <p:nvPr/>
        </p:nvSpPr>
        <p:spPr>
          <a:xfrm>
            <a:off x="82600" y="1717926"/>
            <a:ext cx="2793000" cy="13044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3: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a:t>
            </a:r>
            <a:r>
              <a:rPr lang="en-US" sz="700" b="1" i="0" u="none" strike="noStrike" cap="none">
                <a:solidFill>
                  <a:schemeClr val="dk1"/>
                </a:solidFill>
                <a:latin typeface="Arial"/>
                <a:ea typeface="Arial"/>
                <a:cs typeface="Arial"/>
                <a:sym typeface="Arial"/>
              </a:rPr>
              <a:t> 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a:t>
            </a:r>
            <a:r>
              <a:rPr lang="en-US" sz="700" b="1" i="0" u="none" strike="noStrike" cap="none">
                <a:solidFill>
                  <a:srgbClr val="C00000"/>
                </a:solidFill>
                <a:latin typeface="Arial"/>
                <a:ea typeface="Arial"/>
                <a:cs typeface="Arial"/>
                <a:sym typeface="Arial"/>
              </a:rPr>
              <a:t> O</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a:t>
            </a:r>
            <a:endParaRPr sz="7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pic>
        <p:nvPicPr>
          <p:cNvPr id="2562" name="Google Shape;2562;g3a6c7b9e349_0_1322"/>
          <p:cNvPicPr preferRelativeResize="0"/>
          <p:nvPr/>
        </p:nvPicPr>
        <p:blipFill rotWithShape="1">
          <a:blip r:embed="rId9">
            <a:alphaModFix/>
          </a:blip>
          <a:srcRect/>
          <a:stretch/>
        </p:blipFill>
        <p:spPr>
          <a:xfrm>
            <a:off x="4208286" y="-21386"/>
            <a:ext cx="1536015" cy="1262904"/>
          </a:xfrm>
          <a:prstGeom prst="rect">
            <a:avLst/>
          </a:prstGeom>
          <a:noFill/>
          <a:ln>
            <a:noFill/>
          </a:ln>
        </p:spPr>
      </p:pic>
      <p:sp>
        <p:nvSpPr>
          <p:cNvPr id="2563" name="Google Shape;2563;g3a6c7b9e349_0_1322"/>
          <p:cNvSpPr/>
          <p:nvPr/>
        </p:nvSpPr>
        <p:spPr>
          <a:xfrm>
            <a:off x="5282693" y="74226"/>
            <a:ext cx="4776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0.2</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0.6</a:t>
            </a:r>
            <a:endParaRPr sz="600" b="1" i="0" u="none" strike="noStrike" cap="none">
              <a:solidFill>
                <a:srgbClr val="000000"/>
              </a:solidFill>
              <a:latin typeface="Arial"/>
              <a:ea typeface="Arial"/>
              <a:cs typeface="Arial"/>
              <a:sym typeface="Arial"/>
            </a:endParaRPr>
          </a:p>
        </p:txBody>
      </p:sp>
      <p:sp>
        <p:nvSpPr>
          <p:cNvPr id="2564" name="Google Shape;2564;g3a6c7b9e349_0_1322"/>
          <p:cNvSpPr txBox="1"/>
          <p:nvPr/>
        </p:nvSpPr>
        <p:spPr>
          <a:xfrm>
            <a:off x="3817894" y="1199847"/>
            <a:ext cx="416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b</a:t>
            </a:r>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baseline="-25000">
              <a:solidFill>
                <a:schemeClr val="dk1"/>
              </a:solidFill>
              <a:latin typeface="Arial"/>
              <a:ea typeface="Arial"/>
              <a:cs typeface="Arial"/>
              <a:sym typeface="Arial"/>
            </a:endParaRPr>
          </a:p>
        </p:txBody>
      </p:sp>
      <p:graphicFrame>
        <p:nvGraphicFramePr>
          <p:cNvPr id="2565" name="Google Shape;2565;g3a6c7b9e349_0_1322"/>
          <p:cNvGraphicFramePr/>
          <p:nvPr/>
        </p:nvGraphicFramePr>
        <p:xfrm>
          <a:off x="2221033" y="541017"/>
          <a:ext cx="3000000" cy="3000000"/>
        </p:xfrm>
        <a:graphic>
          <a:graphicData uri="http://schemas.openxmlformats.org/drawingml/2006/table">
            <a:tbl>
              <a:tblPr firstRow="1" bandRow="1">
                <a:noFill/>
                <a:tableStyleId>{428A736C-7654-4D50-9457-C7091998729E}</a:tableStyleId>
              </a:tblPr>
              <a:tblGrid>
                <a:gridCol w="366300">
                  <a:extLst>
                    <a:ext uri="{9D8B030D-6E8A-4147-A177-3AD203B41FA5}">
                      <a16:colId xmlns:a16="http://schemas.microsoft.com/office/drawing/2014/main" val="20000"/>
                    </a:ext>
                  </a:extLst>
                </a:gridCol>
                <a:gridCol w="475025">
                  <a:extLst>
                    <a:ext uri="{9D8B030D-6E8A-4147-A177-3AD203B41FA5}">
                      <a16:colId xmlns:a16="http://schemas.microsoft.com/office/drawing/2014/main" val="20001"/>
                    </a:ext>
                  </a:extLst>
                </a:gridCol>
              </a:tblGrid>
              <a:tr h="144125">
                <a:tc>
                  <a:txBody>
                    <a:bodyPr/>
                    <a:lstStyle/>
                    <a:p>
                      <a:pPr marL="0" marR="0" lvl="0" indent="0" algn="l" rtl="0">
                        <a:lnSpc>
                          <a:spcPct val="100000"/>
                        </a:lnSpc>
                        <a:spcBef>
                          <a:spcPts val="0"/>
                        </a:spcBef>
                        <a:spcAft>
                          <a:spcPts val="0"/>
                        </a:spcAft>
                        <a:buNone/>
                      </a:pPr>
                      <a:r>
                        <a:rPr lang="en-US" sz="600" b="1" u="none" strike="noStrike" cap="none"/>
                        <a:t>Ep</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3</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0"/>
                  </a:ext>
                </a:extLst>
              </a:tr>
              <a:tr h="144125">
                <a:tc>
                  <a:txBody>
                    <a:bodyPr/>
                    <a:lstStyle/>
                    <a:p>
                      <a:pPr marL="0" marR="0" lvl="0" indent="0" algn="l" rtl="0">
                        <a:lnSpc>
                          <a:spcPct val="100000"/>
                        </a:lnSpc>
                        <a:spcBef>
                          <a:spcPts val="0"/>
                        </a:spcBef>
                        <a:spcAft>
                          <a:spcPts val="0"/>
                        </a:spcAft>
                        <a:buNone/>
                      </a:pPr>
                      <a:r>
                        <a:rPr lang="en-US" sz="600" b="1" u="none" strike="noStrike" cap="none"/>
                        <a:t>G</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t>0</a:t>
                      </a:r>
                      <a:endParaRPr sz="600" b="1" u="none" strike="noStrike" cap="none"/>
                    </a:p>
                  </a:txBody>
                  <a:tcPr marL="91450" marR="91450" marT="45725" marB="45725">
                    <a:solidFill>
                      <a:srgbClr val="F2F2F2"/>
                    </a:solidFill>
                  </a:tcPr>
                </a:tc>
                <a:extLst>
                  <a:ext uri="{0D108BD9-81ED-4DB2-BD59-A6C34878D82A}">
                    <a16:rowId xmlns:a16="http://schemas.microsoft.com/office/drawing/2014/main" val="10001"/>
                  </a:ext>
                </a:extLst>
              </a:tr>
              <a:tr h="144125">
                <a:tc>
                  <a:txBody>
                    <a:bodyPr/>
                    <a:lstStyle/>
                    <a:p>
                      <a:pPr marL="0" marR="0" lvl="0" indent="0" algn="l" rtl="0">
                        <a:lnSpc>
                          <a:spcPct val="100000"/>
                        </a:lnSpc>
                        <a:spcBef>
                          <a:spcPts val="0"/>
                        </a:spcBef>
                        <a:spcAft>
                          <a:spcPts val="0"/>
                        </a:spcAft>
                        <a:buNone/>
                      </a:pPr>
                      <a:r>
                        <a:rPr lang="en-US" sz="600" b="1" u="none" strike="noStrike" cap="none"/>
                        <a:t>W</a:t>
                      </a:r>
                      <a:endParaRPr sz="600" b="1" u="none" strike="noStrike" cap="none"/>
                    </a:p>
                  </a:txBody>
                  <a:tcPr marL="91450" marR="91450" marT="45725" marB="45725">
                    <a:solidFill>
                      <a:srgbClr val="F2F2F2"/>
                    </a:solidFill>
                  </a:tcPr>
                </a:tc>
                <a:tc>
                  <a:txBody>
                    <a:bodyPr/>
                    <a:lstStyle/>
                    <a:p>
                      <a:pPr marL="0" marR="0" lvl="0" indent="0" algn="l" rtl="0">
                        <a:lnSpc>
                          <a:spcPct val="100000"/>
                        </a:lnSpc>
                        <a:spcBef>
                          <a:spcPts val="0"/>
                        </a:spcBef>
                        <a:spcAft>
                          <a:spcPts val="0"/>
                        </a:spcAft>
                        <a:buNone/>
                      </a:pPr>
                      <a:r>
                        <a:rPr lang="en-US" sz="600" b="1" u="none" strike="noStrike" cap="none">
                          <a:solidFill>
                            <a:schemeClr val="dk1"/>
                          </a:solidFill>
                        </a:rPr>
                        <a:t>1</a:t>
                      </a:r>
                      <a:endParaRPr sz="600" b="1" u="none" strike="noStrike" cap="none">
                        <a:solidFill>
                          <a:schemeClr val="dk1"/>
                        </a:solidFill>
                      </a:endParaRPr>
                    </a:p>
                  </a:txBody>
                  <a:tcPr marL="91450" marR="91450" marT="45725" marB="45725">
                    <a:solidFill>
                      <a:srgbClr val="F2F2F2"/>
                    </a:solidFill>
                  </a:tcPr>
                </a:tc>
                <a:extLst>
                  <a:ext uri="{0D108BD9-81ED-4DB2-BD59-A6C34878D82A}">
                    <a16:rowId xmlns:a16="http://schemas.microsoft.com/office/drawing/2014/main" val="10002"/>
                  </a:ext>
                </a:extLst>
              </a:tr>
              <a:tr h="144125">
                <a:tc>
                  <a:txBody>
                    <a:bodyPr/>
                    <a:lstStyle/>
                    <a:p>
                      <a:pPr marL="0" marR="0" lvl="0" indent="0" algn="l" rtl="0">
                        <a:lnSpc>
                          <a:spcPct val="100000"/>
                        </a:lnSpc>
                        <a:spcBef>
                          <a:spcPts val="0"/>
                        </a:spcBef>
                        <a:spcAft>
                          <a:spcPts val="0"/>
                        </a:spcAft>
                        <a:buNone/>
                      </a:pPr>
                      <a:r>
                        <a:rPr lang="en-US" sz="600" u="none" strike="noStrike" cap="none"/>
                        <a:t>t</a:t>
                      </a:r>
                      <a:endParaRPr sz="6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b="0" u="none" strike="noStrike" cap="none">
                        <a:solidFill>
                          <a:schemeClr val="dk1"/>
                        </a:solidFill>
                      </a:endParaRPr>
                    </a:p>
                  </a:txBody>
                  <a:tcPr marL="91450" marR="91450" marT="45725" marB="45725"/>
                </a:tc>
                <a:extLst>
                  <a:ext uri="{0D108BD9-81ED-4DB2-BD59-A6C34878D82A}">
                    <a16:rowId xmlns:a16="http://schemas.microsoft.com/office/drawing/2014/main" val="10003"/>
                  </a:ext>
                </a:extLst>
              </a:tr>
              <a:tr h="144125">
                <a:tc>
                  <a:txBody>
                    <a:bodyPr/>
                    <a:lstStyle/>
                    <a:p>
                      <a:pPr marL="0" marR="0" lvl="0" indent="0" algn="l" rtl="0">
                        <a:lnSpc>
                          <a:spcPct val="100000"/>
                        </a:lnSpc>
                        <a:spcBef>
                          <a:spcPts val="0"/>
                        </a:spcBef>
                        <a:spcAft>
                          <a:spcPts val="0"/>
                        </a:spcAft>
                        <a:buNone/>
                      </a:pPr>
                      <a:r>
                        <a:rPr lang="en-US" sz="500" u="none" strike="noStrike" cap="none"/>
                        <a:t>A</a:t>
                      </a:r>
                      <a:r>
                        <a:rPr lang="en-US" sz="500" u="none" strike="noStrike" cap="none" baseline="-25000"/>
                        <a:t>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b="0" u="none" strike="noStrike" cap="none">
                        <a:solidFill>
                          <a:schemeClr val="dk1"/>
                        </a:solidFill>
                      </a:endParaRPr>
                    </a:p>
                  </a:txBody>
                  <a:tcPr marL="91450" marR="91450" marT="45725" marB="45725"/>
                </a:tc>
                <a:extLst>
                  <a:ext uri="{0D108BD9-81ED-4DB2-BD59-A6C34878D82A}">
                    <a16:rowId xmlns:a16="http://schemas.microsoft.com/office/drawing/2014/main" val="10004"/>
                  </a:ext>
                </a:extLst>
              </a:tr>
              <a:tr h="144125">
                <a:tc>
                  <a:txBody>
                    <a:bodyPr/>
                    <a:lstStyle/>
                    <a:p>
                      <a:pPr marL="0" marR="0" lvl="0" indent="0" algn="l" rtl="0">
                        <a:lnSpc>
                          <a:spcPct val="100000"/>
                        </a:lnSpc>
                        <a:spcBef>
                          <a:spcPts val="0"/>
                        </a:spcBef>
                        <a:spcAft>
                          <a:spcPts val="0"/>
                        </a:spcAft>
                        <a:buNone/>
                      </a:pPr>
                      <a:r>
                        <a:rPr lang="en-US" sz="500" u="none" strike="noStrike" cap="none"/>
                        <a:t>π(S</a:t>
                      </a:r>
                      <a:r>
                        <a:rPr lang="en-US" sz="500" u="none" strike="noStrike" cap="none" baseline="-25000"/>
                        <a:t>t</a:t>
                      </a:r>
                      <a:r>
                        <a:rPr lang="en-US" sz="500" u="none" strike="noStrike" cap="none"/>
                        <a:t>)</a:t>
                      </a:r>
                      <a:endParaRPr sz="5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600" b="0" u="none" strike="noStrike" cap="none">
                        <a:solidFill>
                          <a:schemeClr val="dk1"/>
                        </a:solidFill>
                      </a:endParaRPr>
                    </a:p>
                  </a:txBody>
                  <a:tcPr marL="91450" marR="91450" marT="45725" marB="45725"/>
                </a:tc>
                <a:extLst>
                  <a:ext uri="{0D108BD9-81ED-4DB2-BD59-A6C34878D82A}">
                    <a16:rowId xmlns:a16="http://schemas.microsoft.com/office/drawing/2014/main" val="10005"/>
                  </a:ext>
                </a:extLst>
              </a:tr>
            </a:tbl>
          </a:graphicData>
        </a:graphic>
      </p:graphicFrame>
      <p:sp>
        <p:nvSpPr>
          <p:cNvPr id="2566" name="Google Shape;2566;g3a6c7b9e349_0_1322"/>
          <p:cNvSpPr txBox="1"/>
          <p:nvPr/>
        </p:nvSpPr>
        <p:spPr>
          <a:xfrm>
            <a:off x="279308" y="141474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4.5             1        2	  1          0             0</a:t>
            </a:r>
            <a:endParaRPr sz="300" b="0" i="0" u="none" strike="noStrike" cap="none">
              <a:solidFill>
                <a:schemeClr val="dk1"/>
              </a:solidFill>
              <a:latin typeface="Arial"/>
              <a:ea typeface="Arial"/>
              <a:cs typeface="Arial"/>
              <a:sym typeface="Arial"/>
            </a:endParaRPr>
          </a:p>
        </p:txBody>
      </p:sp>
      <p:sp>
        <p:nvSpPr>
          <p:cNvPr id="2567" name="Google Shape;2567;g3a6c7b9e349_0_1322"/>
          <p:cNvSpPr/>
          <p:nvPr/>
        </p:nvSpPr>
        <p:spPr>
          <a:xfrm>
            <a:off x="4020650" y="547351"/>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68" name="Google Shape;2568;g3a6c7b9e349_0_1322"/>
          <p:cNvSpPr/>
          <p:nvPr/>
        </p:nvSpPr>
        <p:spPr>
          <a:xfrm>
            <a:off x="627928" y="1049421"/>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569" name="Google Shape;2569;g3a6c7b9e349_0_1322"/>
          <p:cNvSpPr/>
          <p:nvPr/>
        </p:nvSpPr>
        <p:spPr>
          <a:xfrm>
            <a:off x="1186763" y="1042710"/>
            <a:ext cx="3288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A0A0A"/>
                </a:solidFill>
                <a:latin typeface="Google Sans"/>
                <a:ea typeface="Google Sans"/>
                <a:cs typeface="Google Sans"/>
                <a:sym typeface="Google Sans"/>
              </a:rPr>
              <a:t>✔</a:t>
            </a:r>
            <a:endParaRPr sz="1400" b="0" i="0" u="none" strike="noStrike" cap="none">
              <a:solidFill>
                <a:srgbClr val="000000"/>
              </a:solidFill>
              <a:latin typeface="Arial"/>
              <a:ea typeface="Arial"/>
              <a:cs typeface="Arial"/>
              <a:sym typeface="Arial"/>
            </a:endParaRPr>
          </a:p>
        </p:txBody>
      </p:sp>
      <p:sp>
        <p:nvSpPr>
          <p:cNvPr id="2570" name="Google Shape;2570;g3a6c7b9e349_0_1322"/>
          <p:cNvSpPr txBox="1"/>
          <p:nvPr/>
        </p:nvSpPr>
        <p:spPr>
          <a:xfrm>
            <a:off x="177801" y="2359422"/>
            <a:ext cx="3435900" cy="3291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50" b="1" i="0" u="none" strike="noStrike" cap="none">
                <a:solidFill>
                  <a:srgbClr val="1B1472"/>
                </a:solidFill>
                <a:latin typeface="Arial"/>
                <a:ea typeface="Arial"/>
                <a:cs typeface="Arial"/>
                <a:sym typeface="Arial"/>
              </a:rPr>
              <a:t>Students are advised to take this episode #3 as an exercise for practice …………</a:t>
            </a:r>
            <a:endParaRPr/>
          </a:p>
        </p:txBody>
      </p:sp>
      <p:sp>
        <p:nvSpPr>
          <p:cNvPr id="2571" name="Google Shape;2571;g3a6c7b9e349_0_1322"/>
          <p:cNvSpPr txBox="1"/>
          <p:nvPr/>
        </p:nvSpPr>
        <p:spPr>
          <a:xfrm>
            <a:off x="54070" y="785748"/>
            <a:ext cx="387300" cy="846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π</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C</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575"/>
        <p:cNvGrpSpPr/>
        <p:nvPr/>
      </p:nvGrpSpPr>
      <p:grpSpPr>
        <a:xfrm>
          <a:off x="0" y="0"/>
          <a:ext cx="0" cy="0"/>
          <a:chOff x="0" y="0"/>
          <a:chExt cx="0" cy="0"/>
        </a:xfrm>
      </p:grpSpPr>
      <p:sp>
        <p:nvSpPr>
          <p:cNvPr id="2576" name="Google Shape;2576;g3a6c7b9e349_0_1366"/>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DP 		VS 	     MC </a:t>
            </a:r>
            <a:endParaRPr/>
          </a:p>
        </p:txBody>
      </p:sp>
      <p:grpSp>
        <p:nvGrpSpPr>
          <p:cNvPr id="2577" name="Google Shape;2577;g3a6c7b9e349_0_1366"/>
          <p:cNvGrpSpPr/>
          <p:nvPr/>
        </p:nvGrpSpPr>
        <p:grpSpPr>
          <a:xfrm>
            <a:off x="0" y="3109250"/>
            <a:ext cx="5760261" cy="92075"/>
            <a:chOff x="0" y="3109250"/>
            <a:chExt cx="5760261" cy="92075"/>
          </a:xfrm>
        </p:grpSpPr>
        <p:sp>
          <p:nvSpPr>
            <p:cNvPr id="2578" name="Google Shape;2578;g3a6c7b9e349_0_136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9" name="Google Shape;2579;g3a6c7b9e349_0_136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0" name="Google Shape;2580;g3a6c7b9e349_0_136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81" name="Google Shape;2581;g3a6c7b9e349_0_1366"/>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582" name="Google Shape;2582;g3a6c7b9e349_0_136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63</a:t>
            </a:fld>
            <a:endParaRPr/>
          </a:p>
        </p:txBody>
      </p:sp>
      <p:sp>
        <p:nvSpPr>
          <p:cNvPr id="2583" name="Google Shape;2583;g3a6c7b9e349_0_1366"/>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584" name="Google Shape;2584;g3a6c7b9e349_0_1366"/>
          <p:cNvPicPr preferRelativeResize="0"/>
          <p:nvPr/>
        </p:nvPicPr>
        <p:blipFill rotWithShape="1">
          <a:blip r:embed="rId3">
            <a:alphaModFix/>
          </a:blip>
          <a:srcRect/>
          <a:stretch/>
        </p:blipFill>
        <p:spPr>
          <a:xfrm>
            <a:off x="498602" y="680207"/>
            <a:ext cx="1505730" cy="1123193"/>
          </a:xfrm>
          <a:prstGeom prst="rect">
            <a:avLst/>
          </a:prstGeom>
          <a:noFill/>
          <a:ln>
            <a:noFill/>
          </a:ln>
        </p:spPr>
      </p:pic>
      <p:pic>
        <p:nvPicPr>
          <p:cNvPr id="2585" name="Google Shape;2585;g3a6c7b9e349_0_1366"/>
          <p:cNvPicPr preferRelativeResize="0"/>
          <p:nvPr/>
        </p:nvPicPr>
        <p:blipFill rotWithShape="1">
          <a:blip r:embed="rId4">
            <a:alphaModFix/>
          </a:blip>
          <a:srcRect/>
          <a:stretch/>
        </p:blipFill>
        <p:spPr>
          <a:xfrm>
            <a:off x="12512" y="2349019"/>
            <a:ext cx="2813000" cy="262970"/>
          </a:xfrm>
          <a:prstGeom prst="rect">
            <a:avLst/>
          </a:prstGeom>
          <a:noFill/>
          <a:ln w="9525" cap="flat" cmpd="sng">
            <a:solidFill>
              <a:schemeClr val="dk1"/>
            </a:solidFill>
            <a:prstDash val="solid"/>
            <a:round/>
            <a:headEnd type="none" w="sm" len="sm"/>
            <a:tailEnd type="none" w="sm" len="sm"/>
          </a:ln>
        </p:spPr>
      </p:pic>
      <p:pic>
        <p:nvPicPr>
          <p:cNvPr id="2586" name="Google Shape;2586;g3a6c7b9e349_0_1366"/>
          <p:cNvPicPr preferRelativeResize="0"/>
          <p:nvPr/>
        </p:nvPicPr>
        <p:blipFill rotWithShape="1">
          <a:blip r:embed="rId5">
            <a:alphaModFix/>
          </a:blip>
          <a:srcRect/>
          <a:stretch/>
        </p:blipFill>
        <p:spPr>
          <a:xfrm>
            <a:off x="4094018" y="816671"/>
            <a:ext cx="258238" cy="1950375"/>
          </a:xfrm>
          <a:prstGeom prst="rect">
            <a:avLst/>
          </a:prstGeom>
          <a:noFill/>
          <a:ln>
            <a:noFill/>
          </a:ln>
        </p:spPr>
      </p:pic>
      <p:pic>
        <p:nvPicPr>
          <p:cNvPr id="2587" name="Google Shape;2587;g3a6c7b9e349_0_1366"/>
          <p:cNvPicPr preferRelativeResize="0"/>
          <p:nvPr/>
        </p:nvPicPr>
        <p:blipFill rotWithShape="1">
          <a:blip r:embed="rId6">
            <a:alphaModFix/>
          </a:blip>
          <a:srcRect/>
          <a:stretch/>
        </p:blipFill>
        <p:spPr>
          <a:xfrm>
            <a:off x="4271191" y="2331942"/>
            <a:ext cx="1259660" cy="289519"/>
          </a:xfrm>
          <a:prstGeom prst="rect">
            <a:avLst/>
          </a:prstGeom>
          <a:noFill/>
          <a:ln w="9525" cap="flat" cmpd="sng">
            <a:solidFill>
              <a:schemeClr val="dk1"/>
            </a:solidFill>
            <a:prstDash val="solid"/>
            <a:round/>
            <a:headEnd type="none" w="sm" len="sm"/>
            <a:tailEnd type="none" w="sm" len="sm"/>
          </a:ln>
        </p:spPr>
      </p:pic>
      <p:sp>
        <p:nvSpPr>
          <p:cNvPr id="2588" name="Google Shape;2588;g3a6c7b9e349_0_1366"/>
          <p:cNvSpPr txBox="1"/>
          <p:nvPr/>
        </p:nvSpPr>
        <p:spPr>
          <a:xfrm>
            <a:off x="3892740" y="728733"/>
            <a:ext cx="402600" cy="203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r>
              <a:rPr lang="en-US" sz="900" b="1" i="1" u="none" strike="noStrike" cap="none" baseline="-25000">
                <a:solidFill>
                  <a:srgbClr val="000000"/>
                </a:solidFill>
                <a:latin typeface="Arial"/>
                <a:ea typeface="Arial"/>
                <a:cs typeface="Arial"/>
                <a:sym typeface="Arial"/>
              </a:rPr>
              <a:t>T</a:t>
            </a:r>
            <a:r>
              <a:rPr lang="en-US" sz="900" b="1" i="1" u="none" strike="noStrike" cap="none">
                <a:solidFill>
                  <a:srgbClr val="000000"/>
                </a:solidFill>
                <a:latin typeface="Arial"/>
                <a:ea typeface="Arial"/>
                <a:cs typeface="Arial"/>
                <a:sym typeface="Arial"/>
              </a:rPr>
              <a:t> </a:t>
            </a:r>
            <a:endParaRPr sz="900" b="1" i="1" u="none" strike="noStrike" cap="none">
              <a:solidFill>
                <a:srgbClr val="000000"/>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8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592"/>
        <p:cNvGrpSpPr/>
        <p:nvPr/>
      </p:nvGrpSpPr>
      <p:grpSpPr>
        <a:xfrm>
          <a:off x="0" y="0"/>
          <a:ext cx="0" cy="0"/>
          <a:chOff x="0" y="0"/>
          <a:chExt cx="0" cy="0"/>
        </a:xfrm>
      </p:grpSpPr>
      <p:sp>
        <p:nvSpPr>
          <p:cNvPr id="2593" name="Google Shape;2593;g3a6c7b9e349_0_1382"/>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DP 		VS 	     MC </a:t>
            </a:r>
            <a:endParaRPr/>
          </a:p>
        </p:txBody>
      </p:sp>
      <p:grpSp>
        <p:nvGrpSpPr>
          <p:cNvPr id="2594" name="Google Shape;2594;g3a6c7b9e349_0_1382"/>
          <p:cNvGrpSpPr/>
          <p:nvPr/>
        </p:nvGrpSpPr>
        <p:grpSpPr>
          <a:xfrm>
            <a:off x="0" y="3109250"/>
            <a:ext cx="5760261" cy="92075"/>
            <a:chOff x="0" y="3109250"/>
            <a:chExt cx="5760261" cy="92075"/>
          </a:xfrm>
        </p:grpSpPr>
        <p:sp>
          <p:nvSpPr>
            <p:cNvPr id="2595" name="Google Shape;2595;g3a6c7b9e349_0_138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6" name="Google Shape;2596;g3a6c7b9e349_0_138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7" name="Google Shape;2597;g3a6c7b9e349_0_138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98" name="Google Shape;2598;g3a6c7b9e349_0_1382"/>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599" name="Google Shape;2599;g3a6c7b9e349_0_138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64</a:t>
            </a:fld>
            <a:r>
              <a:rPr lang="en-US"/>
              <a:t> </a:t>
            </a:r>
            <a:endParaRPr/>
          </a:p>
        </p:txBody>
      </p:sp>
      <p:sp>
        <p:nvSpPr>
          <p:cNvPr id="2600" name="Google Shape;2600;g3a6c7b9e349_0_1382"/>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601" name="Google Shape;2601;g3a6c7b9e349_0_1382"/>
          <p:cNvPicPr preferRelativeResize="0"/>
          <p:nvPr/>
        </p:nvPicPr>
        <p:blipFill rotWithShape="1">
          <a:blip r:embed="rId3">
            <a:alphaModFix/>
          </a:blip>
          <a:srcRect/>
          <a:stretch/>
        </p:blipFill>
        <p:spPr>
          <a:xfrm>
            <a:off x="512138" y="728733"/>
            <a:ext cx="1411724" cy="1123025"/>
          </a:xfrm>
          <a:prstGeom prst="rect">
            <a:avLst/>
          </a:prstGeom>
          <a:noFill/>
          <a:ln>
            <a:noFill/>
          </a:ln>
        </p:spPr>
      </p:pic>
      <p:pic>
        <p:nvPicPr>
          <p:cNvPr id="2602" name="Google Shape;2602;g3a6c7b9e349_0_1382"/>
          <p:cNvPicPr preferRelativeResize="0"/>
          <p:nvPr/>
        </p:nvPicPr>
        <p:blipFill rotWithShape="1">
          <a:blip r:embed="rId4">
            <a:alphaModFix/>
          </a:blip>
          <a:srcRect/>
          <a:stretch/>
        </p:blipFill>
        <p:spPr>
          <a:xfrm>
            <a:off x="82600" y="2198937"/>
            <a:ext cx="2444700" cy="384387"/>
          </a:xfrm>
          <a:prstGeom prst="rect">
            <a:avLst/>
          </a:prstGeom>
          <a:noFill/>
          <a:ln w="9525" cap="flat" cmpd="sng">
            <a:solidFill>
              <a:schemeClr val="dk1"/>
            </a:solidFill>
            <a:prstDash val="solid"/>
            <a:round/>
            <a:headEnd type="none" w="sm" len="sm"/>
            <a:tailEnd type="none" w="sm" len="sm"/>
          </a:ln>
        </p:spPr>
      </p:pic>
      <p:pic>
        <p:nvPicPr>
          <p:cNvPr id="2603" name="Google Shape;2603;g3a6c7b9e349_0_1382"/>
          <p:cNvPicPr preferRelativeResize="0"/>
          <p:nvPr/>
        </p:nvPicPr>
        <p:blipFill rotWithShape="1">
          <a:blip r:embed="rId5">
            <a:alphaModFix/>
          </a:blip>
          <a:srcRect/>
          <a:stretch/>
        </p:blipFill>
        <p:spPr>
          <a:xfrm>
            <a:off x="4042488" y="735721"/>
            <a:ext cx="365089" cy="1549600"/>
          </a:xfrm>
          <a:prstGeom prst="rect">
            <a:avLst/>
          </a:prstGeom>
          <a:noFill/>
          <a:ln>
            <a:noFill/>
          </a:ln>
        </p:spPr>
      </p:pic>
      <p:sp>
        <p:nvSpPr>
          <p:cNvPr id="2604" name="Google Shape;2604;g3a6c7b9e349_0_1382"/>
          <p:cNvSpPr txBox="1"/>
          <p:nvPr/>
        </p:nvSpPr>
        <p:spPr>
          <a:xfrm>
            <a:off x="3892740" y="728733"/>
            <a:ext cx="402600" cy="1616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a:t>
            </a: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r>
              <a:rPr lang="en-US" sz="900" b="1" i="1" u="none" strike="noStrike" cap="none" baseline="-25000">
                <a:solidFill>
                  <a:srgbClr val="000000"/>
                </a:solidFill>
                <a:latin typeface="Arial"/>
                <a:ea typeface="Arial"/>
                <a:cs typeface="Arial"/>
                <a:sym typeface="Arial"/>
              </a:rPr>
              <a:t>T</a:t>
            </a:r>
            <a:r>
              <a:rPr lang="en-US" sz="900" b="1" i="1" u="none" strike="noStrike" cap="none">
                <a:solidFill>
                  <a:srgbClr val="000000"/>
                </a:solidFill>
                <a:latin typeface="Arial"/>
                <a:ea typeface="Arial"/>
                <a:cs typeface="Arial"/>
                <a:sym typeface="Arial"/>
              </a:rPr>
              <a:t> </a:t>
            </a:r>
            <a:endParaRPr sz="900" b="1" i="1" u="none" strike="noStrike" cap="none">
              <a:solidFill>
                <a:srgbClr val="000000"/>
              </a:solidFill>
              <a:latin typeface="Arial"/>
              <a:ea typeface="Arial"/>
              <a:cs typeface="Arial"/>
              <a:sym typeface="Arial"/>
            </a:endParaRPr>
          </a:p>
        </p:txBody>
      </p:sp>
      <p:pic>
        <p:nvPicPr>
          <p:cNvPr id="2605" name="Google Shape;2605;g3a6c7b9e349_0_1382"/>
          <p:cNvPicPr preferRelativeResize="0"/>
          <p:nvPr/>
        </p:nvPicPr>
        <p:blipFill rotWithShape="1">
          <a:blip r:embed="rId6">
            <a:alphaModFix/>
          </a:blip>
          <a:srcRect/>
          <a:stretch/>
        </p:blipFill>
        <p:spPr>
          <a:xfrm>
            <a:off x="3287912" y="2327853"/>
            <a:ext cx="2141337" cy="235498"/>
          </a:xfrm>
          <a:prstGeom prst="rect">
            <a:avLst/>
          </a:prstGeom>
          <a:noFill/>
          <a:ln w="9525" cap="flat" cmpd="sng">
            <a:solidFill>
              <a:schemeClr val="dk1"/>
            </a:solidFill>
            <a:prstDash val="solid"/>
            <a:round/>
            <a:headEnd type="none" w="sm" len="sm"/>
            <a:tailEnd type="none" w="sm" len="sm"/>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609"/>
        <p:cNvGrpSpPr/>
        <p:nvPr/>
      </p:nvGrpSpPr>
      <p:grpSpPr>
        <a:xfrm>
          <a:off x="0" y="0"/>
          <a:ext cx="0" cy="0"/>
          <a:chOff x="0" y="0"/>
          <a:chExt cx="0" cy="0"/>
        </a:xfrm>
      </p:grpSpPr>
      <p:sp>
        <p:nvSpPr>
          <p:cNvPr id="2610" name="Google Shape;2610;g3b54a426ae3_0_1346"/>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611" name="Google Shape;2611;g3b54a426ae3_0_1346"/>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2612" name="Google Shape;2612;g3b54a426ae3_0_1346"/>
          <p:cNvSpPr txBox="1"/>
          <p:nvPr/>
        </p:nvSpPr>
        <p:spPr>
          <a:xfrm>
            <a:off x="387959" y="641412"/>
            <a:ext cx="81300" cy="1353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1</a:t>
            </a:r>
            <a:endParaRPr sz="800" b="0" i="0" u="none" strike="noStrike" cap="none">
              <a:solidFill>
                <a:srgbClr val="000000"/>
              </a:solidFill>
              <a:latin typeface="Calibri"/>
              <a:ea typeface="Calibri"/>
              <a:cs typeface="Calibri"/>
              <a:sym typeface="Calibri"/>
            </a:endParaRPr>
          </a:p>
        </p:txBody>
      </p:sp>
      <p:pic>
        <p:nvPicPr>
          <p:cNvPr id="2613" name="Google Shape;2613;g3b54a426ae3_0_1346"/>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2614" name="Google Shape;2614;g3b54a426ae3_0_1346"/>
          <p:cNvSpPr txBox="1"/>
          <p:nvPr/>
        </p:nvSpPr>
        <p:spPr>
          <a:xfrm>
            <a:off x="387959" y="933347"/>
            <a:ext cx="81300" cy="1353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AFAFD"/>
                </a:solidFill>
                <a:latin typeface="Calibri"/>
                <a:ea typeface="Calibri"/>
                <a:cs typeface="Calibri"/>
                <a:sym typeface="Calibri"/>
              </a:rPr>
              <a:t>2</a:t>
            </a:r>
            <a:endParaRPr sz="800" b="0" i="0" u="none" strike="noStrike" cap="none">
              <a:solidFill>
                <a:srgbClr val="000000"/>
              </a:solidFill>
              <a:latin typeface="Calibri"/>
              <a:ea typeface="Calibri"/>
              <a:cs typeface="Calibri"/>
              <a:sym typeface="Calibri"/>
            </a:endParaRPr>
          </a:p>
        </p:txBody>
      </p:sp>
      <p:pic>
        <p:nvPicPr>
          <p:cNvPr id="2615" name="Google Shape;2615;g3b54a426ae3_0_1346"/>
          <p:cNvPicPr preferRelativeResize="0"/>
          <p:nvPr/>
        </p:nvPicPr>
        <p:blipFill rotWithShape="1">
          <a:blip r:embed="rId5">
            <a:alphaModFix/>
          </a:blip>
          <a:srcRect/>
          <a:stretch/>
        </p:blipFill>
        <p:spPr>
          <a:xfrm>
            <a:off x="343662" y="1520050"/>
            <a:ext cx="169964" cy="169964"/>
          </a:xfrm>
          <a:prstGeom prst="rect">
            <a:avLst/>
          </a:prstGeom>
          <a:noFill/>
          <a:ln>
            <a:noFill/>
          </a:ln>
        </p:spPr>
      </p:pic>
      <p:sp>
        <p:nvSpPr>
          <p:cNvPr id="2616" name="Google Shape;2616;g3b54a426ae3_0_1346"/>
          <p:cNvSpPr txBox="1"/>
          <p:nvPr/>
        </p:nvSpPr>
        <p:spPr>
          <a:xfrm>
            <a:off x="397458" y="1520050"/>
            <a:ext cx="81300" cy="1353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EAEAF7"/>
                </a:solidFill>
                <a:latin typeface="Calibri"/>
                <a:ea typeface="Calibri"/>
                <a:cs typeface="Calibri"/>
                <a:sym typeface="Calibri"/>
              </a:rPr>
              <a:t>4</a:t>
            </a:r>
            <a:endParaRPr sz="800" b="0" i="0" u="none" strike="noStrike" cap="none">
              <a:solidFill>
                <a:srgbClr val="000000"/>
              </a:solidFill>
              <a:latin typeface="Calibri"/>
              <a:ea typeface="Calibri"/>
              <a:cs typeface="Calibri"/>
              <a:sym typeface="Calibri"/>
            </a:endParaRPr>
          </a:p>
        </p:txBody>
      </p:sp>
      <p:pic>
        <p:nvPicPr>
          <p:cNvPr id="2617" name="Google Shape;2617;g3b54a426ae3_0_1346"/>
          <p:cNvPicPr preferRelativeResize="0"/>
          <p:nvPr/>
        </p:nvPicPr>
        <p:blipFill rotWithShape="1">
          <a:blip r:embed="rId6">
            <a:alphaModFix/>
          </a:blip>
          <a:srcRect/>
          <a:stretch/>
        </p:blipFill>
        <p:spPr>
          <a:xfrm>
            <a:off x="343662" y="1215085"/>
            <a:ext cx="169964" cy="169964"/>
          </a:xfrm>
          <a:prstGeom prst="rect">
            <a:avLst/>
          </a:prstGeom>
          <a:noFill/>
          <a:ln>
            <a:noFill/>
          </a:ln>
        </p:spPr>
      </p:pic>
      <p:sp>
        <p:nvSpPr>
          <p:cNvPr id="2618" name="Google Shape;2618;g3b54a426ae3_0_1346"/>
          <p:cNvSpPr txBox="1"/>
          <p:nvPr/>
        </p:nvSpPr>
        <p:spPr>
          <a:xfrm>
            <a:off x="387959" y="1218754"/>
            <a:ext cx="81300" cy="1353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Calibri"/>
                <a:ea typeface="Calibri"/>
                <a:cs typeface="Calibri"/>
                <a:sym typeface="Calibri"/>
              </a:rPr>
              <a:t>3</a:t>
            </a:r>
            <a:endParaRPr sz="800" b="0" i="0" u="none" strike="noStrike" cap="none">
              <a:solidFill>
                <a:schemeClr val="lt1"/>
              </a:solidFill>
              <a:latin typeface="Calibri"/>
              <a:ea typeface="Calibri"/>
              <a:cs typeface="Calibri"/>
              <a:sym typeface="Calibri"/>
            </a:endParaRPr>
          </a:p>
        </p:txBody>
      </p:sp>
      <p:sp>
        <p:nvSpPr>
          <p:cNvPr id="2619" name="Google Shape;2619;g3b54a426ae3_0_1346"/>
          <p:cNvSpPr txBox="1"/>
          <p:nvPr/>
        </p:nvSpPr>
        <p:spPr>
          <a:xfrm>
            <a:off x="563029" y="556604"/>
            <a:ext cx="3241800" cy="1111800"/>
          </a:xfrm>
          <a:prstGeom prst="rect">
            <a:avLst/>
          </a:prstGeom>
          <a:noFill/>
          <a:ln>
            <a:noFill/>
          </a:ln>
        </p:spPr>
        <p:txBody>
          <a:bodyPr spcFirstLastPara="1" wrap="square" lIns="0" tIns="9015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rPr>
              <a:t>MDP</a:t>
            </a:r>
            <a:endParaRPr sz="1400" b="0" i="0" u="none" strike="noStrike" cap="none">
              <a:solidFill>
                <a:srgbClr val="000000"/>
              </a:solidFill>
              <a:latin typeface="Calibri"/>
              <a:ea typeface="Calibri"/>
              <a:cs typeface="Calibri"/>
              <a:sym typeface="Calibri"/>
            </a:endParaRPr>
          </a:p>
          <a:p>
            <a:pPr marL="12700" marR="0" lvl="0" indent="0" algn="l" rtl="0">
              <a:lnSpc>
                <a:spcPct val="100000"/>
              </a:lnSpc>
              <a:spcBef>
                <a:spcPts val="62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rPr>
              <a:t>DP</a:t>
            </a:r>
            <a:endParaRPr sz="1400" b="0" i="0" u="none" strike="noStrike" cap="none">
              <a:solidFill>
                <a:srgbClr val="000000"/>
              </a:solidFill>
              <a:latin typeface="Calibri"/>
              <a:ea typeface="Calibri"/>
              <a:cs typeface="Calibri"/>
              <a:sym typeface="Calibri"/>
            </a:endParaRPr>
          </a:p>
          <a:p>
            <a:pPr marL="12700" marR="5080" lvl="0" indent="0" algn="l" rtl="0">
              <a:lnSpc>
                <a:spcPct val="136800"/>
              </a:lnSpc>
              <a:spcBef>
                <a:spcPts val="0"/>
              </a:spcBef>
              <a:spcAft>
                <a:spcPts val="0"/>
              </a:spcAft>
              <a:buClr>
                <a:srgbClr val="000000"/>
              </a:buClr>
              <a:buSzPts val="1400"/>
              <a:buFont typeface="Arial"/>
              <a:buNone/>
            </a:pPr>
            <a:r>
              <a:rPr lang="en-US" sz="1400" b="0" i="0" u="sng" strike="noStrike" cap="none">
                <a:solidFill>
                  <a:schemeClr val="hlink"/>
                </a:solidFill>
                <a:latin typeface="Calibri"/>
                <a:ea typeface="Calibri"/>
                <a:cs typeface="Calibri"/>
                <a:sym typeface="Calibri"/>
              </a:rPr>
              <a:t>MC</a:t>
            </a:r>
            <a:endParaRPr sz="1400" b="0" i="0" u="none" strike="noStrike" cap="none">
              <a:solidFill>
                <a:srgbClr val="3333B2"/>
              </a:solidFill>
              <a:latin typeface="Calibri"/>
              <a:ea typeface="Calibri"/>
              <a:cs typeface="Calibri"/>
              <a:sym typeface="Calibri"/>
            </a:endParaRPr>
          </a:p>
          <a:p>
            <a:pPr marL="12700" marR="5080" lvl="0" indent="0" algn="l" rtl="0">
              <a:lnSpc>
                <a:spcPct val="136800"/>
              </a:lnSpc>
              <a:spcBef>
                <a:spcPts val="0"/>
              </a:spcBef>
              <a:spcAft>
                <a:spcPts val="0"/>
              </a:spcAft>
              <a:buClr>
                <a:srgbClr val="000000"/>
              </a:buClr>
              <a:buSzPts val="1400"/>
              <a:buFont typeface="Arial"/>
              <a:buNone/>
            </a:pPr>
            <a:r>
              <a:rPr lang="en-US" sz="1400" b="0" i="0" u="sng" strike="noStrike" cap="small">
                <a:solidFill>
                  <a:schemeClr val="hlink"/>
                </a:solidFill>
                <a:latin typeface="Calibri"/>
                <a:ea typeface="Calibri"/>
                <a:cs typeface="Calibri"/>
                <a:sym typeface="Calibri"/>
              </a:rPr>
              <a:t>TD</a:t>
            </a:r>
            <a:endParaRPr sz="1400" b="0" i="0" u="none" strike="noStrike" cap="none">
              <a:solidFill>
                <a:srgbClr val="000000"/>
              </a:solidFill>
              <a:latin typeface="Calibri"/>
              <a:ea typeface="Calibri"/>
              <a:cs typeface="Calibri"/>
              <a:sym typeface="Calibri"/>
            </a:endParaRPr>
          </a:p>
        </p:txBody>
      </p:sp>
      <p:grpSp>
        <p:nvGrpSpPr>
          <p:cNvPr id="2620" name="Google Shape;2620;g3b54a426ae3_0_1346"/>
          <p:cNvGrpSpPr/>
          <p:nvPr/>
        </p:nvGrpSpPr>
        <p:grpSpPr>
          <a:xfrm>
            <a:off x="0" y="3109250"/>
            <a:ext cx="5760261" cy="92075"/>
            <a:chOff x="0" y="3109250"/>
            <a:chExt cx="5760261" cy="92075"/>
          </a:xfrm>
        </p:grpSpPr>
        <p:sp>
          <p:nvSpPr>
            <p:cNvPr id="2621" name="Google Shape;2621;g3b54a426ae3_0_134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2" name="Google Shape;2622;g3b54a426ae3_0_134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3" name="Google Shape;2623;g3b54a426ae3_0_134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24" name="Google Shape;2624;g3b54a426ae3_0_1346"/>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625" name="Google Shape;2625;g3b54a426ae3_0_134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65</a:t>
            </a:fld>
            <a:endParaRPr/>
          </a:p>
        </p:txBody>
      </p:sp>
      <p:sp>
        <p:nvSpPr>
          <p:cNvPr id="2626" name="Google Shape;2626;g3b54a426ae3_0_1346"/>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630"/>
        <p:cNvGrpSpPr/>
        <p:nvPr/>
      </p:nvGrpSpPr>
      <p:grpSpPr>
        <a:xfrm>
          <a:off x="0" y="0"/>
          <a:ext cx="0" cy="0"/>
          <a:chOff x="0" y="0"/>
          <a:chExt cx="0" cy="0"/>
        </a:xfrm>
      </p:grpSpPr>
      <p:sp>
        <p:nvSpPr>
          <p:cNvPr id="2631" name="Google Shape;2631;g3b54a426ae3_0_1366"/>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Problem Definition</a:t>
            </a:r>
            <a:endParaRPr/>
          </a:p>
        </p:txBody>
      </p:sp>
      <p:sp>
        <p:nvSpPr>
          <p:cNvPr id="2632" name="Google Shape;2632;g3b54a426ae3_0_1366"/>
          <p:cNvSpPr/>
          <p:nvPr/>
        </p:nvSpPr>
        <p:spPr>
          <a:xfrm>
            <a:off x="81411" y="475127"/>
            <a:ext cx="5425053" cy="237543"/>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33" name="Google Shape;2633;g3b54a426ae3_0_1366"/>
          <p:cNvPicPr preferRelativeResize="0"/>
          <p:nvPr/>
        </p:nvPicPr>
        <p:blipFill rotWithShape="1">
          <a:blip r:embed="rId3">
            <a:alphaModFix/>
          </a:blip>
          <a:srcRect/>
          <a:stretch/>
        </p:blipFill>
        <p:spPr>
          <a:xfrm>
            <a:off x="82600" y="938301"/>
            <a:ext cx="5426387" cy="128069"/>
          </a:xfrm>
          <a:prstGeom prst="rect">
            <a:avLst/>
          </a:prstGeom>
          <a:noFill/>
          <a:ln>
            <a:noFill/>
          </a:ln>
        </p:spPr>
      </p:pic>
      <p:sp>
        <p:nvSpPr>
          <p:cNvPr id="2634" name="Google Shape;2634;g3b54a426ae3_0_1366"/>
          <p:cNvSpPr/>
          <p:nvPr/>
        </p:nvSpPr>
        <p:spPr>
          <a:xfrm>
            <a:off x="80817" y="712460"/>
            <a:ext cx="5425053" cy="923925"/>
          </a:xfrm>
          <a:custGeom>
            <a:avLst/>
            <a:gdLst/>
            <a:ahLst/>
            <a:cxnLst/>
            <a:rect l="l" t="t" r="r" b="b"/>
            <a:pathLst>
              <a:path w="5142230" h="381000" extrusionOk="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5" name="Google Shape;2635;g3b54a426ae3_0_1366"/>
          <p:cNvSpPr/>
          <p:nvPr/>
        </p:nvSpPr>
        <p:spPr>
          <a:xfrm>
            <a:off x="5508987" y="714200"/>
            <a:ext cx="0" cy="29432"/>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6" name="Google Shape;2636;g3b54a426ae3_0_1366"/>
          <p:cNvSpPr/>
          <p:nvPr/>
        </p:nvSpPr>
        <p:spPr>
          <a:xfrm>
            <a:off x="5508987" y="684776"/>
            <a:ext cx="0" cy="29432"/>
          </a:xfrm>
          <a:custGeom>
            <a:avLst/>
            <a:gdLst/>
            <a:ahLst/>
            <a:cxnLst/>
            <a:rect l="l" t="t" r="r" b="b"/>
            <a:pathLst>
              <a:path w="120000" h="12700" extrusionOk="0">
                <a:moveTo>
                  <a:pt x="0" y="12699"/>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7" name="Google Shape;2637;g3b54a426ae3_0_1366"/>
          <p:cNvSpPr/>
          <p:nvPr/>
        </p:nvSpPr>
        <p:spPr>
          <a:xfrm>
            <a:off x="5508987" y="655353"/>
            <a:ext cx="0" cy="29432"/>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8" name="Google Shape;2638;g3b54a426ae3_0_1366"/>
          <p:cNvSpPr/>
          <p:nvPr/>
        </p:nvSpPr>
        <p:spPr>
          <a:xfrm>
            <a:off x="5508987" y="611218"/>
            <a:ext cx="0" cy="44148"/>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39" name="Google Shape;2639;g3b54a426ae3_0_1366"/>
          <p:cNvPicPr preferRelativeResize="0"/>
          <p:nvPr/>
        </p:nvPicPr>
        <p:blipFill rotWithShape="1">
          <a:blip r:embed="rId4">
            <a:alphaModFix/>
          </a:blip>
          <a:srcRect/>
          <a:stretch/>
        </p:blipFill>
        <p:spPr>
          <a:xfrm>
            <a:off x="283194" y="1843601"/>
            <a:ext cx="97806" cy="82067"/>
          </a:xfrm>
          <a:prstGeom prst="rect">
            <a:avLst/>
          </a:prstGeom>
          <a:noFill/>
          <a:ln>
            <a:noFill/>
          </a:ln>
        </p:spPr>
      </p:pic>
      <p:pic>
        <p:nvPicPr>
          <p:cNvPr id="2640" name="Google Shape;2640;g3b54a426ae3_0_1366"/>
          <p:cNvPicPr preferRelativeResize="0"/>
          <p:nvPr/>
        </p:nvPicPr>
        <p:blipFill rotWithShape="1">
          <a:blip r:embed="rId5">
            <a:alphaModFix/>
          </a:blip>
          <a:srcRect/>
          <a:stretch/>
        </p:blipFill>
        <p:spPr>
          <a:xfrm>
            <a:off x="283194" y="2209822"/>
            <a:ext cx="97806" cy="82067"/>
          </a:xfrm>
          <a:prstGeom prst="rect">
            <a:avLst/>
          </a:prstGeom>
          <a:noFill/>
          <a:ln>
            <a:noFill/>
          </a:ln>
        </p:spPr>
      </p:pic>
      <p:sp>
        <p:nvSpPr>
          <p:cNvPr id="2641" name="Google Shape;2641;g3b54a426ae3_0_1366"/>
          <p:cNvSpPr txBox="1"/>
          <p:nvPr/>
        </p:nvSpPr>
        <p:spPr>
          <a:xfrm>
            <a:off x="79629" y="475127"/>
            <a:ext cx="5375100" cy="2394300"/>
          </a:xfrm>
          <a:prstGeom prst="rect">
            <a:avLst/>
          </a:prstGeom>
          <a:noFill/>
          <a:ln>
            <a:noFill/>
          </a:ln>
        </p:spPr>
        <p:txBody>
          <a:bodyPr spcFirstLastPara="1" wrap="square" lIns="0" tIns="52700" rIns="0" bIns="0" anchor="t" anchorCtr="0">
            <a:spAutoFit/>
          </a:bodyPr>
          <a:lstStyle/>
          <a:p>
            <a:pPr marL="50800" marR="0" lvl="0" indent="0" algn="just" rtl="0">
              <a:lnSpc>
                <a:spcPct val="100000"/>
              </a:lnSpc>
              <a:spcBef>
                <a:spcPts val="0"/>
              </a:spcBef>
              <a:spcAft>
                <a:spcPts val="0"/>
              </a:spcAft>
              <a:buClr>
                <a:srgbClr val="000000"/>
              </a:buClr>
              <a:buSzPts val="1200"/>
              <a:buFont typeface="Arial"/>
              <a:buNone/>
            </a:pPr>
            <a:r>
              <a:rPr lang="en-US" sz="1200" b="0" i="0" u="none" strike="noStrike" cap="none">
                <a:solidFill>
                  <a:srgbClr val="3333B2"/>
                </a:solidFill>
                <a:latin typeface="Calibri"/>
                <a:ea typeface="Calibri"/>
                <a:cs typeface="Calibri"/>
                <a:sym typeface="Calibri"/>
              </a:rPr>
              <a:t>(Modified) Race Car Example</a:t>
            </a:r>
            <a:endParaRPr sz="1200" b="0" i="0" u="none" strike="noStrike" cap="none">
              <a:solidFill>
                <a:srgbClr val="000000"/>
              </a:solidFill>
              <a:latin typeface="Calibri"/>
              <a:ea typeface="Calibri"/>
              <a:cs typeface="Calibri"/>
              <a:sym typeface="Calibri"/>
            </a:endParaRPr>
          </a:p>
          <a:p>
            <a:pPr marL="12700" marR="0" lvl="0" indent="0" algn="l" rtl="0">
              <a:lnSpc>
                <a:spcPct val="100000"/>
              </a:lnSpc>
              <a:spcBef>
                <a:spcPts val="254"/>
              </a:spcBef>
              <a:spcAft>
                <a:spcPts val="0"/>
              </a:spcAft>
              <a:buNone/>
            </a:pPr>
            <a:r>
              <a:rPr lang="en-US" sz="900" b="0" i="0" u="none" strike="noStrike" cap="none">
                <a:solidFill>
                  <a:srgbClr val="000000"/>
                </a:solidFill>
                <a:latin typeface="Arial"/>
                <a:ea typeface="Arial"/>
                <a:cs typeface="Arial"/>
                <a:sym typeface="Arial"/>
              </a:rPr>
              <a:t>In a modified Race car, there is a training track where agent is given a known (sometimes incomplete) map and risk factors(dynamics) may not be known in advance. Agent knows exactly where it is but its actions impact on the engine state change is difficult to predict (UNKNOWN MODEL).  </a:t>
            </a:r>
            <a:endParaRPr/>
          </a:p>
          <a:p>
            <a:pPr marL="12700" marR="0" lvl="0" indent="0" algn="l" rtl="0">
              <a:lnSpc>
                <a:spcPct val="100000"/>
              </a:lnSpc>
              <a:spcBef>
                <a:spcPts val="254"/>
              </a:spcBef>
              <a:spcAft>
                <a:spcPts val="0"/>
              </a:spcAft>
              <a:buNone/>
            </a:pPr>
            <a:r>
              <a:rPr lang="en-US" sz="900" b="0" i="0" u="none" strike="noStrike" cap="none">
                <a:solidFill>
                  <a:srgbClr val="000000"/>
                </a:solidFill>
                <a:latin typeface="Arial"/>
                <a:ea typeface="Arial"/>
                <a:cs typeface="Arial"/>
                <a:sym typeface="Arial"/>
              </a:rPr>
              <a:t>With partial knowledge, the agent can compute optimal policies by trying through random experiments (Sampling). Car sometimes may shuts down when its engine get overheated (optional terminal state) otherwise Race is allowed to proceed indefinitely (NO predefined no.of.laps to complete)</a:t>
            </a:r>
            <a:endParaRPr/>
          </a:p>
          <a:p>
            <a:pPr marL="12700" marR="0" lvl="0" indent="0" algn="l" rtl="0">
              <a:lnSpc>
                <a:spcPct val="100000"/>
              </a:lnSpc>
              <a:spcBef>
                <a:spcPts val="254"/>
              </a:spcBef>
              <a:spcAft>
                <a:spcPts val="0"/>
              </a:spcAft>
              <a:buNone/>
            </a:pPr>
            <a:r>
              <a:rPr lang="en-US" sz="900" b="0" i="0" u="none" strike="noStrike" cap="none">
                <a:solidFill>
                  <a:srgbClr val="000000"/>
                </a:solidFill>
                <a:latin typeface="Arial"/>
                <a:ea typeface="Arial"/>
                <a:cs typeface="Arial"/>
                <a:sym typeface="Arial"/>
              </a:rPr>
              <a:t> </a:t>
            </a:r>
            <a:r>
              <a:rPr lang="en-US" sz="900" b="0" i="0" u="none" strike="noStrike" cap="none">
                <a:solidFill>
                  <a:srgbClr val="1B1472"/>
                </a:solidFill>
                <a:latin typeface="Arial"/>
                <a:ea typeface="Arial"/>
                <a:cs typeface="Arial"/>
                <a:sym typeface="Arial"/>
              </a:rPr>
              <a:t>Key Characteristics:</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The agent must act under </a:t>
            </a:r>
            <a:r>
              <a:rPr lang="en-US" sz="900" b="1" i="0" u="none" strike="noStrike" cap="none">
                <a:solidFill>
                  <a:srgbClr val="000000"/>
                </a:solidFill>
                <a:latin typeface="Arial"/>
                <a:ea typeface="Arial"/>
                <a:cs typeface="Arial"/>
                <a:sym typeface="Arial"/>
              </a:rPr>
              <a:t>uncertainty</a:t>
            </a:r>
            <a:r>
              <a:rPr lang="en-US" sz="900" b="0" i="0" u="none" strike="noStrike" cap="none">
                <a:solidFill>
                  <a:srgbClr val="000000"/>
                </a:solidFill>
                <a:latin typeface="Arial"/>
                <a:ea typeface="Arial"/>
                <a:cs typeface="Arial"/>
                <a:sym typeface="Arial"/>
              </a:rPr>
              <a:t> — </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percepts are local, and the agent must reason about hidden dangers</a:t>
            </a:r>
            <a:endParaRPr sz="14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Tahoma"/>
                <a:ea typeface="Tahoma"/>
                <a:cs typeface="Tahoma"/>
                <a:sym typeface="Tahoma"/>
              </a:rPr>
              <a:t>Assume there are neither fuel constraints nor No.of.Laps to complete!</a:t>
            </a:r>
            <a:endParaRPr sz="1050" b="0" i="0" u="none" strike="noStrike" cap="none">
              <a:solidFill>
                <a:srgbClr val="000000"/>
              </a:solidFill>
              <a:latin typeface="Tahoma"/>
              <a:ea typeface="Tahoma"/>
              <a:cs typeface="Tahoma"/>
              <a:sym typeface="Tahoma"/>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At every time step </a:t>
            </a:r>
            <a:r>
              <a:rPr lang="en-US" sz="900" b="1" i="0" u="none" strike="noStrike" cap="none">
                <a:solidFill>
                  <a:srgbClr val="000000"/>
                </a:solidFill>
                <a:latin typeface="Arial"/>
                <a:ea typeface="Arial"/>
                <a:cs typeface="Arial"/>
                <a:sym typeface="Arial"/>
              </a:rPr>
              <a:t>there is an indication (direct/indirect) of </a:t>
            </a:r>
            <a:endParaRPr/>
          </a:p>
          <a:p>
            <a:pPr marL="347980" marR="0" lvl="0" indent="0" algn="just" rtl="0">
              <a:lnSpc>
                <a:spcPct val="100000"/>
              </a:lnSpc>
              <a:spcBef>
                <a:spcPts val="335"/>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Impact of next </a:t>
            </a:r>
            <a:r>
              <a:rPr lang="en-US" sz="900" b="0" i="0" u="none" strike="noStrike" cap="none">
                <a:solidFill>
                  <a:srgbClr val="000000"/>
                </a:solidFill>
                <a:latin typeface="Arial"/>
                <a:ea typeface="Arial"/>
                <a:cs typeface="Arial"/>
                <a:sym typeface="Arial"/>
              </a:rPr>
              <a:t>potential engine temperature depending on the </a:t>
            </a:r>
            <a:endParaRPr sz="900" b="0" i="0" u="none" strike="noStrike" cap="none">
              <a:solidFill>
                <a:srgbClr val="000000"/>
              </a:solidFill>
              <a:latin typeface="Arial"/>
              <a:ea typeface="Arial"/>
              <a:cs typeface="Arial"/>
              <a:sym typeface="Arial"/>
            </a:endParaRPr>
          </a:p>
          <a:p>
            <a:pPr marL="347980" marR="0" lvl="0" indent="0" algn="just" rtl="0">
              <a:lnSpc>
                <a:spcPct val="100000"/>
              </a:lnSpc>
              <a:spcBef>
                <a:spcPts val="335"/>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current engine state. I</a:t>
            </a:r>
            <a:r>
              <a:rPr lang="en-US" sz="900" b="1" i="0" u="none" strike="noStrike" cap="none">
                <a:solidFill>
                  <a:srgbClr val="000000"/>
                </a:solidFill>
                <a:latin typeface="Arial"/>
                <a:ea typeface="Arial"/>
                <a:cs typeface="Arial"/>
                <a:sym typeface="Arial"/>
              </a:rPr>
              <a:t>mmediate reward is available</a:t>
            </a:r>
            <a:r>
              <a:rPr lang="en-US"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grpSp>
        <p:nvGrpSpPr>
          <p:cNvPr id="2642" name="Google Shape;2642;g3b54a426ae3_0_1366"/>
          <p:cNvGrpSpPr/>
          <p:nvPr/>
        </p:nvGrpSpPr>
        <p:grpSpPr>
          <a:xfrm>
            <a:off x="0" y="3109250"/>
            <a:ext cx="5760261" cy="92075"/>
            <a:chOff x="0" y="3109250"/>
            <a:chExt cx="5760261" cy="92075"/>
          </a:xfrm>
        </p:grpSpPr>
        <p:sp>
          <p:nvSpPr>
            <p:cNvPr id="2643" name="Google Shape;2643;g3b54a426ae3_0_136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4" name="Google Shape;2644;g3b54a426ae3_0_136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5" name="Google Shape;2645;g3b54a426ae3_0_136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46" name="Google Shape;2646;g3b54a426ae3_0_1366"/>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647" name="Google Shape;2647;g3b54a426ae3_0_1366"/>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648" name="Google Shape;2648;g3b54a426ae3_0_136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66</a:t>
            </a:fld>
            <a:r>
              <a:rPr lang="en-US"/>
              <a:t> </a:t>
            </a:r>
            <a:endParaRPr/>
          </a:p>
        </p:txBody>
      </p:sp>
      <p:pic>
        <p:nvPicPr>
          <p:cNvPr id="2649" name="Google Shape;2649;g3b54a426ae3_0_1366"/>
          <p:cNvPicPr preferRelativeResize="0"/>
          <p:nvPr/>
        </p:nvPicPr>
        <p:blipFill rotWithShape="1">
          <a:blip r:embed="rId5">
            <a:alphaModFix/>
          </a:blip>
          <a:srcRect/>
          <a:stretch/>
        </p:blipFill>
        <p:spPr>
          <a:xfrm>
            <a:off x="283194" y="2362222"/>
            <a:ext cx="97806" cy="82067"/>
          </a:xfrm>
          <a:prstGeom prst="rect">
            <a:avLst/>
          </a:prstGeom>
          <a:noFill/>
          <a:ln>
            <a:noFill/>
          </a:ln>
        </p:spPr>
      </p:pic>
      <p:pic>
        <p:nvPicPr>
          <p:cNvPr id="2650" name="Google Shape;2650;g3b54a426ae3_0_1366"/>
          <p:cNvPicPr preferRelativeResize="0"/>
          <p:nvPr/>
        </p:nvPicPr>
        <p:blipFill rotWithShape="1">
          <a:blip r:embed="rId6">
            <a:alphaModFix/>
          </a:blip>
          <a:srcRect/>
          <a:stretch/>
        </p:blipFill>
        <p:spPr>
          <a:xfrm>
            <a:off x="3925087" y="1706699"/>
            <a:ext cx="1733207" cy="1074881"/>
          </a:xfrm>
          <a:prstGeom prst="rect">
            <a:avLst/>
          </a:prstGeom>
          <a:noFill/>
          <a:ln>
            <a:noFill/>
          </a:ln>
        </p:spPr>
      </p:pic>
    </p:spTree>
  </p:cSld>
  <p:clrMapOvr>
    <a:masterClrMapping/>
  </p:clrMapOvr>
  <p:transition>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654"/>
        <p:cNvGrpSpPr/>
        <p:nvPr/>
      </p:nvGrpSpPr>
      <p:grpSpPr>
        <a:xfrm>
          <a:off x="0" y="0"/>
          <a:ext cx="0" cy="0"/>
          <a:chOff x="0" y="0"/>
          <a:chExt cx="0" cy="0"/>
        </a:xfrm>
      </p:grpSpPr>
      <p:sp>
        <p:nvSpPr>
          <p:cNvPr id="2655" name="Google Shape;2655;g3b54a426ae3_0_1389"/>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Temporal Difference Learning Methods</a:t>
            </a:r>
            <a:endParaRPr/>
          </a:p>
        </p:txBody>
      </p:sp>
      <p:pic>
        <p:nvPicPr>
          <p:cNvPr id="2656" name="Google Shape;2656;g3b54a426ae3_0_1389"/>
          <p:cNvPicPr preferRelativeResize="0"/>
          <p:nvPr/>
        </p:nvPicPr>
        <p:blipFill rotWithShape="1">
          <a:blip r:embed="rId3">
            <a:alphaModFix/>
          </a:blip>
          <a:srcRect/>
          <a:stretch/>
        </p:blipFill>
        <p:spPr>
          <a:xfrm>
            <a:off x="219002" y="583532"/>
            <a:ext cx="121259" cy="121259"/>
          </a:xfrm>
          <a:prstGeom prst="rect">
            <a:avLst/>
          </a:prstGeom>
          <a:noFill/>
          <a:ln>
            <a:noFill/>
          </a:ln>
        </p:spPr>
      </p:pic>
      <p:sp>
        <p:nvSpPr>
          <p:cNvPr id="2657" name="Google Shape;2657;g3b54a426ae3_0_1389"/>
          <p:cNvSpPr txBox="1"/>
          <p:nvPr/>
        </p:nvSpPr>
        <p:spPr>
          <a:xfrm>
            <a:off x="245952" y="573682"/>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1</a:t>
            </a:r>
            <a:endParaRPr sz="600" b="0" i="0" u="none" strike="noStrike" cap="none">
              <a:solidFill>
                <a:srgbClr val="000000"/>
              </a:solidFill>
              <a:latin typeface="Calibri"/>
              <a:ea typeface="Calibri"/>
              <a:cs typeface="Calibri"/>
              <a:sym typeface="Calibri"/>
            </a:endParaRPr>
          </a:p>
        </p:txBody>
      </p:sp>
      <p:sp>
        <p:nvSpPr>
          <p:cNvPr id="2658" name="Google Shape;2658;g3b54a426ae3_0_1389"/>
          <p:cNvSpPr txBox="1"/>
          <p:nvPr/>
        </p:nvSpPr>
        <p:spPr>
          <a:xfrm>
            <a:off x="406632" y="537309"/>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Given</a:t>
            </a:r>
            <a:endParaRPr sz="1050" b="0" i="0" u="none" strike="noStrike" cap="none">
              <a:solidFill>
                <a:srgbClr val="000000"/>
              </a:solidFill>
              <a:latin typeface="Arial"/>
              <a:ea typeface="Arial"/>
              <a:cs typeface="Arial"/>
              <a:sym typeface="Arial"/>
            </a:endParaRPr>
          </a:p>
        </p:txBody>
      </p:sp>
      <p:sp>
        <p:nvSpPr>
          <p:cNvPr id="2659" name="Google Shape;2659;g3b54a426ae3_0_1389"/>
          <p:cNvSpPr txBox="1"/>
          <p:nvPr/>
        </p:nvSpPr>
        <p:spPr>
          <a:xfrm>
            <a:off x="536451" y="732781"/>
            <a:ext cx="24963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 A, R(s, a, s`), (optionally)P(a | s) </a:t>
            </a:r>
            <a:endParaRPr sz="950" b="0" i="0" u="none" strike="noStrike" cap="none">
              <a:solidFill>
                <a:srgbClr val="000000"/>
              </a:solidFill>
              <a:latin typeface="Arial"/>
              <a:ea typeface="Arial"/>
              <a:cs typeface="Arial"/>
              <a:sym typeface="Arial"/>
            </a:endParaRPr>
          </a:p>
        </p:txBody>
      </p:sp>
      <p:grpSp>
        <p:nvGrpSpPr>
          <p:cNvPr id="2660" name="Google Shape;2660;g3b54a426ae3_0_1389"/>
          <p:cNvGrpSpPr/>
          <p:nvPr/>
        </p:nvGrpSpPr>
        <p:grpSpPr>
          <a:xfrm>
            <a:off x="219002" y="990948"/>
            <a:ext cx="121259" cy="528662"/>
            <a:chOff x="456996" y="1391780"/>
            <a:chExt cx="121259" cy="528662"/>
          </a:xfrm>
        </p:grpSpPr>
        <p:pic>
          <p:nvPicPr>
            <p:cNvPr id="2661" name="Google Shape;2661;g3b54a426ae3_0_1389"/>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2662" name="Google Shape;2662;g3b54a426ae3_0_1389"/>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2663" name="Google Shape;2663;g3b54a426ae3_0_1389"/>
          <p:cNvSpPr txBox="1"/>
          <p:nvPr/>
        </p:nvSpPr>
        <p:spPr>
          <a:xfrm>
            <a:off x="245952" y="981098"/>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2</a:t>
            </a:r>
            <a:endParaRPr sz="600" b="0" i="0" u="none" strike="noStrike" cap="none">
              <a:solidFill>
                <a:srgbClr val="000000"/>
              </a:solidFill>
              <a:latin typeface="Calibri"/>
              <a:ea typeface="Calibri"/>
              <a:cs typeface="Calibri"/>
              <a:sym typeface="Calibri"/>
            </a:endParaRPr>
          </a:p>
        </p:txBody>
      </p:sp>
      <p:sp>
        <p:nvSpPr>
          <p:cNvPr id="2664" name="Google Shape;2664;g3b54a426ae3_0_1389"/>
          <p:cNvSpPr txBox="1"/>
          <p:nvPr/>
        </p:nvSpPr>
        <p:spPr>
          <a:xfrm>
            <a:off x="406632" y="944712"/>
            <a:ext cx="13062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To find</a:t>
            </a:r>
            <a:endParaRPr sz="1050" b="0" i="0" u="none" strike="noStrike" cap="none">
              <a:solidFill>
                <a:srgbClr val="000000"/>
              </a:solidFill>
              <a:latin typeface="Arial"/>
              <a:ea typeface="Arial"/>
              <a:cs typeface="Arial"/>
              <a:sym typeface="Arial"/>
            </a:endParaRPr>
          </a:p>
        </p:txBody>
      </p:sp>
      <p:sp>
        <p:nvSpPr>
          <p:cNvPr id="2665" name="Google Shape;2665;g3b54a426ae3_0_1389"/>
          <p:cNvSpPr txBox="1"/>
          <p:nvPr/>
        </p:nvSpPr>
        <p:spPr>
          <a:xfrm>
            <a:off x="536451" y="1140197"/>
            <a:ext cx="2681700" cy="1578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Policy π </a:t>
            </a:r>
            <a:endParaRPr sz="950" b="0" i="0" u="none" strike="noStrike" cap="none">
              <a:solidFill>
                <a:srgbClr val="000000"/>
              </a:solidFill>
              <a:latin typeface="Arial"/>
              <a:ea typeface="Arial"/>
              <a:cs typeface="Arial"/>
              <a:sym typeface="Arial"/>
            </a:endParaRPr>
          </a:p>
        </p:txBody>
      </p:sp>
      <p:sp>
        <p:nvSpPr>
          <p:cNvPr id="2666" name="Google Shape;2666;g3b54a426ae3_0_1389"/>
          <p:cNvSpPr txBox="1"/>
          <p:nvPr/>
        </p:nvSpPr>
        <p:spPr>
          <a:xfrm>
            <a:off x="245952" y="1388501"/>
            <a:ext cx="67200" cy="104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3</a:t>
            </a:r>
            <a:endParaRPr sz="600" b="0" i="0" u="none" strike="noStrike" cap="none">
              <a:solidFill>
                <a:srgbClr val="000000"/>
              </a:solidFill>
              <a:latin typeface="Calibri"/>
              <a:ea typeface="Calibri"/>
              <a:cs typeface="Calibri"/>
              <a:sym typeface="Calibri"/>
            </a:endParaRPr>
          </a:p>
        </p:txBody>
      </p:sp>
      <p:sp>
        <p:nvSpPr>
          <p:cNvPr id="2667" name="Google Shape;2667;g3b54a426ae3_0_1389"/>
          <p:cNvSpPr txBox="1"/>
          <p:nvPr/>
        </p:nvSpPr>
        <p:spPr>
          <a:xfrm>
            <a:off x="406632" y="1352128"/>
            <a:ext cx="13017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Solution</a:t>
            </a:r>
            <a:endParaRPr sz="1050" b="0" i="0" u="none" strike="noStrike" cap="none">
              <a:solidFill>
                <a:srgbClr val="000000"/>
              </a:solidFill>
              <a:latin typeface="Arial"/>
              <a:ea typeface="Arial"/>
              <a:cs typeface="Arial"/>
              <a:sym typeface="Arial"/>
            </a:endParaRPr>
          </a:p>
        </p:txBody>
      </p:sp>
      <p:sp>
        <p:nvSpPr>
          <p:cNvPr id="2668" name="Google Shape;2668;g3b54a426ae3_0_1389"/>
          <p:cNvSpPr txBox="1"/>
          <p:nvPr/>
        </p:nvSpPr>
        <p:spPr>
          <a:xfrm>
            <a:off x="128632" y="1512226"/>
            <a:ext cx="5358600" cy="1625100"/>
          </a:xfrm>
          <a:prstGeom prst="rect">
            <a:avLst/>
          </a:prstGeom>
          <a:noFill/>
          <a:ln>
            <a:noFill/>
          </a:ln>
        </p:spPr>
        <p:txBody>
          <a:bodyPr spcFirstLastPara="1" wrap="square" lIns="0" tIns="11425" rIns="0" bIns="0" anchor="t" anchorCtr="0">
            <a:spAutoFit/>
          </a:bodyPr>
          <a:lstStyle/>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Sample Episodes</a:t>
            </a:r>
            <a:endParaRPr/>
          </a:p>
          <a:p>
            <a:pPr marL="490218"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Compute estimates of the value by discounted </a:t>
            </a:r>
            <a:r>
              <a:rPr lang="en-US" sz="950" b="0" i="0" u="none" strike="noStrike" cap="none">
                <a:solidFill>
                  <a:srgbClr val="0070C0"/>
                </a:solidFill>
                <a:latin typeface="Arial"/>
                <a:ea typeface="Arial"/>
                <a:cs typeface="Arial"/>
                <a:sym typeface="Arial"/>
              </a:rPr>
              <a:t>next state estimates (bootstrapping)</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Simple average</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Weighted average</a:t>
            </a:r>
            <a:endParaRPr/>
          </a:p>
          <a:p>
            <a:pPr marL="801687" marR="0" lvl="8" indent="-171450" algn="l" rtl="0">
              <a:lnSpc>
                <a:spcPct val="100000"/>
              </a:lnSpc>
              <a:spcBef>
                <a:spcPts val="0"/>
              </a:spcBef>
              <a:spcAft>
                <a:spcPts val="0"/>
              </a:spcAft>
              <a:buClr>
                <a:srgbClr val="000000"/>
              </a:buClr>
              <a:buSzPts val="950"/>
              <a:buFont typeface="Noto Sans Symbols"/>
              <a:buChar char="✔"/>
            </a:pPr>
            <a:r>
              <a:rPr lang="en-US" sz="950" b="0" i="0" u="none" strike="noStrike" cap="none">
                <a:solidFill>
                  <a:srgbClr val="000000"/>
                </a:solidFill>
                <a:latin typeface="Arial"/>
                <a:ea typeface="Arial"/>
                <a:cs typeface="Arial"/>
                <a:sym typeface="Arial"/>
              </a:rPr>
              <a:t>Normalized weighted average</a:t>
            </a:r>
            <a:endParaRPr sz="140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490218"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a:p>
            <a:pPr marL="38100" marR="0" lvl="0" indent="0" algn="l" rtl="0">
              <a:lnSpc>
                <a:spcPct val="100000"/>
              </a:lnSpc>
              <a:spcBef>
                <a:spcPts val="1040"/>
              </a:spcBef>
              <a:spcAft>
                <a:spcPts val="0"/>
              </a:spcAft>
              <a:buClr>
                <a:srgbClr val="000000"/>
              </a:buClr>
              <a:buSzPts val="1050"/>
              <a:buFont typeface="Arial"/>
              <a:buNone/>
            </a:pPr>
            <a:endParaRPr sz="1050" b="0" i="0" u="none" strike="noStrike" cap="none">
              <a:solidFill>
                <a:srgbClr val="000000"/>
              </a:solidFill>
              <a:latin typeface="Arial"/>
              <a:ea typeface="Arial"/>
              <a:cs typeface="Arial"/>
              <a:sym typeface="Arial"/>
            </a:endParaRPr>
          </a:p>
        </p:txBody>
      </p:sp>
      <p:grpSp>
        <p:nvGrpSpPr>
          <p:cNvPr id="2669" name="Google Shape;2669;g3b54a426ae3_0_1389"/>
          <p:cNvGrpSpPr/>
          <p:nvPr/>
        </p:nvGrpSpPr>
        <p:grpSpPr>
          <a:xfrm>
            <a:off x="0" y="3109250"/>
            <a:ext cx="5760261" cy="92075"/>
            <a:chOff x="0" y="3109250"/>
            <a:chExt cx="5760261" cy="92075"/>
          </a:xfrm>
        </p:grpSpPr>
        <p:sp>
          <p:nvSpPr>
            <p:cNvPr id="2670" name="Google Shape;2670;g3b54a426ae3_0_138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1" name="Google Shape;2671;g3b54a426ae3_0_138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2" name="Google Shape;2672;g3b54a426ae3_0_138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73" name="Google Shape;2673;g3b54a426ae3_0_1389"/>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674" name="Google Shape;2674;g3b54a426ae3_0_1389"/>
          <p:cNvSpPr txBox="1">
            <a:spLocks noGrp="1"/>
          </p:cNvSpPr>
          <p:nvPr>
            <p:ph type="sldNum" idx="12"/>
          </p:nvPr>
        </p:nvSpPr>
        <p:spPr>
          <a:xfrm>
            <a:off x="4648848" y="31249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67</a:t>
            </a:fld>
            <a:r>
              <a:rPr lang="en-US"/>
              <a:t> </a:t>
            </a:r>
            <a:endParaRPr/>
          </a:p>
        </p:txBody>
      </p:sp>
      <p:grpSp>
        <p:nvGrpSpPr>
          <p:cNvPr id="2675" name="Google Shape;2675;g3b54a426ae3_0_1389"/>
          <p:cNvGrpSpPr/>
          <p:nvPr/>
        </p:nvGrpSpPr>
        <p:grpSpPr>
          <a:xfrm>
            <a:off x="201908" y="2191372"/>
            <a:ext cx="148210" cy="163940"/>
            <a:chOff x="134127" y="2262704"/>
            <a:chExt cx="266997" cy="178837"/>
          </a:xfrm>
        </p:grpSpPr>
        <p:pic>
          <p:nvPicPr>
            <p:cNvPr id="2676" name="Google Shape;2676;g3b54a426ae3_0_1389"/>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2677" name="Google Shape;2677;g3b54a426ae3_0_1389"/>
            <p:cNvSpPr txBox="1"/>
            <p:nvPr/>
          </p:nvSpPr>
          <p:spPr>
            <a:xfrm>
              <a:off x="209626" y="2275554"/>
              <a:ext cx="148200" cy="1140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600"/>
                <a:buFont typeface="Arial"/>
                <a:buNone/>
              </a:pPr>
              <a:r>
                <a:rPr lang="en-US" sz="600" b="0" i="0" u="none" strike="noStrike" cap="none">
                  <a:solidFill>
                    <a:srgbClr val="FFFFFF"/>
                  </a:solidFill>
                  <a:latin typeface="Calibri"/>
                  <a:ea typeface="Calibri"/>
                  <a:cs typeface="Calibri"/>
                  <a:sym typeface="Calibri"/>
                </a:rPr>
                <a:t>4</a:t>
              </a:r>
              <a:endParaRPr sz="600" b="0" i="0" u="none" strike="noStrike" cap="none">
                <a:solidFill>
                  <a:srgbClr val="000000"/>
                </a:solidFill>
                <a:latin typeface="Calibri"/>
                <a:ea typeface="Calibri"/>
                <a:cs typeface="Calibri"/>
                <a:sym typeface="Calibri"/>
              </a:endParaRPr>
            </a:p>
          </p:txBody>
        </p:sp>
      </p:grpSp>
      <p:sp>
        <p:nvSpPr>
          <p:cNvPr id="2678" name="Google Shape;2678;g3b54a426ae3_0_1389"/>
          <p:cNvSpPr txBox="1"/>
          <p:nvPr/>
        </p:nvSpPr>
        <p:spPr>
          <a:xfrm>
            <a:off x="421246" y="2174040"/>
            <a:ext cx="1062300" cy="1776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1B1472"/>
                </a:solidFill>
                <a:latin typeface="Arial"/>
                <a:ea typeface="Arial"/>
                <a:cs typeface="Arial"/>
                <a:sym typeface="Arial"/>
              </a:rPr>
              <a:t>Idea</a:t>
            </a:r>
            <a:endParaRPr sz="1050" b="0" i="0" u="none" strike="noStrike" cap="none">
              <a:solidFill>
                <a:srgbClr val="000000"/>
              </a:solidFill>
              <a:latin typeface="Arial"/>
              <a:ea typeface="Arial"/>
              <a:cs typeface="Arial"/>
              <a:sym typeface="Arial"/>
            </a:endParaRPr>
          </a:p>
        </p:txBody>
      </p:sp>
      <p:sp>
        <p:nvSpPr>
          <p:cNvPr id="2679" name="Google Shape;2679;g3b54a426ae3_0_1389"/>
          <p:cNvSpPr txBox="1"/>
          <p:nvPr/>
        </p:nvSpPr>
        <p:spPr>
          <a:xfrm>
            <a:off x="536450" y="2282352"/>
            <a:ext cx="4584300" cy="888900"/>
          </a:xfrm>
          <a:prstGeom prst="rect">
            <a:avLst/>
          </a:prstGeom>
          <a:noFill/>
          <a:ln>
            <a:noFill/>
          </a:ln>
        </p:spPr>
        <p:txBody>
          <a:bodyPr spcFirstLastPara="1" wrap="square" lIns="0" tIns="11425" rIns="0" bIns="0" anchor="t" anchorCtr="0">
            <a:spAutoFit/>
          </a:bodyPr>
          <a:lstStyle/>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On Policy : </a:t>
            </a:r>
            <a:endParaRPr sz="950" b="0" i="0" u="none" strike="noStrike" cap="none">
              <a:solidFill>
                <a:srgbClr val="000000"/>
              </a:solidFill>
              <a:latin typeface="Arial"/>
              <a:ea typeface="Arial"/>
              <a:cs typeface="Arial"/>
              <a:sym typeface="Arial"/>
            </a:endParaRPr>
          </a:p>
          <a:p>
            <a:pPr marL="265112" marR="0" lvl="1"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Generate Sample/Experience 🡪 Evaluate using </a:t>
            </a:r>
            <a:r>
              <a:rPr lang="en-US" sz="950" b="0" i="0" u="none" strike="noStrike" cap="none">
                <a:solidFill>
                  <a:srgbClr val="0070C0"/>
                </a:solidFill>
                <a:latin typeface="Arial"/>
                <a:ea typeface="Arial"/>
                <a:cs typeface="Arial"/>
                <a:sym typeface="Arial"/>
              </a:rPr>
              <a:t>bootstrapping</a:t>
            </a:r>
            <a:r>
              <a:rPr lang="en-US" sz="950" b="0" i="0" u="none" strike="noStrike" cap="none">
                <a:solidFill>
                  <a:srgbClr val="000000"/>
                </a:solidFill>
                <a:latin typeface="Arial"/>
                <a:ea typeface="Arial"/>
                <a:cs typeface="Arial"/>
                <a:sym typeface="Arial"/>
              </a:rPr>
              <a:t> 🡪 Improve</a:t>
            </a:r>
            <a:endParaRPr sz="1400" b="0" i="0" u="none" strike="noStrike" cap="none">
              <a:solidFill>
                <a:srgbClr val="000000"/>
              </a:solidFill>
              <a:latin typeface="Arial"/>
              <a:ea typeface="Arial"/>
              <a:cs typeface="Arial"/>
              <a:sym typeface="Arial"/>
            </a:endParaRPr>
          </a:p>
          <a:p>
            <a:pPr marL="38100" marR="0" lvl="0" indent="-60325"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Off Policy : </a:t>
            </a:r>
            <a:endParaRPr sz="950" b="0" i="0" u="none" strike="noStrike" cap="none">
              <a:solidFill>
                <a:srgbClr val="000000"/>
              </a:solidFill>
              <a:latin typeface="Arial"/>
              <a:ea typeface="Arial"/>
              <a:cs typeface="Arial"/>
              <a:sym typeface="Arial"/>
            </a:endParaRPr>
          </a:p>
          <a:p>
            <a:pPr marL="287337" marR="0" lvl="0" indent="-107950" algn="l" rtl="0">
              <a:lnSpc>
                <a:spcPct val="100000"/>
              </a:lnSpc>
              <a:spcBef>
                <a:spcPts val="0"/>
              </a:spcBef>
              <a:spcAft>
                <a:spcPts val="0"/>
              </a:spcAft>
              <a:buClr>
                <a:srgbClr val="000000"/>
              </a:buClr>
              <a:buSzPts val="950"/>
              <a:buFont typeface="Arial"/>
              <a:buChar char="•"/>
            </a:pPr>
            <a:r>
              <a:rPr lang="en-US" sz="950" b="0" i="0" u="none" strike="noStrike" cap="none">
                <a:solidFill>
                  <a:srgbClr val="000000"/>
                </a:solidFill>
                <a:latin typeface="Arial"/>
                <a:ea typeface="Arial"/>
                <a:cs typeface="Arial"/>
                <a:sym typeface="Arial"/>
              </a:rPr>
              <a:t>Refer to Sample/Experience generated by another reference(behavior) policy  🡪 Evaluate using </a:t>
            </a:r>
            <a:r>
              <a:rPr lang="en-US" sz="950" b="0" i="0" u="none" strike="noStrike" cap="none">
                <a:solidFill>
                  <a:srgbClr val="0070C0"/>
                </a:solidFill>
                <a:latin typeface="Arial"/>
                <a:ea typeface="Arial"/>
                <a:cs typeface="Arial"/>
                <a:sym typeface="Arial"/>
              </a:rPr>
              <a:t>bootstrapping</a:t>
            </a:r>
            <a:r>
              <a:rPr lang="en-US" sz="950" b="0" i="0" u="none" strike="noStrike" cap="none">
                <a:solidFill>
                  <a:srgbClr val="000000"/>
                </a:solidFill>
                <a:latin typeface="Arial"/>
                <a:ea typeface="Arial"/>
                <a:cs typeface="Arial"/>
                <a:sym typeface="Arial"/>
              </a:rPr>
              <a:t> 🡪 Improve</a:t>
            </a:r>
            <a:endParaRPr sz="950" b="0" i="0" u="none" strike="noStrike" cap="none">
              <a:solidFill>
                <a:srgbClr val="000000"/>
              </a:solidFill>
              <a:latin typeface="Arial"/>
              <a:ea typeface="Arial"/>
              <a:cs typeface="Arial"/>
              <a:sym typeface="Arial"/>
            </a:endParaRPr>
          </a:p>
          <a:p>
            <a:pPr marL="38100" marR="0" lvl="0" indent="0" algn="l" rtl="0">
              <a:lnSpc>
                <a:spcPct val="100000"/>
              </a:lnSpc>
              <a:spcBef>
                <a:spcPts val="0"/>
              </a:spcBef>
              <a:spcAft>
                <a:spcPts val="0"/>
              </a:spcAft>
              <a:buClr>
                <a:srgbClr val="000000"/>
              </a:buClr>
              <a:buSzPts val="950"/>
              <a:buFont typeface="Arial"/>
              <a:buNone/>
            </a:pPr>
            <a:endParaRPr sz="950" b="0" i="0" u="none" strike="noStrike" cap="none">
              <a:solidFill>
                <a:srgbClr val="000000"/>
              </a:solidFill>
              <a:latin typeface="Arial"/>
              <a:ea typeface="Arial"/>
              <a:cs typeface="Arial"/>
              <a:sym typeface="Arial"/>
            </a:endParaRPr>
          </a:p>
        </p:txBody>
      </p:sp>
      <p:sp>
        <p:nvSpPr>
          <p:cNvPr id="2680" name="Google Shape;2680;g3b54a426ae3_0_1389"/>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Tree>
  </p:cSld>
  <p:clrMapOvr>
    <a:masterClrMapping/>
  </p:clrMapOvr>
  <p:transition>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84"/>
        <p:cNvGrpSpPr/>
        <p:nvPr/>
      </p:nvGrpSpPr>
      <p:grpSpPr>
        <a:xfrm>
          <a:off x="0" y="0"/>
          <a:ext cx="0" cy="0"/>
          <a:chOff x="0" y="0"/>
          <a:chExt cx="0" cy="0"/>
        </a:xfrm>
      </p:grpSpPr>
      <p:sp>
        <p:nvSpPr>
          <p:cNvPr id="2685" name="Google Shape;2685;g3b54a426ae3_0_1418"/>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2686" name="Google Shape;2686;g3b54a426ae3_0_1418"/>
          <p:cNvSpPr txBox="1">
            <a:spLocks noGrp="1"/>
          </p:cNvSpPr>
          <p:nvPr>
            <p:ph type="body" idx="1"/>
          </p:nvPr>
        </p:nvSpPr>
        <p:spPr>
          <a:xfrm>
            <a:off x="777220" y="516129"/>
            <a:ext cx="3812400" cy="24627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Temporal Difference Learning Methods</a:t>
            </a: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Policy Evaluation (PE) Algorithm</a:t>
            </a:r>
            <a:endParaRPr/>
          </a:p>
          <a:p>
            <a:pPr marL="457200" lvl="0" indent="-228600" algn="ctr" rtl="0">
              <a:lnSpc>
                <a:spcPct val="100000"/>
              </a:lnSpc>
              <a:spcBef>
                <a:spcPts val="0"/>
              </a:spcBef>
              <a:spcAft>
                <a:spcPts val="0"/>
              </a:spcAft>
              <a:buSzPts val="1400"/>
              <a:buNone/>
            </a:pPr>
            <a:r>
              <a:rPr lang="en-US" sz="1600" b="1">
                <a:solidFill>
                  <a:schemeClr val="dk1"/>
                </a:solidFill>
              </a:rPr>
              <a:t>TD(0)</a:t>
            </a:r>
            <a:endParaRPr sz="1600" b="1">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690"/>
        <p:cNvGrpSpPr/>
        <p:nvPr/>
      </p:nvGrpSpPr>
      <p:grpSpPr>
        <a:xfrm>
          <a:off x="0" y="0"/>
          <a:ext cx="0" cy="0"/>
          <a:chOff x="0" y="0"/>
          <a:chExt cx="0" cy="0"/>
        </a:xfrm>
      </p:grpSpPr>
      <p:sp>
        <p:nvSpPr>
          <p:cNvPr id="2691" name="Google Shape;2691;g3b54a426ae3_0_142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TD(0)</a:t>
            </a:r>
            <a:endParaRPr/>
          </a:p>
        </p:txBody>
      </p:sp>
      <p:sp>
        <p:nvSpPr>
          <p:cNvPr id="2692" name="Google Shape;2692;g3b54a426ae3_0_142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693" name="Google Shape;2693;g3b54a426ae3_0_1423"/>
          <p:cNvGrpSpPr/>
          <p:nvPr/>
        </p:nvGrpSpPr>
        <p:grpSpPr>
          <a:xfrm>
            <a:off x="0" y="3109250"/>
            <a:ext cx="5760261" cy="92075"/>
            <a:chOff x="0" y="3109250"/>
            <a:chExt cx="5760261" cy="92075"/>
          </a:xfrm>
        </p:grpSpPr>
        <p:sp>
          <p:nvSpPr>
            <p:cNvPr id="2694" name="Google Shape;2694;g3b54a426ae3_0_142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5" name="Google Shape;2695;g3b54a426ae3_0_142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6" name="Google Shape;2696;g3b54a426ae3_0_142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97" name="Google Shape;2697;g3b54a426ae3_0_142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698" name="Google Shape;2698;g3b54a426ae3_0_142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69</a:t>
            </a:fld>
            <a:endParaRPr/>
          </a:p>
        </p:txBody>
      </p:sp>
      <p:pic>
        <p:nvPicPr>
          <p:cNvPr id="2699" name="Google Shape;2699;g3b54a426ae3_0_1423"/>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700" name="Google Shape;2700;g3b54a426ae3_0_1423"/>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701" name="Google Shape;2701;g3b54a426ae3_0_1423"/>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702" name="Google Shape;2702;g3b54a426ae3_0_142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03" name="Google Shape;2703;g3b54a426ae3_0_142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04" name="Google Shape;2704;g3b54a426ae3_0_142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05" name="Google Shape;2705;g3b54a426ae3_0_1423"/>
          <p:cNvSpPr txBox="1"/>
          <p:nvPr/>
        </p:nvSpPr>
        <p:spPr>
          <a:xfrm>
            <a:off x="441272" y="767528"/>
            <a:ext cx="1721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000000"/>
                </a:solidFill>
                <a:latin typeface="Arial"/>
                <a:ea typeface="Arial"/>
                <a:cs typeface="Arial"/>
                <a:sym typeface="Arial"/>
              </a:rPr>
              <a:t>0                      0                    0</a:t>
            </a:r>
            <a:endParaRPr sz="800" b="0" i="0" u="none" strike="noStrike" cap="none">
              <a:solidFill>
                <a:srgbClr val="000000"/>
              </a:solidFill>
              <a:latin typeface="Arial"/>
              <a:ea typeface="Arial"/>
              <a:cs typeface="Arial"/>
              <a:sym typeface="Arial"/>
            </a:endParaRPr>
          </a:p>
        </p:txBody>
      </p:sp>
      <p:sp>
        <p:nvSpPr>
          <p:cNvPr id="2706" name="Google Shape;2706;g3b54a426ae3_0_142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707" name="Google Shape;2707;g3b54a426ae3_0_1423"/>
          <p:cNvSpPr txBox="1"/>
          <p:nvPr/>
        </p:nvSpPr>
        <p:spPr>
          <a:xfrm>
            <a:off x="3409950" y="2678961"/>
            <a:ext cx="2317500" cy="430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r>
              <a:rPr lang="en-US" sz="750" b="1" i="0" u="none" strike="noStrike" cap="none">
                <a:solidFill>
                  <a:srgbClr val="1B1472"/>
                </a:solidFill>
                <a:latin typeface="Arial"/>
                <a:ea typeface="Arial"/>
                <a:cs typeface="Arial"/>
                <a:sym typeface="Arial"/>
              </a:rPr>
              <a:t>Use case : A driving policy is already learnt which needs to be evaluated for monitoring or certification/approval by safety engineers. </a:t>
            </a:r>
            <a:endParaRPr sz="750" b="1" i="0" u="none" strike="noStrike" cap="none">
              <a:solidFill>
                <a:srgbClr val="1B1472"/>
              </a:solidFill>
              <a:latin typeface="Arial"/>
              <a:ea typeface="Arial"/>
              <a:cs typeface="Arial"/>
              <a:sym typeface="Arial"/>
            </a:endParaRPr>
          </a:p>
        </p:txBody>
      </p:sp>
      <p:sp>
        <p:nvSpPr>
          <p:cNvPr id="2708" name="Google Shape;2708;g3b54a426ae3_0_1423"/>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1</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2709" name="Google Shape;2709;g3b54a426ae3_0_142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710" name="Google Shape;2710;g3b54a426ae3_0_142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711" name="Google Shape;2711;g3b54a426ae3_0_142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712" name="Google Shape;2712;g3b54a426ae3_0_142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713" name="Google Shape;2713;g3b54a426ae3_0_142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714" name="Google Shape;2714;g3b54a426ae3_0_142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715" name="Google Shape;2715;g3b54a426ae3_0_1423"/>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716" name="Google Shape;2716;g3b54a426ae3_0_1423"/>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pic>
        <p:nvPicPr>
          <p:cNvPr id="2717" name="Google Shape;2717;g3b54a426ae3_0_1423"/>
          <p:cNvPicPr preferRelativeResize="0"/>
          <p:nvPr/>
        </p:nvPicPr>
        <p:blipFill rotWithShape="1">
          <a:blip r:embed="rId7">
            <a:alphaModFix/>
          </a:blip>
          <a:srcRect/>
          <a:stretch/>
        </p:blipFill>
        <p:spPr>
          <a:xfrm>
            <a:off x="3534515" y="15834"/>
            <a:ext cx="2241365" cy="1002022"/>
          </a:xfrm>
          <a:prstGeom prst="rect">
            <a:avLst/>
          </a:prstGeom>
          <a:noFill/>
          <a:ln>
            <a:noFill/>
          </a:ln>
        </p:spPr>
      </p:pic>
      <p:sp>
        <p:nvSpPr>
          <p:cNvPr id="2718" name="Google Shape;2718;g3b54a426ae3_0_1423"/>
          <p:cNvSpPr/>
          <p:nvPr/>
        </p:nvSpPr>
        <p:spPr>
          <a:xfrm>
            <a:off x="3346879" y="19469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19" name="Google Shape;2719;g3b54a426ae3_0_1423"/>
          <p:cNvSpPr/>
          <p:nvPr/>
        </p:nvSpPr>
        <p:spPr>
          <a:xfrm>
            <a:off x="5173205" y="434241"/>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0.5</a:t>
            </a:r>
            <a:endParaRPr sz="600" b="1" i="0" u="none" strike="noStrike" cap="none">
              <a:solidFill>
                <a:srgbClr val="000000"/>
              </a:solidFill>
              <a:latin typeface="Arial"/>
              <a:ea typeface="Arial"/>
              <a:cs typeface="Arial"/>
              <a:sym typeface="Arial"/>
            </a:endParaRPr>
          </a:p>
        </p:txBody>
      </p:sp>
      <p:sp>
        <p:nvSpPr>
          <p:cNvPr id="2720" name="Google Shape;2720;g3b54a426ae3_0_1423"/>
          <p:cNvSpPr txBox="1"/>
          <p:nvPr/>
        </p:nvSpPr>
        <p:spPr>
          <a:xfrm>
            <a:off x="82600" y="1717926"/>
            <a:ext cx="2793000" cy="4425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2721" name="Google Shape;2721;g3b54a426ae3_0_1423"/>
          <p:cNvSpPr/>
          <p:nvPr/>
        </p:nvSpPr>
        <p:spPr>
          <a:xfrm>
            <a:off x="61738" y="1818205"/>
            <a:ext cx="2367600" cy="1277400"/>
          </a:xfrm>
          <a:prstGeom prst="rect">
            <a:avLst/>
          </a:prstGeom>
          <a:solidFill>
            <a:srgbClr val="DAE5F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700" b="1" i="0" u="none" strike="noStrike" cap="none">
                <a:solidFill>
                  <a:srgbClr val="FF0000"/>
                </a:solidFill>
                <a:latin typeface="Arial"/>
                <a:ea typeface="Arial"/>
                <a:cs typeface="Arial"/>
                <a:sym typeface="Arial"/>
              </a:rPr>
              <a:t>Important Note : </a:t>
            </a:r>
            <a:endParaRPr/>
          </a:p>
          <a:p>
            <a:pPr marL="0" marR="0" lvl="0" indent="-44450" algn="l" rtl="0">
              <a:lnSpc>
                <a:spcPct val="100000"/>
              </a:lnSpc>
              <a:spcBef>
                <a:spcPts val="0"/>
              </a:spcBef>
              <a:spcAft>
                <a:spcPts val="0"/>
              </a:spcAft>
              <a:buClr>
                <a:srgbClr val="FF0000"/>
              </a:buClr>
              <a:buSzPts val="700"/>
              <a:buFont typeface="Arial"/>
              <a:buChar char="•"/>
            </a:pPr>
            <a:r>
              <a:rPr lang="en-US" sz="700" b="0" i="0" u="none" strike="noStrike" cap="none">
                <a:solidFill>
                  <a:srgbClr val="FF0000"/>
                </a:solidFill>
                <a:latin typeface="Arial"/>
                <a:ea typeface="Arial"/>
                <a:cs typeface="Arial"/>
                <a:sym typeface="Arial"/>
              </a:rPr>
              <a:t>In few textbooks/ running incremental upcoming examples, dynamics are given so </a:t>
            </a:r>
            <a:r>
              <a:rPr lang="en-US" sz="700" b="1" i="0" u="none" strike="noStrike" cap="none">
                <a:solidFill>
                  <a:schemeClr val="dk1"/>
                </a:solidFill>
                <a:latin typeface="Arial"/>
                <a:ea typeface="Arial"/>
                <a:cs typeface="Arial"/>
                <a:sym typeface="Arial"/>
              </a:rPr>
              <a:t>only to </a:t>
            </a:r>
            <a:r>
              <a:rPr lang="en-US" sz="700" b="1" i="1" u="none" strike="noStrike" cap="none">
                <a:solidFill>
                  <a:schemeClr val="dk1"/>
                </a:solidFill>
                <a:latin typeface="Arial"/>
                <a:ea typeface="Arial"/>
                <a:cs typeface="Arial"/>
                <a:sym typeface="Arial"/>
              </a:rPr>
              <a:t>simulate trajectories</a:t>
            </a:r>
            <a:r>
              <a:rPr lang="en-US" sz="700" b="1" i="0" u="none" strike="noStrike" cap="none">
                <a:solidFill>
                  <a:schemeClr val="dk1"/>
                </a:solidFill>
                <a:latin typeface="Arial"/>
                <a:ea typeface="Arial"/>
                <a:cs typeface="Arial"/>
                <a:sym typeface="Arial"/>
              </a:rPr>
              <a:t> </a:t>
            </a:r>
            <a:r>
              <a:rPr lang="en-US" sz="700" b="0" i="0" u="none" strike="noStrike" cap="none">
                <a:solidFill>
                  <a:srgbClr val="FF0000"/>
                </a:solidFill>
                <a:latin typeface="Arial"/>
                <a:ea typeface="Arial"/>
                <a:cs typeface="Arial"/>
                <a:sym typeface="Arial"/>
              </a:rPr>
              <a:t>and show updates step by step. TD itself doesn’t require knowing the full transition model — it only needs sampled transitions (s,a,r,s′) </a:t>
            </a:r>
            <a:r>
              <a:rPr lang="en-US" sz="700" b="0" i="0" u="sng" strike="noStrike" cap="none">
                <a:solidFill>
                  <a:schemeClr val="dk1"/>
                </a:solidFill>
                <a:latin typeface="Arial"/>
                <a:ea typeface="Arial"/>
                <a:cs typeface="Arial"/>
                <a:sym typeface="Arial"/>
              </a:rPr>
              <a:t>while training from scratch ie., when policy is not known/learnt yet.</a:t>
            </a:r>
            <a:endParaRPr/>
          </a:p>
          <a:p>
            <a:pPr marL="0" marR="0" lvl="0" indent="-44450" algn="l" rtl="0">
              <a:lnSpc>
                <a:spcPct val="100000"/>
              </a:lnSpc>
              <a:spcBef>
                <a:spcPts val="0"/>
              </a:spcBef>
              <a:spcAft>
                <a:spcPts val="0"/>
              </a:spcAft>
              <a:buClr>
                <a:srgbClr val="FF0000"/>
              </a:buClr>
              <a:buSzPts val="700"/>
              <a:buFont typeface="Arial"/>
              <a:buChar char="•"/>
            </a:pPr>
            <a:r>
              <a:rPr lang="en-US" sz="700" b="0" i="0" u="none" strike="noStrike" cap="none">
                <a:solidFill>
                  <a:srgbClr val="FF0000"/>
                </a:solidFill>
                <a:latin typeface="Arial"/>
                <a:ea typeface="Arial"/>
                <a:cs typeface="Arial"/>
                <a:sym typeface="Arial"/>
              </a:rPr>
              <a:t>The dynamics are provided for clarity and reproducibility, not because TD requires them</a:t>
            </a:r>
            <a:r>
              <a:rPr lang="en-US" sz="700" b="1" i="0" u="none" strike="noStrike" cap="none">
                <a:solidFill>
                  <a:schemeClr val="dk1"/>
                </a:solidFill>
                <a:latin typeface="Arial"/>
                <a:ea typeface="Arial"/>
                <a:cs typeface="Arial"/>
                <a:sym typeface="Arial"/>
              </a:rPr>
              <a:t>. In practice, TD works model-free, just like Monte Carlo.</a:t>
            </a:r>
            <a:endParaRPr/>
          </a:p>
        </p:txBody>
      </p:sp>
      <p:cxnSp>
        <p:nvCxnSpPr>
          <p:cNvPr id="2722" name="Google Shape;2722;g3b54a426ae3_0_1423"/>
          <p:cNvCxnSpPr>
            <a:stCxn id="2721" idx="3"/>
          </p:cNvCxnSpPr>
          <p:nvPr/>
        </p:nvCxnSpPr>
        <p:spPr>
          <a:xfrm rot="10800000" flipH="1">
            <a:off x="2429338" y="2256205"/>
            <a:ext cx="1828800" cy="200700"/>
          </a:xfrm>
          <a:prstGeom prst="curvedConnector3">
            <a:avLst>
              <a:gd name="adj1" fmla="val 50000"/>
            </a:avLst>
          </a:prstGeom>
          <a:noFill/>
          <a:ln w="9525" cap="flat" cmpd="sng">
            <a:solidFill>
              <a:srgbClr val="FF0000"/>
            </a:solidFill>
            <a:prstDash val="solid"/>
            <a:round/>
            <a:headEnd type="none" w="sm" len="sm"/>
            <a:tailEnd type="triangle" w="med" len="med"/>
          </a:ln>
        </p:spPr>
      </p:cxnSp>
    </p:spTree>
  </p:cSld>
  <p:clrMapOvr>
    <a:masterClrMapping/>
  </p:clrMapOvr>
  <p:transition>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726"/>
        <p:cNvGrpSpPr/>
        <p:nvPr/>
      </p:nvGrpSpPr>
      <p:grpSpPr>
        <a:xfrm>
          <a:off x="0" y="0"/>
          <a:ext cx="0" cy="0"/>
          <a:chOff x="0" y="0"/>
          <a:chExt cx="0" cy="0"/>
        </a:xfrm>
      </p:grpSpPr>
      <p:sp>
        <p:nvSpPr>
          <p:cNvPr id="2727" name="Google Shape;2727;g3b54a426ae3_0_1458"/>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TD(0)</a:t>
            </a:r>
            <a:endParaRPr/>
          </a:p>
        </p:txBody>
      </p:sp>
      <p:sp>
        <p:nvSpPr>
          <p:cNvPr id="2728" name="Google Shape;2728;g3b54a426ae3_0_1458"/>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29" name="Google Shape;2729;g3b54a426ae3_0_1458"/>
          <p:cNvGrpSpPr/>
          <p:nvPr/>
        </p:nvGrpSpPr>
        <p:grpSpPr>
          <a:xfrm>
            <a:off x="0" y="3109250"/>
            <a:ext cx="5760261" cy="92075"/>
            <a:chOff x="0" y="3109250"/>
            <a:chExt cx="5760261" cy="92075"/>
          </a:xfrm>
        </p:grpSpPr>
        <p:sp>
          <p:nvSpPr>
            <p:cNvPr id="2730" name="Google Shape;2730;g3b54a426ae3_0_145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1" name="Google Shape;2731;g3b54a426ae3_0_145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2" name="Google Shape;2732;g3b54a426ae3_0_145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33" name="Google Shape;2733;g3b54a426ae3_0_1458"/>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734" name="Google Shape;2734;g3b54a426ae3_0_145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70</a:t>
            </a:fld>
            <a:r>
              <a:rPr lang="en-US"/>
              <a:t> </a:t>
            </a:r>
            <a:endParaRPr/>
          </a:p>
        </p:txBody>
      </p:sp>
      <p:pic>
        <p:nvPicPr>
          <p:cNvPr id="2735" name="Google Shape;2735;g3b54a426ae3_0_1458"/>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736" name="Google Shape;2736;g3b54a426ae3_0_1458"/>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737" name="Google Shape;2737;g3b54a426ae3_0_1458"/>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738" name="Google Shape;2738;g3b54a426ae3_0_1458"/>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39" name="Google Shape;2739;g3b54a426ae3_0_1458"/>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40" name="Google Shape;2740;g3b54a426ae3_0_1458"/>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41" name="Google Shape;2741;g3b54a426ae3_0_1458"/>
          <p:cNvSpPr txBox="1"/>
          <p:nvPr/>
        </p:nvSpPr>
        <p:spPr>
          <a:xfrm>
            <a:off x="441272" y="767528"/>
            <a:ext cx="1721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000000"/>
                </a:solidFill>
                <a:latin typeface="Arial"/>
                <a:ea typeface="Arial"/>
                <a:cs typeface="Arial"/>
                <a:sym typeface="Arial"/>
              </a:rPr>
              <a:t>1</a:t>
            </a:r>
            <a:r>
              <a:rPr lang="en-US" sz="800" b="0" i="0" u="none" strike="noStrike" cap="none">
                <a:solidFill>
                  <a:srgbClr val="000000"/>
                </a:solidFill>
                <a:latin typeface="Arial"/>
                <a:ea typeface="Arial"/>
                <a:cs typeface="Arial"/>
                <a:sym typeface="Arial"/>
              </a:rPr>
              <a:t>                      0                    0</a:t>
            </a:r>
            <a:endParaRPr sz="800" b="0" i="0" u="none" strike="noStrike" cap="none">
              <a:solidFill>
                <a:srgbClr val="000000"/>
              </a:solidFill>
              <a:latin typeface="Arial"/>
              <a:ea typeface="Arial"/>
              <a:cs typeface="Arial"/>
              <a:sym typeface="Arial"/>
            </a:endParaRPr>
          </a:p>
        </p:txBody>
      </p:sp>
      <p:sp>
        <p:nvSpPr>
          <p:cNvPr id="2742" name="Google Shape;2742;g3b54a426ae3_0_1458"/>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743" name="Google Shape;2743;g3b54a426ae3_0_1458"/>
          <p:cNvSpPr txBox="1"/>
          <p:nvPr/>
        </p:nvSpPr>
        <p:spPr>
          <a:xfrm>
            <a:off x="3409950" y="2678961"/>
            <a:ext cx="2317500" cy="430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50"/>
              <a:buFont typeface="Arial"/>
              <a:buNone/>
            </a:pPr>
            <a:endParaRPr sz="750" b="1" i="0" u="none" strike="noStrike" cap="none">
              <a:solidFill>
                <a:srgbClr val="1B1472"/>
              </a:solidFill>
              <a:latin typeface="Arial"/>
              <a:ea typeface="Arial"/>
              <a:cs typeface="Arial"/>
              <a:sym typeface="Arial"/>
            </a:endParaRPr>
          </a:p>
        </p:txBody>
      </p:sp>
      <p:sp>
        <p:nvSpPr>
          <p:cNvPr id="2744" name="Google Shape;2744;g3b54a426ae3_0_1458"/>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1</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2745" name="Google Shape;2745;g3b54a426ae3_0_1458"/>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746" name="Google Shape;2746;g3b54a426ae3_0_1458"/>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747" name="Google Shape;2747;g3b54a426ae3_0_1458"/>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748" name="Google Shape;2748;g3b54a426ae3_0_1458"/>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749" name="Google Shape;2749;g3b54a426ae3_0_1458"/>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750" name="Google Shape;2750;g3b54a426ae3_0_1458"/>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751" name="Google Shape;2751;g3b54a426ae3_0_1458"/>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752" name="Google Shape;2752;g3b54a426ae3_0_1458"/>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pic>
        <p:nvPicPr>
          <p:cNvPr id="2753" name="Google Shape;2753;g3b54a426ae3_0_1458"/>
          <p:cNvPicPr preferRelativeResize="0"/>
          <p:nvPr/>
        </p:nvPicPr>
        <p:blipFill rotWithShape="1">
          <a:blip r:embed="rId7">
            <a:alphaModFix/>
          </a:blip>
          <a:srcRect/>
          <a:stretch/>
        </p:blipFill>
        <p:spPr>
          <a:xfrm>
            <a:off x="3534515" y="15834"/>
            <a:ext cx="2241365" cy="1002022"/>
          </a:xfrm>
          <a:prstGeom prst="rect">
            <a:avLst/>
          </a:prstGeom>
          <a:noFill/>
          <a:ln>
            <a:noFill/>
          </a:ln>
        </p:spPr>
      </p:pic>
      <p:sp>
        <p:nvSpPr>
          <p:cNvPr id="2754" name="Google Shape;2754;g3b54a426ae3_0_1458"/>
          <p:cNvSpPr/>
          <p:nvPr/>
        </p:nvSpPr>
        <p:spPr>
          <a:xfrm>
            <a:off x="3346879" y="543947"/>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55" name="Google Shape;2755;g3b54a426ae3_0_1458"/>
          <p:cNvSpPr/>
          <p:nvPr/>
        </p:nvSpPr>
        <p:spPr>
          <a:xfrm>
            <a:off x="5173205" y="434241"/>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0.5</a:t>
            </a:r>
            <a:endParaRPr sz="600" b="1" i="0" u="none" strike="noStrike" cap="none">
              <a:solidFill>
                <a:srgbClr val="000000"/>
              </a:solidFill>
              <a:latin typeface="Arial"/>
              <a:ea typeface="Arial"/>
              <a:cs typeface="Arial"/>
              <a:sym typeface="Arial"/>
            </a:endParaRPr>
          </a:p>
        </p:txBody>
      </p:sp>
      <p:sp>
        <p:nvSpPr>
          <p:cNvPr id="2756" name="Google Shape;2756;g3b54a426ae3_0_1458"/>
          <p:cNvSpPr txBox="1"/>
          <p:nvPr/>
        </p:nvSpPr>
        <p:spPr>
          <a:xfrm>
            <a:off x="82600" y="1717926"/>
            <a:ext cx="2793000" cy="9813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Target = R+</a:t>
            </a:r>
            <a:r>
              <a:rPr lang="en-US" sz="700" b="1" i="0" u="none" strike="noStrike" cap="none">
                <a:solidFill>
                  <a:srgbClr val="000000"/>
                </a:solidFill>
                <a:latin typeface="Arial"/>
                <a:ea typeface="Arial"/>
                <a:cs typeface="Arial"/>
                <a:sym typeface="Arial"/>
              </a:rPr>
              <a:t> γV(W) = 2+(0.9 * 0) = 2</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TD Error = Target – Old Estimate = 2-V(C) = 2-0 = 2</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Update the value : V(C) = 0 + 0.5(2) = 1</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2757" name="Google Shape;2757;g3b54a426ae3_0_1458"/>
          <p:cNvSpPr/>
          <p:nvPr/>
        </p:nvSpPr>
        <p:spPr>
          <a:xfrm>
            <a:off x="5143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ransition>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761"/>
        <p:cNvGrpSpPr/>
        <p:nvPr/>
      </p:nvGrpSpPr>
      <p:grpSpPr>
        <a:xfrm>
          <a:off x="0" y="0"/>
          <a:ext cx="0" cy="0"/>
          <a:chOff x="0" y="0"/>
          <a:chExt cx="0" cy="0"/>
        </a:xfrm>
      </p:grpSpPr>
      <p:sp>
        <p:nvSpPr>
          <p:cNvPr id="2762" name="Google Shape;2762;g3b54a426ae3_0_1492"/>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TD(0)</a:t>
            </a:r>
            <a:endParaRPr/>
          </a:p>
        </p:txBody>
      </p:sp>
      <p:sp>
        <p:nvSpPr>
          <p:cNvPr id="2763" name="Google Shape;2763;g3b54a426ae3_0_1492"/>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64" name="Google Shape;2764;g3b54a426ae3_0_1492"/>
          <p:cNvGrpSpPr/>
          <p:nvPr/>
        </p:nvGrpSpPr>
        <p:grpSpPr>
          <a:xfrm>
            <a:off x="0" y="3109250"/>
            <a:ext cx="5760261" cy="92075"/>
            <a:chOff x="0" y="3109250"/>
            <a:chExt cx="5760261" cy="92075"/>
          </a:xfrm>
        </p:grpSpPr>
        <p:sp>
          <p:nvSpPr>
            <p:cNvPr id="2765" name="Google Shape;2765;g3b54a426ae3_0_149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6" name="Google Shape;2766;g3b54a426ae3_0_149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7" name="Google Shape;2767;g3b54a426ae3_0_149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68" name="Google Shape;2768;g3b54a426ae3_0_1492"/>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769" name="Google Shape;2769;g3b54a426ae3_0_149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71</a:t>
            </a:fld>
            <a:endParaRPr/>
          </a:p>
        </p:txBody>
      </p:sp>
      <p:pic>
        <p:nvPicPr>
          <p:cNvPr id="2770" name="Google Shape;2770;g3b54a426ae3_0_1492"/>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771" name="Google Shape;2771;g3b54a426ae3_0_1492"/>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772" name="Google Shape;2772;g3b54a426ae3_0_1492"/>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773" name="Google Shape;2773;g3b54a426ae3_0_1492"/>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74" name="Google Shape;2774;g3b54a426ae3_0_1492"/>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75" name="Google Shape;2775;g3b54a426ae3_0_1492"/>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776" name="Google Shape;2776;g3b54a426ae3_0_1492"/>
          <p:cNvSpPr txBox="1"/>
          <p:nvPr/>
        </p:nvSpPr>
        <p:spPr>
          <a:xfrm>
            <a:off x="441272" y="767528"/>
            <a:ext cx="1721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000000"/>
                </a:solidFill>
                <a:latin typeface="Arial"/>
                <a:ea typeface="Arial"/>
                <a:cs typeface="Arial"/>
                <a:sym typeface="Arial"/>
              </a:rPr>
              <a:t>1                     </a:t>
            </a:r>
            <a:r>
              <a:rPr lang="en-US" sz="800" b="1" i="0" u="none" strike="noStrike" cap="none">
                <a:solidFill>
                  <a:srgbClr val="000000"/>
                </a:solidFill>
                <a:latin typeface="Arial"/>
                <a:ea typeface="Arial"/>
                <a:cs typeface="Arial"/>
                <a:sym typeface="Arial"/>
              </a:rPr>
              <a:t>0.95</a:t>
            </a:r>
            <a:r>
              <a:rPr lang="en-US" sz="800" b="0" i="0" u="none" strike="noStrike" cap="none">
                <a:solidFill>
                  <a:srgbClr val="000000"/>
                </a:solidFill>
                <a:latin typeface="Arial"/>
                <a:ea typeface="Arial"/>
                <a:cs typeface="Arial"/>
                <a:sym typeface="Arial"/>
              </a:rPr>
              <a:t>                  0</a:t>
            </a:r>
            <a:endParaRPr sz="800" b="0" i="0" u="none" strike="noStrike" cap="none">
              <a:solidFill>
                <a:srgbClr val="000000"/>
              </a:solidFill>
              <a:latin typeface="Arial"/>
              <a:ea typeface="Arial"/>
              <a:cs typeface="Arial"/>
              <a:sym typeface="Arial"/>
            </a:endParaRPr>
          </a:p>
        </p:txBody>
      </p:sp>
      <p:sp>
        <p:nvSpPr>
          <p:cNvPr id="2777" name="Google Shape;2777;g3b54a426ae3_0_1492"/>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778" name="Google Shape;2778;g3b54a426ae3_0_1492"/>
          <p:cNvSpPr txBox="1"/>
          <p:nvPr/>
        </p:nvSpPr>
        <p:spPr>
          <a:xfrm>
            <a:off x="2667000" y="2678961"/>
            <a:ext cx="3060600" cy="430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sz="700" b="1" i="0" u="none" strike="noStrike" cap="none">
              <a:solidFill>
                <a:srgbClr val="1B1472"/>
              </a:solidFill>
              <a:latin typeface="Arial"/>
              <a:ea typeface="Arial"/>
              <a:cs typeface="Arial"/>
              <a:sym typeface="Arial"/>
            </a:endParaRPr>
          </a:p>
        </p:txBody>
      </p:sp>
      <p:sp>
        <p:nvSpPr>
          <p:cNvPr id="2779" name="Google Shape;2779;g3b54a426ae3_0_1492"/>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1</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2780" name="Google Shape;2780;g3b54a426ae3_0_1492"/>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781" name="Google Shape;2781;g3b54a426ae3_0_1492"/>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782" name="Google Shape;2782;g3b54a426ae3_0_1492"/>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783" name="Google Shape;2783;g3b54a426ae3_0_1492"/>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784" name="Google Shape;2784;g3b54a426ae3_0_1492"/>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785" name="Google Shape;2785;g3b54a426ae3_0_1492"/>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786" name="Google Shape;2786;g3b54a426ae3_0_1492"/>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787" name="Google Shape;2787;g3b54a426ae3_0_1492"/>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pic>
        <p:nvPicPr>
          <p:cNvPr id="2788" name="Google Shape;2788;g3b54a426ae3_0_1492"/>
          <p:cNvPicPr preferRelativeResize="0"/>
          <p:nvPr/>
        </p:nvPicPr>
        <p:blipFill rotWithShape="1">
          <a:blip r:embed="rId7">
            <a:alphaModFix/>
          </a:blip>
          <a:srcRect/>
          <a:stretch/>
        </p:blipFill>
        <p:spPr>
          <a:xfrm>
            <a:off x="3534515" y="15834"/>
            <a:ext cx="2241365" cy="1002022"/>
          </a:xfrm>
          <a:prstGeom prst="rect">
            <a:avLst/>
          </a:prstGeom>
          <a:noFill/>
          <a:ln>
            <a:noFill/>
          </a:ln>
        </p:spPr>
      </p:pic>
      <p:sp>
        <p:nvSpPr>
          <p:cNvPr id="2789" name="Google Shape;2789;g3b54a426ae3_0_1492"/>
          <p:cNvSpPr/>
          <p:nvPr/>
        </p:nvSpPr>
        <p:spPr>
          <a:xfrm>
            <a:off x="3346879" y="884668"/>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90" name="Google Shape;2790;g3b54a426ae3_0_1492"/>
          <p:cNvSpPr/>
          <p:nvPr/>
        </p:nvSpPr>
        <p:spPr>
          <a:xfrm>
            <a:off x="5173205" y="434241"/>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0.5</a:t>
            </a:r>
            <a:endParaRPr sz="600" b="1" i="0" u="none" strike="noStrike" cap="none">
              <a:solidFill>
                <a:srgbClr val="000000"/>
              </a:solidFill>
              <a:latin typeface="Arial"/>
              <a:ea typeface="Arial"/>
              <a:cs typeface="Arial"/>
              <a:sym typeface="Arial"/>
            </a:endParaRPr>
          </a:p>
        </p:txBody>
      </p:sp>
      <p:sp>
        <p:nvSpPr>
          <p:cNvPr id="2791" name="Google Shape;2791;g3b54a426ae3_0_1492"/>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V(W) = 0 + 0.5 [1+ (0.9*1)-0] = 0.95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2792" name="Google Shape;2792;g3b54a426ae3_0_1492"/>
          <p:cNvSpPr/>
          <p:nvPr/>
        </p:nvSpPr>
        <p:spPr>
          <a:xfrm>
            <a:off x="846518" y="1716884"/>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ransition>
    <p:fade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796"/>
        <p:cNvGrpSpPr/>
        <p:nvPr/>
      </p:nvGrpSpPr>
      <p:grpSpPr>
        <a:xfrm>
          <a:off x="0" y="0"/>
          <a:ext cx="0" cy="0"/>
          <a:chOff x="0" y="0"/>
          <a:chExt cx="0" cy="0"/>
        </a:xfrm>
      </p:grpSpPr>
      <p:sp>
        <p:nvSpPr>
          <p:cNvPr id="2797" name="Google Shape;2797;g3b54a426ae3_0_1526"/>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TD(0)</a:t>
            </a:r>
            <a:endParaRPr/>
          </a:p>
        </p:txBody>
      </p:sp>
      <p:sp>
        <p:nvSpPr>
          <p:cNvPr id="2798" name="Google Shape;2798;g3b54a426ae3_0_1526"/>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99" name="Google Shape;2799;g3b54a426ae3_0_1526"/>
          <p:cNvGrpSpPr/>
          <p:nvPr/>
        </p:nvGrpSpPr>
        <p:grpSpPr>
          <a:xfrm>
            <a:off x="0" y="3109250"/>
            <a:ext cx="5760261" cy="92075"/>
            <a:chOff x="0" y="3109250"/>
            <a:chExt cx="5760261" cy="92075"/>
          </a:xfrm>
        </p:grpSpPr>
        <p:sp>
          <p:nvSpPr>
            <p:cNvPr id="2800" name="Google Shape;2800;g3b54a426ae3_0_152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1" name="Google Shape;2801;g3b54a426ae3_0_152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2" name="Google Shape;2802;g3b54a426ae3_0_152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03" name="Google Shape;2803;g3b54a426ae3_0_1526"/>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804" name="Google Shape;2804;g3b54a426ae3_0_152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72</a:t>
            </a:fld>
            <a:endParaRPr/>
          </a:p>
        </p:txBody>
      </p:sp>
      <p:pic>
        <p:nvPicPr>
          <p:cNvPr id="2805" name="Google Shape;2805;g3b54a426ae3_0_1526"/>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806" name="Google Shape;2806;g3b54a426ae3_0_1526"/>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807" name="Google Shape;2807;g3b54a426ae3_0_1526"/>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808" name="Google Shape;2808;g3b54a426ae3_0_1526"/>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809" name="Google Shape;2809;g3b54a426ae3_0_1526"/>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810" name="Google Shape;2810;g3b54a426ae3_0_1526"/>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811" name="Google Shape;2811;g3b54a426ae3_0_1526"/>
          <p:cNvSpPr txBox="1"/>
          <p:nvPr/>
        </p:nvSpPr>
        <p:spPr>
          <a:xfrm>
            <a:off x="441272" y="767528"/>
            <a:ext cx="1721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rgbClr val="000000"/>
                </a:solidFill>
                <a:latin typeface="Arial"/>
                <a:ea typeface="Arial"/>
                <a:cs typeface="Arial"/>
                <a:sym typeface="Arial"/>
              </a:rPr>
              <a:t>1                     0.95                  0</a:t>
            </a:r>
            <a:endParaRPr sz="800" b="0" i="0" u="none" strike="noStrike" cap="none">
              <a:solidFill>
                <a:srgbClr val="000000"/>
              </a:solidFill>
              <a:latin typeface="Arial"/>
              <a:ea typeface="Arial"/>
              <a:cs typeface="Arial"/>
              <a:sym typeface="Arial"/>
            </a:endParaRPr>
          </a:p>
        </p:txBody>
      </p:sp>
      <p:sp>
        <p:nvSpPr>
          <p:cNvPr id="2812" name="Google Shape;2812;g3b54a426ae3_0_1526"/>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813" name="Google Shape;2813;g3b54a426ae3_0_1526"/>
          <p:cNvSpPr txBox="1"/>
          <p:nvPr/>
        </p:nvSpPr>
        <p:spPr>
          <a:xfrm>
            <a:off x="4197349" y="2876550"/>
            <a:ext cx="1530000" cy="2328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Continued for 1 more episode…..</a:t>
            </a:r>
            <a:endParaRPr sz="700" b="1" i="0" u="none" strike="noStrike" cap="none">
              <a:solidFill>
                <a:srgbClr val="1B1472"/>
              </a:solidFill>
              <a:latin typeface="Arial"/>
              <a:ea typeface="Arial"/>
              <a:cs typeface="Arial"/>
              <a:sym typeface="Arial"/>
            </a:endParaRPr>
          </a:p>
        </p:txBody>
      </p:sp>
      <p:sp>
        <p:nvSpPr>
          <p:cNvPr id="2814" name="Google Shape;2814;g3b54a426ae3_0_1526"/>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1</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V</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2815" name="Google Shape;2815;g3b54a426ae3_0_1526"/>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816" name="Google Shape;2816;g3b54a426ae3_0_1526"/>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817" name="Google Shape;2817;g3b54a426ae3_0_1526"/>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818" name="Google Shape;2818;g3b54a426ae3_0_1526"/>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819" name="Google Shape;2819;g3b54a426ae3_0_1526"/>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820" name="Google Shape;2820;g3b54a426ae3_0_1526"/>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821" name="Google Shape;2821;g3b54a426ae3_0_1526"/>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822" name="Google Shape;2822;g3b54a426ae3_0_1526"/>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pic>
        <p:nvPicPr>
          <p:cNvPr id="2823" name="Google Shape;2823;g3b54a426ae3_0_1526"/>
          <p:cNvPicPr preferRelativeResize="0"/>
          <p:nvPr/>
        </p:nvPicPr>
        <p:blipFill rotWithShape="1">
          <a:blip r:embed="rId7">
            <a:alphaModFix/>
          </a:blip>
          <a:srcRect/>
          <a:stretch/>
        </p:blipFill>
        <p:spPr>
          <a:xfrm>
            <a:off x="3534515" y="15834"/>
            <a:ext cx="2241365" cy="1002022"/>
          </a:xfrm>
          <a:prstGeom prst="rect">
            <a:avLst/>
          </a:prstGeom>
          <a:noFill/>
          <a:ln>
            <a:noFill/>
          </a:ln>
        </p:spPr>
      </p:pic>
      <p:sp>
        <p:nvSpPr>
          <p:cNvPr id="2824" name="Google Shape;2824;g3b54a426ae3_0_1526"/>
          <p:cNvSpPr/>
          <p:nvPr/>
        </p:nvSpPr>
        <p:spPr>
          <a:xfrm>
            <a:off x="3346879" y="884668"/>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25" name="Google Shape;2825;g3b54a426ae3_0_1526"/>
          <p:cNvSpPr/>
          <p:nvPr/>
        </p:nvSpPr>
        <p:spPr>
          <a:xfrm>
            <a:off x="5173205" y="434241"/>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0.5</a:t>
            </a:r>
            <a:endParaRPr sz="600" b="1" i="0" u="none" strike="noStrike" cap="none">
              <a:solidFill>
                <a:srgbClr val="000000"/>
              </a:solidFill>
              <a:latin typeface="Arial"/>
              <a:ea typeface="Arial"/>
              <a:cs typeface="Arial"/>
              <a:sym typeface="Arial"/>
            </a:endParaRPr>
          </a:p>
        </p:txBody>
      </p:sp>
      <p:sp>
        <p:nvSpPr>
          <p:cNvPr id="2826" name="Google Shape;2826;g3b54a426ae3_0_1526"/>
          <p:cNvSpPr txBox="1"/>
          <p:nvPr/>
        </p:nvSpPr>
        <p:spPr>
          <a:xfrm>
            <a:off x="82600" y="1717926"/>
            <a:ext cx="2793000" cy="13044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 V(C) = 1 + 0.5 [2+ (0.9*1)-1] = 1.95 </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 V(C) = 1.95 + 0.5 [2+ (0.9*0.95)-1.95] = ~2.4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 V(W) = 0.95 + 0.5 [1+ (0.9*0.95)-0.95] = ~1.40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2827" name="Google Shape;2827;g3b54a426ae3_0_1526"/>
          <p:cNvSpPr txBox="1"/>
          <p:nvPr/>
        </p:nvSpPr>
        <p:spPr>
          <a:xfrm>
            <a:off x="432070" y="1085447"/>
            <a:ext cx="17214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rgbClr val="000000"/>
                </a:solidFill>
                <a:latin typeface="Arial"/>
                <a:ea typeface="Arial"/>
                <a:cs typeface="Arial"/>
                <a:sym typeface="Arial"/>
              </a:rPr>
              <a:t>1.95                 2.40              1.40    </a:t>
            </a:r>
            <a:endParaRPr sz="800" b="1" i="0" u="none" strike="noStrike" cap="none">
              <a:solidFill>
                <a:srgbClr val="000000"/>
              </a:solidFill>
              <a:latin typeface="Arial"/>
              <a:ea typeface="Arial"/>
              <a:cs typeface="Arial"/>
              <a:sym typeface="Arial"/>
            </a:endParaRPr>
          </a:p>
        </p:txBody>
      </p:sp>
    </p:spTree>
  </p:cSld>
  <p:clrMapOvr>
    <a:masterClrMapping/>
  </p:clrMapOvr>
  <p:transition>
    <p:fade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831"/>
        <p:cNvGrpSpPr/>
        <p:nvPr/>
      </p:nvGrpSpPr>
      <p:grpSpPr>
        <a:xfrm>
          <a:off x="0" y="0"/>
          <a:ext cx="0" cy="0"/>
          <a:chOff x="0" y="0"/>
          <a:chExt cx="0" cy="0"/>
        </a:xfrm>
      </p:grpSpPr>
      <p:sp>
        <p:nvSpPr>
          <p:cNvPr id="2832" name="Google Shape;2832;g3b54a426ae3_0_1560"/>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2833" name="Google Shape;2833;g3b54a426ae3_0_1560"/>
          <p:cNvSpPr txBox="1">
            <a:spLocks noGrp="1"/>
          </p:cNvSpPr>
          <p:nvPr>
            <p:ph type="body" idx="1"/>
          </p:nvPr>
        </p:nvSpPr>
        <p:spPr>
          <a:xfrm>
            <a:off x="777220" y="516129"/>
            <a:ext cx="3812400" cy="22164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Temporal Difference Learning Methods</a:t>
            </a: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On Policy Control Algorithms</a:t>
            </a:r>
            <a:endParaRPr sz="1600" b="1">
              <a:solidFill>
                <a:schemeClr val="dk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837"/>
        <p:cNvGrpSpPr/>
        <p:nvPr/>
      </p:nvGrpSpPr>
      <p:grpSpPr>
        <a:xfrm>
          <a:off x="0" y="0"/>
          <a:ext cx="0" cy="0"/>
          <a:chOff x="0" y="0"/>
          <a:chExt cx="0" cy="0"/>
        </a:xfrm>
      </p:grpSpPr>
      <p:sp>
        <p:nvSpPr>
          <p:cNvPr id="2838" name="Google Shape;2838;g3b54a426ae3_0_1565"/>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2839" name="Google Shape;2839;g3b54a426ae3_0_1565"/>
          <p:cNvSpPr txBox="1">
            <a:spLocks noGrp="1"/>
          </p:cNvSpPr>
          <p:nvPr>
            <p:ph type="body" idx="1"/>
          </p:nvPr>
        </p:nvSpPr>
        <p:spPr>
          <a:xfrm>
            <a:off x="777220" y="516129"/>
            <a:ext cx="3812400" cy="24627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Temporal Difference Learning Methods</a:t>
            </a: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On Policy Control Algorithms</a:t>
            </a:r>
            <a:endParaRPr/>
          </a:p>
          <a:p>
            <a:pPr marL="457200" lvl="0" indent="-228600" algn="ctr" rtl="0">
              <a:lnSpc>
                <a:spcPct val="100000"/>
              </a:lnSpc>
              <a:spcBef>
                <a:spcPts val="0"/>
              </a:spcBef>
              <a:spcAft>
                <a:spcPts val="0"/>
              </a:spcAft>
              <a:buSzPts val="1400"/>
              <a:buNone/>
            </a:pPr>
            <a:r>
              <a:rPr lang="en-US" sz="1600" b="1">
                <a:solidFill>
                  <a:srgbClr val="0070C0"/>
                </a:solidFill>
              </a:rPr>
              <a:t>SARSA</a:t>
            </a:r>
            <a:endParaRPr sz="1600" b="1">
              <a:solidFill>
                <a:srgbClr val="0070C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843"/>
        <p:cNvGrpSpPr/>
        <p:nvPr/>
      </p:nvGrpSpPr>
      <p:grpSpPr>
        <a:xfrm>
          <a:off x="0" y="0"/>
          <a:ext cx="0" cy="0"/>
          <a:chOff x="0" y="0"/>
          <a:chExt cx="0" cy="0"/>
        </a:xfrm>
      </p:grpSpPr>
      <p:sp>
        <p:nvSpPr>
          <p:cNvPr id="2844" name="Google Shape;2844;g3b54a426ae3_0_157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SARSA</a:t>
            </a:r>
            <a:endParaRPr/>
          </a:p>
        </p:txBody>
      </p:sp>
      <p:sp>
        <p:nvSpPr>
          <p:cNvPr id="2845" name="Google Shape;2845;g3b54a426ae3_0_157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846" name="Google Shape;2846;g3b54a426ae3_0_1570"/>
          <p:cNvGrpSpPr/>
          <p:nvPr/>
        </p:nvGrpSpPr>
        <p:grpSpPr>
          <a:xfrm>
            <a:off x="0" y="3109250"/>
            <a:ext cx="5760261" cy="92075"/>
            <a:chOff x="0" y="3109250"/>
            <a:chExt cx="5760261" cy="92075"/>
          </a:xfrm>
        </p:grpSpPr>
        <p:sp>
          <p:nvSpPr>
            <p:cNvPr id="2847" name="Google Shape;2847;g3b54a426ae3_0_157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8" name="Google Shape;2848;g3b54a426ae3_0_157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9" name="Google Shape;2849;g3b54a426ae3_0_157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50" name="Google Shape;2850;g3b54a426ae3_0_157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851" name="Google Shape;2851;g3b54a426ae3_0_157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75</a:t>
            </a:fld>
            <a:r>
              <a:rPr lang="en-US"/>
              <a:t> </a:t>
            </a:r>
            <a:endParaRPr/>
          </a:p>
        </p:txBody>
      </p:sp>
      <p:pic>
        <p:nvPicPr>
          <p:cNvPr id="2852" name="Google Shape;2852;g3b54a426ae3_0_157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853" name="Google Shape;2853;g3b54a426ae3_0_157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854" name="Google Shape;2854;g3b54a426ae3_0_157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855" name="Google Shape;2855;g3b54a426ae3_0_157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856" name="Google Shape;2856;g3b54a426ae3_0_1570"/>
          <p:cNvSpPr txBox="1"/>
          <p:nvPr/>
        </p:nvSpPr>
        <p:spPr>
          <a:xfrm>
            <a:off x="2811550" y="2609348"/>
            <a:ext cx="2915700" cy="4998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US" sz="700" b="1" i="0" u="none" strike="noStrike" cap="none">
                <a:solidFill>
                  <a:srgbClr val="1B1472"/>
                </a:solidFill>
                <a:latin typeface="Arial"/>
                <a:ea typeface="Arial"/>
                <a:cs typeface="Arial"/>
                <a:sym typeface="Arial"/>
              </a:rPr>
              <a:t>Use case : A driving policy is already learnt but there are few unforeseen changes. Policy needs to be retrained to reflect the actual risk observed via exploration</a:t>
            </a:r>
            <a:endParaRPr sz="700" b="1" i="0" u="none" strike="noStrike" cap="none">
              <a:solidFill>
                <a:srgbClr val="1B1472"/>
              </a:solidFill>
              <a:latin typeface="Arial"/>
              <a:ea typeface="Arial"/>
              <a:cs typeface="Arial"/>
              <a:sym typeface="Arial"/>
            </a:endParaRPr>
          </a:p>
        </p:txBody>
      </p:sp>
      <p:pic>
        <p:nvPicPr>
          <p:cNvPr id="2857" name="Google Shape;2857;g3b54a426ae3_0_1570"/>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858" name="Google Shape;2858;g3b54a426ae3_0_1570"/>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2859" name="Google Shape;2859;g3b54a426ae3_0_1570"/>
          <p:cNvSpPr txBox="1"/>
          <p:nvPr/>
        </p:nvSpPr>
        <p:spPr>
          <a:xfrm>
            <a:off x="82600" y="1717926"/>
            <a:ext cx="2793000" cy="5502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2860" name="Google Shape;2860;g3b54a426ae3_0_1570"/>
          <p:cNvSpPr/>
          <p:nvPr/>
        </p:nvSpPr>
        <p:spPr>
          <a:xfrm>
            <a:off x="5143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61" name="Google Shape;2861;g3b54a426ae3_0_157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862" name="Google Shape;2862;g3b54a426ae3_0_157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863" name="Google Shape;2863;g3b54a426ae3_0_157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864" name="Google Shape;2864;g3b54a426ae3_0_157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2865" name="Google Shape;2865;g3b54a426ae3_0_1570"/>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2866" name="Google Shape;2866;g3b54a426ae3_0_157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867" name="Google Shape;2867;g3b54a426ae3_0_157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868" name="Google Shape;2868;g3b54a426ae3_0_157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869" name="Google Shape;2869;g3b54a426ae3_0_157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870" name="Google Shape;2870;g3b54a426ae3_0_157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871" name="Google Shape;2871;g3b54a426ae3_0_157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872" name="Google Shape;2872;g3b54a426ae3_0_1570"/>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873" name="Google Shape;2873;g3b54a426ae3_0_1570"/>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874" name="Google Shape;2874;g3b54a426ae3_0_1570"/>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875" name="Google Shape;2875;g3b54a426ae3_0_1570"/>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876" name="Google Shape;2876;g3b54a426ae3_0_1570"/>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877" name="Google Shape;2877;g3b54a426ae3_0_1570"/>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2878" name="Google Shape;2878;g3b54a426ae3_0_1570"/>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2879" name="Google Shape;2879;g3b54a426ae3_0_1570"/>
          <p:cNvSpPr/>
          <p:nvPr/>
        </p:nvSpPr>
        <p:spPr>
          <a:xfrm>
            <a:off x="3519941" y="197034"/>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80" name="Google Shape;2880;g3b54a426ae3_0_1570"/>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Tree>
  </p:cSld>
  <p:clrMapOvr>
    <a:masterClrMapping/>
  </p:clrMapOvr>
  <p:transition>
    <p:fade thruBlk="1"/>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884"/>
        <p:cNvGrpSpPr/>
        <p:nvPr/>
      </p:nvGrpSpPr>
      <p:grpSpPr>
        <a:xfrm>
          <a:off x="0" y="0"/>
          <a:ext cx="0" cy="0"/>
          <a:chOff x="0" y="0"/>
          <a:chExt cx="0" cy="0"/>
        </a:xfrm>
      </p:grpSpPr>
      <p:sp>
        <p:nvSpPr>
          <p:cNvPr id="2885" name="Google Shape;2885;g3b54a426ae3_0_161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SARSA</a:t>
            </a:r>
            <a:endParaRPr/>
          </a:p>
        </p:txBody>
      </p:sp>
      <p:sp>
        <p:nvSpPr>
          <p:cNvPr id="2886" name="Google Shape;2886;g3b54a426ae3_0_161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887" name="Google Shape;2887;g3b54a426ae3_0_1610"/>
          <p:cNvGrpSpPr/>
          <p:nvPr/>
        </p:nvGrpSpPr>
        <p:grpSpPr>
          <a:xfrm>
            <a:off x="0" y="3109250"/>
            <a:ext cx="5760261" cy="92075"/>
            <a:chOff x="0" y="3109250"/>
            <a:chExt cx="5760261" cy="92075"/>
          </a:xfrm>
        </p:grpSpPr>
        <p:sp>
          <p:nvSpPr>
            <p:cNvPr id="2888" name="Google Shape;2888;g3b54a426ae3_0_161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9" name="Google Shape;2889;g3b54a426ae3_0_161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0" name="Google Shape;2890;g3b54a426ae3_0_161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91" name="Google Shape;2891;g3b54a426ae3_0_161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892" name="Google Shape;2892;g3b54a426ae3_0_161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76</a:t>
            </a:fld>
            <a:endParaRPr/>
          </a:p>
        </p:txBody>
      </p:sp>
      <p:pic>
        <p:nvPicPr>
          <p:cNvPr id="2893" name="Google Shape;2893;g3b54a426ae3_0_161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894" name="Google Shape;2894;g3b54a426ae3_0_161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895" name="Google Shape;2895;g3b54a426ae3_0_161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896" name="Google Shape;2896;g3b54a426ae3_0_161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897" name="Google Shape;2897;g3b54a426ae3_0_1610"/>
          <p:cNvSpPr txBox="1"/>
          <p:nvPr/>
        </p:nvSpPr>
        <p:spPr>
          <a:xfrm>
            <a:off x="1552944" y="2491404"/>
            <a:ext cx="2688900" cy="5757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n-US" sz="700" b="1" i="0" u="none" strike="noStrike" cap="none">
                <a:solidFill>
                  <a:srgbClr val="1B1472"/>
                </a:solidFill>
                <a:latin typeface="Arial"/>
                <a:ea typeface="Arial"/>
                <a:cs typeface="Arial"/>
                <a:sym typeface="Arial"/>
              </a:rPr>
              <a:t>From State “C” &amp; “W”, Action “F” &amp; “S” are derived respectively by applying E-greedy on current policy  from Q values learnt till now. </a:t>
            </a:r>
            <a:endParaRPr/>
          </a:p>
          <a:p>
            <a:pPr marL="0" marR="0" lvl="0" indent="0" algn="l" rtl="0">
              <a:lnSpc>
                <a:spcPct val="100000"/>
              </a:lnSpc>
              <a:spcBef>
                <a:spcPts val="0"/>
              </a:spcBef>
              <a:spcAft>
                <a:spcPts val="0"/>
              </a:spcAft>
              <a:buClr>
                <a:srgbClr val="000000"/>
              </a:buClr>
              <a:buSzPts val="700"/>
              <a:buFont typeface="Arial"/>
              <a:buNone/>
            </a:pPr>
            <a:r>
              <a:rPr lang="en-US" sz="700" b="1" i="0" u="none" strike="noStrike" cap="none">
                <a:solidFill>
                  <a:srgbClr val="1B1472"/>
                </a:solidFill>
                <a:latin typeface="Arial"/>
                <a:ea typeface="Arial"/>
                <a:cs typeface="Arial"/>
                <a:sym typeface="Arial"/>
              </a:rPr>
              <a:t>In the shown time step : (S,A,R,S,A) = (C,F,2,W,S)</a:t>
            </a:r>
            <a:endParaRPr sz="700" b="1" i="0" u="none" strike="noStrike" cap="none">
              <a:solidFill>
                <a:srgbClr val="1B1472"/>
              </a:solidFill>
              <a:latin typeface="Arial"/>
              <a:ea typeface="Arial"/>
              <a:cs typeface="Arial"/>
              <a:sym typeface="Arial"/>
            </a:endParaRPr>
          </a:p>
        </p:txBody>
      </p:sp>
      <p:pic>
        <p:nvPicPr>
          <p:cNvPr id="2898" name="Google Shape;2898;g3b54a426ae3_0_1610"/>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899" name="Google Shape;2899;g3b54a426ae3_0_1610"/>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2900" name="Google Shape;2900;g3b54a426ae3_0_1610"/>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Q(C,F) = 0 + 0.8 [2+ (0.9*0)-0] = 1.6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2901" name="Google Shape;2901;g3b54a426ae3_0_1610"/>
          <p:cNvSpPr/>
          <p:nvPr/>
        </p:nvSpPr>
        <p:spPr>
          <a:xfrm>
            <a:off x="514351" y="1714343"/>
            <a:ext cx="571500" cy="1494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02" name="Google Shape;2902;g3b54a426ae3_0_161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03" name="Google Shape;2903;g3b54a426ae3_0_161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04" name="Google Shape;2904;g3b54a426ae3_0_161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05" name="Google Shape;2905;g3b54a426ae3_0_161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1.6</a:t>
            </a:r>
            <a:r>
              <a:rPr lang="en-US" sz="800" b="0" i="0" u="none" strike="noStrike" cap="none">
                <a:solidFill>
                  <a:schemeClr val="dk1"/>
                </a:solidFill>
                <a:latin typeface="Calibri"/>
                <a:ea typeface="Calibri"/>
                <a:cs typeface="Calibri"/>
                <a:sym typeface="Calibri"/>
              </a:rPr>
              <a:t>           0          0	0            0             0</a:t>
            </a:r>
            <a:endParaRPr sz="300" b="0" i="0" u="none" strike="noStrike" cap="none">
              <a:solidFill>
                <a:srgbClr val="000000"/>
              </a:solidFill>
              <a:latin typeface="Arial"/>
              <a:ea typeface="Arial"/>
              <a:cs typeface="Arial"/>
              <a:sym typeface="Arial"/>
            </a:endParaRPr>
          </a:p>
        </p:txBody>
      </p:sp>
      <p:sp>
        <p:nvSpPr>
          <p:cNvPr id="2906" name="Google Shape;2906;g3b54a426ae3_0_1610"/>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cxnSp>
        <p:nvCxnSpPr>
          <p:cNvPr id="2907" name="Google Shape;2907;g3b54a426ae3_0_161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908" name="Google Shape;2908;g3b54a426ae3_0_161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909" name="Google Shape;2909;g3b54a426ae3_0_161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910" name="Google Shape;2910;g3b54a426ae3_0_161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911" name="Google Shape;2911;g3b54a426ae3_0_161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912" name="Google Shape;2912;g3b54a426ae3_0_161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913" name="Google Shape;2913;g3b54a426ae3_0_1610"/>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914" name="Google Shape;2914;g3b54a426ae3_0_1610"/>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915" name="Google Shape;2915;g3b54a426ae3_0_1610"/>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916" name="Google Shape;2916;g3b54a426ae3_0_1610"/>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917" name="Google Shape;2917;g3b54a426ae3_0_1610"/>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918" name="Google Shape;2918;g3b54a426ae3_0_1610"/>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2919" name="Google Shape;2919;g3b54a426ae3_0_1610"/>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2920" name="Google Shape;2920;g3b54a426ae3_0_1610"/>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21" name="Google Shape;2921;g3b54a426ae3_0_1610"/>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Tree>
  </p:cSld>
  <p:clrMapOvr>
    <a:masterClrMapping/>
  </p:clrMapOvr>
  <p:transition>
    <p:fade thruBlk="1"/>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925"/>
        <p:cNvGrpSpPr/>
        <p:nvPr/>
      </p:nvGrpSpPr>
      <p:grpSpPr>
        <a:xfrm>
          <a:off x="0" y="0"/>
          <a:ext cx="0" cy="0"/>
          <a:chOff x="0" y="0"/>
          <a:chExt cx="0" cy="0"/>
        </a:xfrm>
      </p:grpSpPr>
      <p:sp>
        <p:nvSpPr>
          <p:cNvPr id="2926" name="Google Shape;2926;g3b54a426ae3_0_165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SARSA</a:t>
            </a:r>
            <a:endParaRPr/>
          </a:p>
        </p:txBody>
      </p:sp>
      <p:sp>
        <p:nvSpPr>
          <p:cNvPr id="2927" name="Google Shape;2927;g3b54a426ae3_0_165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28" name="Google Shape;2928;g3b54a426ae3_0_1650"/>
          <p:cNvGrpSpPr/>
          <p:nvPr/>
        </p:nvGrpSpPr>
        <p:grpSpPr>
          <a:xfrm>
            <a:off x="0" y="3109250"/>
            <a:ext cx="5760261" cy="92075"/>
            <a:chOff x="0" y="3109250"/>
            <a:chExt cx="5760261" cy="92075"/>
          </a:xfrm>
        </p:grpSpPr>
        <p:sp>
          <p:nvSpPr>
            <p:cNvPr id="2929" name="Google Shape;2929;g3b54a426ae3_0_165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0" name="Google Shape;2930;g3b54a426ae3_0_165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1" name="Google Shape;2931;g3b54a426ae3_0_165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32" name="Google Shape;2932;g3b54a426ae3_0_165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933" name="Google Shape;2933;g3b54a426ae3_0_165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77</a:t>
            </a:fld>
            <a:r>
              <a:rPr lang="en-US"/>
              <a:t> </a:t>
            </a:r>
            <a:endParaRPr/>
          </a:p>
        </p:txBody>
      </p:sp>
      <p:pic>
        <p:nvPicPr>
          <p:cNvPr id="2934" name="Google Shape;2934;g3b54a426ae3_0_165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935" name="Google Shape;2935;g3b54a426ae3_0_165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936" name="Google Shape;2936;g3b54a426ae3_0_165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937" name="Google Shape;2937;g3b54a426ae3_0_165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2938" name="Google Shape;2938;g3b54a426ae3_0_1650"/>
          <p:cNvSpPr txBox="1"/>
          <p:nvPr/>
        </p:nvSpPr>
        <p:spPr>
          <a:xfrm>
            <a:off x="2686493" y="2678961"/>
            <a:ext cx="3041100" cy="430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Terminating episode 1 after 2 steps. </a:t>
            </a:r>
            <a:r>
              <a:rPr lang="en-US" sz="600" b="0" i="0" u="none" strike="noStrike" cap="non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sz="60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endParaRPr sz="600" b="1" i="0" u="none" strike="noStrike" cap="none">
              <a:solidFill>
                <a:srgbClr val="1B1472"/>
              </a:solidFill>
              <a:latin typeface="Arial"/>
              <a:ea typeface="Arial"/>
              <a:cs typeface="Arial"/>
              <a:sym typeface="Arial"/>
            </a:endParaRPr>
          </a:p>
        </p:txBody>
      </p:sp>
      <p:pic>
        <p:nvPicPr>
          <p:cNvPr id="2939" name="Google Shape;2939;g3b54a426ae3_0_1650"/>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940" name="Google Shape;2940;g3b54a426ae3_0_1650"/>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2941" name="Google Shape;2941;g3b54a426ae3_0_1650"/>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Q(W,S) = 0 + 0.6 [1+ (0.9*1.6)-0] = ~1.95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2942" name="Google Shape;2942;g3b54a426ae3_0_1650"/>
          <p:cNvSpPr/>
          <p:nvPr/>
        </p:nvSpPr>
        <p:spPr>
          <a:xfrm>
            <a:off x="879354" y="1711419"/>
            <a:ext cx="587400" cy="1521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43" name="Google Shape;2943;g3b54a426ae3_0_165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44" name="Google Shape;2944;g3b54a426ae3_0_165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45" name="Google Shape;2945;g3b54a426ae3_0_165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46" name="Google Shape;2946;g3b54a426ae3_0_165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1.6           0          0	</a:t>
            </a:r>
            <a:r>
              <a:rPr lang="en-US" sz="800" b="1" i="0" u="none" strike="noStrike" cap="none">
                <a:solidFill>
                  <a:schemeClr val="dk1"/>
                </a:solidFill>
                <a:latin typeface="Calibri"/>
                <a:ea typeface="Calibri"/>
                <a:cs typeface="Calibri"/>
                <a:sym typeface="Calibri"/>
              </a:rPr>
              <a:t>1.95</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cxnSp>
        <p:nvCxnSpPr>
          <p:cNvPr id="2947" name="Google Shape;2947;g3b54a426ae3_0_165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948" name="Google Shape;2948;g3b54a426ae3_0_165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949" name="Google Shape;2949;g3b54a426ae3_0_165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950" name="Google Shape;2950;g3b54a426ae3_0_165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951" name="Google Shape;2951;g3b54a426ae3_0_165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952" name="Google Shape;2952;g3b54a426ae3_0_165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953" name="Google Shape;2953;g3b54a426ae3_0_1650"/>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954" name="Google Shape;2954;g3b54a426ae3_0_1650"/>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955" name="Google Shape;2955;g3b54a426ae3_0_1650"/>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956" name="Google Shape;2956;g3b54a426ae3_0_1650"/>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957" name="Google Shape;2957;g3b54a426ae3_0_1650"/>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958" name="Google Shape;2958;g3b54a426ae3_0_1650"/>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2959" name="Google Shape;2959;g3b54a426ae3_0_1650"/>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2960" name="Google Shape;2960;g3b54a426ae3_0_1650"/>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61" name="Google Shape;2961;g3b54a426ae3_0_1650"/>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2962" name="Google Shape;2962;g3b54a426ae3_0_1650"/>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966"/>
        <p:cNvGrpSpPr/>
        <p:nvPr/>
      </p:nvGrpSpPr>
      <p:grpSpPr>
        <a:xfrm>
          <a:off x="0" y="0"/>
          <a:ext cx="0" cy="0"/>
          <a:chOff x="0" y="0"/>
          <a:chExt cx="0" cy="0"/>
        </a:xfrm>
      </p:grpSpPr>
      <p:sp>
        <p:nvSpPr>
          <p:cNvPr id="2967" name="Google Shape;2967;g3b54a426ae3_0_169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SARSA</a:t>
            </a:r>
            <a:endParaRPr/>
          </a:p>
        </p:txBody>
      </p:sp>
      <p:sp>
        <p:nvSpPr>
          <p:cNvPr id="2968" name="Google Shape;2968;g3b54a426ae3_0_169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69" name="Google Shape;2969;g3b54a426ae3_0_1690"/>
          <p:cNvGrpSpPr/>
          <p:nvPr/>
        </p:nvGrpSpPr>
        <p:grpSpPr>
          <a:xfrm>
            <a:off x="0" y="3109250"/>
            <a:ext cx="5760261" cy="92075"/>
            <a:chOff x="0" y="3109250"/>
            <a:chExt cx="5760261" cy="92075"/>
          </a:xfrm>
        </p:grpSpPr>
        <p:sp>
          <p:nvSpPr>
            <p:cNvPr id="2970" name="Google Shape;2970;g3b54a426ae3_0_169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1" name="Google Shape;2971;g3b54a426ae3_0_169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2" name="Google Shape;2972;g3b54a426ae3_0_169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73" name="Google Shape;2973;g3b54a426ae3_0_169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2974" name="Google Shape;2974;g3b54a426ae3_0_169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78</a:t>
            </a:fld>
            <a:endParaRPr/>
          </a:p>
        </p:txBody>
      </p:sp>
      <p:pic>
        <p:nvPicPr>
          <p:cNvPr id="2975" name="Google Shape;2975;g3b54a426ae3_0_169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2976" name="Google Shape;2976;g3b54a426ae3_0_169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2977" name="Google Shape;2977;g3b54a426ae3_0_169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2978" name="Google Shape;2978;g3b54a426ae3_0_169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2979" name="Google Shape;2979;g3b54a426ae3_0_1690"/>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2980" name="Google Shape;2980;g3b54a426ae3_0_1690"/>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2981" name="Google Shape;2981;g3b54a426ae3_0_1690"/>
          <p:cNvSpPr txBox="1"/>
          <p:nvPr/>
        </p:nvSpPr>
        <p:spPr>
          <a:xfrm>
            <a:off x="92818" y="1649835"/>
            <a:ext cx="2793000" cy="15816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600" b="1" i="0" u="none" strike="noStrike" cap="none">
                <a:solidFill>
                  <a:srgbClr val="0070C0"/>
                </a:solidFill>
                <a:latin typeface="Arial"/>
                <a:ea typeface="Arial"/>
                <a:cs typeface="Arial"/>
                <a:sym typeface="Arial"/>
              </a:rPr>
              <a:t>Episode 1: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2, </a:t>
            </a:r>
            <a:r>
              <a:rPr lang="en-US" sz="600" b="1" i="0" u="none" strike="noStrike" cap="none">
                <a:solidFill>
                  <a:srgbClr val="C00000"/>
                </a:solidFill>
                <a:latin typeface="Arial"/>
                <a:ea typeface="Arial"/>
                <a:cs typeface="Arial"/>
                <a:sym typeface="Arial"/>
              </a:rPr>
              <a:t>W</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 </a:t>
            </a:r>
            <a:r>
              <a:rPr lang="en-US" sz="600" b="1" i="0" u="none" strike="noStrike" cap="none">
                <a:solidFill>
                  <a:schemeClr val="dk1"/>
                </a:solidFill>
                <a:latin typeface="Arial"/>
                <a:ea typeface="Arial"/>
                <a:cs typeface="Arial"/>
                <a:sym typeface="Arial"/>
              </a:rPr>
              <a:t>F</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rgbClr val="0070C0"/>
                </a:solidFill>
                <a:latin typeface="Arial"/>
                <a:ea typeface="Arial"/>
                <a:cs typeface="Arial"/>
                <a:sym typeface="Arial"/>
              </a:rPr>
              <a:t>Episode 2: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2,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2, </a:t>
            </a:r>
            <a:r>
              <a:rPr lang="en-US" sz="600" b="1" i="0" u="none" strike="noStrike" cap="none">
                <a:solidFill>
                  <a:srgbClr val="C00000"/>
                </a:solidFill>
                <a:latin typeface="Arial"/>
                <a:ea typeface="Arial"/>
                <a:cs typeface="Arial"/>
                <a:sym typeface="Arial"/>
              </a:rPr>
              <a:t>W,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W ,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W ,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-10, </a:t>
            </a:r>
            <a:r>
              <a:rPr lang="en-US" sz="600" b="1" i="0" u="none" strike="noStrike" cap="none">
                <a:solidFill>
                  <a:srgbClr val="C00000"/>
                </a:solidFill>
                <a:latin typeface="Arial"/>
                <a:ea typeface="Arial"/>
                <a:cs typeface="Arial"/>
                <a:sym typeface="Arial"/>
              </a:rPr>
              <a:t>O</a:t>
            </a:r>
            <a:r>
              <a:rPr lang="en-US" sz="600" b="1" i="0" u="none" strike="noStrike" cap="none">
                <a:solidFill>
                  <a:schemeClr val="dk1"/>
                </a:solidFill>
                <a:latin typeface="Arial"/>
                <a:ea typeface="Arial"/>
                <a:cs typeface="Arial"/>
                <a:sym typeface="Arial"/>
              </a:rPr>
              <a:t> </a:t>
            </a:r>
            <a:endParaRPr sz="6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t=0 : Q(C,F) = 1.6 + 0.8 [2+ (0.9*1)-1.6] = 3.07</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t=1 : Q(C,F) = 3.07 + 0.8 [2+ (0.9*1.95)-3.07] = ~3.62 </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t=2 : Q(W,S) = 1.95 + 0.8 [1+ (0.9*1.95)-1.95] = ~2.59 </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t=3 : Q(W,S) = 2.59 + 0.8 [1+ (0.9*0)-2.59] = ~1.32 </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t=4 : Q(W,F) = 0 + 0.8 [-10+ (0.9*0)-0] = ~-8</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p:txBody>
      </p:sp>
      <p:sp>
        <p:nvSpPr>
          <p:cNvPr id="2982" name="Google Shape;2982;g3b54a426ae3_0_169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83" name="Google Shape;2983;g3b54a426ae3_0_169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84" name="Google Shape;2984;g3b54a426ae3_0_169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2985" name="Google Shape;2985;g3b54a426ae3_0_169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1.6          0          0	1.95            0             </a:t>
            </a:r>
            <a:endParaRPr sz="300" b="0" i="0" u="none" strike="noStrike" cap="none">
              <a:solidFill>
                <a:srgbClr val="000000"/>
              </a:solidFill>
              <a:latin typeface="Arial"/>
              <a:ea typeface="Arial"/>
              <a:cs typeface="Arial"/>
              <a:sym typeface="Arial"/>
            </a:endParaRPr>
          </a:p>
        </p:txBody>
      </p:sp>
      <p:cxnSp>
        <p:nvCxnSpPr>
          <p:cNvPr id="2986" name="Google Shape;2986;g3b54a426ae3_0_169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2987" name="Google Shape;2987;g3b54a426ae3_0_169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2988" name="Google Shape;2988;g3b54a426ae3_0_169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2989" name="Google Shape;2989;g3b54a426ae3_0_169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2990" name="Google Shape;2990;g3b54a426ae3_0_169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2991" name="Google Shape;2991;g3b54a426ae3_0_169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2992" name="Google Shape;2992;g3b54a426ae3_0_1690"/>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2993" name="Google Shape;2993;g3b54a426ae3_0_1690"/>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2994" name="Google Shape;2994;g3b54a426ae3_0_1690"/>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2995" name="Google Shape;2995;g3b54a426ae3_0_1690"/>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2996" name="Google Shape;2996;g3b54a426ae3_0_1690"/>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2997" name="Google Shape;2997;g3b54a426ae3_0_1690"/>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2998" name="Google Shape;2998;g3b54a426ae3_0_1690"/>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2999" name="Google Shape;2999;g3b54a426ae3_0_1690"/>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00" name="Google Shape;3000;g3b54a426ae3_0_1690"/>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001" name="Google Shape;3001;g3b54a426ae3_0_1690"/>
          <p:cNvSpPr txBox="1"/>
          <p:nvPr/>
        </p:nvSpPr>
        <p:spPr>
          <a:xfrm>
            <a:off x="289408" y="1110457"/>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3.62          0          -8	1.32            </a:t>
            </a:r>
            <a:r>
              <a:rPr lang="en-US" sz="800" b="0" i="0" u="none" strike="noStrike" cap="none">
                <a:solidFill>
                  <a:schemeClr val="dk1"/>
                </a:solidFill>
                <a:latin typeface="Calibri"/>
                <a:ea typeface="Calibri"/>
                <a:cs typeface="Calibri"/>
                <a:sym typeface="Calibri"/>
              </a:rPr>
              <a:t>0             </a:t>
            </a:r>
            <a:endParaRPr sz="300" b="0" i="0" u="none" strike="noStrike" cap="none">
              <a:solidFill>
                <a:srgbClr val="000000"/>
              </a:solidFill>
              <a:latin typeface="Arial"/>
              <a:ea typeface="Arial"/>
              <a:cs typeface="Arial"/>
              <a:sym typeface="Arial"/>
            </a:endParaRPr>
          </a:p>
        </p:txBody>
      </p:sp>
      <p:sp>
        <p:nvSpPr>
          <p:cNvPr id="3002" name="Google Shape;3002;g3b54a426ae3_0_1690"/>
          <p:cNvSpPr txBox="1"/>
          <p:nvPr/>
        </p:nvSpPr>
        <p:spPr>
          <a:xfrm>
            <a:off x="309839" y="1415629"/>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a:t>
            </a:r>
            <a:endParaRPr sz="300" b="0" i="0" u="none" strike="noStrike" cap="none">
              <a:solidFill>
                <a:srgbClr val="000000"/>
              </a:solidFill>
              <a:latin typeface="Arial"/>
              <a:ea typeface="Arial"/>
              <a:cs typeface="Arial"/>
              <a:sym typeface="Arial"/>
            </a:endParaRPr>
          </a:p>
        </p:txBody>
      </p:sp>
      <p:sp>
        <p:nvSpPr>
          <p:cNvPr id="3003" name="Google Shape;3003;g3b54a426ae3_0_1690"/>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007"/>
        <p:cNvGrpSpPr/>
        <p:nvPr/>
      </p:nvGrpSpPr>
      <p:grpSpPr>
        <a:xfrm>
          <a:off x="0" y="0"/>
          <a:ext cx="0" cy="0"/>
          <a:chOff x="0" y="0"/>
          <a:chExt cx="0" cy="0"/>
        </a:xfrm>
      </p:grpSpPr>
      <p:sp>
        <p:nvSpPr>
          <p:cNvPr id="3008" name="Google Shape;3008;g3b54a426ae3_0_1730"/>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SARSA</a:t>
            </a:r>
            <a:endParaRPr/>
          </a:p>
        </p:txBody>
      </p:sp>
      <p:sp>
        <p:nvSpPr>
          <p:cNvPr id="3009" name="Google Shape;3009;g3b54a426ae3_0_1730"/>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010" name="Google Shape;3010;g3b54a426ae3_0_1730"/>
          <p:cNvGrpSpPr/>
          <p:nvPr/>
        </p:nvGrpSpPr>
        <p:grpSpPr>
          <a:xfrm>
            <a:off x="0" y="3109250"/>
            <a:ext cx="5760261" cy="92075"/>
            <a:chOff x="0" y="3109250"/>
            <a:chExt cx="5760261" cy="92075"/>
          </a:xfrm>
        </p:grpSpPr>
        <p:sp>
          <p:nvSpPr>
            <p:cNvPr id="3011" name="Google Shape;3011;g3b54a426ae3_0_173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2" name="Google Shape;3012;g3b54a426ae3_0_173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3" name="Google Shape;3013;g3b54a426ae3_0_173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14" name="Google Shape;3014;g3b54a426ae3_0_1730"/>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015" name="Google Shape;3015;g3b54a426ae3_0_173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79</a:t>
            </a:fld>
            <a:r>
              <a:rPr lang="en-US"/>
              <a:t> </a:t>
            </a:r>
            <a:endParaRPr/>
          </a:p>
        </p:txBody>
      </p:sp>
      <p:pic>
        <p:nvPicPr>
          <p:cNvPr id="3016" name="Google Shape;3016;g3b54a426ae3_0_1730"/>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017" name="Google Shape;3017;g3b54a426ae3_0_1730"/>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018" name="Google Shape;3018;g3b54a426ae3_0_1730"/>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019" name="Google Shape;3019;g3b54a426ae3_0_1730"/>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020" name="Google Shape;3020;g3b54a426ae3_0_1730"/>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021" name="Google Shape;3021;g3b54a426ae3_0_1730"/>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022" name="Google Shape;3022;g3b54a426ae3_0_1730"/>
          <p:cNvSpPr txBox="1"/>
          <p:nvPr/>
        </p:nvSpPr>
        <p:spPr>
          <a:xfrm>
            <a:off x="81158" y="1997248"/>
            <a:ext cx="2793000" cy="16740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600" b="1" i="0" u="none" strike="noStrike" cap="none">
                <a:solidFill>
                  <a:srgbClr val="0070C0"/>
                </a:solidFill>
                <a:latin typeface="Arial"/>
                <a:ea typeface="Arial"/>
                <a:cs typeface="Arial"/>
                <a:sym typeface="Arial"/>
              </a:rPr>
              <a:t>Episode 1: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2, </a:t>
            </a:r>
            <a:r>
              <a:rPr lang="en-US" sz="600" b="1" i="0" u="none" strike="noStrike" cap="none">
                <a:solidFill>
                  <a:srgbClr val="C00000"/>
                </a:solidFill>
                <a:latin typeface="Arial"/>
                <a:ea typeface="Arial"/>
                <a:cs typeface="Arial"/>
                <a:sym typeface="Arial"/>
              </a:rPr>
              <a:t>W</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 </a:t>
            </a:r>
            <a:r>
              <a:rPr lang="en-US" sz="600" b="1" i="0" u="none" strike="noStrike" cap="none">
                <a:solidFill>
                  <a:schemeClr val="dk1"/>
                </a:solidFill>
                <a:latin typeface="Arial"/>
                <a:ea typeface="Arial"/>
                <a:cs typeface="Arial"/>
                <a:sym typeface="Arial"/>
              </a:rPr>
              <a:t>F</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rgbClr val="0070C0"/>
                </a:solidFill>
                <a:latin typeface="Arial"/>
                <a:ea typeface="Arial"/>
                <a:cs typeface="Arial"/>
                <a:sym typeface="Arial"/>
              </a:rPr>
              <a:t>Episode 2: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2, </a:t>
            </a:r>
            <a:r>
              <a:rPr lang="en-US" sz="600" b="1" i="0" u="none" strike="noStrike" cap="none">
                <a:solidFill>
                  <a:srgbClr val="C00000"/>
                </a:solidFill>
                <a:latin typeface="Arial"/>
                <a:ea typeface="Arial"/>
                <a:cs typeface="Arial"/>
                <a:sym typeface="Arial"/>
              </a:rPr>
              <a:t>C</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2, </a:t>
            </a:r>
            <a:r>
              <a:rPr lang="en-US" sz="600" b="1" i="0" u="none" strike="noStrike" cap="none">
                <a:solidFill>
                  <a:srgbClr val="C00000"/>
                </a:solidFill>
                <a:latin typeface="Arial"/>
                <a:ea typeface="Arial"/>
                <a:cs typeface="Arial"/>
                <a:sym typeface="Arial"/>
              </a:rPr>
              <a:t>W,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W ,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W , </a:t>
            </a:r>
            <a:r>
              <a:rPr lang="en-US" sz="600" b="1" i="0" u="none" strike="noStrike" cap="none">
                <a:solidFill>
                  <a:schemeClr val="dk1"/>
                </a:solidFill>
                <a:latin typeface="Arial"/>
                <a:ea typeface="Arial"/>
                <a:cs typeface="Arial"/>
                <a:sym typeface="Arial"/>
              </a:rPr>
              <a:t>F,</a:t>
            </a:r>
            <a:r>
              <a:rPr lang="en-US" sz="600" b="1" i="0" u="none" strike="noStrike" cap="none">
                <a:solidFill>
                  <a:srgbClr val="0070C0"/>
                </a:solidFill>
                <a:latin typeface="Arial"/>
                <a:ea typeface="Arial"/>
                <a:cs typeface="Arial"/>
                <a:sym typeface="Arial"/>
              </a:rPr>
              <a:t> -10, </a:t>
            </a:r>
            <a:r>
              <a:rPr lang="en-US" sz="600" b="1" i="0" u="none" strike="noStrike" cap="none">
                <a:solidFill>
                  <a:srgbClr val="C00000"/>
                </a:solidFill>
                <a:latin typeface="Arial"/>
                <a:ea typeface="Arial"/>
                <a:cs typeface="Arial"/>
                <a:sym typeface="Arial"/>
              </a:rPr>
              <a:t>O</a:t>
            </a:r>
            <a:r>
              <a:rPr lang="en-US" sz="600" b="1" i="0" u="none" strike="noStrike" cap="none">
                <a:solidFill>
                  <a:schemeClr val="dk1"/>
                </a:solidFill>
                <a:latin typeface="Arial"/>
                <a:ea typeface="Arial"/>
                <a:cs typeface="Arial"/>
                <a:sym typeface="Arial"/>
              </a:rPr>
              <a:t> </a:t>
            </a:r>
            <a:endParaRPr sz="6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rgbClr val="0070C0"/>
                </a:solidFill>
                <a:latin typeface="Arial"/>
                <a:ea typeface="Arial"/>
                <a:cs typeface="Arial"/>
                <a:sym typeface="Arial"/>
              </a:rPr>
              <a:t>Episode 3: </a:t>
            </a:r>
            <a:r>
              <a:rPr lang="en-US" sz="600" b="1" i="0" u="none" strike="noStrike" cap="none">
                <a:solidFill>
                  <a:srgbClr val="C00000"/>
                </a:solidFill>
                <a:latin typeface="Arial"/>
                <a:ea typeface="Arial"/>
                <a:cs typeface="Arial"/>
                <a:sym typeface="Arial"/>
              </a:rPr>
              <a:t>W</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W</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 </a:t>
            </a:r>
            <a:r>
              <a:rPr lang="en-US" sz="600" b="1" i="0" u="none" strike="noStrike" cap="none">
                <a:solidFill>
                  <a:srgbClr val="0070C0"/>
                </a:solidFill>
                <a:latin typeface="Arial"/>
                <a:ea typeface="Arial"/>
                <a:cs typeface="Arial"/>
                <a:sym typeface="Arial"/>
              </a:rPr>
              <a:t>+10, </a:t>
            </a:r>
            <a:r>
              <a:rPr lang="en-US" sz="600" b="1" i="0" u="none" strike="noStrike" cap="none">
                <a:solidFill>
                  <a:srgbClr val="C00000"/>
                </a:solidFill>
                <a:latin typeface="Arial"/>
                <a:ea typeface="Arial"/>
                <a:cs typeface="Arial"/>
                <a:sym typeface="Arial"/>
              </a:rPr>
              <a:t>O</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t=0 : Q(W,S)  = 1.32 + 0.8 [1+ (0.9*</a:t>
            </a:r>
            <a:r>
              <a:rPr lang="en-US" sz="600" b="1" i="0" u="none" strike="noStrike" cap="none">
                <a:solidFill>
                  <a:srgbClr val="FF0000"/>
                </a:solidFill>
                <a:latin typeface="Arial"/>
                <a:ea typeface="Arial"/>
                <a:cs typeface="Arial"/>
                <a:sym typeface="Arial"/>
              </a:rPr>
              <a:t>-8</a:t>
            </a:r>
            <a:r>
              <a:rPr lang="en-US" sz="600" b="1" i="0" u="none" strike="noStrike" cap="none">
                <a:solidFill>
                  <a:schemeClr val="dk1"/>
                </a:solidFill>
                <a:latin typeface="Arial"/>
                <a:ea typeface="Arial"/>
                <a:cs typeface="Arial"/>
                <a:sym typeface="Arial"/>
              </a:rPr>
              <a:t>)-1.32] = </a:t>
            </a:r>
            <a:r>
              <a:rPr lang="en-US" sz="600" b="1" i="0" u="none" strike="noStrike" cap="none">
                <a:solidFill>
                  <a:srgbClr val="FF0000"/>
                </a:solidFill>
                <a:latin typeface="Arial"/>
                <a:ea typeface="Arial"/>
                <a:cs typeface="Arial"/>
                <a:sym typeface="Arial"/>
              </a:rPr>
              <a:t>-4.69</a:t>
            </a:r>
            <a:r>
              <a:rPr lang="en-US" sz="600" b="1" i="0" u="none" strike="noStrike" cap="none">
                <a:solidFill>
                  <a:schemeClr val="dk1"/>
                </a:solidFill>
                <a:latin typeface="Arial"/>
                <a:ea typeface="Arial"/>
                <a:cs typeface="Arial"/>
                <a:sym typeface="Arial"/>
              </a:rPr>
              <a:t> </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t=1 : Q(W,F) = -8 + 0.8 [10+ (0.9*</a:t>
            </a:r>
            <a:r>
              <a:rPr lang="en-US" sz="600" b="1" i="0" u="none" strike="noStrike" cap="none">
                <a:solidFill>
                  <a:srgbClr val="FF0000"/>
                </a:solidFill>
                <a:latin typeface="Arial"/>
                <a:ea typeface="Arial"/>
                <a:cs typeface="Arial"/>
                <a:sym typeface="Arial"/>
              </a:rPr>
              <a:t>0</a:t>
            </a:r>
            <a:r>
              <a:rPr lang="en-US" sz="600" b="1" i="0" u="none" strike="noStrike" cap="none">
                <a:solidFill>
                  <a:schemeClr val="dk1"/>
                </a:solidFill>
                <a:latin typeface="Arial"/>
                <a:ea typeface="Arial"/>
                <a:cs typeface="Arial"/>
                <a:sym typeface="Arial"/>
              </a:rPr>
              <a:t>)+8] = ~</a:t>
            </a:r>
            <a:r>
              <a:rPr lang="en-US" sz="600" b="1" i="0" u="none" strike="noStrike" cap="none">
                <a:solidFill>
                  <a:srgbClr val="FF0000"/>
                </a:solidFill>
                <a:latin typeface="Arial"/>
                <a:ea typeface="Arial"/>
                <a:cs typeface="Arial"/>
                <a:sym typeface="Arial"/>
              </a:rPr>
              <a:t>+6.4</a:t>
            </a:r>
            <a:r>
              <a:rPr lang="en-US" sz="600" b="1" i="0" u="none" strike="noStrike" cap="none">
                <a:solidFill>
                  <a:schemeClr val="dk1"/>
                </a:solidFill>
                <a:latin typeface="Arial"/>
                <a:ea typeface="Arial"/>
                <a:cs typeface="Arial"/>
                <a:sym typeface="Arial"/>
              </a:rPr>
              <a:t> </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rgbClr val="0070C0"/>
                </a:solidFill>
                <a:latin typeface="Arial"/>
                <a:ea typeface="Arial"/>
                <a:cs typeface="Arial"/>
                <a:sym typeface="Arial"/>
              </a:rPr>
              <a:t>Episode 4: </a:t>
            </a:r>
            <a:r>
              <a:rPr lang="en-US" sz="600" b="1" i="0" u="none" strike="noStrike" cap="none">
                <a:solidFill>
                  <a:srgbClr val="C00000"/>
                </a:solidFill>
                <a:latin typeface="Arial"/>
                <a:ea typeface="Arial"/>
                <a:cs typeface="Arial"/>
                <a:sym typeface="Arial"/>
              </a:rPr>
              <a:t>W</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S</a:t>
            </a:r>
            <a:r>
              <a:rPr lang="en-US" sz="600" b="1" i="0" u="none" strike="noStrike" cap="none">
                <a:solidFill>
                  <a:srgbClr val="0070C0"/>
                </a:solidFill>
                <a:latin typeface="Arial"/>
                <a:ea typeface="Arial"/>
                <a:cs typeface="Arial"/>
                <a:sym typeface="Arial"/>
              </a:rPr>
              <a:t>, +1, </a:t>
            </a:r>
            <a:r>
              <a:rPr lang="en-US" sz="600" b="1" i="0" u="none" strike="noStrike" cap="none">
                <a:solidFill>
                  <a:srgbClr val="C00000"/>
                </a:solidFill>
                <a:latin typeface="Arial"/>
                <a:ea typeface="Arial"/>
                <a:cs typeface="Arial"/>
                <a:sym typeface="Arial"/>
              </a:rPr>
              <a:t>W</a:t>
            </a:r>
            <a:r>
              <a:rPr lang="en-US" sz="600" b="1" i="0" u="none" strike="noStrike" cap="none">
                <a:solidFill>
                  <a:srgbClr val="0070C0"/>
                </a:solidFill>
                <a:latin typeface="Arial"/>
                <a:ea typeface="Arial"/>
                <a:cs typeface="Arial"/>
                <a:sym typeface="Arial"/>
              </a:rPr>
              <a:t>, </a:t>
            </a:r>
            <a:r>
              <a:rPr lang="en-US" sz="600" b="1" i="0" u="none" strike="noStrike" cap="none">
                <a:solidFill>
                  <a:schemeClr val="dk1"/>
                </a:solidFill>
                <a:latin typeface="Arial"/>
                <a:ea typeface="Arial"/>
                <a:cs typeface="Arial"/>
                <a:sym typeface="Arial"/>
              </a:rPr>
              <a:t>F</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0" u="none" strike="noStrike" cap="none">
                <a:solidFill>
                  <a:schemeClr val="dk1"/>
                </a:solidFill>
                <a:latin typeface="Arial"/>
                <a:ea typeface="Arial"/>
                <a:cs typeface="Arial"/>
                <a:sym typeface="Arial"/>
              </a:rPr>
              <a:t>t=0 : Q(W,S) = -4.69 + 0.8 [1+ (0.9*</a:t>
            </a:r>
            <a:r>
              <a:rPr lang="en-US" sz="600" b="1" i="0" u="none" strike="noStrike" cap="none">
                <a:solidFill>
                  <a:srgbClr val="FF0000"/>
                </a:solidFill>
                <a:latin typeface="Arial"/>
                <a:ea typeface="Arial"/>
                <a:cs typeface="Arial"/>
                <a:sym typeface="Arial"/>
              </a:rPr>
              <a:t>6.4</a:t>
            </a:r>
            <a:r>
              <a:rPr lang="en-US" sz="600" b="1" i="0" u="none" strike="noStrike" cap="none">
                <a:solidFill>
                  <a:schemeClr val="dk1"/>
                </a:solidFill>
                <a:latin typeface="Arial"/>
                <a:ea typeface="Arial"/>
                <a:cs typeface="Arial"/>
                <a:sym typeface="Arial"/>
              </a:rPr>
              <a:t>)+4.69] = ~</a:t>
            </a:r>
            <a:r>
              <a:rPr lang="en-US" sz="600" b="1" i="0" u="none" strike="noStrike" cap="none">
                <a:solidFill>
                  <a:srgbClr val="FF0000"/>
                </a:solidFill>
                <a:latin typeface="Arial"/>
                <a:ea typeface="Arial"/>
                <a:cs typeface="Arial"/>
                <a:sym typeface="Arial"/>
              </a:rPr>
              <a:t>+4.47</a:t>
            </a:r>
            <a:r>
              <a:rPr lang="en-US" sz="600" b="1" i="0" u="none" strike="noStrike" cap="none">
                <a:solidFill>
                  <a:schemeClr val="dk1"/>
                </a:solidFill>
                <a:latin typeface="Arial"/>
                <a:ea typeface="Arial"/>
                <a:cs typeface="Arial"/>
                <a:sym typeface="Arial"/>
              </a:rPr>
              <a:t> </a:t>
            </a: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chemeClr val="dk1"/>
              </a:solidFill>
              <a:latin typeface="Arial"/>
              <a:ea typeface="Arial"/>
              <a:cs typeface="Arial"/>
              <a:sym typeface="Arial"/>
            </a:endParaRPr>
          </a:p>
        </p:txBody>
      </p:sp>
      <p:sp>
        <p:nvSpPr>
          <p:cNvPr id="3023" name="Google Shape;3023;g3b54a426ae3_0_1730"/>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024" name="Google Shape;3024;g3b54a426ae3_0_1730"/>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025" name="Google Shape;3025;g3b54a426ae3_0_1730"/>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026" name="Google Shape;3026;g3b54a426ae3_0_1730"/>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          0          0	1.95            0             </a:t>
            </a:r>
            <a:endParaRPr sz="300" b="0" i="0" u="none" strike="noStrike" cap="none">
              <a:solidFill>
                <a:srgbClr val="000000"/>
              </a:solidFill>
              <a:latin typeface="Arial"/>
              <a:ea typeface="Arial"/>
              <a:cs typeface="Arial"/>
              <a:sym typeface="Arial"/>
            </a:endParaRPr>
          </a:p>
        </p:txBody>
      </p:sp>
      <p:cxnSp>
        <p:nvCxnSpPr>
          <p:cNvPr id="3027" name="Google Shape;3027;g3b54a426ae3_0_1730"/>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028" name="Google Shape;3028;g3b54a426ae3_0_1730"/>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029" name="Google Shape;3029;g3b54a426ae3_0_1730"/>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030" name="Google Shape;3030;g3b54a426ae3_0_1730"/>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031" name="Google Shape;3031;g3b54a426ae3_0_1730"/>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032" name="Google Shape;3032;g3b54a426ae3_0_1730"/>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033" name="Google Shape;3033;g3b54a426ae3_0_1730"/>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034" name="Google Shape;3034;g3b54a426ae3_0_1730"/>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035" name="Google Shape;3035;g3b54a426ae3_0_1730"/>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036" name="Google Shape;3036;g3b54a426ae3_0_1730"/>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037" name="Google Shape;3037;g3b54a426ae3_0_1730"/>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038" name="Google Shape;3038;g3b54a426ae3_0_1730"/>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039" name="Google Shape;3039;g3b54a426ae3_0_1730"/>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3040" name="Google Shape;3040;g3b54a426ae3_0_1730"/>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41" name="Google Shape;3041;g3b54a426ae3_0_1730"/>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042" name="Google Shape;3042;g3b54a426ae3_0_1730"/>
          <p:cNvSpPr txBox="1"/>
          <p:nvPr/>
        </p:nvSpPr>
        <p:spPr>
          <a:xfrm>
            <a:off x="289408" y="1110457"/>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3.62          0          -8	</a:t>
            </a:r>
            <a:r>
              <a:rPr lang="en-US" sz="800" b="1" i="0" u="none" strike="noStrike" cap="none">
                <a:solidFill>
                  <a:srgbClr val="FF0000"/>
                </a:solidFill>
                <a:latin typeface="Calibri"/>
                <a:ea typeface="Calibri"/>
                <a:cs typeface="Calibri"/>
                <a:sym typeface="Calibri"/>
              </a:rPr>
              <a:t>1.32 </a:t>
            </a:r>
            <a:r>
              <a:rPr lang="en-US" sz="800" b="0" i="0" u="none" strike="noStrike" cap="none">
                <a:solidFill>
                  <a:schemeClr val="dk1"/>
                </a:solidFill>
                <a:latin typeface="Calibri"/>
                <a:ea typeface="Calibri"/>
                <a:cs typeface="Calibri"/>
                <a:sym typeface="Calibri"/>
              </a:rPr>
              <a:t>           0             </a:t>
            </a:r>
            <a:endParaRPr sz="300" b="0" i="0" u="none" strike="noStrike" cap="none">
              <a:solidFill>
                <a:srgbClr val="000000"/>
              </a:solidFill>
              <a:latin typeface="Arial"/>
              <a:ea typeface="Arial"/>
              <a:cs typeface="Arial"/>
              <a:sym typeface="Arial"/>
            </a:endParaRPr>
          </a:p>
        </p:txBody>
      </p:sp>
      <p:sp>
        <p:nvSpPr>
          <p:cNvPr id="3043" name="Google Shape;3043;g3b54a426ae3_0_1730"/>
          <p:cNvSpPr txBox="1"/>
          <p:nvPr/>
        </p:nvSpPr>
        <p:spPr>
          <a:xfrm>
            <a:off x="309839" y="1415629"/>
            <a:ext cx="22461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3.62          0       6.48     </a:t>
            </a:r>
            <a:r>
              <a:rPr lang="en-US" sz="800" b="1" i="0" u="none" strike="noStrike" cap="none">
                <a:solidFill>
                  <a:srgbClr val="FF0000"/>
                </a:solidFill>
                <a:latin typeface="Calibri"/>
                <a:ea typeface="Calibri"/>
                <a:cs typeface="Calibri"/>
                <a:sym typeface="Calibri"/>
              </a:rPr>
              <a:t>-4.69</a:t>
            </a:r>
            <a:r>
              <a:rPr lang="en-US" sz="800" b="0" i="0" u="none" strike="noStrike" cap="none">
                <a:solidFill>
                  <a:schemeClr val="dk1"/>
                </a:solidFill>
                <a:latin typeface="Calibri"/>
                <a:ea typeface="Calibri"/>
                <a:cs typeface="Calibri"/>
                <a:sym typeface="Calibri"/>
              </a:rPr>
              <a:t>            0             </a:t>
            </a:r>
            <a:endParaRPr sz="300" b="0" i="0" u="none" strike="noStrike" cap="none">
              <a:solidFill>
                <a:srgbClr val="000000"/>
              </a:solidFill>
              <a:latin typeface="Arial"/>
              <a:ea typeface="Arial"/>
              <a:cs typeface="Arial"/>
              <a:sym typeface="Arial"/>
            </a:endParaRPr>
          </a:p>
        </p:txBody>
      </p:sp>
      <p:sp>
        <p:nvSpPr>
          <p:cNvPr id="3044" name="Google Shape;3044;g3b54a426ae3_0_1730"/>
          <p:cNvSpPr txBox="1"/>
          <p:nvPr/>
        </p:nvSpPr>
        <p:spPr>
          <a:xfrm>
            <a:off x="3034674" y="971996"/>
            <a:ext cx="2629200" cy="95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Continued for two more episodes….</a:t>
            </a:r>
            <a:endParaRPr sz="70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FF0000"/>
                </a:solidFill>
                <a:latin typeface="Arial"/>
                <a:ea typeface="Arial"/>
                <a:cs typeface="Arial"/>
                <a:sym typeface="Arial"/>
              </a:rPr>
              <a:t>Observe </a:t>
            </a:r>
            <a:r>
              <a:rPr lang="en-US" sz="700" b="1" i="0" u="none" strike="noStrike" cap="none">
                <a:solidFill>
                  <a:srgbClr val="1B1472"/>
                </a:solidFill>
                <a:latin typeface="Arial"/>
                <a:ea typeface="Arial"/>
                <a:cs typeface="Arial"/>
                <a:sym typeface="Arial"/>
              </a:rPr>
              <a:t>the  difference in value updates w.r.t Q(W,S) between successive time steps in episodes 3 &amp; 4. </a:t>
            </a:r>
            <a:endParaRPr/>
          </a:p>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At the worst case on larger learning rate eg., 0.8 the pull is even larger</a:t>
            </a:r>
            <a:endParaRPr sz="70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This large pull is an effect of the </a:t>
            </a:r>
            <a:r>
              <a:rPr lang="en-US" sz="700" b="1" i="0" u="none" strike="noStrike" cap="none">
                <a:solidFill>
                  <a:srgbClr val="00B0F0"/>
                </a:solidFill>
                <a:latin typeface="Arial"/>
                <a:ea typeface="Arial"/>
                <a:cs typeface="Arial"/>
                <a:sym typeface="Arial"/>
              </a:rPr>
              <a:t>VARIANCE</a:t>
            </a:r>
            <a:r>
              <a:rPr lang="en-US" sz="700" b="1" i="0" u="none" strike="noStrike" cap="none">
                <a:solidFill>
                  <a:srgbClr val="1B1472"/>
                </a:solidFill>
                <a:latin typeface="Arial"/>
                <a:ea typeface="Arial"/>
                <a:cs typeface="Arial"/>
                <a:sym typeface="Arial"/>
              </a:rPr>
              <a:t> produced</a:t>
            </a:r>
            <a:endParaRPr/>
          </a:p>
          <a:p>
            <a:pPr marL="0" marR="0" lvl="0" indent="0" algn="l" rtl="0">
              <a:lnSpc>
                <a:spcPct val="100000"/>
              </a:lnSpc>
              <a:spcBef>
                <a:spcPts val="0"/>
              </a:spcBef>
              <a:spcAft>
                <a:spcPts val="0"/>
              </a:spcAft>
              <a:buNone/>
            </a:pPr>
            <a:r>
              <a:rPr lang="en-US" sz="700" b="1" i="1" u="none" strike="noStrike" cap="none">
                <a:solidFill>
                  <a:schemeClr val="dk1"/>
                </a:solidFill>
                <a:latin typeface="Arial"/>
                <a:ea typeface="Arial"/>
                <a:cs typeface="Arial"/>
                <a:sym typeface="Arial"/>
              </a:rPr>
              <a:t>Solution to tackle : Expected SARSA</a:t>
            </a:r>
            <a:endParaRPr sz="600" b="1" i="1" u="none" strike="noStrike" cap="none">
              <a:solidFill>
                <a:schemeClr val="dk1"/>
              </a:solidFill>
              <a:latin typeface="Arial"/>
              <a:ea typeface="Arial"/>
              <a:cs typeface="Arial"/>
              <a:sym typeface="Arial"/>
            </a:endParaRPr>
          </a:p>
        </p:txBody>
      </p:sp>
      <p:sp>
        <p:nvSpPr>
          <p:cNvPr id="3045" name="Google Shape;3045;g3b54a426ae3_0_1730"/>
          <p:cNvSpPr/>
          <p:nvPr/>
        </p:nvSpPr>
        <p:spPr>
          <a:xfrm>
            <a:off x="319728" y="1694620"/>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046" name="Google Shape;3046;g3b54a426ae3_0_1730"/>
          <p:cNvCxnSpPr/>
          <p:nvPr/>
        </p:nvCxnSpPr>
        <p:spPr>
          <a:xfrm>
            <a:off x="919995" y="1694620"/>
            <a:ext cx="0" cy="225300"/>
          </a:xfrm>
          <a:prstGeom prst="straightConnector1">
            <a:avLst/>
          </a:prstGeom>
          <a:noFill/>
          <a:ln w="9525" cap="flat" cmpd="sng">
            <a:solidFill>
              <a:schemeClr val="dk1"/>
            </a:solidFill>
            <a:prstDash val="solid"/>
            <a:round/>
            <a:headEnd type="none" w="sm" len="sm"/>
            <a:tailEnd type="none" w="sm" len="sm"/>
          </a:ln>
        </p:spPr>
      </p:cxnSp>
      <p:cxnSp>
        <p:nvCxnSpPr>
          <p:cNvPr id="3047" name="Google Shape;3047;g3b54a426ae3_0_1730"/>
          <p:cNvCxnSpPr/>
          <p:nvPr/>
        </p:nvCxnSpPr>
        <p:spPr>
          <a:xfrm>
            <a:off x="1575978" y="1701247"/>
            <a:ext cx="0" cy="225300"/>
          </a:xfrm>
          <a:prstGeom prst="straightConnector1">
            <a:avLst/>
          </a:prstGeom>
          <a:noFill/>
          <a:ln w="9525" cap="flat" cmpd="sng">
            <a:solidFill>
              <a:schemeClr val="dk1"/>
            </a:solidFill>
            <a:prstDash val="solid"/>
            <a:round/>
            <a:headEnd type="none" w="sm" len="sm"/>
            <a:tailEnd type="none" w="sm" len="sm"/>
          </a:ln>
        </p:spPr>
      </p:cxnSp>
      <p:sp>
        <p:nvSpPr>
          <p:cNvPr id="3048" name="Google Shape;3048;g3b54a426ae3_0_1730"/>
          <p:cNvSpPr txBox="1"/>
          <p:nvPr/>
        </p:nvSpPr>
        <p:spPr>
          <a:xfrm>
            <a:off x="319728" y="1688274"/>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a:t>
            </a:r>
            <a:r>
              <a:rPr lang="en-US" sz="800" b="0" i="0" u="none" strike="noStrike" cap="none">
                <a:solidFill>
                  <a:schemeClr val="dk1"/>
                </a:solidFill>
                <a:latin typeface="Calibri"/>
                <a:ea typeface="Calibri"/>
                <a:cs typeface="Calibri"/>
                <a:sym typeface="Calibri"/>
              </a:rPr>
              <a:t>          </a:t>
            </a:r>
            <a:endParaRPr sz="300" b="0" i="0" u="none" strike="noStrike" cap="none">
              <a:solidFill>
                <a:srgbClr val="000000"/>
              </a:solidFill>
              <a:latin typeface="Arial"/>
              <a:ea typeface="Arial"/>
              <a:cs typeface="Arial"/>
              <a:sym typeface="Arial"/>
            </a:endParaRPr>
          </a:p>
        </p:txBody>
      </p:sp>
      <p:sp>
        <p:nvSpPr>
          <p:cNvPr id="3049" name="Google Shape;3049;g3b54a426ae3_0_1730"/>
          <p:cNvSpPr txBox="1"/>
          <p:nvPr/>
        </p:nvSpPr>
        <p:spPr>
          <a:xfrm>
            <a:off x="54070" y="785748"/>
            <a:ext cx="387300" cy="149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4</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p:txBody>
      </p:sp>
      <p:sp>
        <p:nvSpPr>
          <p:cNvPr id="3050" name="Google Shape;3050;g3b54a426ae3_0_1730"/>
          <p:cNvSpPr txBox="1"/>
          <p:nvPr/>
        </p:nvSpPr>
        <p:spPr>
          <a:xfrm>
            <a:off x="293868" y="1687432"/>
            <a:ext cx="22461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3.62          0       6.48     </a:t>
            </a:r>
            <a:r>
              <a:rPr lang="en-US" sz="800" b="1" i="0" u="none" strike="noStrike" cap="none">
                <a:solidFill>
                  <a:srgbClr val="FF0000"/>
                </a:solidFill>
                <a:latin typeface="Calibri"/>
                <a:ea typeface="Calibri"/>
                <a:cs typeface="Calibri"/>
                <a:sym typeface="Calibri"/>
              </a:rPr>
              <a:t>+4.47</a:t>
            </a:r>
            <a:r>
              <a:rPr lang="en-US" sz="800" b="0" i="0" u="none" strike="noStrike" cap="none">
                <a:solidFill>
                  <a:schemeClr val="dk1"/>
                </a:solidFill>
                <a:latin typeface="Calibri"/>
                <a:ea typeface="Calibri"/>
                <a:cs typeface="Calibri"/>
                <a:sym typeface="Calibri"/>
              </a:rPr>
              <a:t>            0             </a:t>
            </a:r>
            <a:endParaRPr sz="300" b="0" i="0" u="none" strike="noStrike" cap="none">
              <a:solidFill>
                <a:srgbClr val="000000"/>
              </a:solidFill>
              <a:latin typeface="Arial"/>
              <a:ea typeface="Arial"/>
              <a:cs typeface="Arial"/>
              <a:sym typeface="Arial"/>
            </a:endParaRPr>
          </a:p>
        </p:txBody>
      </p:sp>
    </p:spTree>
  </p:cSld>
  <p:clrMapOvr>
    <a:masterClrMapping/>
  </p:clrMapOvr>
  <p:transition>
    <p:fade thruBlk="1"/>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054"/>
        <p:cNvGrpSpPr/>
        <p:nvPr/>
      </p:nvGrpSpPr>
      <p:grpSpPr>
        <a:xfrm>
          <a:off x="0" y="0"/>
          <a:ext cx="0" cy="0"/>
          <a:chOff x="0" y="0"/>
          <a:chExt cx="0" cy="0"/>
        </a:xfrm>
      </p:grpSpPr>
      <p:sp>
        <p:nvSpPr>
          <p:cNvPr id="3055" name="Google Shape;3055;g3b54a426ae3_0_1776"/>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3056" name="Google Shape;3056;g3b54a426ae3_0_1776"/>
          <p:cNvSpPr txBox="1">
            <a:spLocks noGrp="1"/>
          </p:cNvSpPr>
          <p:nvPr>
            <p:ph type="body" idx="1"/>
          </p:nvPr>
        </p:nvSpPr>
        <p:spPr>
          <a:xfrm>
            <a:off x="777220" y="516129"/>
            <a:ext cx="3812400" cy="24627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Temporal Difference Learning Methods</a:t>
            </a: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On Policy Control Algorithms</a:t>
            </a:r>
            <a:endParaRPr/>
          </a:p>
          <a:p>
            <a:pPr marL="457200" lvl="0" indent="-228600" algn="ctr" rtl="0">
              <a:lnSpc>
                <a:spcPct val="100000"/>
              </a:lnSpc>
              <a:spcBef>
                <a:spcPts val="0"/>
              </a:spcBef>
              <a:spcAft>
                <a:spcPts val="0"/>
              </a:spcAft>
              <a:buSzPts val="1400"/>
              <a:buNone/>
            </a:pPr>
            <a:r>
              <a:rPr lang="en-US" sz="1600" b="1">
                <a:solidFill>
                  <a:srgbClr val="0070C0"/>
                </a:solidFill>
              </a:rPr>
              <a:t>Expected SARSA</a:t>
            </a:r>
            <a:endParaRPr sz="1600" b="1">
              <a:solidFill>
                <a:srgbClr val="0070C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060"/>
        <p:cNvGrpSpPr/>
        <p:nvPr/>
      </p:nvGrpSpPr>
      <p:grpSpPr>
        <a:xfrm>
          <a:off x="0" y="0"/>
          <a:ext cx="0" cy="0"/>
          <a:chOff x="0" y="0"/>
          <a:chExt cx="0" cy="0"/>
        </a:xfrm>
      </p:grpSpPr>
      <p:sp>
        <p:nvSpPr>
          <p:cNvPr id="3061" name="Google Shape;3061;g3b54a426ae3_0_1781"/>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Expected SARSA</a:t>
            </a:r>
            <a:endParaRPr/>
          </a:p>
        </p:txBody>
      </p:sp>
      <p:sp>
        <p:nvSpPr>
          <p:cNvPr id="3062" name="Google Shape;3062;g3b54a426ae3_0_1781"/>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063" name="Google Shape;3063;g3b54a426ae3_0_1781"/>
          <p:cNvGrpSpPr/>
          <p:nvPr/>
        </p:nvGrpSpPr>
        <p:grpSpPr>
          <a:xfrm>
            <a:off x="0" y="3109250"/>
            <a:ext cx="5760261" cy="92075"/>
            <a:chOff x="0" y="3109250"/>
            <a:chExt cx="5760261" cy="92075"/>
          </a:xfrm>
        </p:grpSpPr>
        <p:sp>
          <p:nvSpPr>
            <p:cNvPr id="3064" name="Google Shape;3064;g3b54a426ae3_0_178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5" name="Google Shape;3065;g3b54a426ae3_0_178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6" name="Google Shape;3066;g3b54a426ae3_0_178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67" name="Google Shape;3067;g3b54a426ae3_0_1781"/>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068" name="Google Shape;3068;g3b54a426ae3_0_178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81</a:t>
            </a:fld>
            <a:r>
              <a:rPr lang="en-US"/>
              <a:t> </a:t>
            </a:r>
            <a:endParaRPr/>
          </a:p>
        </p:txBody>
      </p:sp>
      <p:pic>
        <p:nvPicPr>
          <p:cNvPr id="3069" name="Google Shape;3069;g3b54a426ae3_0_1781"/>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070" name="Google Shape;3070;g3b54a426ae3_0_1781"/>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071" name="Google Shape;3071;g3b54a426ae3_0_1781"/>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072" name="Google Shape;3072;g3b54a426ae3_0_1781"/>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073" name="Google Shape;3073;g3b54a426ae3_0_1781"/>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074" name="Google Shape;3074;g3b54a426ae3_0_1781"/>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075" name="Google Shape;3075;g3b54a426ae3_0_1781"/>
          <p:cNvSpPr txBox="1"/>
          <p:nvPr/>
        </p:nvSpPr>
        <p:spPr>
          <a:xfrm>
            <a:off x="82600" y="1717926"/>
            <a:ext cx="2793000" cy="5502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076" name="Google Shape;3076;g3b54a426ae3_0_1781"/>
          <p:cNvSpPr/>
          <p:nvPr/>
        </p:nvSpPr>
        <p:spPr>
          <a:xfrm>
            <a:off x="5143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77" name="Google Shape;3077;g3b54a426ae3_0_1781"/>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078" name="Google Shape;3078;g3b54a426ae3_0_1781"/>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079" name="Google Shape;3079;g3b54a426ae3_0_1781"/>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080" name="Google Shape;3080;g3b54a426ae3_0_1781"/>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3081" name="Google Shape;3081;g3b54a426ae3_0_1781"/>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3082" name="Google Shape;3082;g3b54a426ae3_0_1781"/>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083" name="Google Shape;3083;g3b54a426ae3_0_1781"/>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084" name="Google Shape;3084;g3b54a426ae3_0_1781"/>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085" name="Google Shape;3085;g3b54a426ae3_0_1781"/>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086" name="Google Shape;3086;g3b54a426ae3_0_1781"/>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087" name="Google Shape;3087;g3b54a426ae3_0_1781"/>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088" name="Google Shape;3088;g3b54a426ae3_0_1781"/>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089" name="Google Shape;3089;g3b54a426ae3_0_1781"/>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090" name="Google Shape;3090;g3b54a426ae3_0_1781"/>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091" name="Google Shape;3091;g3b54a426ae3_0_1781"/>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092" name="Google Shape;3092;g3b54a426ae3_0_1781"/>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093" name="Google Shape;3093;g3b54a426ae3_0_1781"/>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094" name="Google Shape;3094;g3b54a426ae3_0_1781"/>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3095" name="Google Shape;3095;g3b54a426ae3_0_1781"/>
          <p:cNvSpPr/>
          <p:nvPr/>
        </p:nvSpPr>
        <p:spPr>
          <a:xfrm>
            <a:off x="3519941" y="197034"/>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96" name="Google Shape;3096;g3b54a426ae3_0_1781"/>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pic>
        <p:nvPicPr>
          <p:cNvPr id="3097" name="Google Shape;3097;g3b54a426ae3_0_1781"/>
          <p:cNvPicPr preferRelativeResize="0"/>
          <p:nvPr/>
        </p:nvPicPr>
        <p:blipFill rotWithShape="1">
          <a:blip r:embed="rId10">
            <a:alphaModFix/>
          </a:blip>
          <a:srcRect/>
          <a:stretch/>
        </p:blipFill>
        <p:spPr>
          <a:xfrm>
            <a:off x="3670886" y="956932"/>
            <a:ext cx="2078916" cy="307271"/>
          </a:xfrm>
          <a:prstGeom prst="rect">
            <a:avLst/>
          </a:prstGeom>
          <a:noFill/>
          <a:ln>
            <a:noFill/>
          </a:ln>
        </p:spPr>
      </p:pic>
    </p:spTree>
  </p:cSld>
  <p:clrMapOvr>
    <a:masterClrMapping/>
  </p:clrMapOvr>
  <p:transition>
    <p:fade thruBlk="1"/>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101"/>
        <p:cNvGrpSpPr/>
        <p:nvPr/>
      </p:nvGrpSpPr>
      <p:grpSpPr>
        <a:xfrm>
          <a:off x="0" y="0"/>
          <a:ext cx="0" cy="0"/>
          <a:chOff x="0" y="0"/>
          <a:chExt cx="0" cy="0"/>
        </a:xfrm>
      </p:grpSpPr>
      <p:sp>
        <p:nvSpPr>
          <p:cNvPr id="3102" name="Google Shape;3102;g3b54a426ae3_0_1821"/>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Expected SARSA</a:t>
            </a:r>
            <a:endParaRPr/>
          </a:p>
        </p:txBody>
      </p:sp>
      <p:sp>
        <p:nvSpPr>
          <p:cNvPr id="3103" name="Google Shape;3103;g3b54a426ae3_0_1821"/>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04" name="Google Shape;3104;g3b54a426ae3_0_1821"/>
          <p:cNvGrpSpPr/>
          <p:nvPr/>
        </p:nvGrpSpPr>
        <p:grpSpPr>
          <a:xfrm>
            <a:off x="0" y="3109250"/>
            <a:ext cx="5760261" cy="92075"/>
            <a:chOff x="0" y="3109250"/>
            <a:chExt cx="5760261" cy="92075"/>
          </a:xfrm>
        </p:grpSpPr>
        <p:sp>
          <p:nvSpPr>
            <p:cNvPr id="3105" name="Google Shape;3105;g3b54a426ae3_0_182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6" name="Google Shape;3106;g3b54a426ae3_0_182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7" name="Google Shape;3107;g3b54a426ae3_0_182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08" name="Google Shape;3108;g3b54a426ae3_0_1821"/>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109" name="Google Shape;3109;g3b54a426ae3_0_182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82</a:t>
            </a:fld>
            <a:endParaRPr/>
          </a:p>
        </p:txBody>
      </p:sp>
      <p:pic>
        <p:nvPicPr>
          <p:cNvPr id="3110" name="Google Shape;3110;g3b54a426ae3_0_1821"/>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111" name="Google Shape;3111;g3b54a426ae3_0_1821"/>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112" name="Google Shape;3112;g3b54a426ae3_0_1821"/>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113" name="Google Shape;3113;g3b54a426ae3_0_1821"/>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3114" name="Google Shape;3114;g3b54a426ae3_0_1821"/>
          <p:cNvSpPr txBox="1"/>
          <p:nvPr/>
        </p:nvSpPr>
        <p:spPr>
          <a:xfrm>
            <a:off x="1416924" y="2651915"/>
            <a:ext cx="4310400" cy="457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1B1472"/>
                </a:solidFill>
                <a:latin typeface="Arial"/>
                <a:ea typeface="Arial"/>
                <a:cs typeface="Arial"/>
                <a:sym typeface="Arial"/>
              </a:rPr>
              <a:t>Actions “F” &amp; “S` are derived by applying E-greedy on policy from state “C” &amp;“W”, For above highlighted timestep:  (S,A,R,S) = (C,F,2,W)</a:t>
            </a:r>
            <a:endParaRPr/>
          </a:p>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1B1472"/>
                </a:solidFill>
                <a:latin typeface="Arial"/>
                <a:ea typeface="Arial"/>
                <a:cs typeface="Arial"/>
                <a:sym typeface="Arial"/>
              </a:rPr>
              <a:t>During bootstrapping the expected values are used. </a:t>
            </a:r>
            <a:endParaRPr sz="60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1B1472"/>
                </a:solidFill>
                <a:latin typeface="Arial"/>
                <a:ea typeface="Arial"/>
                <a:cs typeface="Arial"/>
                <a:sym typeface="Arial"/>
              </a:rPr>
              <a:t>For simplicity in this episode its </a:t>
            </a:r>
            <a:r>
              <a:rPr lang="en-US" sz="600" b="1" i="0" u="none" strike="noStrike" cap="none">
                <a:solidFill>
                  <a:srgbClr val="FF0000"/>
                </a:solidFill>
                <a:latin typeface="Arial"/>
                <a:ea typeface="Arial"/>
                <a:cs typeface="Arial"/>
                <a:sym typeface="Arial"/>
              </a:rPr>
              <a:t>assumed that all actions are equiprobable for state “W”</a:t>
            </a:r>
            <a:endParaRPr sz="600" b="1" i="0" u="none" strike="noStrike" cap="none">
              <a:solidFill>
                <a:srgbClr val="FF0000"/>
              </a:solidFill>
              <a:latin typeface="Arial"/>
              <a:ea typeface="Arial"/>
              <a:cs typeface="Arial"/>
              <a:sym typeface="Arial"/>
            </a:endParaRPr>
          </a:p>
        </p:txBody>
      </p:sp>
      <p:pic>
        <p:nvPicPr>
          <p:cNvPr id="3115" name="Google Shape;3115;g3b54a426ae3_0_1821"/>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116" name="Google Shape;3116;g3b54a426ae3_0_1821"/>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117" name="Google Shape;3117;g3b54a426ae3_0_1821"/>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Q(C,F) = 0 + 0.8 [2+ (0.9*</a:t>
            </a:r>
            <a:r>
              <a:rPr lang="en-US" sz="700" b="1" i="0" u="none" strike="noStrike" cap="none">
                <a:solidFill>
                  <a:srgbClr val="FF0000"/>
                </a:solidFill>
                <a:latin typeface="Arial"/>
                <a:ea typeface="Arial"/>
                <a:cs typeface="Arial"/>
                <a:sym typeface="Arial"/>
              </a:rPr>
              <a:t>(0.5*Q(W,S)+0.5*Q(W,F)</a:t>
            </a:r>
            <a:r>
              <a:rPr lang="en-US" sz="700" b="1" i="0" u="none" strike="noStrike" cap="none">
                <a:solidFill>
                  <a:schemeClr val="dk1"/>
                </a:solidFill>
                <a:latin typeface="Arial"/>
                <a:ea typeface="Arial"/>
                <a:cs typeface="Arial"/>
                <a:sym typeface="Arial"/>
              </a:rPr>
              <a:t>)-0] = 1.6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118" name="Google Shape;3118;g3b54a426ae3_0_1821"/>
          <p:cNvSpPr/>
          <p:nvPr/>
        </p:nvSpPr>
        <p:spPr>
          <a:xfrm>
            <a:off x="514351" y="1717925"/>
            <a:ext cx="453600" cy="1458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19" name="Google Shape;3119;g3b54a426ae3_0_1821"/>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120" name="Google Shape;3120;g3b54a426ae3_0_1821"/>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121" name="Google Shape;3121;g3b54a426ae3_0_1821"/>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122" name="Google Shape;3122;g3b54a426ae3_0_1821"/>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a:t>
            </a:r>
            <a:r>
              <a:rPr lang="en-US" sz="800" b="1" i="0" u="none" strike="noStrike" cap="none">
                <a:solidFill>
                  <a:schemeClr val="dk1"/>
                </a:solidFill>
                <a:latin typeface="Calibri"/>
                <a:ea typeface="Calibri"/>
                <a:cs typeface="Calibri"/>
                <a:sym typeface="Calibri"/>
              </a:rPr>
              <a:t>1.6</a:t>
            </a:r>
            <a:r>
              <a:rPr lang="en-US" sz="800" b="0" i="0" u="none" strike="noStrike" cap="none">
                <a:solidFill>
                  <a:schemeClr val="dk1"/>
                </a:solidFill>
                <a:latin typeface="Calibri"/>
                <a:ea typeface="Calibri"/>
                <a:cs typeface="Calibri"/>
                <a:sym typeface="Calibri"/>
              </a:rPr>
              <a:t>          0          0	0            0             0</a:t>
            </a:r>
            <a:endParaRPr sz="300" b="0" i="0" u="none" strike="noStrike" cap="none">
              <a:solidFill>
                <a:srgbClr val="000000"/>
              </a:solidFill>
              <a:latin typeface="Arial"/>
              <a:ea typeface="Arial"/>
              <a:cs typeface="Arial"/>
              <a:sym typeface="Arial"/>
            </a:endParaRPr>
          </a:p>
        </p:txBody>
      </p:sp>
      <p:cxnSp>
        <p:nvCxnSpPr>
          <p:cNvPr id="3123" name="Google Shape;3123;g3b54a426ae3_0_1821"/>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124" name="Google Shape;3124;g3b54a426ae3_0_1821"/>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125" name="Google Shape;3125;g3b54a426ae3_0_1821"/>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126" name="Google Shape;3126;g3b54a426ae3_0_1821"/>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127" name="Google Shape;3127;g3b54a426ae3_0_1821"/>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128" name="Google Shape;3128;g3b54a426ae3_0_1821"/>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129" name="Google Shape;3129;g3b54a426ae3_0_1821"/>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130" name="Google Shape;3130;g3b54a426ae3_0_1821"/>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131" name="Google Shape;3131;g3b54a426ae3_0_1821"/>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132" name="Google Shape;3132;g3b54a426ae3_0_1821"/>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133" name="Google Shape;3133;g3b54a426ae3_0_1821"/>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134" name="Google Shape;3134;g3b54a426ae3_0_1821"/>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135" name="Google Shape;3135;g3b54a426ae3_0_1821"/>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3136" name="Google Shape;3136;g3b54a426ae3_0_1821"/>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37" name="Google Shape;3137;g3b54a426ae3_0_1821"/>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138" name="Google Shape;3138;g3b54a426ae3_0_1821"/>
          <p:cNvSpPr txBox="1"/>
          <p:nvPr/>
        </p:nvSpPr>
        <p:spPr>
          <a:xfrm>
            <a:off x="2554337" y="1421975"/>
            <a:ext cx="3195600" cy="6228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600" b="1" i="0" u="none" strike="noStrike" cap="none">
                <a:solidFill>
                  <a:srgbClr val="FF0000"/>
                </a:solidFill>
                <a:latin typeface="Arial"/>
                <a:ea typeface="Arial"/>
                <a:cs typeface="Arial"/>
                <a:sym typeface="Arial"/>
              </a:rPr>
              <a:t>Important note from TextBook:</a:t>
            </a:r>
            <a:endParaRPr/>
          </a:p>
          <a:p>
            <a:pPr marL="0" marR="0" lvl="0" indent="0" algn="l" rtl="0">
              <a:lnSpc>
                <a:spcPct val="100000"/>
              </a:lnSpc>
              <a:spcBef>
                <a:spcPts val="0"/>
              </a:spcBef>
              <a:spcAft>
                <a:spcPts val="0"/>
              </a:spcAft>
              <a:buNone/>
            </a:pPr>
            <a:r>
              <a:rPr lang="en-US" sz="600" b="1" i="0" u="none" strike="noStrike" cap="none">
                <a:solidFill>
                  <a:srgbClr val="1B1472"/>
                </a:solidFill>
                <a:latin typeface="Arial"/>
                <a:ea typeface="Arial"/>
                <a:cs typeface="Arial"/>
                <a:sym typeface="Arial"/>
              </a:rPr>
              <a:t>In these results Expected Sarsa was used on-policy, but in general it might use a policy different from the target policy to generate behavior, in which case</a:t>
            </a:r>
            <a:endParaRPr/>
          </a:p>
          <a:p>
            <a:pPr marL="0" marR="0" lvl="0" indent="0" algn="l" rtl="0">
              <a:lnSpc>
                <a:spcPct val="100000"/>
              </a:lnSpc>
              <a:spcBef>
                <a:spcPts val="0"/>
              </a:spcBef>
              <a:spcAft>
                <a:spcPts val="0"/>
              </a:spcAft>
              <a:buNone/>
            </a:pPr>
            <a:r>
              <a:rPr lang="en-US" sz="600" b="1" i="0" u="none" strike="noStrike" cap="none">
                <a:solidFill>
                  <a:srgbClr val="1B1472"/>
                </a:solidFill>
                <a:latin typeface="Arial"/>
                <a:ea typeface="Arial"/>
                <a:cs typeface="Arial"/>
                <a:sym typeface="Arial"/>
              </a:rPr>
              <a:t>it becomes an off-policy algorithm. For example, suppose the target is the greedy policy while behavior is more exploratory; then Expected Sarsa is exactly Q-learning. </a:t>
            </a:r>
            <a:endParaRPr sz="600" b="1" i="0" u="none" strike="noStrike" cap="none">
              <a:solidFill>
                <a:srgbClr val="1B1472"/>
              </a:solidFill>
              <a:latin typeface="Arial"/>
              <a:ea typeface="Arial"/>
              <a:cs typeface="Arial"/>
              <a:sym typeface="Arial"/>
            </a:endParaRPr>
          </a:p>
        </p:txBody>
      </p:sp>
      <p:pic>
        <p:nvPicPr>
          <p:cNvPr id="3139" name="Google Shape;3139;g3b54a426ae3_0_1821"/>
          <p:cNvPicPr preferRelativeResize="0"/>
          <p:nvPr/>
        </p:nvPicPr>
        <p:blipFill rotWithShape="1">
          <a:blip r:embed="rId10">
            <a:alphaModFix/>
          </a:blip>
          <a:srcRect/>
          <a:stretch/>
        </p:blipFill>
        <p:spPr>
          <a:xfrm>
            <a:off x="3670886" y="956932"/>
            <a:ext cx="2078916" cy="307271"/>
          </a:xfrm>
          <a:prstGeom prst="rect">
            <a:avLst/>
          </a:prstGeom>
          <a:noFill/>
          <a:ln>
            <a:noFill/>
          </a:ln>
        </p:spPr>
      </p:pic>
      <p:sp>
        <p:nvSpPr>
          <p:cNvPr id="3140" name="Google Shape;3140;g3b54a426ae3_0_1821"/>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144"/>
        <p:cNvGrpSpPr/>
        <p:nvPr/>
      </p:nvGrpSpPr>
      <p:grpSpPr>
        <a:xfrm>
          <a:off x="0" y="0"/>
          <a:ext cx="0" cy="0"/>
          <a:chOff x="0" y="0"/>
          <a:chExt cx="0" cy="0"/>
        </a:xfrm>
      </p:grpSpPr>
      <p:sp>
        <p:nvSpPr>
          <p:cNvPr id="3145" name="Google Shape;3145;g3b54a426ae3_0_186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Expected SARSA</a:t>
            </a:r>
            <a:endParaRPr/>
          </a:p>
        </p:txBody>
      </p:sp>
      <p:sp>
        <p:nvSpPr>
          <p:cNvPr id="3146" name="Google Shape;3146;g3b54a426ae3_0_186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47" name="Google Shape;3147;g3b54a426ae3_0_1863"/>
          <p:cNvGrpSpPr/>
          <p:nvPr/>
        </p:nvGrpSpPr>
        <p:grpSpPr>
          <a:xfrm>
            <a:off x="0" y="3109250"/>
            <a:ext cx="5760261" cy="92075"/>
            <a:chOff x="0" y="3109250"/>
            <a:chExt cx="5760261" cy="92075"/>
          </a:xfrm>
        </p:grpSpPr>
        <p:sp>
          <p:nvSpPr>
            <p:cNvPr id="3148" name="Google Shape;3148;g3b54a426ae3_0_186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9" name="Google Shape;3149;g3b54a426ae3_0_186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0" name="Google Shape;3150;g3b54a426ae3_0_186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51" name="Google Shape;3151;g3b54a426ae3_0_186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152" name="Google Shape;3152;g3b54a426ae3_0_186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83</a:t>
            </a:fld>
            <a:r>
              <a:rPr lang="en-US"/>
              <a:t> </a:t>
            </a:r>
            <a:endParaRPr/>
          </a:p>
        </p:txBody>
      </p:sp>
      <p:pic>
        <p:nvPicPr>
          <p:cNvPr id="3153" name="Google Shape;3153;g3b54a426ae3_0_1863"/>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154" name="Google Shape;3154;g3b54a426ae3_0_1863"/>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155" name="Google Shape;3155;g3b54a426ae3_0_1863"/>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156" name="Google Shape;3156;g3b54a426ae3_0_186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3157" name="Google Shape;3157;g3b54a426ae3_0_1863"/>
          <p:cNvSpPr txBox="1"/>
          <p:nvPr/>
        </p:nvSpPr>
        <p:spPr>
          <a:xfrm>
            <a:off x="3098174" y="2678961"/>
            <a:ext cx="2629200" cy="430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FF0000"/>
                </a:solidFill>
                <a:latin typeface="Arial"/>
                <a:ea typeface="Arial"/>
                <a:cs typeface="Arial"/>
                <a:sym typeface="Arial"/>
              </a:rPr>
              <a:t>Assumed that all actions are equiprobable from a state in this episode</a:t>
            </a:r>
            <a:endParaRPr sz="700" b="1" i="0" u="none" strike="noStrike" cap="none">
              <a:solidFill>
                <a:srgbClr val="FF0000"/>
              </a:solidFill>
              <a:latin typeface="Arial"/>
              <a:ea typeface="Arial"/>
              <a:cs typeface="Arial"/>
              <a:sym typeface="Arial"/>
            </a:endParaRPr>
          </a:p>
        </p:txBody>
      </p:sp>
      <p:pic>
        <p:nvPicPr>
          <p:cNvPr id="3158" name="Google Shape;3158;g3b54a426ae3_0_1863"/>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159" name="Google Shape;3159;g3b54a426ae3_0_1863"/>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160" name="Google Shape;3160;g3b54a426ae3_0_1863"/>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Q(W,S) = 0 + 0.8 [1+ (0.9</a:t>
            </a:r>
            <a:r>
              <a:rPr lang="en-US" sz="700" b="1" i="0" u="none" strike="noStrike" cap="none">
                <a:solidFill>
                  <a:srgbClr val="FF0000"/>
                </a:solidFill>
                <a:latin typeface="Arial"/>
                <a:ea typeface="Arial"/>
                <a:cs typeface="Arial"/>
                <a:sym typeface="Arial"/>
              </a:rPr>
              <a:t>*(0.5*Q(C,S)+0.5*Q(C,F)))-</a:t>
            </a:r>
            <a:r>
              <a:rPr lang="en-US" sz="700" b="1" i="0" u="none" strike="noStrike" cap="none">
                <a:solidFill>
                  <a:schemeClr val="dk1"/>
                </a:solidFill>
                <a:latin typeface="Arial"/>
                <a:ea typeface="Arial"/>
                <a:cs typeface="Arial"/>
                <a:sym typeface="Arial"/>
              </a:rPr>
              <a:t>0] = ~1.37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161" name="Google Shape;3161;g3b54a426ae3_0_1863"/>
          <p:cNvSpPr/>
          <p:nvPr/>
        </p:nvSpPr>
        <p:spPr>
          <a:xfrm>
            <a:off x="879354" y="1703814"/>
            <a:ext cx="423600" cy="159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62" name="Google Shape;3162;g3b54a426ae3_0_186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163" name="Google Shape;3163;g3b54a426ae3_0_186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164" name="Google Shape;3164;g3b54a426ae3_0_186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165" name="Google Shape;3165;g3b54a426ae3_0_186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1.6          0          0	</a:t>
            </a:r>
            <a:r>
              <a:rPr lang="en-US" sz="800" b="1" i="0" u="none" strike="noStrike" cap="none">
                <a:solidFill>
                  <a:schemeClr val="dk1"/>
                </a:solidFill>
                <a:latin typeface="Calibri"/>
                <a:ea typeface="Calibri"/>
                <a:cs typeface="Calibri"/>
                <a:sym typeface="Calibri"/>
              </a:rPr>
              <a:t>1.37</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cxnSp>
        <p:nvCxnSpPr>
          <p:cNvPr id="3166" name="Google Shape;3166;g3b54a426ae3_0_186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167" name="Google Shape;3167;g3b54a426ae3_0_186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168" name="Google Shape;3168;g3b54a426ae3_0_186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169" name="Google Shape;3169;g3b54a426ae3_0_186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170" name="Google Shape;3170;g3b54a426ae3_0_186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171" name="Google Shape;3171;g3b54a426ae3_0_186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172" name="Google Shape;3172;g3b54a426ae3_0_1863"/>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173" name="Google Shape;3173;g3b54a426ae3_0_1863"/>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174" name="Google Shape;3174;g3b54a426ae3_0_1863"/>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175" name="Google Shape;3175;g3b54a426ae3_0_1863"/>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176" name="Google Shape;3176;g3b54a426ae3_0_1863"/>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177" name="Google Shape;3177;g3b54a426ae3_0_1863"/>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178" name="Google Shape;3178;g3b54a426ae3_0_1863"/>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3179" name="Google Shape;3179;g3b54a426ae3_0_1863"/>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80" name="Google Shape;3180;g3b54a426ae3_0_1863"/>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pic>
        <p:nvPicPr>
          <p:cNvPr id="3181" name="Google Shape;3181;g3b54a426ae3_0_1863"/>
          <p:cNvPicPr preferRelativeResize="0"/>
          <p:nvPr/>
        </p:nvPicPr>
        <p:blipFill rotWithShape="1">
          <a:blip r:embed="rId10">
            <a:alphaModFix/>
          </a:blip>
          <a:srcRect/>
          <a:stretch/>
        </p:blipFill>
        <p:spPr>
          <a:xfrm>
            <a:off x="3670886" y="956932"/>
            <a:ext cx="2078916" cy="307271"/>
          </a:xfrm>
          <a:prstGeom prst="rect">
            <a:avLst/>
          </a:prstGeom>
          <a:noFill/>
          <a:ln>
            <a:noFill/>
          </a:ln>
        </p:spPr>
      </p:pic>
      <p:sp>
        <p:nvSpPr>
          <p:cNvPr id="3182" name="Google Shape;3182;g3b54a426ae3_0_1863"/>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186"/>
        <p:cNvGrpSpPr/>
        <p:nvPr/>
      </p:nvGrpSpPr>
      <p:grpSpPr>
        <a:xfrm>
          <a:off x="0" y="0"/>
          <a:ext cx="0" cy="0"/>
          <a:chOff x="0" y="0"/>
          <a:chExt cx="0" cy="0"/>
        </a:xfrm>
      </p:grpSpPr>
      <p:sp>
        <p:nvSpPr>
          <p:cNvPr id="3187" name="Google Shape;3187;g3b54a426ae3_0_1904"/>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Expected SARSA</a:t>
            </a:r>
            <a:endParaRPr/>
          </a:p>
        </p:txBody>
      </p:sp>
      <p:sp>
        <p:nvSpPr>
          <p:cNvPr id="3188" name="Google Shape;3188;g3b54a426ae3_0_1904"/>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89" name="Google Shape;3189;g3b54a426ae3_0_1904"/>
          <p:cNvGrpSpPr/>
          <p:nvPr/>
        </p:nvGrpSpPr>
        <p:grpSpPr>
          <a:xfrm>
            <a:off x="0" y="3109250"/>
            <a:ext cx="5760261" cy="92075"/>
            <a:chOff x="0" y="3109250"/>
            <a:chExt cx="5760261" cy="92075"/>
          </a:xfrm>
        </p:grpSpPr>
        <p:sp>
          <p:nvSpPr>
            <p:cNvPr id="3190" name="Google Shape;3190;g3b54a426ae3_0_190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1" name="Google Shape;3191;g3b54a426ae3_0_190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2" name="Google Shape;3192;g3b54a426ae3_0_190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93" name="Google Shape;3193;g3b54a426ae3_0_1904"/>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194" name="Google Shape;3194;g3b54a426ae3_0_190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84</a:t>
            </a:fld>
            <a:r>
              <a:rPr lang="en-US"/>
              <a:t> </a:t>
            </a:r>
            <a:endParaRPr/>
          </a:p>
        </p:txBody>
      </p:sp>
      <p:pic>
        <p:nvPicPr>
          <p:cNvPr id="3195" name="Google Shape;3195;g3b54a426ae3_0_1904"/>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196" name="Google Shape;3196;g3b54a426ae3_0_1904"/>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197" name="Google Shape;3197;g3b54a426ae3_0_1904"/>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198" name="Google Shape;3198;g3b54a426ae3_0_1904"/>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199" name="Google Shape;3199;g3b54a426ae3_0_1904"/>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200" name="Google Shape;3200;g3b54a426ae3_0_1904"/>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201" name="Google Shape;3201;g3b54a426ae3_0_1904"/>
          <p:cNvSpPr txBox="1"/>
          <p:nvPr/>
        </p:nvSpPr>
        <p:spPr>
          <a:xfrm>
            <a:off x="92818" y="1649835"/>
            <a:ext cx="2793000" cy="18432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r>
              <a:rPr lang="en-US" sz="700" b="1" i="0" u="none" strike="noStrike" cap="none">
                <a:solidFill>
                  <a:schemeClr val="dk1"/>
                </a:solidFill>
                <a:latin typeface="Arial"/>
                <a:ea typeface="Arial"/>
                <a:cs typeface="Arial"/>
                <a:sym typeface="Arial"/>
              </a:rPr>
              <a:t> </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 Q(C,F) = 1.6+0.8(2+0.9</a:t>
            </a:r>
            <a:r>
              <a:rPr lang="en-US" sz="700" b="1" i="0" u="none" strike="noStrike" cap="none">
                <a:solidFill>
                  <a:srgbClr val="FF0000"/>
                </a:solidFill>
                <a:latin typeface="Arial"/>
                <a:ea typeface="Arial"/>
                <a:cs typeface="Arial"/>
                <a:sym typeface="Arial"/>
              </a:rPr>
              <a:t>(0.5*1.6+0.5*0)</a:t>
            </a:r>
            <a:r>
              <a:rPr lang="en-US" sz="700" b="1" i="0" u="none" strike="noStrike" cap="none">
                <a:solidFill>
                  <a:schemeClr val="dk1"/>
                </a:solidFill>
                <a:latin typeface="Arial"/>
                <a:ea typeface="Arial"/>
                <a:cs typeface="Arial"/>
                <a:sym typeface="Arial"/>
              </a:rPr>
              <a:t>−1.6)=~2.496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 Q(C,F) = 2.496+0.8(2+0.9</a:t>
            </a:r>
            <a:r>
              <a:rPr lang="en-US" sz="700" b="1" i="0" u="none" strike="noStrike" cap="none">
                <a:solidFill>
                  <a:srgbClr val="FF0000"/>
                </a:solidFill>
                <a:latin typeface="Arial"/>
                <a:ea typeface="Arial"/>
                <a:cs typeface="Arial"/>
                <a:sym typeface="Arial"/>
              </a:rPr>
              <a:t>(0.5*1.37+0.5*0)</a:t>
            </a:r>
            <a:r>
              <a:rPr lang="en-US" sz="700" b="1" i="0" u="none" strike="noStrike" cap="none">
                <a:solidFill>
                  <a:schemeClr val="dk1"/>
                </a:solidFill>
                <a:latin typeface="Arial"/>
                <a:ea typeface="Arial"/>
                <a:cs typeface="Arial"/>
                <a:sym typeface="Arial"/>
              </a:rPr>
              <a:t>−2.496)=~2.59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 Q(W,S) = 1.37+0.8(1+0.9</a:t>
            </a:r>
            <a:r>
              <a:rPr lang="en-US" sz="700" b="1" i="0" u="none" strike="noStrike" cap="none">
                <a:solidFill>
                  <a:srgbClr val="FF0000"/>
                </a:solidFill>
                <a:latin typeface="Arial"/>
                <a:ea typeface="Arial"/>
                <a:cs typeface="Arial"/>
                <a:sym typeface="Arial"/>
              </a:rPr>
              <a:t>(0.5*1.37+0.5*0)</a:t>
            </a:r>
            <a:r>
              <a:rPr lang="en-US" sz="700" b="1" i="0" u="none" strike="noStrike" cap="none">
                <a:solidFill>
                  <a:schemeClr val="dk1"/>
                </a:solidFill>
                <a:latin typeface="Arial"/>
                <a:ea typeface="Arial"/>
                <a:cs typeface="Arial"/>
                <a:sym typeface="Arial"/>
              </a:rPr>
              <a:t>−1.37)=~1.57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 Q(W,S) = 1.57 + 0.8 [1+0.9</a:t>
            </a:r>
            <a:r>
              <a:rPr lang="en-US" sz="700" b="1" i="0" u="none" strike="noStrike" cap="none">
                <a:solidFill>
                  <a:srgbClr val="FF0000"/>
                </a:solidFill>
                <a:latin typeface="Arial"/>
                <a:ea typeface="Arial"/>
                <a:cs typeface="Arial"/>
                <a:sym typeface="Arial"/>
              </a:rPr>
              <a:t>(0.5*1.57+0.5*0)</a:t>
            </a:r>
            <a:r>
              <a:rPr lang="en-US" sz="700" b="1" i="0" u="none" strike="noStrike" cap="none">
                <a:solidFill>
                  <a:schemeClr val="dk1"/>
                </a:solidFill>
                <a:latin typeface="Arial"/>
                <a:ea typeface="Arial"/>
                <a:cs typeface="Arial"/>
                <a:sym typeface="Arial"/>
              </a:rPr>
              <a:t>−1.57] = ~1.68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t=4 : Q(W,F) = 0 + 0.8 [-10+ (0.9*0)-0] = ~-8</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202" name="Google Shape;3202;g3b54a426ae3_0_1904"/>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203" name="Google Shape;3203;g3b54a426ae3_0_1904"/>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204" name="Google Shape;3204;g3b54a426ae3_0_1904"/>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205" name="Google Shape;3205;g3b54a426ae3_0_1904"/>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206" name="Google Shape;3206;g3b54a426ae3_0_1904"/>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207" name="Google Shape;3207;g3b54a426ae3_0_1904"/>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208" name="Google Shape;3208;g3b54a426ae3_0_1904"/>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209" name="Google Shape;3209;g3b54a426ae3_0_1904"/>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210" name="Google Shape;3210;g3b54a426ae3_0_1904"/>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211" name="Google Shape;3211;g3b54a426ae3_0_1904"/>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212" name="Google Shape;3212;g3b54a426ae3_0_1904"/>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213" name="Google Shape;3213;g3b54a426ae3_0_1904"/>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214" name="Google Shape;3214;g3b54a426ae3_0_1904"/>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215" name="Google Shape;3215;g3b54a426ae3_0_1904"/>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216" name="Google Shape;3216;g3b54a426ae3_0_1904"/>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217" name="Google Shape;3217;g3b54a426ae3_0_1904"/>
          <p:cNvPicPr preferRelativeResize="0"/>
          <p:nvPr/>
        </p:nvPicPr>
        <p:blipFill rotWithShape="1">
          <a:blip r:embed="rId9">
            <a:alphaModFix/>
          </a:blip>
          <a:srcRect/>
          <a:stretch/>
        </p:blipFill>
        <p:spPr>
          <a:xfrm>
            <a:off x="3670886" y="34350"/>
            <a:ext cx="2078916" cy="883997"/>
          </a:xfrm>
          <a:prstGeom prst="rect">
            <a:avLst/>
          </a:prstGeom>
          <a:noFill/>
          <a:ln>
            <a:noFill/>
          </a:ln>
        </p:spPr>
      </p:pic>
      <p:sp>
        <p:nvSpPr>
          <p:cNvPr id="3218" name="Google Shape;3218;g3b54a426ae3_0_1904"/>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19" name="Google Shape;3219;g3b54a426ae3_0_1904"/>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220" name="Google Shape;3220;g3b54a426ae3_0_1904"/>
          <p:cNvSpPr txBox="1"/>
          <p:nvPr/>
        </p:nvSpPr>
        <p:spPr>
          <a:xfrm>
            <a:off x="289408" y="1110457"/>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2.59         0        -8	1.57           </a:t>
            </a:r>
            <a:r>
              <a:rPr lang="en-US" sz="800" b="0" i="0" u="none" strike="noStrike" cap="none">
                <a:solidFill>
                  <a:schemeClr val="dk1"/>
                </a:solidFill>
                <a:latin typeface="Calibri"/>
                <a:ea typeface="Calibri"/>
                <a:cs typeface="Calibri"/>
                <a:sym typeface="Calibri"/>
              </a:rPr>
              <a:t>0             </a:t>
            </a:r>
            <a:endParaRPr sz="300" b="0" i="0" u="none" strike="noStrike" cap="none">
              <a:solidFill>
                <a:srgbClr val="000000"/>
              </a:solidFill>
              <a:latin typeface="Arial"/>
              <a:ea typeface="Arial"/>
              <a:cs typeface="Arial"/>
              <a:sym typeface="Arial"/>
            </a:endParaRPr>
          </a:p>
        </p:txBody>
      </p:sp>
      <p:sp>
        <p:nvSpPr>
          <p:cNvPr id="3221" name="Google Shape;3221;g3b54a426ae3_0_1904"/>
          <p:cNvSpPr txBox="1"/>
          <p:nvPr/>
        </p:nvSpPr>
        <p:spPr>
          <a:xfrm>
            <a:off x="2816659" y="2678961"/>
            <a:ext cx="2629200" cy="3816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Continued for one more episode….</a:t>
            </a:r>
            <a:endParaRPr/>
          </a:p>
          <a:p>
            <a:pPr marL="0" marR="0" lvl="0" indent="0" algn="l" rtl="0">
              <a:lnSpc>
                <a:spcPct val="100000"/>
              </a:lnSpc>
              <a:spcBef>
                <a:spcPts val="0"/>
              </a:spcBef>
              <a:spcAft>
                <a:spcPts val="0"/>
              </a:spcAft>
              <a:buNone/>
            </a:pPr>
            <a:r>
              <a:rPr lang="en-US" sz="700" b="1" i="0" u="none" strike="noStrike" cap="none">
                <a:solidFill>
                  <a:srgbClr val="FF0000"/>
                </a:solidFill>
                <a:latin typeface="Arial"/>
                <a:ea typeface="Arial"/>
                <a:cs typeface="Arial"/>
                <a:sym typeface="Arial"/>
              </a:rPr>
              <a:t>Assumed likelihood for all the states “_” for simplicity :P(S|_) = 0.05, P(F|_) = 0.5</a:t>
            </a:r>
            <a:endParaRPr sz="600" b="1" i="0" u="none" strike="noStrike" cap="none">
              <a:solidFill>
                <a:srgbClr val="1B1472"/>
              </a:solidFill>
              <a:latin typeface="Arial"/>
              <a:ea typeface="Arial"/>
              <a:cs typeface="Arial"/>
              <a:sym typeface="Arial"/>
            </a:endParaRPr>
          </a:p>
        </p:txBody>
      </p:sp>
      <p:pic>
        <p:nvPicPr>
          <p:cNvPr id="3222" name="Google Shape;3222;g3b54a426ae3_0_1904"/>
          <p:cNvPicPr preferRelativeResize="0"/>
          <p:nvPr/>
        </p:nvPicPr>
        <p:blipFill rotWithShape="1">
          <a:blip r:embed="rId10">
            <a:alphaModFix/>
          </a:blip>
          <a:srcRect/>
          <a:stretch/>
        </p:blipFill>
        <p:spPr>
          <a:xfrm>
            <a:off x="3670886" y="956932"/>
            <a:ext cx="2078916" cy="307271"/>
          </a:xfrm>
          <a:prstGeom prst="rect">
            <a:avLst/>
          </a:prstGeom>
          <a:noFill/>
          <a:ln>
            <a:noFill/>
          </a:ln>
        </p:spPr>
      </p:pic>
      <p:sp>
        <p:nvSpPr>
          <p:cNvPr id="3223" name="Google Shape;3223;g3b54a426ae3_0_1904"/>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          0          0	1.37          0           0</a:t>
            </a:r>
            <a:endParaRPr sz="300" b="0" i="0" u="none" strike="noStrike" cap="none">
              <a:solidFill>
                <a:srgbClr val="000000"/>
              </a:solidFill>
              <a:latin typeface="Arial"/>
              <a:ea typeface="Arial"/>
              <a:cs typeface="Arial"/>
              <a:sym typeface="Arial"/>
            </a:endParaRPr>
          </a:p>
        </p:txBody>
      </p:sp>
      <p:sp>
        <p:nvSpPr>
          <p:cNvPr id="3224" name="Google Shape;3224;g3b54a426ae3_0_1904"/>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Tree>
  </p:cSld>
  <p:clrMapOvr>
    <a:masterClrMapping/>
  </p:clrMapOvr>
  <p:transition>
    <p:fade thruBlk="1"/>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228"/>
        <p:cNvGrpSpPr/>
        <p:nvPr/>
      </p:nvGrpSpPr>
      <p:grpSpPr>
        <a:xfrm>
          <a:off x="0" y="0"/>
          <a:ext cx="0" cy="0"/>
          <a:chOff x="0" y="0"/>
          <a:chExt cx="0" cy="0"/>
        </a:xfrm>
      </p:grpSpPr>
      <p:sp>
        <p:nvSpPr>
          <p:cNvPr id="3229" name="Google Shape;3229;g3b54a426ae3_0_194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Expected SARSA</a:t>
            </a:r>
            <a:endParaRPr/>
          </a:p>
        </p:txBody>
      </p:sp>
      <p:sp>
        <p:nvSpPr>
          <p:cNvPr id="3230" name="Google Shape;3230;g3b54a426ae3_0_194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31" name="Google Shape;3231;g3b54a426ae3_0_1945"/>
          <p:cNvGrpSpPr/>
          <p:nvPr/>
        </p:nvGrpSpPr>
        <p:grpSpPr>
          <a:xfrm>
            <a:off x="0" y="3109250"/>
            <a:ext cx="5760261" cy="92075"/>
            <a:chOff x="0" y="3109250"/>
            <a:chExt cx="5760261" cy="92075"/>
          </a:xfrm>
        </p:grpSpPr>
        <p:sp>
          <p:nvSpPr>
            <p:cNvPr id="3232" name="Google Shape;3232;g3b54a426ae3_0_194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3" name="Google Shape;3233;g3b54a426ae3_0_194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4" name="Google Shape;3234;g3b54a426ae3_0_194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35" name="Google Shape;3235;g3b54a426ae3_0_194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236" name="Google Shape;3236;g3b54a426ae3_0_194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85</a:t>
            </a:fld>
            <a:endParaRPr/>
          </a:p>
        </p:txBody>
      </p:sp>
      <p:pic>
        <p:nvPicPr>
          <p:cNvPr id="3237" name="Google Shape;3237;g3b54a426ae3_0_1945"/>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238" name="Google Shape;3238;g3b54a426ae3_0_1945"/>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239" name="Google Shape;3239;g3b54a426ae3_0_1945"/>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240" name="Google Shape;3240;g3b54a426ae3_0_194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3241" name="Google Shape;3241;g3b54a426ae3_0_1945"/>
          <p:cNvSpPr txBox="1"/>
          <p:nvPr/>
        </p:nvSpPr>
        <p:spPr>
          <a:xfrm>
            <a:off x="129994" y="2028358"/>
            <a:ext cx="3083700" cy="1950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r>
              <a:rPr lang="en-US" sz="700" b="1" i="0" u="none" strike="noStrike" cap="none">
                <a:solidFill>
                  <a:schemeClr val="dk1"/>
                </a:solidFill>
                <a:latin typeface="Arial"/>
                <a:ea typeface="Arial"/>
                <a:cs typeface="Arial"/>
                <a:sym typeface="Arial"/>
              </a:rPr>
              <a:t> </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3: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 </a:t>
            </a:r>
            <a:r>
              <a:rPr lang="en-US" sz="700" b="1" i="0" u="none" strike="noStrike" cap="none">
                <a:solidFill>
                  <a:srgbClr val="0070C0"/>
                </a:solidFill>
                <a:latin typeface="Arial"/>
                <a:ea typeface="Arial"/>
                <a:cs typeface="Arial"/>
                <a:sym typeface="Arial"/>
              </a:rPr>
              <a:t>+10, </a:t>
            </a:r>
            <a:r>
              <a:rPr lang="en-US" sz="700" b="1" i="0" u="none" strike="noStrike" cap="none">
                <a:solidFill>
                  <a:srgbClr val="C00000"/>
                </a:solidFill>
                <a:latin typeface="Arial"/>
                <a:ea typeface="Arial"/>
                <a:cs typeface="Arial"/>
                <a:sym typeface="Arial"/>
              </a:rPr>
              <a:t>O</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 Q(W,S)  = 1.57 + 0.8 [1+ (0.9*((</a:t>
            </a:r>
            <a:r>
              <a:rPr lang="en-US" sz="700" b="1" i="0" u="none" strike="noStrike" cap="none">
                <a:solidFill>
                  <a:srgbClr val="FF0000"/>
                </a:solidFill>
                <a:latin typeface="Arial"/>
                <a:ea typeface="Arial"/>
                <a:cs typeface="Arial"/>
                <a:sym typeface="Arial"/>
              </a:rPr>
              <a:t>-8*0.5) + (1.57*0.5))</a:t>
            </a:r>
            <a:r>
              <a:rPr lang="en-US" sz="700" b="1" i="0" u="none" strike="noStrike" cap="none">
                <a:solidFill>
                  <a:schemeClr val="dk1"/>
                </a:solidFill>
                <a:latin typeface="Arial"/>
                <a:ea typeface="Arial"/>
                <a:cs typeface="Arial"/>
                <a:sym typeface="Arial"/>
              </a:rPr>
              <a:t>)-1.57] = </a:t>
            </a:r>
            <a:r>
              <a:rPr lang="en-US" sz="700" b="1" i="0" u="none" strike="noStrike" cap="none">
                <a:solidFill>
                  <a:srgbClr val="FF0000"/>
                </a:solidFill>
                <a:latin typeface="Arial"/>
                <a:ea typeface="Arial"/>
                <a:cs typeface="Arial"/>
                <a:sym typeface="Arial"/>
              </a:rPr>
              <a:t>-1.14</a:t>
            </a:r>
            <a:r>
              <a:rPr lang="en-US" sz="700" b="1" i="0" u="none" strike="noStrike" cap="none">
                <a:solidFill>
                  <a:schemeClr val="dk1"/>
                </a:solidFill>
                <a:latin typeface="Arial"/>
                <a:ea typeface="Arial"/>
                <a:cs typeface="Arial"/>
                <a:sym typeface="Arial"/>
              </a:rPr>
              <a:t>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 Q(W,F) = -8 + 0.8 [10+ (0.9*</a:t>
            </a:r>
            <a:r>
              <a:rPr lang="en-US" sz="700" b="1" i="0" u="none" strike="noStrike" cap="none">
                <a:solidFill>
                  <a:srgbClr val="FF0000"/>
                </a:solidFill>
                <a:latin typeface="Arial"/>
                <a:ea typeface="Arial"/>
                <a:cs typeface="Arial"/>
                <a:sym typeface="Arial"/>
              </a:rPr>
              <a:t>0</a:t>
            </a:r>
            <a:r>
              <a:rPr lang="en-US" sz="700" b="1" i="0" u="none" strike="noStrike" cap="none">
                <a:solidFill>
                  <a:schemeClr val="dk1"/>
                </a:solidFill>
                <a:latin typeface="Arial"/>
                <a:ea typeface="Arial"/>
                <a:cs typeface="Arial"/>
                <a:sym typeface="Arial"/>
              </a:rPr>
              <a:t>)+8] = ~</a:t>
            </a:r>
            <a:r>
              <a:rPr lang="en-US" sz="700" b="1" i="0" u="none" strike="noStrike" cap="none">
                <a:solidFill>
                  <a:srgbClr val="FF0000"/>
                </a:solidFill>
                <a:latin typeface="Arial"/>
                <a:ea typeface="Arial"/>
                <a:cs typeface="Arial"/>
                <a:sym typeface="Arial"/>
              </a:rPr>
              <a:t>+6.4</a:t>
            </a:r>
            <a:r>
              <a:rPr lang="en-US" sz="700" b="1" i="0" u="none" strike="noStrike" cap="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4: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 Q(W,S) = -1.14 + 0.8 [1+ (0.9*</a:t>
            </a:r>
            <a:r>
              <a:rPr lang="en-US" sz="700" b="1" i="0" u="none" strike="noStrike" cap="none">
                <a:solidFill>
                  <a:srgbClr val="FF0000"/>
                </a:solidFill>
                <a:latin typeface="Arial"/>
                <a:ea typeface="Arial"/>
                <a:cs typeface="Arial"/>
                <a:sym typeface="Arial"/>
              </a:rPr>
              <a:t>((-1.14*0.5)+(6.4*0.5))</a:t>
            </a:r>
            <a:r>
              <a:rPr lang="en-US" sz="700" b="1" i="0" u="none" strike="noStrike" cap="none">
                <a:solidFill>
                  <a:schemeClr val="dk1"/>
                </a:solidFill>
                <a:latin typeface="Arial"/>
                <a:ea typeface="Arial"/>
                <a:cs typeface="Arial"/>
                <a:sym typeface="Arial"/>
              </a:rPr>
              <a:t>)+1.14] = ~</a:t>
            </a:r>
            <a:r>
              <a:rPr lang="en-US" sz="700" b="1" i="0" u="none" strike="noStrike" cap="none">
                <a:solidFill>
                  <a:srgbClr val="FF0000"/>
                </a:solidFill>
                <a:latin typeface="Arial"/>
                <a:ea typeface="Arial"/>
                <a:cs typeface="Arial"/>
                <a:sym typeface="Arial"/>
              </a:rPr>
              <a:t>+2.46</a:t>
            </a:r>
            <a:r>
              <a:rPr lang="en-US" sz="700" b="1" i="0" u="none" strike="noStrike" cap="none">
                <a:solidFill>
                  <a:schemeClr val="dk1"/>
                </a:solidFill>
                <a:latin typeface="Arial"/>
                <a:ea typeface="Arial"/>
                <a:cs typeface="Arial"/>
                <a:sym typeface="Arial"/>
              </a:rPr>
              <a:t>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242" name="Google Shape;3242;g3b54a426ae3_0_194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243" name="Google Shape;3243;g3b54a426ae3_0_194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244" name="Google Shape;3244;g3b54a426ae3_0_194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245" name="Google Shape;3245;g3b54a426ae3_0_194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246" name="Google Shape;3246;g3b54a426ae3_0_194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247" name="Google Shape;3247;g3b54a426ae3_0_194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248" name="Google Shape;3248;g3b54a426ae3_0_194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249" name="Google Shape;3249;g3b54a426ae3_0_194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250" name="Google Shape;3250;g3b54a426ae3_0_194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251" name="Google Shape;3251;g3b54a426ae3_0_1945"/>
          <p:cNvPicPr preferRelativeResize="0"/>
          <p:nvPr/>
        </p:nvPicPr>
        <p:blipFill rotWithShape="1">
          <a:blip r:embed="rId6">
            <a:alphaModFix/>
          </a:blip>
          <a:srcRect/>
          <a:stretch/>
        </p:blipFill>
        <p:spPr>
          <a:xfrm>
            <a:off x="325079" y="652004"/>
            <a:ext cx="247568" cy="107156"/>
          </a:xfrm>
          <a:prstGeom prst="rect">
            <a:avLst/>
          </a:prstGeom>
          <a:noFill/>
          <a:ln>
            <a:noFill/>
          </a:ln>
        </p:spPr>
      </p:pic>
      <p:pic>
        <p:nvPicPr>
          <p:cNvPr id="3252" name="Google Shape;3252;g3b54a426ae3_0_1945"/>
          <p:cNvPicPr preferRelativeResize="0"/>
          <p:nvPr/>
        </p:nvPicPr>
        <p:blipFill rotWithShape="1">
          <a:blip r:embed="rId7">
            <a:alphaModFix/>
          </a:blip>
          <a:srcRect/>
          <a:stretch/>
        </p:blipFill>
        <p:spPr>
          <a:xfrm>
            <a:off x="660303" y="649609"/>
            <a:ext cx="249913" cy="117267"/>
          </a:xfrm>
          <a:prstGeom prst="rect">
            <a:avLst/>
          </a:prstGeom>
          <a:noFill/>
          <a:ln>
            <a:noFill/>
          </a:ln>
        </p:spPr>
      </p:pic>
      <p:pic>
        <p:nvPicPr>
          <p:cNvPr id="3253" name="Google Shape;3253;g3b54a426ae3_0_1945"/>
          <p:cNvPicPr preferRelativeResize="0"/>
          <p:nvPr/>
        </p:nvPicPr>
        <p:blipFill rotWithShape="1">
          <a:blip r:embed="rId6">
            <a:alphaModFix/>
          </a:blip>
          <a:srcRect/>
          <a:stretch/>
        </p:blipFill>
        <p:spPr>
          <a:xfrm>
            <a:off x="967808" y="638754"/>
            <a:ext cx="247568" cy="107156"/>
          </a:xfrm>
          <a:prstGeom prst="rect">
            <a:avLst/>
          </a:prstGeom>
          <a:noFill/>
          <a:ln>
            <a:noFill/>
          </a:ln>
        </p:spPr>
      </p:pic>
      <p:pic>
        <p:nvPicPr>
          <p:cNvPr id="3254" name="Google Shape;3254;g3b54a426ae3_0_1945"/>
          <p:cNvPicPr preferRelativeResize="0"/>
          <p:nvPr/>
        </p:nvPicPr>
        <p:blipFill rotWithShape="1">
          <a:blip r:embed="rId7">
            <a:alphaModFix/>
          </a:blip>
          <a:srcRect/>
          <a:stretch/>
        </p:blipFill>
        <p:spPr>
          <a:xfrm>
            <a:off x="1303032" y="636359"/>
            <a:ext cx="249913" cy="117267"/>
          </a:xfrm>
          <a:prstGeom prst="rect">
            <a:avLst/>
          </a:prstGeom>
          <a:noFill/>
          <a:ln>
            <a:noFill/>
          </a:ln>
        </p:spPr>
      </p:pic>
      <p:pic>
        <p:nvPicPr>
          <p:cNvPr id="3255" name="Google Shape;3255;g3b54a426ae3_0_1945"/>
          <p:cNvPicPr preferRelativeResize="0"/>
          <p:nvPr/>
        </p:nvPicPr>
        <p:blipFill rotWithShape="1">
          <a:blip r:embed="rId6">
            <a:alphaModFix/>
          </a:blip>
          <a:srcRect/>
          <a:stretch/>
        </p:blipFill>
        <p:spPr>
          <a:xfrm>
            <a:off x="1577402" y="638755"/>
            <a:ext cx="247568" cy="107156"/>
          </a:xfrm>
          <a:prstGeom prst="rect">
            <a:avLst/>
          </a:prstGeom>
          <a:noFill/>
          <a:ln>
            <a:noFill/>
          </a:ln>
        </p:spPr>
      </p:pic>
      <p:pic>
        <p:nvPicPr>
          <p:cNvPr id="3256" name="Google Shape;3256;g3b54a426ae3_0_1945"/>
          <p:cNvPicPr preferRelativeResize="0"/>
          <p:nvPr/>
        </p:nvPicPr>
        <p:blipFill rotWithShape="1">
          <a:blip r:embed="rId7">
            <a:alphaModFix/>
          </a:blip>
          <a:srcRect/>
          <a:stretch/>
        </p:blipFill>
        <p:spPr>
          <a:xfrm>
            <a:off x="1912626" y="636360"/>
            <a:ext cx="249913" cy="117267"/>
          </a:xfrm>
          <a:prstGeom prst="rect">
            <a:avLst/>
          </a:prstGeom>
          <a:noFill/>
          <a:ln>
            <a:noFill/>
          </a:ln>
        </p:spPr>
      </p:pic>
      <p:pic>
        <p:nvPicPr>
          <p:cNvPr id="3257" name="Google Shape;3257;g3b54a426ae3_0_1945"/>
          <p:cNvPicPr preferRelativeResize="0"/>
          <p:nvPr/>
        </p:nvPicPr>
        <p:blipFill rotWithShape="1">
          <a:blip r:embed="rId8">
            <a:alphaModFix/>
          </a:blip>
          <a:srcRect/>
          <a:stretch/>
        </p:blipFill>
        <p:spPr>
          <a:xfrm>
            <a:off x="3670886" y="34350"/>
            <a:ext cx="2078916" cy="883997"/>
          </a:xfrm>
          <a:prstGeom prst="rect">
            <a:avLst/>
          </a:prstGeom>
          <a:noFill/>
          <a:ln>
            <a:noFill/>
          </a:ln>
        </p:spPr>
      </p:pic>
      <p:sp>
        <p:nvSpPr>
          <p:cNvPr id="3258" name="Google Shape;3258;g3b54a426ae3_0_1945"/>
          <p:cNvSpPr/>
          <p:nvPr/>
        </p:nvSpPr>
        <p:spPr>
          <a:xfrm>
            <a:off x="3484718" y="665033"/>
            <a:ext cx="187500" cy="534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59" name="Google Shape;3259;g3b54a426ae3_0_1945"/>
          <p:cNvSpPr/>
          <p:nvPr/>
        </p:nvSpPr>
        <p:spPr>
          <a:xfrm>
            <a:off x="5324392" y="267068"/>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260" name="Google Shape;3260;g3b54a426ae3_0_1945"/>
          <p:cNvSpPr txBox="1"/>
          <p:nvPr/>
        </p:nvSpPr>
        <p:spPr>
          <a:xfrm>
            <a:off x="289408" y="1110457"/>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2.59         0        -8	</a:t>
            </a:r>
            <a:r>
              <a:rPr lang="en-US" sz="800" b="1" i="0" u="none" strike="noStrike" cap="none">
                <a:solidFill>
                  <a:srgbClr val="FF0000"/>
                </a:solidFill>
                <a:latin typeface="Calibri"/>
                <a:ea typeface="Calibri"/>
                <a:cs typeface="Calibri"/>
                <a:sym typeface="Calibri"/>
              </a:rPr>
              <a:t>1.57</a:t>
            </a:r>
            <a:r>
              <a:rPr lang="en-US" sz="800" b="0" i="0" u="none" strike="noStrike" cap="none">
                <a:solidFill>
                  <a:schemeClr val="dk1"/>
                </a:solidFill>
                <a:latin typeface="Calibri"/>
                <a:ea typeface="Calibri"/>
                <a:cs typeface="Calibri"/>
                <a:sym typeface="Calibri"/>
              </a:rPr>
              <a:t>           0             </a:t>
            </a:r>
            <a:endParaRPr sz="300" b="0" i="0" u="none" strike="noStrike" cap="none">
              <a:solidFill>
                <a:srgbClr val="000000"/>
              </a:solidFill>
              <a:latin typeface="Arial"/>
              <a:ea typeface="Arial"/>
              <a:cs typeface="Arial"/>
              <a:sym typeface="Arial"/>
            </a:endParaRPr>
          </a:p>
        </p:txBody>
      </p:sp>
      <p:sp>
        <p:nvSpPr>
          <p:cNvPr id="3261" name="Google Shape;3261;g3b54a426ae3_0_1945"/>
          <p:cNvSpPr txBox="1"/>
          <p:nvPr/>
        </p:nvSpPr>
        <p:spPr>
          <a:xfrm>
            <a:off x="309839" y="1415629"/>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2.59         0        6.4      </a:t>
            </a:r>
            <a:r>
              <a:rPr lang="en-US" sz="800" b="1" i="0" u="none" strike="noStrike" cap="none">
                <a:solidFill>
                  <a:srgbClr val="FF0000"/>
                </a:solidFill>
                <a:latin typeface="Calibri"/>
                <a:ea typeface="Calibri"/>
                <a:cs typeface="Calibri"/>
                <a:sym typeface="Calibri"/>
              </a:rPr>
              <a:t>-1.14</a:t>
            </a:r>
            <a:r>
              <a:rPr lang="en-US" sz="800" b="0" i="0" u="none" strike="noStrike" cap="none">
                <a:solidFill>
                  <a:schemeClr val="dk1"/>
                </a:solidFill>
                <a:latin typeface="Calibri"/>
                <a:ea typeface="Calibri"/>
                <a:cs typeface="Calibri"/>
                <a:sym typeface="Calibri"/>
              </a:rPr>
              <a:t>           0             </a:t>
            </a:r>
            <a:endParaRPr sz="300" b="0" i="0" u="none" strike="noStrike" cap="none">
              <a:solidFill>
                <a:srgbClr val="000000"/>
              </a:solidFill>
              <a:latin typeface="Arial"/>
              <a:ea typeface="Arial"/>
              <a:cs typeface="Arial"/>
              <a:sym typeface="Arial"/>
            </a:endParaRPr>
          </a:p>
        </p:txBody>
      </p:sp>
      <p:sp>
        <p:nvSpPr>
          <p:cNvPr id="3262" name="Google Shape;3262;g3b54a426ae3_0_1945"/>
          <p:cNvSpPr txBox="1"/>
          <p:nvPr/>
        </p:nvSpPr>
        <p:spPr>
          <a:xfrm>
            <a:off x="3269323" y="2710211"/>
            <a:ext cx="2629200" cy="3816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Continued for one more episode….</a:t>
            </a:r>
            <a:endParaRPr/>
          </a:p>
          <a:p>
            <a:pPr marL="0" marR="0" lvl="0" indent="0" algn="l" rtl="0">
              <a:lnSpc>
                <a:spcPct val="100000"/>
              </a:lnSpc>
              <a:spcBef>
                <a:spcPts val="0"/>
              </a:spcBef>
              <a:spcAft>
                <a:spcPts val="0"/>
              </a:spcAft>
              <a:buNone/>
            </a:pPr>
            <a:r>
              <a:rPr lang="en-US" sz="700" b="1" i="0" u="none" strike="noStrike" cap="none">
                <a:solidFill>
                  <a:srgbClr val="FF0000"/>
                </a:solidFill>
                <a:latin typeface="Arial"/>
                <a:ea typeface="Arial"/>
                <a:cs typeface="Arial"/>
                <a:sym typeface="Arial"/>
              </a:rPr>
              <a:t>Assumed likelihood for all the states “_” for simplicity :P(S|_) = 0.05, P(F|_) = 0.5</a:t>
            </a:r>
            <a:endParaRPr sz="600" b="1" i="0" u="none" strike="noStrike" cap="none">
              <a:solidFill>
                <a:srgbClr val="1B1472"/>
              </a:solidFill>
              <a:latin typeface="Arial"/>
              <a:ea typeface="Arial"/>
              <a:cs typeface="Arial"/>
              <a:sym typeface="Arial"/>
            </a:endParaRPr>
          </a:p>
        </p:txBody>
      </p:sp>
      <p:pic>
        <p:nvPicPr>
          <p:cNvPr id="3263" name="Google Shape;3263;g3b54a426ae3_0_1945"/>
          <p:cNvPicPr preferRelativeResize="0"/>
          <p:nvPr/>
        </p:nvPicPr>
        <p:blipFill rotWithShape="1">
          <a:blip r:embed="rId9">
            <a:alphaModFix/>
          </a:blip>
          <a:srcRect/>
          <a:stretch/>
        </p:blipFill>
        <p:spPr>
          <a:xfrm>
            <a:off x="3670886" y="956932"/>
            <a:ext cx="2078916" cy="307271"/>
          </a:xfrm>
          <a:prstGeom prst="rect">
            <a:avLst/>
          </a:prstGeom>
          <a:noFill/>
          <a:ln>
            <a:noFill/>
          </a:ln>
        </p:spPr>
      </p:pic>
      <p:sp>
        <p:nvSpPr>
          <p:cNvPr id="3264" name="Google Shape;3264;g3b54a426ae3_0_194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          0          0	1.37          0           0</a:t>
            </a:r>
            <a:endParaRPr sz="300" b="0" i="0" u="none" strike="noStrike" cap="none">
              <a:solidFill>
                <a:srgbClr val="000000"/>
              </a:solidFill>
              <a:latin typeface="Arial"/>
              <a:ea typeface="Arial"/>
              <a:cs typeface="Arial"/>
              <a:sym typeface="Arial"/>
            </a:endParaRPr>
          </a:p>
        </p:txBody>
      </p:sp>
      <p:sp>
        <p:nvSpPr>
          <p:cNvPr id="3265" name="Google Shape;3265;g3b54a426ae3_0_1945"/>
          <p:cNvSpPr/>
          <p:nvPr/>
        </p:nvSpPr>
        <p:spPr>
          <a:xfrm>
            <a:off x="303489" y="17013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266" name="Google Shape;3266;g3b54a426ae3_0_1945"/>
          <p:cNvCxnSpPr/>
          <p:nvPr/>
        </p:nvCxnSpPr>
        <p:spPr>
          <a:xfrm>
            <a:off x="903756" y="1701375"/>
            <a:ext cx="0" cy="225300"/>
          </a:xfrm>
          <a:prstGeom prst="straightConnector1">
            <a:avLst/>
          </a:prstGeom>
          <a:noFill/>
          <a:ln w="9525" cap="flat" cmpd="sng">
            <a:solidFill>
              <a:schemeClr val="dk1"/>
            </a:solidFill>
            <a:prstDash val="solid"/>
            <a:round/>
            <a:headEnd type="none" w="sm" len="sm"/>
            <a:tailEnd type="none" w="sm" len="sm"/>
          </a:ln>
        </p:spPr>
      </p:cxnSp>
      <p:cxnSp>
        <p:nvCxnSpPr>
          <p:cNvPr id="3267" name="Google Shape;3267;g3b54a426ae3_0_1945"/>
          <p:cNvCxnSpPr/>
          <p:nvPr/>
        </p:nvCxnSpPr>
        <p:spPr>
          <a:xfrm>
            <a:off x="1559739" y="1708002"/>
            <a:ext cx="0" cy="225300"/>
          </a:xfrm>
          <a:prstGeom prst="straightConnector1">
            <a:avLst/>
          </a:prstGeom>
          <a:noFill/>
          <a:ln w="9525" cap="flat" cmpd="sng">
            <a:solidFill>
              <a:schemeClr val="dk1"/>
            </a:solidFill>
            <a:prstDash val="solid"/>
            <a:round/>
            <a:headEnd type="none" w="sm" len="sm"/>
            <a:tailEnd type="none" w="sm" len="sm"/>
          </a:ln>
        </p:spPr>
      </p:cxnSp>
      <p:sp>
        <p:nvSpPr>
          <p:cNvPr id="3268" name="Google Shape;3268;g3b54a426ae3_0_1945"/>
          <p:cNvSpPr txBox="1"/>
          <p:nvPr/>
        </p:nvSpPr>
        <p:spPr>
          <a:xfrm>
            <a:off x="303489" y="1695029"/>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2.59         0        6.4      </a:t>
            </a:r>
            <a:r>
              <a:rPr lang="en-US" sz="800" b="1" i="0" u="none" strike="noStrike" cap="none">
                <a:solidFill>
                  <a:srgbClr val="FF0000"/>
                </a:solidFill>
                <a:latin typeface="Calibri"/>
                <a:ea typeface="Calibri"/>
                <a:cs typeface="Calibri"/>
                <a:sym typeface="Calibri"/>
              </a:rPr>
              <a:t>+2.46</a:t>
            </a:r>
            <a:r>
              <a:rPr lang="en-US" sz="800" b="0" i="0" u="none" strike="noStrike" cap="none">
                <a:solidFill>
                  <a:schemeClr val="dk1"/>
                </a:solidFill>
                <a:latin typeface="Calibri"/>
                <a:ea typeface="Calibri"/>
                <a:cs typeface="Calibri"/>
                <a:sym typeface="Calibri"/>
              </a:rPr>
              <a:t>           0             </a:t>
            </a:r>
            <a:endParaRPr sz="300" b="0" i="0" u="none" strike="noStrike" cap="none">
              <a:solidFill>
                <a:srgbClr val="000000"/>
              </a:solidFill>
              <a:latin typeface="Arial"/>
              <a:ea typeface="Arial"/>
              <a:cs typeface="Arial"/>
              <a:sym typeface="Arial"/>
            </a:endParaRPr>
          </a:p>
        </p:txBody>
      </p:sp>
      <p:sp>
        <p:nvSpPr>
          <p:cNvPr id="3269" name="Google Shape;3269;g3b54a426ae3_0_1945"/>
          <p:cNvSpPr txBox="1"/>
          <p:nvPr/>
        </p:nvSpPr>
        <p:spPr>
          <a:xfrm>
            <a:off x="54070" y="785748"/>
            <a:ext cx="387300" cy="149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4</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p:txBody>
      </p:sp>
      <p:pic>
        <p:nvPicPr>
          <p:cNvPr id="3270" name="Google Shape;3270;g3b54a426ae3_0_1945"/>
          <p:cNvPicPr preferRelativeResize="0"/>
          <p:nvPr/>
        </p:nvPicPr>
        <p:blipFill rotWithShape="1">
          <a:blip r:embed="rId10">
            <a:alphaModFix/>
          </a:blip>
          <a:srcRect/>
          <a:stretch/>
        </p:blipFill>
        <p:spPr>
          <a:xfrm>
            <a:off x="3836211" y="1409622"/>
            <a:ext cx="1910119" cy="1148104"/>
          </a:xfrm>
          <a:prstGeom prst="rect">
            <a:avLst/>
          </a:prstGeom>
          <a:noFill/>
          <a:ln>
            <a:noFill/>
          </a:ln>
        </p:spPr>
      </p:pic>
    </p:spTree>
  </p:cSld>
  <p:clrMapOvr>
    <a:masterClrMapping/>
  </p:clrMapOvr>
  <p:transition>
    <p:fade thruBlk="1"/>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274"/>
        <p:cNvGrpSpPr/>
        <p:nvPr/>
      </p:nvGrpSpPr>
      <p:grpSpPr>
        <a:xfrm>
          <a:off x="0" y="0"/>
          <a:ext cx="0" cy="0"/>
          <a:chOff x="0" y="0"/>
          <a:chExt cx="0" cy="0"/>
        </a:xfrm>
      </p:grpSpPr>
      <p:sp>
        <p:nvSpPr>
          <p:cNvPr id="3275" name="Google Shape;3275;g3b75ff0c716_0_0"/>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3276" name="Google Shape;3276;g3b75ff0c716_0_0"/>
          <p:cNvSpPr txBox="1">
            <a:spLocks noGrp="1"/>
          </p:cNvSpPr>
          <p:nvPr>
            <p:ph type="body" idx="1"/>
          </p:nvPr>
        </p:nvSpPr>
        <p:spPr>
          <a:xfrm>
            <a:off x="777220" y="516129"/>
            <a:ext cx="3812400" cy="24627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Temporal Difference Learning Methods</a:t>
            </a: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Off Policy Control Algorithms</a:t>
            </a:r>
            <a:endParaRPr/>
          </a:p>
          <a:p>
            <a:pPr marL="457200" lvl="0" indent="-228600" algn="ctr" rtl="0">
              <a:lnSpc>
                <a:spcPct val="100000"/>
              </a:lnSpc>
              <a:spcBef>
                <a:spcPts val="0"/>
              </a:spcBef>
              <a:spcAft>
                <a:spcPts val="0"/>
              </a:spcAft>
              <a:buSzPts val="1400"/>
              <a:buNone/>
            </a:pPr>
            <a:r>
              <a:rPr lang="en-US" sz="1600" b="1">
                <a:solidFill>
                  <a:srgbClr val="0070C0"/>
                </a:solidFill>
              </a:rPr>
              <a:t>Q-Learning</a:t>
            </a:r>
            <a:endParaRPr sz="1600" b="1">
              <a:solidFill>
                <a:schemeClr val="dk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280"/>
        <p:cNvGrpSpPr/>
        <p:nvPr/>
      </p:nvGrpSpPr>
      <p:grpSpPr>
        <a:xfrm>
          <a:off x="0" y="0"/>
          <a:ext cx="0" cy="0"/>
          <a:chOff x="0" y="0"/>
          <a:chExt cx="0" cy="0"/>
        </a:xfrm>
      </p:grpSpPr>
      <p:sp>
        <p:nvSpPr>
          <p:cNvPr id="3281" name="Google Shape;3281;g3b75ff0c716_0_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Q-Learning</a:t>
            </a:r>
            <a:endParaRPr/>
          </a:p>
        </p:txBody>
      </p:sp>
      <p:sp>
        <p:nvSpPr>
          <p:cNvPr id="3282" name="Google Shape;3282;g3b75ff0c716_0_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83" name="Google Shape;3283;g3b75ff0c716_0_5"/>
          <p:cNvGrpSpPr/>
          <p:nvPr/>
        </p:nvGrpSpPr>
        <p:grpSpPr>
          <a:xfrm>
            <a:off x="0" y="3109250"/>
            <a:ext cx="5760261" cy="92075"/>
            <a:chOff x="0" y="3109250"/>
            <a:chExt cx="5760261" cy="92075"/>
          </a:xfrm>
        </p:grpSpPr>
        <p:sp>
          <p:nvSpPr>
            <p:cNvPr id="3284" name="Google Shape;3284;g3b75ff0c716_0_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5" name="Google Shape;3285;g3b75ff0c716_0_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6" name="Google Shape;3286;g3b75ff0c716_0_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87" name="Google Shape;3287;g3b75ff0c716_0_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288" name="Google Shape;3288;g3b75ff0c716_0_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87</a:t>
            </a:fld>
            <a:r>
              <a:rPr lang="en-US"/>
              <a:t> </a:t>
            </a:r>
            <a:endParaRPr/>
          </a:p>
        </p:txBody>
      </p:sp>
      <p:pic>
        <p:nvPicPr>
          <p:cNvPr id="3289" name="Google Shape;3289;g3b75ff0c716_0_5"/>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290" name="Google Shape;3290;g3b75ff0c716_0_5"/>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291" name="Google Shape;3291;g3b75ff0c716_0_5"/>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292" name="Google Shape;3292;g3b75ff0c716_0_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293" name="Google Shape;3293;g3b75ff0c716_0_5"/>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294" name="Google Shape;3294;g3b75ff0c716_0_5"/>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295" name="Google Shape;3295;g3b75ff0c716_0_5"/>
          <p:cNvSpPr txBox="1"/>
          <p:nvPr/>
        </p:nvSpPr>
        <p:spPr>
          <a:xfrm>
            <a:off x="82600" y="1717926"/>
            <a:ext cx="2793000" cy="5502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296" name="Google Shape;3296;g3b75ff0c716_0_5"/>
          <p:cNvSpPr/>
          <p:nvPr/>
        </p:nvSpPr>
        <p:spPr>
          <a:xfrm>
            <a:off x="5143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97" name="Google Shape;3297;g3b75ff0c716_0_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298" name="Google Shape;3298;g3b75ff0c716_0_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299" name="Google Shape;3299;g3b75ff0c716_0_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00" name="Google Shape;3300;g3b75ff0c716_0_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0" i="0" u="none" strike="noStrike" cap="none">
                <a:solidFill>
                  <a:schemeClr val="dk1"/>
                </a:solidFill>
                <a:latin typeface="Calibri"/>
                <a:ea typeface="Calibri"/>
                <a:cs typeface="Calibri"/>
                <a:sym typeface="Calibri"/>
              </a:rPr>
              <a:t>  0              0          0	0            0             0</a:t>
            </a:r>
            <a:endParaRPr sz="300" b="0" i="0" u="none" strike="noStrike" cap="none">
              <a:solidFill>
                <a:srgbClr val="000000"/>
              </a:solidFill>
              <a:latin typeface="Arial"/>
              <a:ea typeface="Arial"/>
              <a:cs typeface="Arial"/>
              <a:sym typeface="Arial"/>
            </a:endParaRPr>
          </a:p>
        </p:txBody>
      </p:sp>
      <p:sp>
        <p:nvSpPr>
          <p:cNvPr id="3301" name="Google Shape;3301;g3b75ff0c716_0_5"/>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3302" name="Google Shape;3302;g3b75ff0c716_0_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303" name="Google Shape;3303;g3b75ff0c716_0_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304" name="Google Shape;3304;g3b75ff0c716_0_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305" name="Google Shape;3305;g3b75ff0c716_0_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306" name="Google Shape;3306;g3b75ff0c716_0_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307" name="Google Shape;3307;g3b75ff0c716_0_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308" name="Google Shape;3308;g3b75ff0c716_0_5"/>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309" name="Google Shape;3309;g3b75ff0c716_0_5"/>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310" name="Google Shape;3310;g3b75ff0c716_0_5"/>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311" name="Google Shape;3311;g3b75ff0c716_0_5"/>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312" name="Google Shape;3312;g3b75ff0c716_0_5"/>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313" name="Google Shape;3313;g3b75ff0c716_0_5"/>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314" name="Google Shape;3314;g3b75ff0c716_0_5"/>
          <p:cNvPicPr preferRelativeResize="0"/>
          <p:nvPr/>
        </p:nvPicPr>
        <p:blipFill rotWithShape="1">
          <a:blip r:embed="rId9">
            <a:alphaModFix/>
          </a:blip>
          <a:srcRect/>
          <a:stretch/>
        </p:blipFill>
        <p:spPr>
          <a:xfrm>
            <a:off x="3757404" y="67131"/>
            <a:ext cx="2005082" cy="889801"/>
          </a:xfrm>
          <a:prstGeom prst="rect">
            <a:avLst/>
          </a:prstGeom>
          <a:noFill/>
          <a:ln>
            <a:noFill/>
          </a:ln>
        </p:spPr>
      </p:pic>
      <p:sp>
        <p:nvSpPr>
          <p:cNvPr id="3315" name="Google Shape;3315;g3b75ff0c716_0_5"/>
          <p:cNvSpPr/>
          <p:nvPr/>
        </p:nvSpPr>
        <p:spPr>
          <a:xfrm>
            <a:off x="3577091" y="41420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16" name="Google Shape;3316;g3b75ff0c716_0_5"/>
          <p:cNvSpPr/>
          <p:nvPr/>
        </p:nvSpPr>
        <p:spPr>
          <a:xfrm>
            <a:off x="5359775" y="553782"/>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317" name="Google Shape;3317;g3b75ff0c716_0_5"/>
          <p:cNvSpPr txBox="1"/>
          <p:nvPr/>
        </p:nvSpPr>
        <p:spPr>
          <a:xfrm>
            <a:off x="2852197" y="2600622"/>
            <a:ext cx="29082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Target Policy : </a:t>
            </a:r>
            <a:r>
              <a:rPr lang="en-US" sz="700" b="0" i="0" u="none" strike="noStrike" cap="none">
                <a:solidFill>
                  <a:schemeClr val="dk1"/>
                </a:solidFill>
                <a:latin typeface="Arial"/>
                <a:ea typeface="Arial"/>
                <a:cs typeface="Arial"/>
                <a:sym typeface="Arial"/>
              </a:rPr>
              <a:t>Greedy (MAX) is used to evaluate /update the Q values</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Behavior Policy : </a:t>
            </a:r>
            <a:r>
              <a:rPr lang="en-US" sz="700" b="0" i="0" u="none" strike="noStrike" cap="none">
                <a:solidFill>
                  <a:srgbClr val="000000"/>
                </a:solidFill>
                <a:latin typeface="Arial"/>
                <a:ea typeface="Arial"/>
                <a:cs typeface="Arial"/>
                <a:sym typeface="Arial"/>
              </a:rPr>
              <a:t>ε-greedy is used to select actions based on the policy derived from Q - Value</a:t>
            </a:r>
            <a:r>
              <a:rPr lang="en-US" sz="700" b="1" i="0" u="none" strike="noStrike" cap="none">
                <a:solidFill>
                  <a:schemeClr val="dk1"/>
                </a:solidFill>
                <a:latin typeface="Arial"/>
                <a:ea typeface="Arial"/>
                <a:cs typeface="Arial"/>
                <a:sym typeface="Arial"/>
              </a:rPr>
              <a:t> </a:t>
            </a:r>
            <a:endParaRPr sz="700" b="1" i="0" u="none" strike="noStrike" cap="none">
              <a:solidFill>
                <a:schemeClr val="dk1"/>
              </a:solidFill>
              <a:latin typeface="Arial"/>
              <a:ea typeface="Arial"/>
              <a:cs typeface="Arial"/>
              <a:sym typeface="Arial"/>
            </a:endParaRPr>
          </a:p>
        </p:txBody>
      </p:sp>
    </p:spTree>
  </p:cSld>
  <p:clrMapOvr>
    <a:masterClrMapping/>
  </p:clrMapOvr>
  <p:transition>
    <p:fade thruBlk="1"/>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321"/>
        <p:cNvGrpSpPr/>
        <p:nvPr/>
      </p:nvGrpSpPr>
      <p:grpSpPr>
        <a:xfrm>
          <a:off x="0" y="0"/>
          <a:ext cx="0" cy="0"/>
          <a:chOff x="0" y="0"/>
          <a:chExt cx="0" cy="0"/>
        </a:xfrm>
      </p:grpSpPr>
      <p:sp>
        <p:nvSpPr>
          <p:cNvPr id="3322" name="Google Shape;3322;g3b75ff0c716_0_4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Q-Learning</a:t>
            </a:r>
            <a:endParaRPr/>
          </a:p>
        </p:txBody>
      </p:sp>
      <p:sp>
        <p:nvSpPr>
          <p:cNvPr id="3323" name="Google Shape;3323;g3b75ff0c716_0_4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24" name="Google Shape;3324;g3b75ff0c716_0_45"/>
          <p:cNvGrpSpPr/>
          <p:nvPr/>
        </p:nvGrpSpPr>
        <p:grpSpPr>
          <a:xfrm>
            <a:off x="0" y="3109250"/>
            <a:ext cx="5760261" cy="92075"/>
            <a:chOff x="0" y="3109250"/>
            <a:chExt cx="5760261" cy="92075"/>
          </a:xfrm>
        </p:grpSpPr>
        <p:sp>
          <p:nvSpPr>
            <p:cNvPr id="3325" name="Google Shape;3325;g3b75ff0c716_0_4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6" name="Google Shape;3326;g3b75ff0c716_0_4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7" name="Google Shape;3327;g3b75ff0c716_0_4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28" name="Google Shape;3328;g3b75ff0c716_0_4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329" name="Google Shape;3329;g3b75ff0c716_0_4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88</a:t>
            </a:fld>
            <a:r>
              <a:rPr lang="en-US"/>
              <a:t> </a:t>
            </a:r>
            <a:endParaRPr/>
          </a:p>
        </p:txBody>
      </p:sp>
      <p:pic>
        <p:nvPicPr>
          <p:cNvPr id="3330" name="Google Shape;3330;g3b75ff0c716_0_45"/>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331" name="Google Shape;3331;g3b75ff0c716_0_45"/>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332" name="Google Shape;3332;g3b75ff0c716_0_45"/>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333" name="Google Shape;3333;g3b75ff0c716_0_4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334" name="Google Shape;3334;g3b75ff0c716_0_45"/>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335" name="Google Shape;3335;g3b75ff0c716_0_45"/>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336" name="Google Shape;3336;g3b75ff0c716_0_4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37" name="Google Shape;3337;g3b75ff0c716_0_4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38" name="Google Shape;3338;g3b75ff0c716_0_4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39" name="Google Shape;3339;g3b75ff0c716_0_4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800" b="1" i="0" u="none" strike="noStrike" cap="none">
                <a:solidFill>
                  <a:schemeClr val="dk1"/>
                </a:solidFill>
                <a:latin typeface="Calibri"/>
                <a:ea typeface="Calibri"/>
                <a:cs typeface="Calibri"/>
                <a:sym typeface="Calibri"/>
              </a:rPr>
              <a:t>  1.6</a:t>
            </a:r>
            <a:r>
              <a:rPr lang="en-US" sz="800" b="0" i="0" u="none" strike="noStrike" cap="none">
                <a:solidFill>
                  <a:schemeClr val="dk1"/>
                </a:solidFill>
                <a:latin typeface="Calibri"/>
                <a:ea typeface="Calibri"/>
                <a:cs typeface="Calibri"/>
                <a:sym typeface="Calibri"/>
              </a:rPr>
              <a:t>           0          0	0            0             0</a:t>
            </a:r>
            <a:endParaRPr sz="300" b="0" i="0" u="none" strike="noStrike" cap="none">
              <a:solidFill>
                <a:srgbClr val="000000"/>
              </a:solidFill>
              <a:latin typeface="Arial"/>
              <a:ea typeface="Arial"/>
              <a:cs typeface="Arial"/>
              <a:sym typeface="Arial"/>
            </a:endParaRPr>
          </a:p>
        </p:txBody>
      </p:sp>
      <p:cxnSp>
        <p:nvCxnSpPr>
          <p:cNvPr id="3340" name="Google Shape;3340;g3b75ff0c716_0_4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341" name="Google Shape;3341;g3b75ff0c716_0_4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342" name="Google Shape;3342;g3b75ff0c716_0_4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343" name="Google Shape;3343;g3b75ff0c716_0_4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344" name="Google Shape;3344;g3b75ff0c716_0_4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345" name="Google Shape;3345;g3b75ff0c716_0_4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346" name="Google Shape;3346;g3b75ff0c716_0_45"/>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347" name="Google Shape;3347;g3b75ff0c716_0_45"/>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348" name="Google Shape;3348;g3b75ff0c716_0_45"/>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349" name="Google Shape;3349;g3b75ff0c716_0_45"/>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350" name="Google Shape;3350;g3b75ff0c716_0_45"/>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351" name="Google Shape;3351;g3b75ff0c716_0_45"/>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352" name="Google Shape;3352;g3b75ff0c716_0_45"/>
          <p:cNvPicPr preferRelativeResize="0"/>
          <p:nvPr/>
        </p:nvPicPr>
        <p:blipFill rotWithShape="1">
          <a:blip r:embed="rId9">
            <a:alphaModFix/>
          </a:blip>
          <a:srcRect/>
          <a:stretch/>
        </p:blipFill>
        <p:spPr>
          <a:xfrm>
            <a:off x="3757404" y="67131"/>
            <a:ext cx="2005082" cy="889801"/>
          </a:xfrm>
          <a:prstGeom prst="rect">
            <a:avLst/>
          </a:prstGeom>
          <a:noFill/>
          <a:ln>
            <a:noFill/>
          </a:ln>
        </p:spPr>
      </p:pic>
      <p:sp>
        <p:nvSpPr>
          <p:cNvPr id="3353" name="Google Shape;3353;g3b75ff0c716_0_45"/>
          <p:cNvSpPr/>
          <p:nvPr/>
        </p:nvSpPr>
        <p:spPr>
          <a:xfrm>
            <a:off x="3577091" y="5602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54" name="Google Shape;3354;g3b75ff0c716_0_45"/>
          <p:cNvSpPr/>
          <p:nvPr/>
        </p:nvSpPr>
        <p:spPr>
          <a:xfrm>
            <a:off x="5359775" y="553782"/>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355" name="Google Shape;3355;g3b75ff0c716_0_45"/>
          <p:cNvSpPr txBox="1"/>
          <p:nvPr/>
        </p:nvSpPr>
        <p:spPr>
          <a:xfrm>
            <a:off x="2852047" y="2593850"/>
            <a:ext cx="29082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Behavior Policy : </a:t>
            </a:r>
            <a:r>
              <a:rPr lang="en-US" sz="700" b="0" i="0" u="none" strike="noStrike" cap="none">
                <a:solidFill>
                  <a:srgbClr val="000000"/>
                </a:solidFill>
                <a:latin typeface="Arial"/>
                <a:ea typeface="Arial"/>
                <a:cs typeface="Arial"/>
                <a:sym typeface="Arial"/>
              </a:rPr>
              <a:t>ε-greedy is used to select actions based on the policy derived from Q - Value</a:t>
            </a:r>
            <a:r>
              <a:rPr lang="en-US" sz="700" b="1" i="0" u="none" strike="noStrike" cap="none">
                <a:solidFill>
                  <a:schemeClr val="dk1"/>
                </a:solidFill>
                <a:latin typeface="Arial"/>
                <a:ea typeface="Arial"/>
                <a:cs typeface="Arial"/>
                <a:sym typeface="Arial"/>
              </a:rPr>
              <a:t> . Here action “F” for state “C”</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Target Policy : </a:t>
            </a:r>
            <a:r>
              <a:rPr lang="en-US" sz="700" b="0" i="0" u="none" strike="noStrike" cap="none">
                <a:solidFill>
                  <a:schemeClr val="dk1"/>
                </a:solidFill>
                <a:latin typeface="Arial"/>
                <a:ea typeface="Arial"/>
                <a:cs typeface="Arial"/>
                <a:sym typeface="Arial"/>
              </a:rPr>
              <a:t>Greedy (MAX) is used to evaluate /update the Q values. </a:t>
            </a:r>
            <a:endParaRPr sz="7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356" name="Google Shape;3356;g3b75ff0c716_0_4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7" name="Google Shape;3357;g3b75ff0c716_0_45"/>
          <p:cNvSpPr txBox="1"/>
          <p:nvPr/>
        </p:nvSpPr>
        <p:spPr>
          <a:xfrm>
            <a:off x="82600" y="1717926"/>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Q(C,F) = 0 + 0.8 [2+ (0.9*</a:t>
            </a:r>
            <a:r>
              <a:rPr lang="en-US" sz="700" b="1" i="0" u="none" strike="noStrike" cap="none">
                <a:solidFill>
                  <a:srgbClr val="FF0000"/>
                </a:solidFill>
                <a:latin typeface="Arial"/>
                <a:ea typeface="Arial"/>
                <a:cs typeface="Arial"/>
                <a:sym typeface="Arial"/>
              </a:rPr>
              <a:t> MAX{Q(W,S),Q(W,F)} </a:t>
            </a:r>
            <a:r>
              <a:rPr lang="en-US" sz="700" b="1" i="0" u="none" strike="noStrike" cap="none">
                <a:solidFill>
                  <a:schemeClr val="dk1"/>
                </a:solidFill>
                <a:latin typeface="Arial"/>
                <a:ea typeface="Arial"/>
                <a:cs typeface="Arial"/>
                <a:sym typeface="Arial"/>
              </a:rPr>
              <a:t>)-0] = 1.6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358" name="Google Shape;3358;g3b75ff0c716_0_45"/>
          <p:cNvSpPr/>
          <p:nvPr/>
        </p:nvSpPr>
        <p:spPr>
          <a:xfrm>
            <a:off x="514351" y="1717925"/>
            <a:ext cx="453600" cy="1458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59" name="Google Shape;3359;g3b75ff0c716_0_45"/>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
        <p:nvSpPr>
          <p:cNvPr id="3360" name="Google Shape;3360;g3b75ff0c716_0_45"/>
          <p:cNvSpPr/>
          <p:nvPr/>
        </p:nvSpPr>
        <p:spPr>
          <a:xfrm>
            <a:off x="3596141" y="69360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transition>
    <p:fade thruBlk="1"/>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3364"/>
        <p:cNvGrpSpPr/>
        <p:nvPr/>
      </p:nvGrpSpPr>
      <p:grpSpPr>
        <a:xfrm>
          <a:off x="0" y="0"/>
          <a:ext cx="0" cy="0"/>
          <a:chOff x="0" y="0"/>
          <a:chExt cx="0" cy="0"/>
        </a:xfrm>
      </p:grpSpPr>
      <p:sp>
        <p:nvSpPr>
          <p:cNvPr id="3365" name="Google Shape;3365;g3b75ff0c716_0_87"/>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Q-Learning</a:t>
            </a:r>
            <a:endParaRPr/>
          </a:p>
        </p:txBody>
      </p:sp>
      <p:sp>
        <p:nvSpPr>
          <p:cNvPr id="3366" name="Google Shape;3366;g3b75ff0c716_0_87"/>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67" name="Google Shape;3367;g3b75ff0c716_0_87"/>
          <p:cNvGrpSpPr/>
          <p:nvPr/>
        </p:nvGrpSpPr>
        <p:grpSpPr>
          <a:xfrm>
            <a:off x="0" y="3109250"/>
            <a:ext cx="5760261" cy="92075"/>
            <a:chOff x="0" y="3109250"/>
            <a:chExt cx="5760261" cy="92075"/>
          </a:xfrm>
        </p:grpSpPr>
        <p:sp>
          <p:nvSpPr>
            <p:cNvPr id="3368" name="Google Shape;3368;g3b75ff0c716_0_8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9" name="Google Shape;3369;g3b75ff0c716_0_8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0" name="Google Shape;3370;g3b75ff0c716_0_8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71" name="Google Shape;3371;g3b75ff0c716_0_87"/>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372" name="Google Shape;3372;g3b75ff0c716_0_8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89</a:t>
            </a:fld>
            <a:r>
              <a:rPr lang="en-US"/>
              <a:t> </a:t>
            </a:r>
            <a:endParaRPr/>
          </a:p>
        </p:txBody>
      </p:sp>
      <p:pic>
        <p:nvPicPr>
          <p:cNvPr id="3373" name="Google Shape;3373;g3b75ff0c716_0_87"/>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374" name="Google Shape;3374;g3b75ff0c716_0_87"/>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375" name="Google Shape;3375;g3b75ff0c716_0_87"/>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376" name="Google Shape;3376;g3b75ff0c716_0_87"/>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377" name="Google Shape;3377;g3b75ff0c716_0_87"/>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378" name="Google Shape;3378;g3b75ff0c716_0_87"/>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379" name="Google Shape;3379;g3b75ff0c716_0_87"/>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80" name="Google Shape;3380;g3b75ff0c716_0_87"/>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81" name="Google Shape;3381;g3b75ff0c716_0_87"/>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382" name="Google Shape;3382;g3b75ff0c716_0_87"/>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1.6           0          0	</a:t>
            </a:r>
            <a:r>
              <a:rPr lang="en-US" sz="800" b="1" i="0" u="none" strike="noStrike" cap="none">
                <a:solidFill>
                  <a:schemeClr val="dk1"/>
                </a:solidFill>
                <a:latin typeface="Calibri"/>
                <a:ea typeface="Calibri"/>
                <a:cs typeface="Calibri"/>
                <a:sym typeface="Calibri"/>
              </a:rPr>
              <a:t>17.15</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cxnSp>
        <p:nvCxnSpPr>
          <p:cNvPr id="3383" name="Google Shape;3383;g3b75ff0c716_0_87"/>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384" name="Google Shape;3384;g3b75ff0c716_0_87"/>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385" name="Google Shape;3385;g3b75ff0c716_0_87"/>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386" name="Google Shape;3386;g3b75ff0c716_0_87"/>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387" name="Google Shape;3387;g3b75ff0c716_0_87"/>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388" name="Google Shape;3388;g3b75ff0c716_0_87"/>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389" name="Google Shape;3389;g3b75ff0c716_0_87"/>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390" name="Google Shape;3390;g3b75ff0c716_0_87"/>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391" name="Google Shape;3391;g3b75ff0c716_0_87"/>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392" name="Google Shape;3392;g3b75ff0c716_0_87"/>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393" name="Google Shape;3393;g3b75ff0c716_0_87"/>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394" name="Google Shape;3394;g3b75ff0c716_0_87"/>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395" name="Google Shape;3395;g3b75ff0c716_0_87"/>
          <p:cNvPicPr preferRelativeResize="0"/>
          <p:nvPr/>
        </p:nvPicPr>
        <p:blipFill rotWithShape="1">
          <a:blip r:embed="rId9">
            <a:alphaModFix/>
          </a:blip>
          <a:srcRect/>
          <a:stretch/>
        </p:blipFill>
        <p:spPr>
          <a:xfrm>
            <a:off x="3757404" y="67131"/>
            <a:ext cx="2005082" cy="889801"/>
          </a:xfrm>
          <a:prstGeom prst="rect">
            <a:avLst/>
          </a:prstGeom>
          <a:noFill/>
          <a:ln>
            <a:noFill/>
          </a:ln>
        </p:spPr>
      </p:pic>
      <p:sp>
        <p:nvSpPr>
          <p:cNvPr id="3396" name="Google Shape;3396;g3b75ff0c716_0_87"/>
          <p:cNvSpPr/>
          <p:nvPr/>
        </p:nvSpPr>
        <p:spPr>
          <a:xfrm>
            <a:off x="3577091" y="4967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97" name="Google Shape;3397;g3b75ff0c716_0_87"/>
          <p:cNvSpPr/>
          <p:nvPr/>
        </p:nvSpPr>
        <p:spPr>
          <a:xfrm>
            <a:off x="5359775" y="553782"/>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398" name="Google Shape;3398;g3b75ff0c716_0_87"/>
          <p:cNvSpPr txBox="1"/>
          <p:nvPr/>
        </p:nvSpPr>
        <p:spPr>
          <a:xfrm>
            <a:off x="2852197" y="2600622"/>
            <a:ext cx="29082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Terminating episode 1 after 2 steps. </a:t>
            </a:r>
            <a:r>
              <a:rPr lang="en-US" sz="600" b="0" i="0" u="none" strike="noStrike" cap="non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sz="60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rgbClr val="1B1472"/>
              </a:solidFill>
              <a:latin typeface="Arial"/>
              <a:ea typeface="Arial"/>
              <a:cs typeface="Arial"/>
              <a:sym typeface="Arial"/>
            </a:endParaRPr>
          </a:p>
        </p:txBody>
      </p:sp>
      <p:sp>
        <p:nvSpPr>
          <p:cNvPr id="3399" name="Google Shape;3399;g3b75ff0c716_0_87"/>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0" name="Google Shape;3400;g3b75ff0c716_0_87"/>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
        <p:nvSpPr>
          <p:cNvPr id="3401" name="Google Shape;3401;g3b75ff0c716_0_87"/>
          <p:cNvSpPr txBox="1"/>
          <p:nvPr/>
        </p:nvSpPr>
        <p:spPr>
          <a:xfrm>
            <a:off x="82600" y="1720728"/>
            <a:ext cx="2793000" cy="7659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20,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Q(W,S) = 0 + 0.8 [20+ (0.9</a:t>
            </a:r>
            <a:r>
              <a:rPr lang="en-US" sz="700" b="1" i="0" u="none" strike="noStrike" cap="none">
                <a:solidFill>
                  <a:srgbClr val="FF0000"/>
                </a:solidFill>
                <a:latin typeface="Arial"/>
                <a:ea typeface="Arial"/>
                <a:cs typeface="Arial"/>
                <a:sym typeface="Arial"/>
              </a:rPr>
              <a:t>*(MAX{Q(C,S), Q(C,F)})-</a:t>
            </a:r>
            <a:r>
              <a:rPr lang="en-US" sz="700" b="1" i="0" u="none" strike="noStrike" cap="none">
                <a:solidFill>
                  <a:schemeClr val="dk1"/>
                </a:solidFill>
                <a:latin typeface="Arial"/>
                <a:ea typeface="Arial"/>
                <a:cs typeface="Arial"/>
                <a:sym typeface="Arial"/>
              </a:rPr>
              <a:t>0] = ~17.15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402" name="Google Shape;3402;g3b75ff0c716_0_87"/>
          <p:cNvSpPr/>
          <p:nvPr/>
        </p:nvSpPr>
        <p:spPr>
          <a:xfrm>
            <a:off x="879354" y="1706616"/>
            <a:ext cx="479400" cy="156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03" name="Google Shape;3403;g3b75ff0c716_0_87"/>
          <p:cNvSpPr/>
          <p:nvPr/>
        </p:nvSpPr>
        <p:spPr>
          <a:xfrm>
            <a:off x="309839" y="1424777"/>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404" name="Google Shape;3404;g3b75ff0c716_0_87"/>
          <p:cNvCxnSpPr/>
          <p:nvPr/>
        </p:nvCxnSpPr>
        <p:spPr>
          <a:xfrm>
            <a:off x="910106" y="1424777"/>
            <a:ext cx="0" cy="225300"/>
          </a:xfrm>
          <a:prstGeom prst="straightConnector1">
            <a:avLst/>
          </a:prstGeom>
          <a:noFill/>
          <a:ln w="9525" cap="flat" cmpd="sng">
            <a:solidFill>
              <a:schemeClr val="dk1"/>
            </a:solidFill>
            <a:prstDash val="solid"/>
            <a:round/>
            <a:headEnd type="none" w="sm" len="sm"/>
            <a:tailEnd type="none" w="sm" len="sm"/>
          </a:ln>
        </p:spPr>
      </p:cxnSp>
      <p:cxnSp>
        <p:nvCxnSpPr>
          <p:cNvPr id="3405" name="Google Shape;3405;g3b75ff0c716_0_87"/>
          <p:cNvCxnSpPr/>
          <p:nvPr/>
        </p:nvCxnSpPr>
        <p:spPr>
          <a:xfrm>
            <a:off x="1566089" y="1431404"/>
            <a:ext cx="0" cy="225300"/>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transition>
    <p:fade thruBlk="1"/>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409"/>
        <p:cNvGrpSpPr/>
        <p:nvPr/>
      </p:nvGrpSpPr>
      <p:grpSpPr>
        <a:xfrm>
          <a:off x="0" y="0"/>
          <a:ext cx="0" cy="0"/>
          <a:chOff x="0" y="0"/>
          <a:chExt cx="0" cy="0"/>
        </a:xfrm>
      </p:grpSpPr>
      <p:sp>
        <p:nvSpPr>
          <p:cNvPr id="3410" name="Google Shape;3410;g3b75ff0c716_0_131"/>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Q-Learning</a:t>
            </a:r>
            <a:endParaRPr/>
          </a:p>
        </p:txBody>
      </p:sp>
      <p:sp>
        <p:nvSpPr>
          <p:cNvPr id="3411" name="Google Shape;3411;g3b75ff0c716_0_131"/>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412" name="Google Shape;3412;g3b75ff0c716_0_131"/>
          <p:cNvGrpSpPr/>
          <p:nvPr/>
        </p:nvGrpSpPr>
        <p:grpSpPr>
          <a:xfrm>
            <a:off x="0" y="3109250"/>
            <a:ext cx="5760261" cy="92075"/>
            <a:chOff x="0" y="3109250"/>
            <a:chExt cx="5760261" cy="92075"/>
          </a:xfrm>
        </p:grpSpPr>
        <p:sp>
          <p:nvSpPr>
            <p:cNvPr id="3413" name="Google Shape;3413;g3b75ff0c716_0_13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4" name="Google Shape;3414;g3b75ff0c716_0_13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5" name="Google Shape;3415;g3b75ff0c716_0_13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16" name="Google Shape;3416;g3b75ff0c716_0_131"/>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417" name="Google Shape;3417;g3b75ff0c716_0_13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90</a:t>
            </a:fld>
            <a:r>
              <a:rPr lang="en-US"/>
              <a:t> </a:t>
            </a:r>
            <a:endParaRPr/>
          </a:p>
        </p:txBody>
      </p:sp>
      <p:pic>
        <p:nvPicPr>
          <p:cNvPr id="3418" name="Google Shape;3418;g3b75ff0c716_0_131"/>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419" name="Google Shape;3419;g3b75ff0c716_0_131"/>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420" name="Google Shape;3420;g3b75ff0c716_0_131"/>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421" name="Google Shape;3421;g3b75ff0c716_0_131"/>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422" name="Google Shape;3422;g3b75ff0c716_0_131"/>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423" name="Google Shape;3423;g3b75ff0c716_0_131"/>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424" name="Google Shape;3424;g3b75ff0c716_0_131"/>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425" name="Google Shape;3425;g3b75ff0c716_0_131"/>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426" name="Google Shape;3426;g3b75ff0c716_0_131"/>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427" name="Google Shape;3427;g3b75ff0c716_0_131"/>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           0          0	17.15      0             0</a:t>
            </a:r>
            <a:endParaRPr sz="300" b="0" i="0" u="none" strike="noStrike" cap="none">
              <a:solidFill>
                <a:srgbClr val="000000"/>
              </a:solidFill>
              <a:latin typeface="Arial"/>
              <a:ea typeface="Arial"/>
              <a:cs typeface="Arial"/>
              <a:sym typeface="Arial"/>
            </a:endParaRPr>
          </a:p>
        </p:txBody>
      </p:sp>
      <p:cxnSp>
        <p:nvCxnSpPr>
          <p:cNvPr id="3428" name="Google Shape;3428;g3b75ff0c716_0_131"/>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429" name="Google Shape;3429;g3b75ff0c716_0_131"/>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430" name="Google Shape;3430;g3b75ff0c716_0_131"/>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431" name="Google Shape;3431;g3b75ff0c716_0_131"/>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432" name="Google Shape;3432;g3b75ff0c716_0_131"/>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433" name="Google Shape;3433;g3b75ff0c716_0_131"/>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434" name="Google Shape;3434;g3b75ff0c716_0_131"/>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435" name="Google Shape;3435;g3b75ff0c716_0_131"/>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436" name="Google Shape;3436;g3b75ff0c716_0_131"/>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437" name="Google Shape;3437;g3b75ff0c716_0_131"/>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438" name="Google Shape;3438;g3b75ff0c716_0_131"/>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439" name="Google Shape;3439;g3b75ff0c716_0_131"/>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440" name="Google Shape;3440;g3b75ff0c716_0_131"/>
          <p:cNvPicPr preferRelativeResize="0"/>
          <p:nvPr/>
        </p:nvPicPr>
        <p:blipFill rotWithShape="1">
          <a:blip r:embed="rId9">
            <a:alphaModFix/>
          </a:blip>
          <a:srcRect/>
          <a:stretch/>
        </p:blipFill>
        <p:spPr>
          <a:xfrm>
            <a:off x="3757404" y="67131"/>
            <a:ext cx="2005082" cy="889801"/>
          </a:xfrm>
          <a:prstGeom prst="rect">
            <a:avLst/>
          </a:prstGeom>
          <a:noFill/>
          <a:ln>
            <a:noFill/>
          </a:ln>
        </p:spPr>
      </p:pic>
      <p:sp>
        <p:nvSpPr>
          <p:cNvPr id="3441" name="Google Shape;3441;g3b75ff0c716_0_131"/>
          <p:cNvSpPr/>
          <p:nvPr/>
        </p:nvSpPr>
        <p:spPr>
          <a:xfrm>
            <a:off x="3577091" y="3443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42" name="Google Shape;3442;g3b75ff0c716_0_131"/>
          <p:cNvSpPr/>
          <p:nvPr/>
        </p:nvSpPr>
        <p:spPr>
          <a:xfrm>
            <a:off x="5359775" y="553782"/>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443" name="Google Shape;3443;g3b75ff0c716_0_131"/>
          <p:cNvSpPr txBox="1"/>
          <p:nvPr/>
        </p:nvSpPr>
        <p:spPr>
          <a:xfrm>
            <a:off x="2852197" y="2600622"/>
            <a:ext cx="29082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Target Policy : </a:t>
            </a:r>
            <a:r>
              <a:rPr lang="en-US" sz="700" b="0" i="0" u="none" strike="noStrike" cap="none">
                <a:solidFill>
                  <a:schemeClr val="dk1"/>
                </a:solidFill>
                <a:latin typeface="Arial"/>
                <a:ea typeface="Arial"/>
                <a:cs typeface="Arial"/>
                <a:sym typeface="Arial"/>
              </a:rPr>
              <a:t>Greedy (MAX) is used to evaluate /update the Q values</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Behavior Policy : </a:t>
            </a:r>
            <a:r>
              <a:rPr lang="en-US" sz="700" b="0" i="0" u="none" strike="noStrike" cap="none">
                <a:solidFill>
                  <a:srgbClr val="000000"/>
                </a:solidFill>
                <a:latin typeface="Arial"/>
                <a:ea typeface="Arial"/>
                <a:cs typeface="Arial"/>
                <a:sym typeface="Arial"/>
              </a:rPr>
              <a:t>ε-greedy is used to select actions based on the policy derived from Q - Value</a:t>
            </a:r>
            <a:r>
              <a:rPr lang="en-US" sz="700" b="1" i="0" u="none" strike="noStrike" cap="none">
                <a:solidFill>
                  <a:schemeClr val="dk1"/>
                </a:solidFill>
                <a:latin typeface="Arial"/>
                <a:ea typeface="Arial"/>
                <a:cs typeface="Arial"/>
                <a:sym typeface="Arial"/>
              </a:rPr>
              <a:t> </a:t>
            </a:r>
            <a:endParaRPr sz="700" b="1" i="0" u="none" strike="noStrike" cap="none">
              <a:solidFill>
                <a:schemeClr val="dk1"/>
              </a:solidFill>
              <a:latin typeface="Arial"/>
              <a:ea typeface="Arial"/>
              <a:cs typeface="Arial"/>
              <a:sym typeface="Arial"/>
            </a:endParaRPr>
          </a:p>
        </p:txBody>
      </p:sp>
      <p:sp>
        <p:nvSpPr>
          <p:cNvPr id="3444" name="Google Shape;3444;g3b75ff0c716_0_131"/>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5" name="Google Shape;3445;g3b75ff0c716_0_131"/>
          <p:cNvSpPr txBox="1"/>
          <p:nvPr/>
        </p:nvSpPr>
        <p:spPr>
          <a:xfrm>
            <a:off x="92818" y="1649835"/>
            <a:ext cx="2793000" cy="18432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20,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4, </a:t>
            </a:r>
            <a:r>
              <a:rPr lang="en-US" sz="700" b="1" i="0" u="none" strike="noStrike" cap="none">
                <a:solidFill>
                  <a:srgbClr val="C00000"/>
                </a:solidFill>
                <a:latin typeface="Arial"/>
                <a:ea typeface="Arial"/>
                <a:cs typeface="Arial"/>
                <a:sym typeface="Arial"/>
              </a:rPr>
              <a:t>W,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r>
              <a:rPr lang="en-US" sz="700" b="1" i="0" u="none" strike="noStrike" cap="none">
                <a:solidFill>
                  <a:schemeClr val="dk1"/>
                </a:solidFill>
                <a:latin typeface="Arial"/>
                <a:ea typeface="Arial"/>
                <a:cs typeface="Arial"/>
                <a:sym typeface="Arial"/>
              </a:rPr>
              <a:t> </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 Q(C,F) = 1.6+0.8(2+0.9</a:t>
            </a:r>
            <a:r>
              <a:rPr lang="en-US" sz="700" b="1" i="0" u="none" strike="noStrike" cap="none">
                <a:solidFill>
                  <a:srgbClr val="FF0000"/>
                </a:solidFill>
                <a:latin typeface="Arial"/>
                <a:ea typeface="Arial"/>
                <a:cs typeface="Arial"/>
                <a:sym typeface="Arial"/>
              </a:rPr>
              <a:t>(MAX{1.6,0})</a:t>
            </a:r>
            <a:r>
              <a:rPr lang="en-US" sz="700" b="1" i="0" u="none" strike="noStrike" cap="none">
                <a:solidFill>
                  <a:schemeClr val="dk1"/>
                </a:solidFill>
                <a:latin typeface="Arial"/>
                <a:ea typeface="Arial"/>
                <a:cs typeface="Arial"/>
                <a:sym typeface="Arial"/>
              </a:rPr>
              <a:t>−1.6)=~3.07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 Q(C,F) = 3.07+0.8(4+0.9</a:t>
            </a:r>
            <a:r>
              <a:rPr lang="en-US" sz="700" b="1" i="0" u="none" strike="noStrike" cap="none">
                <a:solidFill>
                  <a:srgbClr val="FF0000"/>
                </a:solidFill>
                <a:latin typeface="Arial"/>
                <a:ea typeface="Arial"/>
                <a:cs typeface="Arial"/>
                <a:sym typeface="Arial"/>
              </a:rPr>
              <a:t>(MAX{0,17.15})</a:t>
            </a:r>
            <a:r>
              <a:rPr lang="en-US" sz="700" b="1" i="0" u="none" strike="noStrike" cap="none">
                <a:solidFill>
                  <a:schemeClr val="dk1"/>
                </a:solidFill>
                <a:latin typeface="Arial"/>
                <a:ea typeface="Arial"/>
                <a:cs typeface="Arial"/>
                <a:sym typeface="Arial"/>
              </a:rPr>
              <a:t>−3.07)=~16.16</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t=2 : Q(W,S) = 17.15+0.8(-5+0.9</a:t>
            </a:r>
            <a:r>
              <a:rPr lang="en-US" sz="700" b="1" i="0" u="none" strike="noStrike" cap="none">
                <a:solidFill>
                  <a:srgbClr val="FF0000"/>
                </a:solidFill>
                <a:latin typeface="Arial"/>
                <a:ea typeface="Arial"/>
                <a:cs typeface="Arial"/>
                <a:sym typeface="Arial"/>
              </a:rPr>
              <a:t>(MAX{0,17.15})</a:t>
            </a:r>
            <a:r>
              <a:rPr lang="en-US" sz="700" b="1" i="0" u="none" strike="noStrike" cap="none">
                <a:solidFill>
                  <a:schemeClr val="dk1"/>
                </a:solidFill>
                <a:latin typeface="Arial"/>
                <a:ea typeface="Arial"/>
                <a:cs typeface="Arial"/>
                <a:sym typeface="Arial"/>
              </a:rPr>
              <a:t>−17.15)=~11.78</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t=3 : Q(W,S) = 11.78 + 0.8 [1+0.9</a:t>
            </a:r>
            <a:r>
              <a:rPr lang="en-US" sz="700" b="1" i="0" u="none" strike="noStrike" cap="none">
                <a:solidFill>
                  <a:srgbClr val="FF0000"/>
                </a:solidFill>
                <a:latin typeface="Arial"/>
                <a:ea typeface="Arial"/>
                <a:cs typeface="Arial"/>
                <a:sym typeface="Arial"/>
              </a:rPr>
              <a:t>(MAX{0,11.78})</a:t>
            </a:r>
            <a:r>
              <a:rPr lang="en-US" sz="700" b="1" i="0" u="none" strike="noStrike" cap="none">
                <a:solidFill>
                  <a:schemeClr val="dk1"/>
                </a:solidFill>
                <a:latin typeface="Arial"/>
                <a:ea typeface="Arial"/>
                <a:cs typeface="Arial"/>
                <a:sym typeface="Arial"/>
              </a:rPr>
              <a:t>−11.78] = ~11.64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t=4 : Q(W,F) = 0 + 0.8 [-10+ (0.9*0)-0] = ~-8</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446" name="Google Shape;3446;g3b75ff0c716_0_131"/>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
        <p:nvSpPr>
          <p:cNvPr id="3447" name="Google Shape;3447;g3b75ff0c716_0_131"/>
          <p:cNvSpPr txBox="1"/>
          <p:nvPr/>
        </p:nvSpPr>
        <p:spPr>
          <a:xfrm>
            <a:off x="289408" y="110411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16.16       0        -8	11.64      0             0</a:t>
            </a:r>
            <a:endParaRPr sz="300" b="0" i="0" u="none" strike="noStrike" cap="none">
              <a:solidFill>
                <a:srgbClr val="000000"/>
              </a:solidFill>
              <a:latin typeface="Arial"/>
              <a:ea typeface="Arial"/>
              <a:cs typeface="Arial"/>
              <a:sym typeface="Arial"/>
            </a:endParaRPr>
          </a:p>
        </p:txBody>
      </p:sp>
    </p:spTree>
  </p:cSld>
  <p:clrMapOvr>
    <a:masterClrMapping/>
  </p:clrMapOvr>
  <p:transition>
    <p:fade thruBlk="1"/>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451"/>
        <p:cNvGrpSpPr/>
        <p:nvPr/>
      </p:nvGrpSpPr>
      <p:grpSpPr>
        <a:xfrm>
          <a:off x="0" y="0"/>
          <a:ext cx="0" cy="0"/>
          <a:chOff x="0" y="0"/>
          <a:chExt cx="0" cy="0"/>
        </a:xfrm>
      </p:grpSpPr>
      <p:sp>
        <p:nvSpPr>
          <p:cNvPr id="3452" name="Google Shape;3452;g3b75ff0c716_0_172"/>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Q-Learning</a:t>
            </a:r>
            <a:endParaRPr/>
          </a:p>
        </p:txBody>
      </p:sp>
      <p:sp>
        <p:nvSpPr>
          <p:cNvPr id="3453" name="Google Shape;3453;g3b75ff0c716_0_172"/>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454" name="Google Shape;3454;g3b75ff0c716_0_172"/>
          <p:cNvGrpSpPr/>
          <p:nvPr/>
        </p:nvGrpSpPr>
        <p:grpSpPr>
          <a:xfrm>
            <a:off x="0" y="3109250"/>
            <a:ext cx="5760261" cy="92075"/>
            <a:chOff x="0" y="3109250"/>
            <a:chExt cx="5760261" cy="92075"/>
          </a:xfrm>
        </p:grpSpPr>
        <p:sp>
          <p:nvSpPr>
            <p:cNvPr id="3455" name="Google Shape;3455;g3b75ff0c716_0_17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6" name="Google Shape;3456;g3b75ff0c716_0_17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7" name="Google Shape;3457;g3b75ff0c716_0_17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58" name="Google Shape;3458;g3b75ff0c716_0_172"/>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459" name="Google Shape;3459;g3b75ff0c716_0_17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91</a:t>
            </a:fld>
            <a:r>
              <a:rPr lang="en-US"/>
              <a:t> </a:t>
            </a:r>
            <a:endParaRPr/>
          </a:p>
        </p:txBody>
      </p:sp>
      <p:pic>
        <p:nvPicPr>
          <p:cNvPr id="3460" name="Google Shape;3460;g3b75ff0c716_0_172"/>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461" name="Google Shape;3461;g3b75ff0c716_0_172"/>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462" name="Google Shape;3462;g3b75ff0c716_0_172"/>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463" name="Google Shape;3463;g3b75ff0c716_0_172"/>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464" name="Google Shape;3464;g3b75ff0c716_0_172"/>
          <p:cNvPicPr preferRelativeResize="0"/>
          <p:nvPr/>
        </p:nvPicPr>
        <p:blipFill rotWithShape="1">
          <a:blip r:embed="rId6">
            <a:alphaModFix/>
          </a:blip>
          <a:srcRect/>
          <a:stretch/>
        </p:blipFill>
        <p:spPr>
          <a:xfrm>
            <a:off x="4069116" y="1789961"/>
            <a:ext cx="1640171" cy="889000"/>
          </a:xfrm>
          <a:prstGeom prst="rect">
            <a:avLst/>
          </a:prstGeom>
          <a:noFill/>
          <a:ln>
            <a:noFill/>
          </a:ln>
        </p:spPr>
      </p:pic>
      <p:sp>
        <p:nvSpPr>
          <p:cNvPr id="3465" name="Google Shape;3465;g3b75ff0c716_0_172"/>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466" name="Google Shape;3466;g3b75ff0c716_0_172"/>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467" name="Google Shape;3467;g3b75ff0c716_0_172"/>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468" name="Google Shape;3468;g3b75ff0c716_0_172"/>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469" name="Google Shape;3469;g3b75ff0c716_0_172"/>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           0          0	17.15      0             0</a:t>
            </a:r>
            <a:endParaRPr sz="300" b="0" i="0" u="none" strike="noStrike" cap="none">
              <a:solidFill>
                <a:srgbClr val="000000"/>
              </a:solidFill>
              <a:latin typeface="Arial"/>
              <a:ea typeface="Arial"/>
              <a:cs typeface="Arial"/>
              <a:sym typeface="Arial"/>
            </a:endParaRPr>
          </a:p>
        </p:txBody>
      </p:sp>
      <p:cxnSp>
        <p:nvCxnSpPr>
          <p:cNvPr id="3470" name="Google Shape;3470;g3b75ff0c716_0_172"/>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471" name="Google Shape;3471;g3b75ff0c716_0_172"/>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472" name="Google Shape;3472;g3b75ff0c716_0_172"/>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473" name="Google Shape;3473;g3b75ff0c716_0_172"/>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474" name="Google Shape;3474;g3b75ff0c716_0_172"/>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475" name="Google Shape;3475;g3b75ff0c716_0_172"/>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476" name="Google Shape;3476;g3b75ff0c716_0_172"/>
          <p:cNvPicPr preferRelativeResize="0"/>
          <p:nvPr/>
        </p:nvPicPr>
        <p:blipFill rotWithShape="1">
          <a:blip r:embed="rId7">
            <a:alphaModFix/>
          </a:blip>
          <a:srcRect/>
          <a:stretch/>
        </p:blipFill>
        <p:spPr>
          <a:xfrm>
            <a:off x="325079" y="652004"/>
            <a:ext cx="247568" cy="107156"/>
          </a:xfrm>
          <a:prstGeom prst="rect">
            <a:avLst/>
          </a:prstGeom>
          <a:noFill/>
          <a:ln>
            <a:noFill/>
          </a:ln>
        </p:spPr>
      </p:pic>
      <p:pic>
        <p:nvPicPr>
          <p:cNvPr id="3477" name="Google Shape;3477;g3b75ff0c716_0_172"/>
          <p:cNvPicPr preferRelativeResize="0"/>
          <p:nvPr/>
        </p:nvPicPr>
        <p:blipFill rotWithShape="1">
          <a:blip r:embed="rId8">
            <a:alphaModFix/>
          </a:blip>
          <a:srcRect/>
          <a:stretch/>
        </p:blipFill>
        <p:spPr>
          <a:xfrm>
            <a:off x="660303" y="649609"/>
            <a:ext cx="249913" cy="117267"/>
          </a:xfrm>
          <a:prstGeom prst="rect">
            <a:avLst/>
          </a:prstGeom>
          <a:noFill/>
          <a:ln>
            <a:noFill/>
          </a:ln>
        </p:spPr>
      </p:pic>
      <p:pic>
        <p:nvPicPr>
          <p:cNvPr id="3478" name="Google Shape;3478;g3b75ff0c716_0_172"/>
          <p:cNvPicPr preferRelativeResize="0"/>
          <p:nvPr/>
        </p:nvPicPr>
        <p:blipFill rotWithShape="1">
          <a:blip r:embed="rId7">
            <a:alphaModFix/>
          </a:blip>
          <a:srcRect/>
          <a:stretch/>
        </p:blipFill>
        <p:spPr>
          <a:xfrm>
            <a:off x="967808" y="638754"/>
            <a:ext cx="247568" cy="107156"/>
          </a:xfrm>
          <a:prstGeom prst="rect">
            <a:avLst/>
          </a:prstGeom>
          <a:noFill/>
          <a:ln>
            <a:noFill/>
          </a:ln>
        </p:spPr>
      </p:pic>
      <p:pic>
        <p:nvPicPr>
          <p:cNvPr id="3479" name="Google Shape;3479;g3b75ff0c716_0_172"/>
          <p:cNvPicPr preferRelativeResize="0"/>
          <p:nvPr/>
        </p:nvPicPr>
        <p:blipFill rotWithShape="1">
          <a:blip r:embed="rId8">
            <a:alphaModFix/>
          </a:blip>
          <a:srcRect/>
          <a:stretch/>
        </p:blipFill>
        <p:spPr>
          <a:xfrm>
            <a:off x="1303032" y="636359"/>
            <a:ext cx="249913" cy="117267"/>
          </a:xfrm>
          <a:prstGeom prst="rect">
            <a:avLst/>
          </a:prstGeom>
          <a:noFill/>
          <a:ln>
            <a:noFill/>
          </a:ln>
        </p:spPr>
      </p:pic>
      <p:pic>
        <p:nvPicPr>
          <p:cNvPr id="3480" name="Google Shape;3480;g3b75ff0c716_0_172"/>
          <p:cNvPicPr preferRelativeResize="0"/>
          <p:nvPr/>
        </p:nvPicPr>
        <p:blipFill rotWithShape="1">
          <a:blip r:embed="rId7">
            <a:alphaModFix/>
          </a:blip>
          <a:srcRect/>
          <a:stretch/>
        </p:blipFill>
        <p:spPr>
          <a:xfrm>
            <a:off x="1577402" y="638755"/>
            <a:ext cx="247568" cy="107156"/>
          </a:xfrm>
          <a:prstGeom prst="rect">
            <a:avLst/>
          </a:prstGeom>
          <a:noFill/>
          <a:ln>
            <a:noFill/>
          </a:ln>
        </p:spPr>
      </p:pic>
      <p:pic>
        <p:nvPicPr>
          <p:cNvPr id="3481" name="Google Shape;3481;g3b75ff0c716_0_172"/>
          <p:cNvPicPr preferRelativeResize="0"/>
          <p:nvPr/>
        </p:nvPicPr>
        <p:blipFill rotWithShape="1">
          <a:blip r:embed="rId8">
            <a:alphaModFix/>
          </a:blip>
          <a:srcRect/>
          <a:stretch/>
        </p:blipFill>
        <p:spPr>
          <a:xfrm>
            <a:off x="1912626" y="636360"/>
            <a:ext cx="249913" cy="117267"/>
          </a:xfrm>
          <a:prstGeom prst="rect">
            <a:avLst/>
          </a:prstGeom>
          <a:noFill/>
          <a:ln>
            <a:noFill/>
          </a:ln>
        </p:spPr>
      </p:pic>
      <p:pic>
        <p:nvPicPr>
          <p:cNvPr id="3482" name="Google Shape;3482;g3b75ff0c716_0_172"/>
          <p:cNvPicPr preferRelativeResize="0"/>
          <p:nvPr/>
        </p:nvPicPr>
        <p:blipFill rotWithShape="1">
          <a:blip r:embed="rId9">
            <a:alphaModFix/>
          </a:blip>
          <a:srcRect/>
          <a:stretch/>
        </p:blipFill>
        <p:spPr>
          <a:xfrm>
            <a:off x="3757404" y="67131"/>
            <a:ext cx="2005082" cy="889801"/>
          </a:xfrm>
          <a:prstGeom prst="rect">
            <a:avLst/>
          </a:prstGeom>
          <a:noFill/>
          <a:ln>
            <a:noFill/>
          </a:ln>
        </p:spPr>
      </p:pic>
      <p:sp>
        <p:nvSpPr>
          <p:cNvPr id="3483" name="Google Shape;3483;g3b75ff0c716_0_172"/>
          <p:cNvSpPr/>
          <p:nvPr/>
        </p:nvSpPr>
        <p:spPr>
          <a:xfrm>
            <a:off x="3577091" y="3443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84" name="Google Shape;3484;g3b75ff0c716_0_172"/>
          <p:cNvSpPr/>
          <p:nvPr/>
        </p:nvSpPr>
        <p:spPr>
          <a:xfrm>
            <a:off x="5359775" y="553782"/>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485" name="Google Shape;3485;g3b75ff0c716_0_172"/>
          <p:cNvSpPr txBox="1"/>
          <p:nvPr/>
        </p:nvSpPr>
        <p:spPr>
          <a:xfrm>
            <a:off x="2852197" y="2600622"/>
            <a:ext cx="2908200" cy="400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Few more episodes are completed and the results of the update per Q(State, Action) is shown . Students are advised to practice this.</a:t>
            </a:r>
            <a:endParaRPr sz="700" b="1" i="0" u="none" strike="noStrike" cap="none">
              <a:solidFill>
                <a:schemeClr val="dk1"/>
              </a:solidFill>
              <a:latin typeface="Arial"/>
              <a:ea typeface="Arial"/>
              <a:cs typeface="Arial"/>
              <a:sym typeface="Arial"/>
            </a:endParaRPr>
          </a:p>
        </p:txBody>
      </p:sp>
      <p:sp>
        <p:nvSpPr>
          <p:cNvPr id="3486" name="Google Shape;3486;g3b75ff0c716_0_172"/>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7" name="Google Shape;3487;g3b75ff0c716_0_172"/>
          <p:cNvSpPr txBox="1"/>
          <p:nvPr/>
        </p:nvSpPr>
        <p:spPr>
          <a:xfrm>
            <a:off x="113478" y="2346680"/>
            <a:ext cx="2793000" cy="16278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20,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4, </a:t>
            </a:r>
            <a:r>
              <a:rPr lang="en-US" sz="700" b="1" i="0" u="none" strike="noStrike" cap="none">
                <a:solidFill>
                  <a:srgbClr val="C00000"/>
                </a:solidFill>
                <a:latin typeface="Arial"/>
                <a:ea typeface="Arial"/>
                <a:cs typeface="Arial"/>
                <a:sym typeface="Arial"/>
              </a:rPr>
              <a:t>W,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r>
              <a:rPr lang="en-US" sz="700" b="1" i="0" u="none" strike="noStrike" cap="none">
                <a:solidFill>
                  <a:schemeClr val="dk1"/>
                </a:solidFill>
                <a:latin typeface="Arial"/>
                <a:ea typeface="Arial"/>
                <a:cs typeface="Arial"/>
                <a:sym typeface="Arial"/>
              </a:rPr>
              <a:t> </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3: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 </a:t>
            </a:r>
            <a:r>
              <a:rPr lang="en-US" sz="700" b="1" i="0" u="none" strike="noStrike" cap="none">
                <a:solidFill>
                  <a:srgbClr val="0070C0"/>
                </a:solidFill>
                <a:latin typeface="Arial"/>
                <a:ea typeface="Arial"/>
                <a:cs typeface="Arial"/>
                <a:sym typeface="Arial"/>
              </a:rPr>
              <a:t>+10, </a:t>
            </a:r>
            <a:r>
              <a:rPr lang="en-US" sz="700" b="1" i="0" u="none" strike="noStrike" cap="none">
                <a:solidFill>
                  <a:srgbClr val="C00000"/>
                </a:solidFill>
                <a:latin typeface="Arial"/>
                <a:ea typeface="Arial"/>
                <a:cs typeface="Arial"/>
                <a:sym typeface="Arial"/>
              </a:rPr>
              <a:t>O</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4: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 </a:t>
            </a:r>
            <a:r>
              <a:rPr lang="en-US" sz="700" b="1" i="0" u="none" strike="noStrike" cap="none">
                <a:solidFill>
                  <a:srgbClr val="0070C0"/>
                </a:solidFill>
                <a:latin typeface="Arial"/>
                <a:ea typeface="Arial"/>
                <a:cs typeface="Arial"/>
                <a:sym typeface="Arial"/>
              </a:rPr>
              <a:t>+10, </a:t>
            </a:r>
            <a:r>
              <a:rPr lang="en-US" sz="700" b="1" i="0" u="none" strike="noStrike" cap="none">
                <a:solidFill>
                  <a:srgbClr val="C00000"/>
                </a:solidFill>
                <a:latin typeface="Arial"/>
                <a:ea typeface="Arial"/>
                <a:cs typeface="Arial"/>
                <a:sym typeface="Arial"/>
              </a:rPr>
              <a:t>C</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5: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6: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488" name="Google Shape;3488;g3b75ff0c716_0_172"/>
          <p:cNvSpPr txBox="1"/>
          <p:nvPr/>
        </p:nvSpPr>
        <p:spPr>
          <a:xfrm>
            <a:off x="54070" y="785748"/>
            <a:ext cx="387300" cy="203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4</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5</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6</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p:txBody>
      </p:sp>
      <p:sp>
        <p:nvSpPr>
          <p:cNvPr id="3489" name="Google Shape;3489;g3b75ff0c716_0_172"/>
          <p:cNvSpPr txBox="1"/>
          <p:nvPr/>
        </p:nvSpPr>
        <p:spPr>
          <a:xfrm>
            <a:off x="289408" y="110411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16.16       0        -8	11.64      0             0</a:t>
            </a:r>
            <a:endParaRPr sz="300" b="0" i="0" u="none" strike="noStrike" cap="none">
              <a:solidFill>
                <a:srgbClr val="000000"/>
              </a:solidFill>
              <a:latin typeface="Arial"/>
              <a:ea typeface="Arial"/>
              <a:cs typeface="Arial"/>
              <a:sym typeface="Arial"/>
            </a:endParaRPr>
          </a:p>
        </p:txBody>
      </p:sp>
      <p:sp>
        <p:nvSpPr>
          <p:cNvPr id="3490" name="Google Shape;3490;g3b75ff0c716_0_172"/>
          <p:cNvSpPr txBox="1"/>
          <p:nvPr/>
        </p:nvSpPr>
        <p:spPr>
          <a:xfrm>
            <a:off x="309839" y="143479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16.16       0       6.4	</a:t>
            </a:r>
            <a:r>
              <a:rPr lang="en-US" sz="800" b="0" i="0" u="none" strike="noStrike" cap="none">
                <a:solidFill>
                  <a:srgbClr val="FF0000"/>
                </a:solidFill>
                <a:latin typeface="Calibri"/>
                <a:ea typeface="Calibri"/>
                <a:cs typeface="Calibri"/>
                <a:sym typeface="Calibri"/>
              </a:rPr>
              <a:t>14.71 </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3491" name="Google Shape;3491;g3b75ff0c716_0_172"/>
          <p:cNvSpPr/>
          <p:nvPr/>
        </p:nvSpPr>
        <p:spPr>
          <a:xfrm>
            <a:off x="309839" y="16442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492" name="Google Shape;3492;g3b75ff0c716_0_172"/>
          <p:cNvCxnSpPr/>
          <p:nvPr/>
        </p:nvCxnSpPr>
        <p:spPr>
          <a:xfrm>
            <a:off x="910106" y="1644225"/>
            <a:ext cx="0" cy="225300"/>
          </a:xfrm>
          <a:prstGeom prst="straightConnector1">
            <a:avLst/>
          </a:prstGeom>
          <a:noFill/>
          <a:ln w="9525" cap="flat" cmpd="sng">
            <a:solidFill>
              <a:schemeClr val="dk1"/>
            </a:solidFill>
            <a:prstDash val="solid"/>
            <a:round/>
            <a:headEnd type="none" w="sm" len="sm"/>
            <a:tailEnd type="none" w="sm" len="sm"/>
          </a:ln>
        </p:spPr>
      </p:cxnSp>
      <p:cxnSp>
        <p:nvCxnSpPr>
          <p:cNvPr id="3493" name="Google Shape;3493;g3b75ff0c716_0_172"/>
          <p:cNvCxnSpPr/>
          <p:nvPr/>
        </p:nvCxnSpPr>
        <p:spPr>
          <a:xfrm>
            <a:off x="1566089" y="1650852"/>
            <a:ext cx="0" cy="225300"/>
          </a:xfrm>
          <a:prstGeom prst="straightConnector1">
            <a:avLst/>
          </a:prstGeom>
          <a:noFill/>
          <a:ln w="9525" cap="flat" cmpd="sng">
            <a:solidFill>
              <a:schemeClr val="dk1"/>
            </a:solidFill>
            <a:prstDash val="solid"/>
            <a:round/>
            <a:headEnd type="none" w="sm" len="sm"/>
            <a:tailEnd type="none" w="sm" len="sm"/>
          </a:ln>
        </p:spPr>
      </p:cxnSp>
      <p:sp>
        <p:nvSpPr>
          <p:cNvPr id="3494" name="Google Shape;3494;g3b75ff0c716_0_172"/>
          <p:cNvSpPr txBox="1"/>
          <p:nvPr/>
        </p:nvSpPr>
        <p:spPr>
          <a:xfrm>
            <a:off x="309839" y="165704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16.16 11.39     6.4	</a:t>
            </a:r>
            <a:r>
              <a:rPr lang="en-US" sz="800" b="0" i="0" u="none" strike="noStrike" cap="none">
                <a:solidFill>
                  <a:srgbClr val="FF0000"/>
                </a:solidFill>
                <a:latin typeface="Calibri"/>
                <a:ea typeface="Calibri"/>
                <a:cs typeface="Calibri"/>
                <a:sym typeface="Calibri"/>
              </a:rPr>
              <a:t>22.50</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3495" name="Google Shape;3495;g3b75ff0c716_0_172"/>
          <p:cNvSpPr/>
          <p:nvPr/>
        </p:nvSpPr>
        <p:spPr>
          <a:xfrm>
            <a:off x="309839" y="18728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496" name="Google Shape;3496;g3b75ff0c716_0_172"/>
          <p:cNvCxnSpPr/>
          <p:nvPr/>
        </p:nvCxnSpPr>
        <p:spPr>
          <a:xfrm>
            <a:off x="910106" y="1872825"/>
            <a:ext cx="0" cy="225300"/>
          </a:xfrm>
          <a:prstGeom prst="straightConnector1">
            <a:avLst/>
          </a:prstGeom>
          <a:noFill/>
          <a:ln w="9525" cap="flat" cmpd="sng">
            <a:solidFill>
              <a:schemeClr val="dk1"/>
            </a:solidFill>
            <a:prstDash val="solid"/>
            <a:round/>
            <a:headEnd type="none" w="sm" len="sm"/>
            <a:tailEnd type="none" w="sm" len="sm"/>
          </a:ln>
        </p:spPr>
      </p:cxnSp>
      <p:cxnSp>
        <p:nvCxnSpPr>
          <p:cNvPr id="3497" name="Google Shape;3497;g3b75ff0c716_0_172"/>
          <p:cNvCxnSpPr/>
          <p:nvPr/>
        </p:nvCxnSpPr>
        <p:spPr>
          <a:xfrm>
            <a:off x="1566089" y="1879452"/>
            <a:ext cx="0" cy="225300"/>
          </a:xfrm>
          <a:prstGeom prst="straightConnector1">
            <a:avLst/>
          </a:prstGeom>
          <a:noFill/>
          <a:ln w="9525" cap="flat" cmpd="sng">
            <a:solidFill>
              <a:schemeClr val="dk1"/>
            </a:solidFill>
            <a:prstDash val="solid"/>
            <a:round/>
            <a:headEnd type="none" w="sm" len="sm"/>
            <a:tailEnd type="none" w="sm" len="sm"/>
          </a:ln>
        </p:spPr>
      </p:cxnSp>
      <p:sp>
        <p:nvSpPr>
          <p:cNvPr id="3498" name="Google Shape;3498;g3b75ff0c716_0_172"/>
          <p:cNvSpPr txBox="1"/>
          <p:nvPr/>
        </p:nvSpPr>
        <p:spPr>
          <a:xfrm>
            <a:off x="309839" y="188564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16.16 11.39     6.4	</a:t>
            </a:r>
            <a:r>
              <a:rPr lang="en-US" sz="800" b="0" i="0" u="none" strike="noStrike" cap="none">
                <a:solidFill>
                  <a:srgbClr val="FF0000"/>
                </a:solidFill>
                <a:latin typeface="Calibri"/>
                <a:ea typeface="Calibri"/>
                <a:cs typeface="Calibri"/>
                <a:sym typeface="Calibri"/>
              </a:rPr>
              <a:t>16.70</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3499" name="Google Shape;3499;g3b75ff0c716_0_172"/>
          <p:cNvSpPr/>
          <p:nvPr/>
        </p:nvSpPr>
        <p:spPr>
          <a:xfrm>
            <a:off x="310939" y="2088820"/>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500" name="Google Shape;3500;g3b75ff0c716_0_172"/>
          <p:cNvCxnSpPr/>
          <p:nvPr/>
        </p:nvCxnSpPr>
        <p:spPr>
          <a:xfrm>
            <a:off x="911206" y="2088820"/>
            <a:ext cx="0" cy="225300"/>
          </a:xfrm>
          <a:prstGeom prst="straightConnector1">
            <a:avLst/>
          </a:prstGeom>
          <a:noFill/>
          <a:ln w="9525" cap="flat" cmpd="sng">
            <a:solidFill>
              <a:schemeClr val="dk1"/>
            </a:solidFill>
            <a:prstDash val="solid"/>
            <a:round/>
            <a:headEnd type="none" w="sm" len="sm"/>
            <a:tailEnd type="none" w="sm" len="sm"/>
          </a:ln>
        </p:spPr>
      </p:cxnSp>
      <p:cxnSp>
        <p:nvCxnSpPr>
          <p:cNvPr id="3501" name="Google Shape;3501;g3b75ff0c716_0_172"/>
          <p:cNvCxnSpPr/>
          <p:nvPr/>
        </p:nvCxnSpPr>
        <p:spPr>
          <a:xfrm>
            <a:off x="1567189" y="2095447"/>
            <a:ext cx="0" cy="225300"/>
          </a:xfrm>
          <a:prstGeom prst="straightConnector1">
            <a:avLst/>
          </a:prstGeom>
          <a:noFill/>
          <a:ln w="9525" cap="flat" cmpd="sng">
            <a:solidFill>
              <a:schemeClr val="dk1"/>
            </a:solidFill>
            <a:prstDash val="solid"/>
            <a:round/>
            <a:headEnd type="none" w="sm" len="sm"/>
            <a:tailEnd type="none" w="sm" len="sm"/>
          </a:ln>
        </p:spPr>
      </p:cxnSp>
      <p:sp>
        <p:nvSpPr>
          <p:cNvPr id="3502" name="Google Shape;3502;g3b75ff0c716_0_172"/>
          <p:cNvSpPr txBox="1"/>
          <p:nvPr/>
        </p:nvSpPr>
        <p:spPr>
          <a:xfrm>
            <a:off x="310939" y="2101640"/>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16.16 11.39     6.4	</a:t>
            </a:r>
            <a:r>
              <a:rPr lang="en-US" sz="800" b="0" i="0" u="none" strike="noStrike" cap="none">
                <a:solidFill>
                  <a:srgbClr val="FF0000"/>
                </a:solidFill>
                <a:latin typeface="Calibri"/>
                <a:ea typeface="Calibri"/>
                <a:cs typeface="Calibri"/>
                <a:sym typeface="Calibri"/>
              </a:rPr>
              <a:t>19.37</a:t>
            </a:r>
            <a:r>
              <a:rPr lang="en-US" sz="800" b="0" i="0" u="none" strike="noStrike" cap="none">
                <a:solidFill>
                  <a:schemeClr val="dk1"/>
                </a:solidFill>
                <a:latin typeface="Calibri"/>
                <a:ea typeface="Calibri"/>
                <a:cs typeface="Calibri"/>
                <a:sym typeface="Calibri"/>
              </a:rPr>
              <a:t>      0             0</a:t>
            </a:r>
            <a:endParaRPr sz="300" b="0" i="0" u="none" strike="noStrike" cap="none">
              <a:solidFill>
                <a:srgbClr val="000000"/>
              </a:solidFill>
              <a:latin typeface="Arial"/>
              <a:ea typeface="Arial"/>
              <a:cs typeface="Arial"/>
              <a:sym typeface="Arial"/>
            </a:endParaRPr>
          </a:p>
        </p:txBody>
      </p:sp>
      <p:sp>
        <p:nvSpPr>
          <p:cNvPr id="3503" name="Google Shape;3503;g3b75ff0c716_0_172"/>
          <p:cNvSpPr txBox="1"/>
          <p:nvPr/>
        </p:nvSpPr>
        <p:spPr>
          <a:xfrm>
            <a:off x="3130971" y="1336849"/>
            <a:ext cx="2629200" cy="1225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FF0000"/>
                </a:solidFill>
                <a:latin typeface="Arial"/>
                <a:ea typeface="Arial"/>
                <a:cs typeface="Arial"/>
                <a:sym typeface="Arial"/>
              </a:rPr>
              <a:t>Observe </a:t>
            </a:r>
            <a:r>
              <a:rPr lang="en-US" sz="700" b="1" i="0" u="none" strike="noStrike" cap="none">
                <a:solidFill>
                  <a:srgbClr val="1B1472"/>
                </a:solidFill>
                <a:latin typeface="Arial"/>
                <a:ea typeface="Arial"/>
                <a:cs typeface="Arial"/>
                <a:sym typeface="Arial"/>
              </a:rPr>
              <a:t>the  difference in value updates w.r.t Q(W,S) between successive time steps in episodes 3 to 6.</a:t>
            </a:r>
            <a:endParaRPr/>
          </a:p>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The true value is approx. Q(W,S) = 15 </a:t>
            </a:r>
            <a:endParaRPr/>
          </a:p>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Due to MAX bias the values are overestimated and this is more pronounced in the presence of NOISE</a:t>
            </a:r>
            <a:endParaRPr sz="70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None/>
            </a:pPr>
            <a:r>
              <a:rPr lang="en-US" sz="700" b="1" i="1" u="none" strike="noStrike" cap="none">
                <a:solidFill>
                  <a:schemeClr val="dk1"/>
                </a:solidFill>
                <a:latin typeface="Arial"/>
                <a:ea typeface="Arial"/>
                <a:cs typeface="Arial"/>
                <a:sym typeface="Arial"/>
              </a:rPr>
              <a:t>Sometimes this diverges from true value.</a:t>
            </a:r>
            <a:endParaRPr sz="700" b="1" i="1"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1" u="none" strike="noStrike" cap="none">
                <a:solidFill>
                  <a:schemeClr val="dk1"/>
                </a:solidFill>
                <a:latin typeface="Arial"/>
                <a:ea typeface="Arial"/>
                <a:cs typeface="Arial"/>
                <a:sym typeface="Arial"/>
              </a:rPr>
              <a:t>Solution to tackle : Double Q-Learning</a:t>
            </a:r>
            <a:endParaRPr/>
          </a:p>
          <a:p>
            <a:pPr marL="0" marR="0" lvl="0" indent="0" algn="l" rtl="0">
              <a:lnSpc>
                <a:spcPct val="100000"/>
              </a:lnSpc>
              <a:spcBef>
                <a:spcPts val="0"/>
              </a:spcBef>
              <a:spcAft>
                <a:spcPts val="0"/>
              </a:spcAft>
              <a:buNone/>
            </a:pPr>
            <a:endParaRPr sz="700" b="1" i="1"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600" b="1" i="1" u="none" strike="noStrike" cap="none">
                <a:solidFill>
                  <a:schemeClr val="dk1"/>
                </a:solidFill>
                <a:latin typeface="Arial"/>
                <a:ea typeface="Arial"/>
                <a:cs typeface="Arial"/>
                <a:sym typeface="Arial"/>
              </a:rPr>
              <a:t>** But in near-deterministic , less noisy environment , Q-learning helps in faster convergence!</a:t>
            </a:r>
            <a:endParaRPr/>
          </a:p>
          <a:p>
            <a:pPr marL="0" marR="0" lvl="0" indent="0" algn="l" rtl="0">
              <a:lnSpc>
                <a:spcPct val="100000"/>
              </a:lnSpc>
              <a:spcBef>
                <a:spcPts val="0"/>
              </a:spcBef>
              <a:spcAft>
                <a:spcPts val="0"/>
              </a:spcAft>
              <a:buNone/>
            </a:pPr>
            <a:endParaRPr sz="600" b="0" i="1" u="none" strike="noStrike" cap="none">
              <a:solidFill>
                <a:schemeClr val="dk1"/>
              </a:solidFill>
              <a:latin typeface="Arial"/>
              <a:ea typeface="Arial"/>
              <a:cs typeface="Arial"/>
              <a:sym typeface="Arial"/>
            </a:endParaRPr>
          </a:p>
        </p:txBody>
      </p:sp>
    </p:spTree>
  </p:cSld>
  <p:clrMapOvr>
    <a:masterClrMapping/>
  </p:clrMapOvr>
  <p:transition>
    <p:fade thruBlk="1"/>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507"/>
        <p:cNvGrpSpPr/>
        <p:nvPr/>
      </p:nvGrpSpPr>
      <p:grpSpPr>
        <a:xfrm>
          <a:off x="0" y="0"/>
          <a:ext cx="0" cy="0"/>
          <a:chOff x="0" y="0"/>
          <a:chExt cx="0" cy="0"/>
        </a:xfrm>
      </p:grpSpPr>
      <p:sp>
        <p:nvSpPr>
          <p:cNvPr id="3508" name="Google Shape;3508;g3b75ff0c716_0_227"/>
          <p:cNvSpPr txBox="1">
            <a:spLocks noGrp="1"/>
          </p:cNvSpPr>
          <p:nvPr>
            <p:ph type="title"/>
          </p:nvPr>
        </p:nvSpPr>
        <p:spPr>
          <a:xfrm>
            <a:off x="82600" y="109545"/>
            <a:ext cx="4943400" cy="261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p>
        </p:txBody>
      </p:sp>
      <p:sp>
        <p:nvSpPr>
          <p:cNvPr id="3509" name="Google Shape;3509;g3b75ff0c716_0_227"/>
          <p:cNvSpPr txBox="1">
            <a:spLocks noGrp="1"/>
          </p:cNvSpPr>
          <p:nvPr>
            <p:ph type="body" idx="1"/>
          </p:nvPr>
        </p:nvSpPr>
        <p:spPr>
          <a:xfrm>
            <a:off x="777220" y="516129"/>
            <a:ext cx="3812400" cy="2462700"/>
          </a:xfrm>
          <a:prstGeom prst="rect">
            <a:avLst/>
          </a:prstGeom>
          <a:noFill/>
          <a:ln>
            <a:noFill/>
          </a:ln>
        </p:spPr>
        <p:txBody>
          <a:bodyPr spcFirstLastPara="1" wrap="square" lIns="0" tIns="0" rIns="0" bIns="0" anchor="t" anchorCtr="0">
            <a:spAutoFit/>
          </a:bodyPr>
          <a:lstStyle/>
          <a:p>
            <a:pPr marL="457200" lvl="0" indent="-228600" algn="ctr" rtl="0">
              <a:lnSpc>
                <a:spcPct val="100000"/>
              </a:lnSpc>
              <a:spcBef>
                <a:spcPts val="0"/>
              </a:spcBef>
              <a:spcAft>
                <a:spcPts val="0"/>
              </a:spcAft>
              <a:buSzPts val="1400"/>
              <a:buNone/>
            </a:pPr>
            <a:r>
              <a:rPr lang="en-US" sz="1600" b="1"/>
              <a:t>Temporal Difference Learning Methods</a:t>
            </a: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endParaRPr sz="1600" b="1"/>
          </a:p>
          <a:p>
            <a:pPr marL="457200" lvl="0" indent="-228600" algn="ctr" rtl="0">
              <a:lnSpc>
                <a:spcPct val="100000"/>
              </a:lnSpc>
              <a:spcBef>
                <a:spcPts val="0"/>
              </a:spcBef>
              <a:spcAft>
                <a:spcPts val="0"/>
              </a:spcAft>
              <a:buSzPts val="1400"/>
              <a:buNone/>
            </a:pPr>
            <a:r>
              <a:rPr lang="en-US" sz="1600" b="1">
                <a:solidFill>
                  <a:schemeClr val="dk1"/>
                </a:solidFill>
              </a:rPr>
              <a:t>Off Policy Control Algorithms</a:t>
            </a:r>
            <a:endParaRPr/>
          </a:p>
          <a:p>
            <a:pPr marL="457200" lvl="0" indent="-228600" algn="ctr" rtl="0">
              <a:lnSpc>
                <a:spcPct val="100000"/>
              </a:lnSpc>
              <a:spcBef>
                <a:spcPts val="0"/>
              </a:spcBef>
              <a:spcAft>
                <a:spcPts val="0"/>
              </a:spcAft>
              <a:buSzPts val="1400"/>
              <a:buNone/>
            </a:pPr>
            <a:r>
              <a:rPr lang="en-US" sz="1600" b="1">
                <a:solidFill>
                  <a:srgbClr val="0070C0"/>
                </a:solidFill>
              </a:rPr>
              <a:t>Double Q-Learning</a:t>
            </a:r>
            <a:endParaRPr sz="1600" b="1">
              <a:solidFill>
                <a:schemeClr val="dk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513"/>
        <p:cNvGrpSpPr/>
        <p:nvPr/>
      </p:nvGrpSpPr>
      <p:grpSpPr>
        <a:xfrm>
          <a:off x="0" y="0"/>
          <a:ext cx="0" cy="0"/>
          <a:chOff x="0" y="0"/>
          <a:chExt cx="0" cy="0"/>
        </a:xfrm>
      </p:grpSpPr>
      <p:pic>
        <p:nvPicPr>
          <p:cNvPr id="3514" name="Google Shape;3514;g3b75ff0c716_0_232"/>
          <p:cNvPicPr preferRelativeResize="0"/>
          <p:nvPr/>
        </p:nvPicPr>
        <p:blipFill rotWithShape="1">
          <a:blip r:embed="rId3">
            <a:alphaModFix/>
          </a:blip>
          <a:srcRect/>
          <a:stretch/>
        </p:blipFill>
        <p:spPr>
          <a:xfrm>
            <a:off x="2339480" y="403678"/>
            <a:ext cx="253340" cy="263412"/>
          </a:xfrm>
          <a:prstGeom prst="rect">
            <a:avLst/>
          </a:prstGeom>
          <a:noFill/>
          <a:ln>
            <a:noFill/>
          </a:ln>
        </p:spPr>
      </p:pic>
      <p:pic>
        <p:nvPicPr>
          <p:cNvPr id="3515" name="Google Shape;3515;g3b75ff0c716_0_232"/>
          <p:cNvPicPr preferRelativeResize="0"/>
          <p:nvPr/>
        </p:nvPicPr>
        <p:blipFill rotWithShape="1">
          <a:blip r:embed="rId4">
            <a:alphaModFix/>
          </a:blip>
          <a:srcRect/>
          <a:stretch/>
        </p:blipFill>
        <p:spPr>
          <a:xfrm>
            <a:off x="3596565" y="370273"/>
            <a:ext cx="268790" cy="301041"/>
          </a:xfrm>
          <a:prstGeom prst="rect">
            <a:avLst/>
          </a:prstGeom>
          <a:noFill/>
          <a:ln>
            <a:noFill/>
          </a:ln>
        </p:spPr>
      </p:pic>
      <p:pic>
        <p:nvPicPr>
          <p:cNvPr id="3516" name="Google Shape;3516;g3b75ff0c716_0_232"/>
          <p:cNvPicPr preferRelativeResize="0"/>
          <p:nvPr/>
        </p:nvPicPr>
        <p:blipFill rotWithShape="1">
          <a:blip r:embed="rId5">
            <a:alphaModFix/>
          </a:blip>
          <a:srcRect/>
          <a:stretch/>
        </p:blipFill>
        <p:spPr>
          <a:xfrm>
            <a:off x="2994214" y="410746"/>
            <a:ext cx="276927" cy="275955"/>
          </a:xfrm>
          <a:prstGeom prst="rect">
            <a:avLst/>
          </a:prstGeom>
          <a:noFill/>
          <a:ln>
            <a:noFill/>
          </a:ln>
        </p:spPr>
      </p:pic>
      <p:sp>
        <p:nvSpPr>
          <p:cNvPr id="3517" name="Google Shape;3517;g3b75ff0c716_0_232"/>
          <p:cNvSpPr/>
          <p:nvPr/>
        </p:nvSpPr>
        <p:spPr>
          <a:xfrm>
            <a:off x="2164056" y="1416916"/>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518" name="Google Shape;3518;g3b75ff0c716_0_232"/>
          <p:cNvSpPr/>
          <p:nvPr/>
        </p:nvSpPr>
        <p:spPr>
          <a:xfrm>
            <a:off x="2179296" y="1072214"/>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519" name="Google Shape;3519;g3b75ff0c716_0_232"/>
          <p:cNvSpPr/>
          <p:nvPr/>
        </p:nvSpPr>
        <p:spPr>
          <a:xfrm>
            <a:off x="2182136" y="784025"/>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520" name="Google Shape;3520;g3b75ff0c716_0_232"/>
          <p:cNvCxnSpPr/>
          <p:nvPr/>
        </p:nvCxnSpPr>
        <p:spPr>
          <a:xfrm>
            <a:off x="2764323" y="769938"/>
            <a:ext cx="0" cy="225300"/>
          </a:xfrm>
          <a:prstGeom prst="straightConnector1">
            <a:avLst/>
          </a:prstGeom>
          <a:noFill/>
          <a:ln w="9525" cap="flat" cmpd="sng">
            <a:solidFill>
              <a:schemeClr val="dk1"/>
            </a:solidFill>
            <a:prstDash val="solid"/>
            <a:round/>
            <a:headEnd type="none" w="sm" len="sm"/>
            <a:tailEnd type="none" w="sm" len="sm"/>
          </a:ln>
        </p:spPr>
      </p:cxnSp>
      <p:cxnSp>
        <p:nvCxnSpPr>
          <p:cNvPr id="3521" name="Google Shape;3521;g3b75ff0c716_0_232"/>
          <p:cNvCxnSpPr/>
          <p:nvPr/>
        </p:nvCxnSpPr>
        <p:spPr>
          <a:xfrm>
            <a:off x="2764323" y="1083652"/>
            <a:ext cx="0" cy="225300"/>
          </a:xfrm>
          <a:prstGeom prst="straightConnector1">
            <a:avLst/>
          </a:prstGeom>
          <a:noFill/>
          <a:ln w="9525" cap="flat" cmpd="sng">
            <a:solidFill>
              <a:schemeClr val="dk1"/>
            </a:solidFill>
            <a:prstDash val="solid"/>
            <a:round/>
            <a:headEnd type="none" w="sm" len="sm"/>
            <a:tailEnd type="none" w="sm" len="sm"/>
          </a:ln>
        </p:spPr>
      </p:cxnSp>
      <p:cxnSp>
        <p:nvCxnSpPr>
          <p:cNvPr id="3522" name="Google Shape;3522;g3b75ff0c716_0_232"/>
          <p:cNvCxnSpPr/>
          <p:nvPr/>
        </p:nvCxnSpPr>
        <p:spPr>
          <a:xfrm>
            <a:off x="2764323" y="1416916"/>
            <a:ext cx="0" cy="225300"/>
          </a:xfrm>
          <a:prstGeom prst="straightConnector1">
            <a:avLst/>
          </a:prstGeom>
          <a:noFill/>
          <a:ln w="9525" cap="flat" cmpd="sng">
            <a:solidFill>
              <a:schemeClr val="dk1"/>
            </a:solidFill>
            <a:prstDash val="solid"/>
            <a:round/>
            <a:headEnd type="none" w="sm" len="sm"/>
            <a:tailEnd type="none" w="sm" len="sm"/>
          </a:ln>
        </p:spPr>
      </p:cxnSp>
      <p:cxnSp>
        <p:nvCxnSpPr>
          <p:cNvPr id="3523" name="Google Shape;3523;g3b75ff0c716_0_232"/>
          <p:cNvCxnSpPr/>
          <p:nvPr/>
        </p:nvCxnSpPr>
        <p:spPr>
          <a:xfrm>
            <a:off x="3420306" y="776565"/>
            <a:ext cx="0" cy="225300"/>
          </a:xfrm>
          <a:prstGeom prst="straightConnector1">
            <a:avLst/>
          </a:prstGeom>
          <a:noFill/>
          <a:ln w="9525" cap="flat" cmpd="sng">
            <a:solidFill>
              <a:schemeClr val="dk1"/>
            </a:solidFill>
            <a:prstDash val="solid"/>
            <a:round/>
            <a:headEnd type="none" w="sm" len="sm"/>
            <a:tailEnd type="none" w="sm" len="sm"/>
          </a:ln>
        </p:spPr>
      </p:cxnSp>
      <p:cxnSp>
        <p:nvCxnSpPr>
          <p:cNvPr id="3524" name="Google Shape;3524;g3b75ff0c716_0_232"/>
          <p:cNvCxnSpPr/>
          <p:nvPr/>
        </p:nvCxnSpPr>
        <p:spPr>
          <a:xfrm>
            <a:off x="3420306" y="1090279"/>
            <a:ext cx="0" cy="225300"/>
          </a:xfrm>
          <a:prstGeom prst="straightConnector1">
            <a:avLst/>
          </a:prstGeom>
          <a:noFill/>
          <a:ln w="9525" cap="flat" cmpd="sng">
            <a:solidFill>
              <a:schemeClr val="dk1"/>
            </a:solidFill>
            <a:prstDash val="solid"/>
            <a:round/>
            <a:headEnd type="none" w="sm" len="sm"/>
            <a:tailEnd type="none" w="sm" len="sm"/>
          </a:ln>
        </p:spPr>
      </p:cxnSp>
      <p:cxnSp>
        <p:nvCxnSpPr>
          <p:cNvPr id="3525" name="Google Shape;3525;g3b75ff0c716_0_232"/>
          <p:cNvCxnSpPr/>
          <p:nvPr/>
        </p:nvCxnSpPr>
        <p:spPr>
          <a:xfrm>
            <a:off x="3420306" y="1423543"/>
            <a:ext cx="0" cy="225300"/>
          </a:xfrm>
          <a:prstGeom prst="straightConnector1">
            <a:avLst/>
          </a:prstGeom>
          <a:noFill/>
          <a:ln w="9525" cap="flat" cmpd="sng">
            <a:solidFill>
              <a:schemeClr val="dk1"/>
            </a:solidFill>
            <a:prstDash val="solid"/>
            <a:round/>
            <a:headEnd type="none" w="sm" len="sm"/>
            <a:tailEnd type="none" w="sm" len="sm"/>
          </a:ln>
        </p:spPr>
      </p:cxnSp>
      <p:pic>
        <p:nvPicPr>
          <p:cNvPr id="3526" name="Google Shape;3526;g3b75ff0c716_0_232"/>
          <p:cNvPicPr preferRelativeResize="0"/>
          <p:nvPr/>
        </p:nvPicPr>
        <p:blipFill rotWithShape="1">
          <a:blip r:embed="rId6">
            <a:alphaModFix/>
          </a:blip>
          <a:srcRect/>
          <a:stretch/>
        </p:blipFill>
        <p:spPr>
          <a:xfrm>
            <a:off x="2179296" y="646945"/>
            <a:ext cx="247568" cy="107156"/>
          </a:xfrm>
          <a:prstGeom prst="rect">
            <a:avLst/>
          </a:prstGeom>
          <a:noFill/>
          <a:ln>
            <a:noFill/>
          </a:ln>
        </p:spPr>
      </p:pic>
      <p:pic>
        <p:nvPicPr>
          <p:cNvPr id="3527" name="Google Shape;3527;g3b75ff0c716_0_232"/>
          <p:cNvPicPr preferRelativeResize="0"/>
          <p:nvPr/>
        </p:nvPicPr>
        <p:blipFill rotWithShape="1">
          <a:blip r:embed="rId7">
            <a:alphaModFix/>
          </a:blip>
          <a:srcRect/>
          <a:stretch/>
        </p:blipFill>
        <p:spPr>
          <a:xfrm>
            <a:off x="2514520" y="644550"/>
            <a:ext cx="249913" cy="117267"/>
          </a:xfrm>
          <a:prstGeom prst="rect">
            <a:avLst/>
          </a:prstGeom>
          <a:noFill/>
          <a:ln>
            <a:noFill/>
          </a:ln>
        </p:spPr>
      </p:pic>
      <p:pic>
        <p:nvPicPr>
          <p:cNvPr id="3528" name="Google Shape;3528;g3b75ff0c716_0_232"/>
          <p:cNvPicPr preferRelativeResize="0"/>
          <p:nvPr/>
        </p:nvPicPr>
        <p:blipFill rotWithShape="1">
          <a:blip r:embed="rId6">
            <a:alphaModFix/>
          </a:blip>
          <a:srcRect/>
          <a:stretch/>
        </p:blipFill>
        <p:spPr>
          <a:xfrm>
            <a:off x="2822025" y="633695"/>
            <a:ext cx="247568" cy="107156"/>
          </a:xfrm>
          <a:prstGeom prst="rect">
            <a:avLst/>
          </a:prstGeom>
          <a:noFill/>
          <a:ln>
            <a:noFill/>
          </a:ln>
        </p:spPr>
      </p:pic>
      <p:pic>
        <p:nvPicPr>
          <p:cNvPr id="3529" name="Google Shape;3529;g3b75ff0c716_0_232"/>
          <p:cNvPicPr preferRelativeResize="0"/>
          <p:nvPr/>
        </p:nvPicPr>
        <p:blipFill rotWithShape="1">
          <a:blip r:embed="rId7">
            <a:alphaModFix/>
          </a:blip>
          <a:srcRect/>
          <a:stretch/>
        </p:blipFill>
        <p:spPr>
          <a:xfrm>
            <a:off x="3157249" y="631300"/>
            <a:ext cx="249913" cy="117267"/>
          </a:xfrm>
          <a:prstGeom prst="rect">
            <a:avLst/>
          </a:prstGeom>
          <a:noFill/>
          <a:ln>
            <a:noFill/>
          </a:ln>
        </p:spPr>
      </p:pic>
      <p:pic>
        <p:nvPicPr>
          <p:cNvPr id="3530" name="Google Shape;3530;g3b75ff0c716_0_232"/>
          <p:cNvPicPr preferRelativeResize="0"/>
          <p:nvPr/>
        </p:nvPicPr>
        <p:blipFill rotWithShape="1">
          <a:blip r:embed="rId6">
            <a:alphaModFix/>
          </a:blip>
          <a:srcRect/>
          <a:stretch/>
        </p:blipFill>
        <p:spPr>
          <a:xfrm>
            <a:off x="3431619" y="633696"/>
            <a:ext cx="247568" cy="107156"/>
          </a:xfrm>
          <a:prstGeom prst="rect">
            <a:avLst/>
          </a:prstGeom>
          <a:noFill/>
          <a:ln>
            <a:noFill/>
          </a:ln>
        </p:spPr>
      </p:pic>
      <p:pic>
        <p:nvPicPr>
          <p:cNvPr id="3531" name="Google Shape;3531;g3b75ff0c716_0_232"/>
          <p:cNvPicPr preferRelativeResize="0"/>
          <p:nvPr/>
        </p:nvPicPr>
        <p:blipFill rotWithShape="1">
          <a:blip r:embed="rId7">
            <a:alphaModFix/>
          </a:blip>
          <a:srcRect/>
          <a:stretch/>
        </p:blipFill>
        <p:spPr>
          <a:xfrm>
            <a:off x="3766843" y="631301"/>
            <a:ext cx="249913" cy="117267"/>
          </a:xfrm>
          <a:prstGeom prst="rect">
            <a:avLst/>
          </a:prstGeom>
          <a:noFill/>
          <a:ln>
            <a:noFill/>
          </a:ln>
        </p:spPr>
      </p:pic>
      <p:sp>
        <p:nvSpPr>
          <p:cNvPr id="3532" name="Google Shape;3532;g3b75ff0c716_0_232"/>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Target		Behavior</a:t>
            </a:r>
            <a:endParaRPr/>
          </a:p>
        </p:txBody>
      </p:sp>
      <p:sp>
        <p:nvSpPr>
          <p:cNvPr id="3533" name="Google Shape;3533;g3b75ff0c716_0_232"/>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534" name="Google Shape;3534;g3b75ff0c716_0_232"/>
          <p:cNvGrpSpPr/>
          <p:nvPr/>
        </p:nvGrpSpPr>
        <p:grpSpPr>
          <a:xfrm>
            <a:off x="0" y="3109250"/>
            <a:ext cx="5760261" cy="92075"/>
            <a:chOff x="0" y="3109250"/>
            <a:chExt cx="5760261" cy="92075"/>
          </a:xfrm>
        </p:grpSpPr>
        <p:sp>
          <p:nvSpPr>
            <p:cNvPr id="3535" name="Google Shape;3535;g3b75ff0c716_0_23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6" name="Google Shape;3536;g3b75ff0c716_0_23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7" name="Google Shape;3537;g3b75ff0c716_0_23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38" name="Google Shape;3538;g3b75ff0c716_0_232"/>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539" name="Google Shape;3539;g3b75ff0c716_0_232"/>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93</a:t>
            </a:fld>
            <a:r>
              <a:rPr lang="en-US"/>
              <a:t> </a:t>
            </a:r>
            <a:endParaRPr/>
          </a:p>
        </p:txBody>
      </p:sp>
      <p:pic>
        <p:nvPicPr>
          <p:cNvPr id="3540" name="Google Shape;3540;g3b75ff0c716_0_232"/>
          <p:cNvPicPr preferRelativeResize="0"/>
          <p:nvPr/>
        </p:nvPicPr>
        <p:blipFill rotWithShape="1">
          <a:blip r:embed="rId3">
            <a:alphaModFix/>
          </a:blip>
          <a:srcRect/>
          <a:stretch/>
        </p:blipFill>
        <p:spPr>
          <a:xfrm>
            <a:off x="485263" y="408737"/>
            <a:ext cx="253340" cy="263412"/>
          </a:xfrm>
          <a:prstGeom prst="rect">
            <a:avLst/>
          </a:prstGeom>
          <a:noFill/>
          <a:ln>
            <a:noFill/>
          </a:ln>
        </p:spPr>
      </p:pic>
      <p:pic>
        <p:nvPicPr>
          <p:cNvPr id="3541" name="Google Shape;3541;g3b75ff0c716_0_232"/>
          <p:cNvPicPr preferRelativeResize="0"/>
          <p:nvPr/>
        </p:nvPicPr>
        <p:blipFill rotWithShape="1">
          <a:blip r:embed="rId4">
            <a:alphaModFix/>
          </a:blip>
          <a:srcRect/>
          <a:stretch/>
        </p:blipFill>
        <p:spPr>
          <a:xfrm>
            <a:off x="1742348" y="375332"/>
            <a:ext cx="268790" cy="301041"/>
          </a:xfrm>
          <a:prstGeom prst="rect">
            <a:avLst/>
          </a:prstGeom>
          <a:noFill/>
          <a:ln>
            <a:noFill/>
          </a:ln>
        </p:spPr>
      </p:pic>
      <p:pic>
        <p:nvPicPr>
          <p:cNvPr id="3542" name="Google Shape;3542;g3b75ff0c716_0_232"/>
          <p:cNvPicPr preferRelativeResize="0"/>
          <p:nvPr/>
        </p:nvPicPr>
        <p:blipFill rotWithShape="1">
          <a:blip r:embed="rId5">
            <a:alphaModFix/>
          </a:blip>
          <a:srcRect/>
          <a:stretch/>
        </p:blipFill>
        <p:spPr>
          <a:xfrm>
            <a:off x="1139997" y="415805"/>
            <a:ext cx="276927" cy="275955"/>
          </a:xfrm>
          <a:prstGeom prst="rect">
            <a:avLst/>
          </a:prstGeom>
          <a:noFill/>
          <a:ln>
            <a:noFill/>
          </a:ln>
        </p:spPr>
      </p:pic>
      <p:sp>
        <p:nvSpPr>
          <p:cNvPr id="3543" name="Google Shape;3543;g3b75ff0c716_0_232"/>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544" name="Google Shape;3544;g3b75ff0c716_0_232"/>
          <p:cNvPicPr preferRelativeResize="0"/>
          <p:nvPr/>
        </p:nvPicPr>
        <p:blipFill rotWithShape="1">
          <a:blip r:embed="rId8">
            <a:alphaModFix/>
          </a:blip>
          <a:srcRect/>
          <a:stretch/>
        </p:blipFill>
        <p:spPr>
          <a:xfrm>
            <a:off x="4069116" y="1789961"/>
            <a:ext cx="1640171" cy="889000"/>
          </a:xfrm>
          <a:prstGeom prst="rect">
            <a:avLst/>
          </a:prstGeom>
          <a:noFill/>
          <a:ln>
            <a:noFill/>
          </a:ln>
        </p:spPr>
      </p:pic>
      <p:sp>
        <p:nvSpPr>
          <p:cNvPr id="3545" name="Google Shape;3545;g3b75ff0c716_0_232"/>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546" name="Google Shape;3546;g3b75ff0c716_0_232"/>
          <p:cNvSpPr txBox="1"/>
          <p:nvPr/>
        </p:nvSpPr>
        <p:spPr>
          <a:xfrm>
            <a:off x="82600" y="1717926"/>
            <a:ext cx="2793000" cy="5502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547" name="Google Shape;3547;g3b75ff0c716_0_232"/>
          <p:cNvSpPr/>
          <p:nvPr/>
        </p:nvSpPr>
        <p:spPr>
          <a:xfrm>
            <a:off x="514351" y="1714343"/>
            <a:ext cx="506100" cy="120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48" name="Google Shape;3548;g3b75ff0c716_0_232"/>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549" name="Google Shape;3549;g3b75ff0c716_0_232"/>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550" name="Google Shape;3550;g3b75ff0c716_0_232"/>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551" name="Google Shape;3551;g3b75ff0c716_0_232"/>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p:txBody>
      </p:sp>
      <p:cxnSp>
        <p:nvCxnSpPr>
          <p:cNvPr id="3552" name="Google Shape;3552;g3b75ff0c716_0_232"/>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553" name="Google Shape;3553;g3b75ff0c716_0_232"/>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554" name="Google Shape;3554;g3b75ff0c716_0_232"/>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555" name="Google Shape;3555;g3b75ff0c716_0_232"/>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556" name="Google Shape;3556;g3b75ff0c716_0_232"/>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557" name="Google Shape;3557;g3b75ff0c716_0_232"/>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558" name="Google Shape;3558;g3b75ff0c716_0_232"/>
          <p:cNvPicPr preferRelativeResize="0"/>
          <p:nvPr/>
        </p:nvPicPr>
        <p:blipFill rotWithShape="1">
          <a:blip r:embed="rId6">
            <a:alphaModFix/>
          </a:blip>
          <a:srcRect/>
          <a:stretch/>
        </p:blipFill>
        <p:spPr>
          <a:xfrm>
            <a:off x="325079" y="652004"/>
            <a:ext cx="247568" cy="107156"/>
          </a:xfrm>
          <a:prstGeom prst="rect">
            <a:avLst/>
          </a:prstGeom>
          <a:noFill/>
          <a:ln>
            <a:noFill/>
          </a:ln>
        </p:spPr>
      </p:pic>
      <p:pic>
        <p:nvPicPr>
          <p:cNvPr id="3559" name="Google Shape;3559;g3b75ff0c716_0_232"/>
          <p:cNvPicPr preferRelativeResize="0"/>
          <p:nvPr/>
        </p:nvPicPr>
        <p:blipFill rotWithShape="1">
          <a:blip r:embed="rId7">
            <a:alphaModFix/>
          </a:blip>
          <a:srcRect/>
          <a:stretch/>
        </p:blipFill>
        <p:spPr>
          <a:xfrm>
            <a:off x="660303" y="649609"/>
            <a:ext cx="249913" cy="117267"/>
          </a:xfrm>
          <a:prstGeom prst="rect">
            <a:avLst/>
          </a:prstGeom>
          <a:noFill/>
          <a:ln>
            <a:noFill/>
          </a:ln>
        </p:spPr>
      </p:pic>
      <p:pic>
        <p:nvPicPr>
          <p:cNvPr id="3560" name="Google Shape;3560;g3b75ff0c716_0_232"/>
          <p:cNvPicPr preferRelativeResize="0"/>
          <p:nvPr/>
        </p:nvPicPr>
        <p:blipFill rotWithShape="1">
          <a:blip r:embed="rId6">
            <a:alphaModFix/>
          </a:blip>
          <a:srcRect/>
          <a:stretch/>
        </p:blipFill>
        <p:spPr>
          <a:xfrm>
            <a:off x="967808" y="638754"/>
            <a:ext cx="247568" cy="107156"/>
          </a:xfrm>
          <a:prstGeom prst="rect">
            <a:avLst/>
          </a:prstGeom>
          <a:noFill/>
          <a:ln>
            <a:noFill/>
          </a:ln>
        </p:spPr>
      </p:pic>
      <p:pic>
        <p:nvPicPr>
          <p:cNvPr id="3561" name="Google Shape;3561;g3b75ff0c716_0_232"/>
          <p:cNvPicPr preferRelativeResize="0"/>
          <p:nvPr/>
        </p:nvPicPr>
        <p:blipFill rotWithShape="1">
          <a:blip r:embed="rId7">
            <a:alphaModFix/>
          </a:blip>
          <a:srcRect/>
          <a:stretch/>
        </p:blipFill>
        <p:spPr>
          <a:xfrm>
            <a:off x="1303032" y="636359"/>
            <a:ext cx="249913" cy="117267"/>
          </a:xfrm>
          <a:prstGeom prst="rect">
            <a:avLst/>
          </a:prstGeom>
          <a:noFill/>
          <a:ln>
            <a:noFill/>
          </a:ln>
        </p:spPr>
      </p:pic>
      <p:pic>
        <p:nvPicPr>
          <p:cNvPr id="3562" name="Google Shape;3562;g3b75ff0c716_0_232"/>
          <p:cNvPicPr preferRelativeResize="0"/>
          <p:nvPr/>
        </p:nvPicPr>
        <p:blipFill rotWithShape="1">
          <a:blip r:embed="rId6">
            <a:alphaModFix/>
          </a:blip>
          <a:srcRect/>
          <a:stretch/>
        </p:blipFill>
        <p:spPr>
          <a:xfrm>
            <a:off x="1577402" y="638755"/>
            <a:ext cx="247568" cy="107156"/>
          </a:xfrm>
          <a:prstGeom prst="rect">
            <a:avLst/>
          </a:prstGeom>
          <a:noFill/>
          <a:ln>
            <a:noFill/>
          </a:ln>
        </p:spPr>
      </p:pic>
      <p:pic>
        <p:nvPicPr>
          <p:cNvPr id="3563" name="Google Shape;3563;g3b75ff0c716_0_232"/>
          <p:cNvPicPr preferRelativeResize="0"/>
          <p:nvPr/>
        </p:nvPicPr>
        <p:blipFill rotWithShape="1">
          <a:blip r:embed="rId7">
            <a:alphaModFix/>
          </a:blip>
          <a:srcRect/>
          <a:stretch/>
        </p:blipFill>
        <p:spPr>
          <a:xfrm>
            <a:off x="1912626" y="636360"/>
            <a:ext cx="249913" cy="117267"/>
          </a:xfrm>
          <a:prstGeom prst="rect">
            <a:avLst/>
          </a:prstGeom>
          <a:noFill/>
          <a:ln>
            <a:noFill/>
          </a:ln>
        </p:spPr>
      </p:pic>
      <p:sp>
        <p:nvSpPr>
          <p:cNvPr id="3564" name="Google Shape;3564;g3b75ff0c716_0_232"/>
          <p:cNvSpPr txBox="1"/>
          <p:nvPr/>
        </p:nvSpPr>
        <p:spPr>
          <a:xfrm>
            <a:off x="2852197" y="2600622"/>
            <a:ext cx="29082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Target Policy : </a:t>
            </a:r>
            <a:r>
              <a:rPr lang="en-US" sz="700" b="0" i="0" u="none" strike="noStrike" cap="none">
                <a:solidFill>
                  <a:schemeClr val="dk1"/>
                </a:solidFill>
                <a:latin typeface="Arial"/>
                <a:ea typeface="Arial"/>
                <a:cs typeface="Arial"/>
                <a:sym typeface="Arial"/>
              </a:rPr>
              <a:t>Q2 - Table</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Behavior Policy : </a:t>
            </a:r>
            <a:r>
              <a:rPr lang="en-US" sz="700" b="0" i="0" u="none" strike="noStrike" cap="none">
                <a:solidFill>
                  <a:srgbClr val="000000"/>
                </a:solidFill>
                <a:latin typeface="Arial"/>
                <a:ea typeface="Arial"/>
                <a:cs typeface="Arial"/>
                <a:sym typeface="Arial"/>
              </a:rPr>
              <a:t>Q1-Table is available from other sources/experience/logged data. Above algorithm learns to update this as well.</a:t>
            </a:r>
            <a:endParaRPr sz="700" b="1" i="0" u="none" strike="noStrike" cap="none">
              <a:solidFill>
                <a:schemeClr val="dk1"/>
              </a:solidFill>
              <a:latin typeface="Arial"/>
              <a:ea typeface="Arial"/>
              <a:cs typeface="Arial"/>
              <a:sym typeface="Arial"/>
            </a:endParaRPr>
          </a:p>
        </p:txBody>
      </p:sp>
      <p:pic>
        <p:nvPicPr>
          <p:cNvPr id="3565" name="Google Shape;3565;g3b75ff0c716_0_232"/>
          <p:cNvPicPr preferRelativeResize="0"/>
          <p:nvPr/>
        </p:nvPicPr>
        <p:blipFill rotWithShape="1">
          <a:blip r:embed="rId9">
            <a:alphaModFix/>
          </a:blip>
          <a:srcRect/>
          <a:stretch/>
        </p:blipFill>
        <p:spPr>
          <a:xfrm>
            <a:off x="3797359" y="35192"/>
            <a:ext cx="1958532" cy="1060146"/>
          </a:xfrm>
          <a:prstGeom prst="rect">
            <a:avLst/>
          </a:prstGeom>
          <a:noFill/>
          <a:ln>
            <a:noFill/>
          </a:ln>
        </p:spPr>
      </p:pic>
      <p:sp>
        <p:nvSpPr>
          <p:cNvPr id="3566" name="Google Shape;3566;g3b75ff0c716_0_232"/>
          <p:cNvSpPr/>
          <p:nvPr/>
        </p:nvSpPr>
        <p:spPr>
          <a:xfrm>
            <a:off x="5365917" y="322469"/>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cxnSp>
        <p:nvCxnSpPr>
          <p:cNvPr id="3567" name="Google Shape;3567;g3b75ff0c716_0_232"/>
          <p:cNvCxnSpPr/>
          <p:nvPr/>
        </p:nvCxnSpPr>
        <p:spPr>
          <a:xfrm rot="-5400000">
            <a:off x="2585539" y="1579264"/>
            <a:ext cx="2316900" cy="650400"/>
          </a:xfrm>
          <a:prstGeom prst="curvedConnector3">
            <a:avLst>
              <a:gd name="adj1" fmla="val 50002"/>
            </a:avLst>
          </a:prstGeom>
          <a:noFill/>
          <a:ln w="9525" cap="flat" cmpd="sng">
            <a:solidFill>
              <a:srgbClr val="FF0000"/>
            </a:solidFill>
            <a:prstDash val="solid"/>
            <a:round/>
            <a:headEnd type="none" w="sm" len="sm"/>
            <a:tailEnd type="triangle" w="med" len="med"/>
          </a:ln>
        </p:spPr>
      </p:cxnSp>
      <p:cxnSp>
        <p:nvCxnSpPr>
          <p:cNvPr id="3568" name="Google Shape;3568;g3b75ff0c716_0_232"/>
          <p:cNvCxnSpPr/>
          <p:nvPr/>
        </p:nvCxnSpPr>
        <p:spPr>
          <a:xfrm>
            <a:off x="2162539" y="410746"/>
            <a:ext cx="16800" cy="1748400"/>
          </a:xfrm>
          <a:prstGeom prst="straightConnector1">
            <a:avLst/>
          </a:prstGeom>
          <a:noFill/>
          <a:ln w="9525" cap="flat" cmpd="sng">
            <a:solidFill>
              <a:srgbClr val="0070C0"/>
            </a:solidFill>
            <a:prstDash val="solid"/>
            <a:round/>
            <a:headEnd type="none" w="sm" len="sm"/>
            <a:tailEnd type="none" w="sm" len="sm"/>
          </a:ln>
        </p:spPr>
      </p:cxnSp>
      <p:sp>
        <p:nvSpPr>
          <p:cNvPr id="3569" name="Google Shape;3569;g3b75ff0c716_0_232"/>
          <p:cNvSpPr/>
          <p:nvPr/>
        </p:nvSpPr>
        <p:spPr>
          <a:xfrm>
            <a:off x="3694424" y="267999"/>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570" name="Google Shape;3570;g3b75ff0c716_0_232"/>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0           0         0                0</a:t>
            </a:r>
            <a:endParaRPr sz="300" b="0" i="0" u="none" strike="noStrike" cap="none">
              <a:solidFill>
                <a:srgbClr val="000000"/>
              </a:solidFill>
              <a:latin typeface="Arial"/>
              <a:ea typeface="Arial"/>
              <a:cs typeface="Arial"/>
              <a:sym typeface="Arial"/>
            </a:endParaRPr>
          </a:p>
        </p:txBody>
      </p:sp>
      <p:sp>
        <p:nvSpPr>
          <p:cNvPr id="3571" name="Google Shape;3571;g3b75ff0c716_0_232"/>
          <p:cNvSpPr txBox="1"/>
          <p:nvPr/>
        </p:nvSpPr>
        <p:spPr>
          <a:xfrm>
            <a:off x="2140174" y="80048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5             1        5           15 </a:t>
            </a:r>
            <a:endParaRPr sz="700" b="1" i="0" u="none" strike="noStrike" cap="none">
              <a:solidFill>
                <a:srgbClr val="0070C0"/>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65"/>
                                        </p:tgtEl>
                                        <p:attrNameLst>
                                          <p:attrName>style.visibility</p:attrName>
                                        </p:attrNameLst>
                                      </p:cBhvr>
                                      <p:to>
                                        <p:strVal val="visible"/>
                                      </p:to>
                                    </p:set>
                                    <p:animEffect transition="in" filter="fade">
                                      <p:cBhvr>
                                        <p:cTn id="7" dur="500"/>
                                        <p:tgtEl>
                                          <p:spTgt spid="3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575"/>
        <p:cNvGrpSpPr/>
        <p:nvPr/>
      </p:nvGrpSpPr>
      <p:grpSpPr>
        <a:xfrm>
          <a:off x="0" y="0"/>
          <a:ext cx="0" cy="0"/>
          <a:chOff x="0" y="0"/>
          <a:chExt cx="0" cy="0"/>
        </a:xfrm>
      </p:grpSpPr>
      <p:pic>
        <p:nvPicPr>
          <p:cNvPr id="3576" name="Google Shape;3576;g3b75ff0c716_0_293"/>
          <p:cNvPicPr preferRelativeResize="0"/>
          <p:nvPr/>
        </p:nvPicPr>
        <p:blipFill rotWithShape="1">
          <a:blip r:embed="rId3">
            <a:alphaModFix/>
          </a:blip>
          <a:srcRect/>
          <a:stretch/>
        </p:blipFill>
        <p:spPr>
          <a:xfrm>
            <a:off x="2994214" y="410746"/>
            <a:ext cx="276927" cy="275955"/>
          </a:xfrm>
          <a:prstGeom prst="rect">
            <a:avLst/>
          </a:prstGeom>
          <a:noFill/>
          <a:ln>
            <a:noFill/>
          </a:ln>
        </p:spPr>
      </p:pic>
      <p:sp>
        <p:nvSpPr>
          <p:cNvPr id="3577" name="Google Shape;3577;g3b75ff0c716_0_293"/>
          <p:cNvSpPr/>
          <p:nvPr/>
        </p:nvSpPr>
        <p:spPr>
          <a:xfrm>
            <a:off x="2164056" y="1416916"/>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578" name="Google Shape;3578;g3b75ff0c716_0_293"/>
          <p:cNvSpPr/>
          <p:nvPr/>
        </p:nvSpPr>
        <p:spPr>
          <a:xfrm>
            <a:off x="2179296" y="1072214"/>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579" name="Google Shape;3579;g3b75ff0c716_0_293"/>
          <p:cNvSpPr/>
          <p:nvPr/>
        </p:nvSpPr>
        <p:spPr>
          <a:xfrm>
            <a:off x="2182136" y="784025"/>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580" name="Google Shape;3580;g3b75ff0c716_0_293"/>
          <p:cNvCxnSpPr/>
          <p:nvPr/>
        </p:nvCxnSpPr>
        <p:spPr>
          <a:xfrm>
            <a:off x="2764323" y="769938"/>
            <a:ext cx="0" cy="225300"/>
          </a:xfrm>
          <a:prstGeom prst="straightConnector1">
            <a:avLst/>
          </a:prstGeom>
          <a:noFill/>
          <a:ln w="9525" cap="flat" cmpd="sng">
            <a:solidFill>
              <a:schemeClr val="dk1"/>
            </a:solidFill>
            <a:prstDash val="solid"/>
            <a:round/>
            <a:headEnd type="none" w="sm" len="sm"/>
            <a:tailEnd type="none" w="sm" len="sm"/>
          </a:ln>
        </p:spPr>
      </p:cxnSp>
      <p:cxnSp>
        <p:nvCxnSpPr>
          <p:cNvPr id="3581" name="Google Shape;3581;g3b75ff0c716_0_293"/>
          <p:cNvCxnSpPr/>
          <p:nvPr/>
        </p:nvCxnSpPr>
        <p:spPr>
          <a:xfrm>
            <a:off x="2764323" y="1083652"/>
            <a:ext cx="0" cy="225300"/>
          </a:xfrm>
          <a:prstGeom prst="straightConnector1">
            <a:avLst/>
          </a:prstGeom>
          <a:noFill/>
          <a:ln w="9525" cap="flat" cmpd="sng">
            <a:solidFill>
              <a:schemeClr val="dk1"/>
            </a:solidFill>
            <a:prstDash val="solid"/>
            <a:round/>
            <a:headEnd type="none" w="sm" len="sm"/>
            <a:tailEnd type="none" w="sm" len="sm"/>
          </a:ln>
        </p:spPr>
      </p:cxnSp>
      <p:cxnSp>
        <p:nvCxnSpPr>
          <p:cNvPr id="3582" name="Google Shape;3582;g3b75ff0c716_0_293"/>
          <p:cNvCxnSpPr/>
          <p:nvPr/>
        </p:nvCxnSpPr>
        <p:spPr>
          <a:xfrm>
            <a:off x="2764323" y="1416916"/>
            <a:ext cx="0" cy="225300"/>
          </a:xfrm>
          <a:prstGeom prst="straightConnector1">
            <a:avLst/>
          </a:prstGeom>
          <a:noFill/>
          <a:ln w="9525" cap="flat" cmpd="sng">
            <a:solidFill>
              <a:schemeClr val="dk1"/>
            </a:solidFill>
            <a:prstDash val="solid"/>
            <a:round/>
            <a:headEnd type="none" w="sm" len="sm"/>
            <a:tailEnd type="none" w="sm" len="sm"/>
          </a:ln>
        </p:spPr>
      </p:cxnSp>
      <p:cxnSp>
        <p:nvCxnSpPr>
          <p:cNvPr id="3583" name="Google Shape;3583;g3b75ff0c716_0_293"/>
          <p:cNvCxnSpPr/>
          <p:nvPr/>
        </p:nvCxnSpPr>
        <p:spPr>
          <a:xfrm>
            <a:off x="3420306" y="776565"/>
            <a:ext cx="0" cy="225300"/>
          </a:xfrm>
          <a:prstGeom prst="straightConnector1">
            <a:avLst/>
          </a:prstGeom>
          <a:noFill/>
          <a:ln w="9525" cap="flat" cmpd="sng">
            <a:solidFill>
              <a:schemeClr val="dk1"/>
            </a:solidFill>
            <a:prstDash val="solid"/>
            <a:round/>
            <a:headEnd type="none" w="sm" len="sm"/>
            <a:tailEnd type="none" w="sm" len="sm"/>
          </a:ln>
        </p:spPr>
      </p:cxnSp>
      <p:cxnSp>
        <p:nvCxnSpPr>
          <p:cNvPr id="3584" name="Google Shape;3584;g3b75ff0c716_0_293"/>
          <p:cNvCxnSpPr/>
          <p:nvPr/>
        </p:nvCxnSpPr>
        <p:spPr>
          <a:xfrm>
            <a:off x="3420306" y="1090279"/>
            <a:ext cx="0" cy="225300"/>
          </a:xfrm>
          <a:prstGeom prst="straightConnector1">
            <a:avLst/>
          </a:prstGeom>
          <a:noFill/>
          <a:ln w="9525" cap="flat" cmpd="sng">
            <a:solidFill>
              <a:schemeClr val="dk1"/>
            </a:solidFill>
            <a:prstDash val="solid"/>
            <a:round/>
            <a:headEnd type="none" w="sm" len="sm"/>
            <a:tailEnd type="none" w="sm" len="sm"/>
          </a:ln>
        </p:spPr>
      </p:cxnSp>
      <p:cxnSp>
        <p:nvCxnSpPr>
          <p:cNvPr id="3585" name="Google Shape;3585;g3b75ff0c716_0_293"/>
          <p:cNvCxnSpPr/>
          <p:nvPr/>
        </p:nvCxnSpPr>
        <p:spPr>
          <a:xfrm>
            <a:off x="3420306" y="1423543"/>
            <a:ext cx="0" cy="225300"/>
          </a:xfrm>
          <a:prstGeom prst="straightConnector1">
            <a:avLst/>
          </a:prstGeom>
          <a:noFill/>
          <a:ln w="9525" cap="flat" cmpd="sng">
            <a:solidFill>
              <a:schemeClr val="dk1"/>
            </a:solidFill>
            <a:prstDash val="solid"/>
            <a:round/>
            <a:headEnd type="none" w="sm" len="sm"/>
            <a:tailEnd type="none" w="sm" len="sm"/>
          </a:ln>
        </p:spPr>
      </p:cxnSp>
      <p:pic>
        <p:nvPicPr>
          <p:cNvPr id="3586" name="Google Shape;3586;g3b75ff0c716_0_293"/>
          <p:cNvPicPr preferRelativeResize="0"/>
          <p:nvPr/>
        </p:nvPicPr>
        <p:blipFill rotWithShape="1">
          <a:blip r:embed="rId4">
            <a:alphaModFix/>
          </a:blip>
          <a:srcRect/>
          <a:stretch/>
        </p:blipFill>
        <p:spPr>
          <a:xfrm>
            <a:off x="2179296" y="646945"/>
            <a:ext cx="247568" cy="107156"/>
          </a:xfrm>
          <a:prstGeom prst="rect">
            <a:avLst/>
          </a:prstGeom>
          <a:noFill/>
          <a:ln>
            <a:noFill/>
          </a:ln>
        </p:spPr>
      </p:pic>
      <p:pic>
        <p:nvPicPr>
          <p:cNvPr id="3587" name="Google Shape;3587;g3b75ff0c716_0_293"/>
          <p:cNvPicPr preferRelativeResize="0"/>
          <p:nvPr/>
        </p:nvPicPr>
        <p:blipFill rotWithShape="1">
          <a:blip r:embed="rId5">
            <a:alphaModFix/>
          </a:blip>
          <a:srcRect/>
          <a:stretch/>
        </p:blipFill>
        <p:spPr>
          <a:xfrm>
            <a:off x="2514520" y="644550"/>
            <a:ext cx="249913" cy="117267"/>
          </a:xfrm>
          <a:prstGeom prst="rect">
            <a:avLst/>
          </a:prstGeom>
          <a:noFill/>
          <a:ln>
            <a:noFill/>
          </a:ln>
        </p:spPr>
      </p:pic>
      <p:pic>
        <p:nvPicPr>
          <p:cNvPr id="3588" name="Google Shape;3588;g3b75ff0c716_0_293"/>
          <p:cNvPicPr preferRelativeResize="0"/>
          <p:nvPr/>
        </p:nvPicPr>
        <p:blipFill rotWithShape="1">
          <a:blip r:embed="rId4">
            <a:alphaModFix/>
          </a:blip>
          <a:srcRect/>
          <a:stretch/>
        </p:blipFill>
        <p:spPr>
          <a:xfrm>
            <a:off x="2822025" y="633695"/>
            <a:ext cx="247568" cy="107156"/>
          </a:xfrm>
          <a:prstGeom prst="rect">
            <a:avLst/>
          </a:prstGeom>
          <a:noFill/>
          <a:ln>
            <a:noFill/>
          </a:ln>
        </p:spPr>
      </p:pic>
      <p:pic>
        <p:nvPicPr>
          <p:cNvPr id="3589" name="Google Shape;3589;g3b75ff0c716_0_293"/>
          <p:cNvPicPr preferRelativeResize="0"/>
          <p:nvPr/>
        </p:nvPicPr>
        <p:blipFill rotWithShape="1">
          <a:blip r:embed="rId5">
            <a:alphaModFix/>
          </a:blip>
          <a:srcRect/>
          <a:stretch/>
        </p:blipFill>
        <p:spPr>
          <a:xfrm>
            <a:off x="3157249" y="631300"/>
            <a:ext cx="249913" cy="117267"/>
          </a:xfrm>
          <a:prstGeom prst="rect">
            <a:avLst/>
          </a:prstGeom>
          <a:noFill/>
          <a:ln>
            <a:noFill/>
          </a:ln>
        </p:spPr>
      </p:pic>
      <p:pic>
        <p:nvPicPr>
          <p:cNvPr id="3590" name="Google Shape;3590;g3b75ff0c716_0_293"/>
          <p:cNvPicPr preferRelativeResize="0"/>
          <p:nvPr/>
        </p:nvPicPr>
        <p:blipFill rotWithShape="1">
          <a:blip r:embed="rId4">
            <a:alphaModFix/>
          </a:blip>
          <a:srcRect/>
          <a:stretch/>
        </p:blipFill>
        <p:spPr>
          <a:xfrm>
            <a:off x="3431619" y="633696"/>
            <a:ext cx="247568" cy="107156"/>
          </a:xfrm>
          <a:prstGeom prst="rect">
            <a:avLst/>
          </a:prstGeom>
          <a:noFill/>
          <a:ln>
            <a:noFill/>
          </a:ln>
        </p:spPr>
      </p:pic>
      <p:pic>
        <p:nvPicPr>
          <p:cNvPr id="3591" name="Google Shape;3591;g3b75ff0c716_0_293"/>
          <p:cNvPicPr preferRelativeResize="0"/>
          <p:nvPr/>
        </p:nvPicPr>
        <p:blipFill rotWithShape="1">
          <a:blip r:embed="rId5">
            <a:alphaModFix/>
          </a:blip>
          <a:srcRect/>
          <a:stretch/>
        </p:blipFill>
        <p:spPr>
          <a:xfrm>
            <a:off x="3766843" y="631301"/>
            <a:ext cx="249913" cy="117267"/>
          </a:xfrm>
          <a:prstGeom prst="rect">
            <a:avLst/>
          </a:prstGeom>
          <a:noFill/>
          <a:ln>
            <a:noFill/>
          </a:ln>
        </p:spPr>
      </p:pic>
      <p:cxnSp>
        <p:nvCxnSpPr>
          <p:cNvPr id="3592" name="Google Shape;3592;g3b75ff0c716_0_293"/>
          <p:cNvCxnSpPr/>
          <p:nvPr/>
        </p:nvCxnSpPr>
        <p:spPr>
          <a:xfrm flipH="1">
            <a:off x="2150539" y="410746"/>
            <a:ext cx="12000" cy="1516500"/>
          </a:xfrm>
          <a:prstGeom prst="straightConnector1">
            <a:avLst/>
          </a:prstGeom>
          <a:noFill/>
          <a:ln w="9525" cap="flat" cmpd="sng">
            <a:solidFill>
              <a:srgbClr val="0070C0"/>
            </a:solidFill>
            <a:prstDash val="solid"/>
            <a:round/>
            <a:headEnd type="none" w="sm" len="sm"/>
            <a:tailEnd type="none" w="sm" len="sm"/>
          </a:ln>
        </p:spPr>
      </p:cxnSp>
      <p:sp>
        <p:nvSpPr>
          <p:cNvPr id="3593" name="Google Shape;3593;g3b75ff0c716_0_29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Target		Behavior</a:t>
            </a:r>
            <a:endParaRPr/>
          </a:p>
        </p:txBody>
      </p:sp>
      <p:sp>
        <p:nvSpPr>
          <p:cNvPr id="3594" name="Google Shape;3594;g3b75ff0c716_0_29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595" name="Google Shape;3595;g3b75ff0c716_0_293"/>
          <p:cNvGrpSpPr/>
          <p:nvPr/>
        </p:nvGrpSpPr>
        <p:grpSpPr>
          <a:xfrm>
            <a:off x="0" y="3109250"/>
            <a:ext cx="5760261" cy="92075"/>
            <a:chOff x="0" y="3109250"/>
            <a:chExt cx="5760261" cy="92075"/>
          </a:xfrm>
        </p:grpSpPr>
        <p:sp>
          <p:nvSpPr>
            <p:cNvPr id="3596" name="Google Shape;3596;g3b75ff0c716_0_29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7" name="Google Shape;3597;g3b75ff0c716_0_29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8" name="Google Shape;3598;g3b75ff0c716_0_29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99" name="Google Shape;3599;g3b75ff0c716_0_29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600" name="Google Shape;3600;g3b75ff0c716_0_29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94</a:t>
            </a:fld>
            <a:r>
              <a:rPr lang="en-US"/>
              <a:t> </a:t>
            </a:r>
            <a:endParaRPr/>
          </a:p>
        </p:txBody>
      </p:sp>
      <p:pic>
        <p:nvPicPr>
          <p:cNvPr id="3601" name="Google Shape;3601;g3b75ff0c716_0_293"/>
          <p:cNvPicPr preferRelativeResize="0"/>
          <p:nvPr/>
        </p:nvPicPr>
        <p:blipFill rotWithShape="1">
          <a:blip r:embed="rId6">
            <a:alphaModFix/>
          </a:blip>
          <a:srcRect/>
          <a:stretch/>
        </p:blipFill>
        <p:spPr>
          <a:xfrm>
            <a:off x="485263" y="408737"/>
            <a:ext cx="253340" cy="263412"/>
          </a:xfrm>
          <a:prstGeom prst="rect">
            <a:avLst/>
          </a:prstGeom>
          <a:noFill/>
          <a:ln>
            <a:noFill/>
          </a:ln>
        </p:spPr>
      </p:pic>
      <p:pic>
        <p:nvPicPr>
          <p:cNvPr id="3602" name="Google Shape;3602;g3b75ff0c716_0_293"/>
          <p:cNvPicPr preferRelativeResize="0"/>
          <p:nvPr/>
        </p:nvPicPr>
        <p:blipFill rotWithShape="1">
          <a:blip r:embed="rId7">
            <a:alphaModFix/>
          </a:blip>
          <a:srcRect/>
          <a:stretch/>
        </p:blipFill>
        <p:spPr>
          <a:xfrm>
            <a:off x="1742348" y="375332"/>
            <a:ext cx="268790" cy="301041"/>
          </a:xfrm>
          <a:prstGeom prst="rect">
            <a:avLst/>
          </a:prstGeom>
          <a:noFill/>
          <a:ln>
            <a:noFill/>
          </a:ln>
        </p:spPr>
      </p:pic>
      <p:pic>
        <p:nvPicPr>
          <p:cNvPr id="3603" name="Google Shape;3603;g3b75ff0c716_0_293"/>
          <p:cNvPicPr preferRelativeResize="0"/>
          <p:nvPr/>
        </p:nvPicPr>
        <p:blipFill rotWithShape="1">
          <a:blip r:embed="rId3">
            <a:alphaModFix/>
          </a:blip>
          <a:srcRect/>
          <a:stretch/>
        </p:blipFill>
        <p:spPr>
          <a:xfrm>
            <a:off x="1139997" y="415805"/>
            <a:ext cx="276927" cy="275955"/>
          </a:xfrm>
          <a:prstGeom prst="rect">
            <a:avLst/>
          </a:prstGeom>
          <a:noFill/>
          <a:ln>
            <a:noFill/>
          </a:ln>
        </p:spPr>
      </p:pic>
      <p:sp>
        <p:nvSpPr>
          <p:cNvPr id="3604" name="Google Shape;3604;g3b75ff0c716_0_29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605" name="Google Shape;3605;g3b75ff0c716_0_293"/>
          <p:cNvPicPr preferRelativeResize="0"/>
          <p:nvPr/>
        </p:nvPicPr>
        <p:blipFill rotWithShape="1">
          <a:blip r:embed="rId8">
            <a:alphaModFix/>
          </a:blip>
          <a:srcRect/>
          <a:stretch/>
        </p:blipFill>
        <p:spPr>
          <a:xfrm>
            <a:off x="4069116" y="1789961"/>
            <a:ext cx="1640171" cy="889000"/>
          </a:xfrm>
          <a:prstGeom prst="rect">
            <a:avLst/>
          </a:prstGeom>
          <a:noFill/>
          <a:ln>
            <a:noFill/>
          </a:ln>
        </p:spPr>
      </p:pic>
      <p:sp>
        <p:nvSpPr>
          <p:cNvPr id="3606" name="Google Shape;3606;g3b75ff0c716_0_293"/>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607" name="Google Shape;3607;g3b75ff0c716_0_29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608" name="Google Shape;3608;g3b75ff0c716_0_29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609" name="Google Shape;3609;g3b75ff0c716_0_29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610" name="Google Shape;3610;g3b75ff0c716_0_29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611" name="Google Shape;3611;g3b75ff0c716_0_29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612" name="Google Shape;3612;g3b75ff0c716_0_29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613" name="Google Shape;3613;g3b75ff0c716_0_29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614" name="Google Shape;3614;g3b75ff0c716_0_29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615" name="Google Shape;3615;g3b75ff0c716_0_29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616" name="Google Shape;3616;g3b75ff0c716_0_293"/>
          <p:cNvPicPr preferRelativeResize="0"/>
          <p:nvPr/>
        </p:nvPicPr>
        <p:blipFill rotWithShape="1">
          <a:blip r:embed="rId4">
            <a:alphaModFix/>
          </a:blip>
          <a:srcRect/>
          <a:stretch/>
        </p:blipFill>
        <p:spPr>
          <a:xfrm>
            <a:off x="325079" y="652004"/>
            <a:ext cx="247568" cy="107156"/>
          </a:xfrm>
          <a:prstGeom prst="rect">
            <a:avLst/>
          </a:prstGeom>
          <a:noFill/>
          <a:ln>
            <a:noFill/>
          </a:ln>
        </p:spPr>
      </p:pic>
      <p:pic>
        <p:nvPicPr>
          <p:cNvPr id="3617" name="Google Shape;3617;g3b75ff0c716_0_293"/>
          <p:cNvPicPr preferRelativeResize="0"/>
          <p:nvPr/>
        </p:nvPicPr>
        <p:blipFill rotWithShape="1">
          <a:blip r:embed="rId5">
            <a:alphaModFix/>
          </a:blip>
          <a:srcRect/>
          <a:stretch/>
        </p:blipFill>
        <p:spPr>
          <a:xfrm>
            <a:off x="660303" y="649609"/>
            <a:ext cx="249913" cy="117267"/>
          </a:xfrm>
          <a:prstGeom prst="rect">
            <a:avLst/>
          </a:prstGeom>
          <a:noFill/>
          <a:ln>
            <a:noFill/>
          </a:ln>
        </p:spPr>
      </p:pic>
      <p:pic>
        <p:nvPicPr>
          <p:cNvPr id="3618" name="Google Shape;3618;g3b75ff0c716_0_293"/>
          <p:cNvPicPr preferRelativeResize="0"/>
          <p:nvPr/>
        </p:nvPicPr>
        <p:blipFill rotWithShape="1">
          <a:blip r:embed="rId4">
            <a:alphaModFix/>
          </a:blip>
          <a:srcRect/>
          <a:stretch/>
        </p:blipFill>
        <p:spPr>
          <a:xfrm>
            <a:off x="967808" y="638754"/>
            <a:ext cx="247568" cy="107156"/>
          </a:xfrm>
          <a:prstGeom prst="rect">
            <a:avLst/>
          </a:prstGeom>
          <a:noFill/>
          <a:ln>
            <a:noFill/>
          </a:ln>
        </p:spPr>
      </p:pic>
      <p:pic>
        <p:nvPicPr>
          <p:cNvPr id="3619" name="Google Shape;3619;g3b75ff0c716_0_293"/>
          <p:cNvPicPr preferRelativeResize="0"/>
          <p:nvPr/>
        </p:nvPicPr>
        <p:blipFill rotWithShape="1">
          <a:blip r:embed="rId5">
            <a:alphaModFix/>
          </a:blip>
          <a:srcRect/>
          <a:stretch/>
        </p:blipFill>
        <p:spPr>
          <a:xfrm>
            <a:off x="1303032" y="636359"/>
            <a:ext cx="249913" cy="117267"/>
          </a:xfrm>
          <a:prstGeom prst="rect">
            <a:avLst/>
          </a:prstGeom>
          <a:noFill/>
          <a:ln>
            <a:noFill/>
          </a:ln>
        </p:spPr>
      </p:pic>
      <p:pic>
        <p:nvPicPr>
          <p:cNvPr id="3620" name="Google Shape;3620;g3b75ff0c716_0_293"/>
          <p:cNvPicPr preferRelativeResize="0"/>
          <p:nvPr/>
        </p:nvPicPr>
        <p:blipFill rotWithShape="1">
          <a:blip r:embed="rId4">
            <a:alphaModFix/>
          </a:blip>
          <a:srcRect/>
          <a:stretch/>
        </p:blipFill>
        <p:spPr>
          <a:xfrm>
            <a:off x="1577402" y="638755"/>
            <a:ext cx="247568" cy="107156"/>
          </a:xfrm>
          <a:prstGeom prst="rect">
            <a:avLst/>
          </a:prstGeom>
          <a:noFill/>
          <a:ln>
            <a:noFill/>
          </a:ln>
        </p:spPr>
      </p:pic>
      <p:pic>
        <p:nvPicPr>
          <p:cNvPr id="3621" name="Google Shape;3621;g3b75ff0c716_0_293"/>
          <p:cNvPicPr preferRelativeResize="0"/>
          <p:nvPr/>
        </p:nvPicPr>
        <p:blipFill rotWithShape="1">
          <a:blip r:embed="rId5">
            <a:alphaModFix/>
          </a:blip>
          <a:srcRect/>
          <a:stretch/>
        </p:blipFill>
        <p:spPr>
          <a:xfrm>
            <a:off x="1912626" y="636360"/>
            <a:ext cx="249913" cy="117267"/>
          </a:xfrm>
          <a:prstGeom prst="rect">
            <a:avLst/>
          </a:prstGeom>
          <a:noFill/>
          <a:ln>
            <a:noFill/>
          </a:ln>
        </p:spPr>
      </p:pic>
      <p:sp>
        <p:nvSpPr>
          <p:cNvPr id="3622" name="Google Shape;3622;g3b75ff0c716_0_293"/>
          <p:cNvSpPr txBox="1"/>
          <p:nvPr/>
        </p:nvSpPr>
        <p:spPr>
          <a:xfrm>
            <a:off x="2852197" y="2600622"/>
            <a:ext cx="29082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Target Policy : </a:t>
            </a:r>
            <a:r>
              <a:rPr lang="en-US" sz="700" b="0" i="0" u="none" strike="noStrike" cap="none">
                <a:solidFill>
                  <a:schemeClr val="dk1"/>
                </a:solidFill>
                <a:latin typeface="Arial"/>
                <a:ea typeface="Arial"/>
                <a:cs typeface="Arial"/>
                <a:sym typeface="Arial"/>
              </a:rPr>
              <a:t>Q2 - Table</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Behavior Policy : </a:t>
            </a:r>
            <a:r>
              <a:rPr lang="en-US" sz="700" b="0" i="0" u="none" strike="noStrike" cap="none">
                <a:solidFill>
                  <a:srgbClr val="000000"/>
                </a:solidFill>
                <a:latin typeface="Arial"/>
                <a:ea typeface="Arial"/>
                <a:cs typeface="Arial"/>
                <a:sym typeface="Arial"/>
              </a:rPr>
              <a:t>Q1-Table is available from other sources/experience/logged data. Above algorithm learns to update this as well.</a:t>
            </a:r>
            <a:endParaRPr sz="700" b="1" i="0" u="none" strike="noStrike" cap="none">
              <a:solidFill>
                <a:schemeClr val="dk1"/>
              </a:solidFill>
              <a:latin typeface="Arial"/>
              <a:ea typeface="Arial"/>
              <a:cs typeface="Arial"/>
              <a:sym typeface="Arial"/>
            </a:endParaRPr>
          </a:p>
        </p:txBody>
      </p:sp>
      <p:sp>
        <p:nvSpPr>
          <p:cNvPr id="3623" name="Google Shape;3623;g3b75ff0c716_0_29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4" name="Google Shape;3624;g3b75ff0c716_0_293"/>
          <p:cNvSpPr txBox="1"/>
          <p:nvPr/>
        </p:nvSpPr>
        <p:spPr>
          <a:xfrm>
            <a:off x="82600" y="1717926"/>
            <a:ext cx="42480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Q2(C,F)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0 + 0.8 [2+ (0.9*</a:t>
            </a:r>
            <a:r>
              <a:rPr lang="en-US" sz="700" b="1" i="0" u="none" strike="noStrike" cap="none">
                <a:solidFill>
                  <a:srgbClr val="FF0000"/>
                </a:solidFill>
                <a:latin typeface="Arial"/>
                <a:ea typeface="Arial"/>
                <a:cs typeface="Arial"/>
                <a:sym typeface="Arial"/>
              </a:rPr>
              <a:t> Q1(W, ARGMAX{Q2(W,S),Q2(W,F)}) </a:t>
            </a:r>
            <a:r>
              <a:rPr lang="en-US" sz="700" b="1" i="0" u="none" strike="noStrike" cap="none">
                <a:solidFill>
                  <a:schemeClr val="dk1"/>
                </a:solidFill>
                <a:latin typeface="Arial"/>
                <a:ea typeface="Arial"/>
                <a:cs typeface="Arial"/>
                <a:sym typeface="Arial"/>
              </a:rPr>
              <a:t>)-0]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0 + 0.8 [2+ (0.9*</a:t>
            </a:r>
            <a:r>
              <a:rPr lang="en-US" sz="700" b="1" i="0" u="none" strike="noStrike" cap="none">
                <a:solidFill>
                  <a:srgbClr val="FF0000"/>
                </a:solidFill>
                <a:latin typeface="Arial"/>
                <a:ea typeface="Arial"/>
                <a:cs typeface="Arial"/>
                <a:sym typeface="Arial"/>
              </a:rPr>
              <a:t> Q1(W, F</a:t>
            </a:r>
            <a:r>
              <a:rPr lang="en-US" sz="700" b="1" i="0" u="none" strike="noStrike" cap="none">
                <a:solidFill>
                  <a:schemeClr val="dk1"/>
                </a:solidFill>
                <a:latin typeface="Arial"/>
                <a:ea typeface="Arial"/>
                <a:cs typeface="Arial"/>
                <a:sym typeface="Arial"/>
              </a:rPr>
              <a:t>)-0]   </a:t>
            </a:r>
            <a:r>
              <a:rPr lang="en-US" sz="700" b="0" i="1" u="none" strike="noStrike" cap="none">
                <a:solidFill>
                  <a:srgbClr val="0070C0"/>
                </a:solidFill>
                <a:latin typeface="Arial"/>
                <a:ea typeface="Arial"/>
                <a:cs typeface="Arial"/>
                <a:sym typeface="Arial"/>
              </a:rPr>
              <a:t>#Here both S &amp; F had same values hence randomly “F” is chosen</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0 + 0.8 [2+ (0.9*</a:t>
            </a:r>
            <a:r>
              <a:rPr lang="en-US" sz="700" b="1" i="0" u="none" strike="noStrike" cap="none">
                <a:solidFill>
                  <a:srgbClr val="FF0000"/>
                </a:solidFill>
                <a:latin typeface="Arial"/>
                <a:ea typeface="Arial"/>
                <a:cs typeface="Arial"/>
                <a:sym typeface="Arial"/>
              </a:rPr>
              <a:t> 5) </a:t>
            </a:r>
            <a:r>
              <a:rPr lang="en-US" sz="700" b="1" i="0" u="none" strike="noStrike" cap="none">
                <a:solidFill>
                  <a:schemeClr val="dk1"/>
                </a:solidFill>
                <a:latin typeface="Arial"/>
                <a:ea typeface="Arial"/>
                <a:cs typeface="Arial"/>
                <a:sym typeface="Arial"/>
              </a:rPr>
              <a:t>- 0] </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5.2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625" name="Google Shape;3625;g3b75ff0c716_0_293"/>
          <p:cNvSpPr/>
          <p:nvPr/>
        </p:nvSpPr>
        <p:spPr>
          <a:xfrm>
            <a:off x="514351" y="1717925"/>
            <a:ext cx="453600" cy="1458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26" name="Google Shape;3626;g3b75ff0c716_0_293"/>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pic>
        <p:nvPicPr>
          <p:cNvPr id="3627" name="Google Shape;3627;g3b75ff0c716_0_293"/>
          <p:cNvPicPr preferRelativeResize="0"/>
          <p:nvPr/>
        </p:nvPicPr>
        <p:blipFill rotWithShape="1">
          <a:blip r:embed="rId9">
            <a:alphaModFix/>
          </a:blip>
          <a:srcRect/>
          <a:stretch/>
        </p:blipFill>
        <p:spPr>
          <a:xfrm>
            <a:off x="3797359" y="35192"/>
            <a:ext cx="1958532" cy="1060146"/>
          </a:xfrm>
          <a:prstGeom prst="rect">
            <a:avLst/>
          </a:prstGeom>
          <a:noFill/>
          <a:ln>
            <a:noFill/>
          </a:ln>
        </p:spPr>
      </p:pic>
      <p:sp>
        <p:nvSpPr>
          <p:cNvPr id="3628" name="Google Shape;3628;g3b75ff0c716_0_293"/>
          <p:cNvSpPr/>
          <p:nvPr/>
        </p:nvSpPr>
        <p:spPr>
          <a:xfrm>
            <a:off x="5365917" y="322469"/>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629" name="Google Shape;3629;g3b75ff0c716_0_29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Calibri"/>
                <a:ea typeface="Calibri"/>
                <a:cs typeface="Calibri"/>
                <a:sym typeface="Calibri"/>
              </a:rPr>
              <a:t>5.2</a:t>
            </a:r>
            <a:r>
              <a:rPr lang="en-US" sz="800" b="0" i="0" u="none" strike="noStrike" cap="none">
                <a:solidFill>
                  <a:schemeClr val="dk1"/>
                </a:solidFill>
                <a:latin typeface="Calibri"/>
                <a:ea typeface="Calibri"/>
                <a:cs typeface="Calibri"/>
                <a:sym typeface="Calibri"/>
              </a:rPr>
              <a:t>          0         0                0</a:t>
            </a:r>
            <a:endParaRPr sz="300" b="0" i="0" u="none" strike="noStrike" cap="none">
              <a:solidFill>
                <a:srgbClr val="000000"/>
              </a:solidFill>
              <a:latin typeface="Arial"/>
              <a:ea typeface="Arial"/>
              <a:cs typeface="Arial"/>
              <a:sym typeface="Arial"/>
            </a:endParaRPr>
          </a:p>
        </p:txBody>
      </p:sp>
      <p:sp>
        <p:nvSpPr>
          <p:cNvPr id="3630" name="Google Shape;3630;g3b75ff0c716_0_293"/>
          <p:cNvSpPr txBox="1"/>
          <p:nvPr/>
        </p:nvSpPr>
        <p:spPr>
          <a:xfrm>
            <a:off x="2140174" y="80048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5             1        5           15 </a:t>
            </a:r>
            <a:endParaRPr sz="700" b="1" i="0" u="none" strike="noStrike" cap="none">
              <a:solidFill>
                <a:srgbClr val="0070C0"/>
              </a:solidFill>
              <a:latin typeface="Arial"/>
              <a:ea typeface="Arial"/>
              <a:cs typeface="Arial"/>
              <a:sym typeface="Arial"/>
            </a:endParaRPr>
          </a:p>
        </p:txBody>
      </p:sp>
      <p:sp>
        <p:nvSpPr>
          <p:cNvPr id="3631" name="Google Shape;3631;g3b75ff0c716_0_293"/>
          <p:cNvSpPr/>
          <p:nvPr/>
        </p:nvSpPr>
        <p:spPr>
          <a:xfrm>
            <a:off x="3852707" y="856757"/>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632" name="Google Shape;3632;g3b75ff0c716_0_293"/>
          <p:cNvSpPr/>
          <p:nvPr/>
        </p:nvSpPr>
        <p:spPr>
          <a:xfrm>
            <a:off x="3786641" y="5475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27"/>
                                        </p:tgtEl>
                                        <p:attrNameLst>
                                          <p:attrName>style.visibility</p:attrName>
                                        </p:attrNameLst>
                                      </p:cBhvr>
                                      <p:to>
                                        <p:strVal val="visible"/>
                                      </p:to>
                                    </p:set>
                                    <p:animEffect transition="in" filter="fade">
                                      <p:cBhvr>
                                        <p:cTn id="7" dur="500"/>
                                        <p:tgtEl>
                                          <p:spTgt spid="3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3636"/>
        <p:cNvGrpSpPr/>
        <p:nvPr/>
      </p:nvGrpSpPr>
      <p:grpSpPr>
        <a:xfrm>
          <a:off x="0" y="0"/>
          <a:ext cx="0" cy="0"/>
          <a:chOff x="0" y="0"/>
          <a:chExt cx="0" cy="0"/>
        </a:xfrm>
      </p:grpSpPr>
      <p:pic>
        <p:nvPicPr>
          <p:cNvPr id="3637" name="Google Shape;3637;g3b75ff0c716_0_353"/>
          <p:cNvPicPr preferRelativeResize="0"/>
          <p:nvPr/>
        </p:nvPicPr>
        <p:blipFill rotWithShape="1">
          <a:blip r:embed="rId3">
            <a:alphaModFix/>
          </a:blip>
          <a:srcRect/>
          <a:stretch/>
        </p:blipFill>
        <p:spPr>
          <a:xfrm>
            <a:off x="2994214" y="410746"/>
            <a:ext cx="276927" cy="275955"/>
          </a:xfrm>
          <a:prstGeom prst="rect">
            <a:avLst/>
          </a:prstGeom>
          <a:noFill/>
          <a:ln>
            <a:noFill/>
          </a:ln>
        </p:spPr>
      </p:pic>
      <p:sp>
        <p:nvSpPr>
          <p:cNvPr id="3638" name="Google Shape;3638;g3b75ff0c716_0_353"/>
          <p:cNvSpPr/>
          <p:nvPr/>
        </p:nvSpPr>
        <p:spPr>
          <a:xfrm>
            <a:off x="2164056" y="1416916"/>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639" name="Google Shape;3639;g3b75ff0c716_0_353"/>
          <p:cNvSpPr/>
          <p:nvPr/>
        </p:nvSpPr>
        <p:spPr>
          <a:xfrm>
            <a:off x="2179296" y="1072214"/>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640" name="Google Shape;3640;g3b75ff0c716_0_353"/>
          <p:cNvSpPr/>
          <p:nvPr/>
        </p:nvSpPr>
        <p:spPr>
          <a:xfrm>
            <a:off x="2182136" y="784025"/>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641" name="Google Shape;3641;g3b75ff0c716_0_353"/>
          <p:cNvCxnSpPr/>
          <p:nvPr/>
        </p:nvCxnSpPr>
        <p:spPr>
          <a:xfrm>
            <a:off x="2764323" y="769938"/>
            <a:ext cx="0" cy="225300"/>
          </a:xfrm>
          <a:prstGeom prst="straightConnector1">
            <a:avLst/>
          </a:prstGeom>
          <a:noFill/>
          <a:ln w="9525" cap="flat" cmpd="sng">
            <a:solidFill>
              <a:schemeClr val="dk1"/>
            </a:solidFill>
            <a:prstDash val="solid"/>
            <a:round/>
            <a:headEnd type="none" w="sm" len="sm"/>
            <a:tailEnd type="none" w="sm" len="sm"/>
          </a:ln>
        </p:spPr>
      </p:cxnSp>
      <p:cxnSp>
        <p:nvCxnSpPr>
          <p:cNvPr id="3642" name="Google Shape;3642;g3b75ff0c716_0_353"/>
          <p:cNvCxnSpPr/>
          <p:nvPr/>
        </p:nvCxnSpPr>
        <p:spPr>
          <a:xfrm>
            <a:off x="2764323" y="1083652"/>
            <a:ext cx="0" cy="225300"/>
          </a:xfrm>
          <a:prstGeom prst="straightConnector1">
            <a:avLst/>
          </a:prstGeom>
          <a:noFill/>
          <a:ln w="9525" cap="flat" cmpd="sng">
            <a:solidFill>
              <a:schemeClr val="dk1"/>
            </a:solidFill>
            <a:prstDash val="solid"/>
            <a:round/>
            <a:headEnd type="none" w="sm" len="sm"/>
            <a:tailEnd type="none" w="sm" len="sm"/>
          </a:ln>
        </p:spPr>
      </p:cxnSp>
      <p:cxnSp>
        <p:nvCxnSpPr>
          <p:cNvPr id="3643" name="Google Shape;3643;g3b75ff0c716_0_353"/>
          <p:cNvCxnSpPr/>
          <p:nvPr/>
        </p:nvCxnSpPr>
        <p:spPr>
          <a:xfrm>
            <a:off x="2764323" y="1416916"/>
            <a:ext cx="0" cy="225300"/>
          </a:xfrm>
          <a:prstGeom prst="straightConnector1">
            <a:avLst/>
          </a:prstGeom>
          <a:noFill/>
          <a:ln w="9525" cap="flat" cmpd="sng">
            <a:solidFill>
              <a:schemeClr val="dk1"/>
            </a:solidFill>
            <a:prstDash val="solid"/>
            <a:round/>
            <a:headEnd type="none" w="sm" len="sm"/>
            <a:tailEnd type="none" w="sm" len="sm"/>
          </a:ln>
        </p:spPr>
      </p:cxnSp>
      <p:cxnSp>
        <p:nvCxnSpPr>
          <p:cNvPr id="3644" name="Google Shape;3644;g3b75ff0c716_0_353"/>
          <p:cNvCxnSpPr/>
          <p:nvPr/>
        </p:nvCxnSpPr>
        <p:spPr>
          <a:xfrm>
            <a:off x="3420306" y="776565"/>
            <a:ext cx="0" cy="225300"/>
          </a:xfrm>
          <a:prstGeom prst="straightConnector1">
            <a:avLst/>
          </a:prstGeom>
          <a:noFill/>
          <a:ln w="9525" cap="flat" cmpd="sng">
            <a:solidFill>
              <a:schemeClr val="dk1"/>
            </a:solidFill>
            <a:prstDash val="solid"/>
            <a:round/>
            <a:headEnd type="none" w="sm" len="sm"/>
            <a:tailEnd type="none" w="sm" len="sm"/>
          </a:ln>
        </p:spPr>
      </p:cxnSp>
      <p:cxnSp>
        <p:nvCxnSpPr>
          <p:cNvPr id="3645" name="Google Shape;3645;g3b75ff0c716_0_353"/>
          <p:cNvCxnSpPr/>
          <p:nvPr/>
        </p:nvCxnSpPr>
        <p:spPr>
          <a:xfrm>
            <a:off x="3420306" y="1090279"/>
            <a:ext cx="0" cy="225300"/>
          </a:xfrm>
          <a:prstGeom prst="straightConnector1">
            <a:avLst/>
          </a:prstGeom>
          <a:noFill/>
          <a:ln w="9525" cap="flat" cmpd="sng">
            <a:solidFill>
              <a:schemeClr val="dk1"/>
            </a:solidFill>
            <a:prstDash val="solid"/>
            <a:round/>
            <a:headEnd type="none" w="sm" len="sm"/>
            <a:tailEnd type="none" w="sm" len="sm"/>
          </a:ln>
        </p:spPr>
      </p:cxnSp>
      <p:cxnSp>
        <p:nvCxnSpPr>
          <p:cNvPr id="3646" name="Google Shape;3646;g3b75ff0c716_0_353"/>
          <p:cNvCxnSpPr/>
          <p:nvPr/>
        </p:nvCxnSpPr>
        <p:spPr>
          <a:xfrm>
            <a:off x="3420306" y="1423543"/>
            <a:ext cx="0" cy="225300"/>
          </a:xfrm>
          <a:prstGeom prst="straightConnector1">
            <a:avLst/>
          </a:prstGeom>
          <a:noFill/>
          <a:ln w="9525" cap="flat" cmpd="sng">
            <a:solidFill>
              <a:schemeClr val="dk1"/>
            </a:solidFill>
            <a:prstDash val="solid"/>
            <a:round/>
            <a:headEnd type="none" w="sm" len="sm"/>
            <a:tailEnd type="none" w="sm" len="sm"/>
          </a:ln>
        </p:spPr>
      </p:cxnSp>
      <p:pic>
        <p:nvPicPr>
          <p:cNvPr id="3647" name="Google Shape;3647;g3b75ff0c716_0_353"/>
          <p:cNvPicPr preferRelativeResize="0"/>
          <p:nvPr/>
        </p:nvPicPr>
        <p:blipFill rotWithShape="1">
          <a:blip r:embed="rId4">
            <a:alphaModFix/>
          </a:blip>
          <a:srcRect/>
          <a:stretch/>
        </p:blipFill>
        <p:spPr>
          <a:xfrm>
            <a:off x="2179296" y="646945"/>
            <a:ext cx="247568" cy="107156"/>
          </a:xfrm>
          <a:prstGeom prst="rect">
            <a:avLst/>
          </a:prstGeom>
          <a:noFill/>
          <a:ln>
            <a:noFill/>
          </a:ln>
        </p:spPr>
      </p:pic>
      <p:pic>
        <p:nvPicPr>
          <p:cNvPr id="3648" name="Google Shape;3648;g3b75ff0c716_0_353"/>
          <p:cNvPicPr preferRelativeResize="0"/>
          <p:nvPr/>
        </p:nvPicPr>
        <p:blipFill rotWithShape="1">
          <a:blip r:embed="rId5">
            <a:alphaModFix/>
          </a:blip>
          <a:srcRect/>
          <a:stretch/>
        </p:blipFill>
        <p:spPr>
          <a:xfrm>
            <a:off x="2514520" y="644550"/>
            <a:ext cx="249913" cy="117267"/>
          </a:xfrm>
          <a:prstGeom prst="rect">
            <a:avLst/>
          </a:prstGeom>
          <a:noFill/>
          <a:ln>
            <a:noFill/>
          </a:ln>
        </p:spPr>
      </p:pic>
      <p:pic>
        <p:nvPicPr>
          <p:cNvPr id="3649" name="Google Shape;3649;g3b75ff0c716_0_353"/>
          <p:cNvPicPr preferRelativeResize="0"/>
          <p:nvPr/>
        </p:nvPicPr>
        <p:blipFill rotWithShape="1">
          <a:blip r:embed="rId4">
            <a:alphaModFix/>
          </a:blip>
          <a:srcRect/>
          <a:stretch/>
        </p:blipFill>
        <p:spPr>
          <a:xfrm>
            <a:off x="2822025" y="633695"/>
            <a:ext cx="247568" cy="107156"/>
          </a:xfrm>
          <a:prstGeom prst="rect">
            <a:avLst/>
          </a:prstGeom>
          <a:noFill/>
          <a:ln>
            <a:noFill/>
          </a:ln>
        </p:spPr>
      </p:pic>
      <p:pic>
        <p:nvPicPr>
          <p:cNvPr id="3650" name="Google Shape;3650;g3b75ff0c716_0_353"/>
          <p:cNvPicPr preferRelativeResize="0"/>
          <p:nvPr/>
        </p:nvPicPr>
        <p:blipFill rotWithShape="1">
          <a:blip r:embed="rId5">
            <a:alphaModFix/>
          </a:blip>
          <a:srcRect/>
          <a:stretch/>
        </p:blipFill>
        <p:spPr>
          <a:xfrm>
            <a:off x="3157249" y="631300"/>
            <a:ext cx="249913" cy="117267"/>
          </a:xfrm>
          <a:prstGeom prst="rect">
            <a:avLst/>
          </a:prstGeom>
          <a:noFill/>
          <a:ln>
            <a:noFill/>
          </a:ln>
        </p:spPr>
      </p:pic>
      <p:pic>
        <p:nvPicPr>
          <p:cNvPr id="3651" name="Google Shape;3651;g3b75ff0c716_0_353"/>
          <p:cNvPicPr preferRelativeResize="0"/>
          <p:nvPr/>
        </p:nvPicPr>
        <p:blipFill rotWithShape="1">
          <a:blip r:embed="rId4">
            <a:alphaModFix/>
          </a:blip>
          <a:srcRect/>
          <a:stretch/>
        </p:blipFill>
        <p:spPr>
          <a:xfrm>
            <a:off x="3431619" y="633696"/>
            <a:ext cx="247568" cy="107156"/>
          </a:xfrm>
          <a:prstGeom prst="rect">
            <a:avLst/>
          </a:prstGeom>
          <a:noFill/>
          <a:ln>
            <a:noFill/>
          </a:ln>
        </p:spPr>
      </p:pic>
      <p:pic>
        <p:nvPicPr>
          <p:cNvPr id="3652" name="Google Shape;3652;g3b75ff0c716_0_353"/>
          <p:cNvPicPr preferRelativeResize="0"/>
          <p:nvPr/>
        </p:nvPicPr>
        <p:blipFill rotWithShape="1">
          <a:blip r:embed="rId5">
            <a:alphaModFix/>
          </a:blip>
          <a:srcRect/>
          <a:stretch/>
        </p:blipFill>
        <p:spPr>
          <a:xfrm>
            <a:off x="3766843" y="631301"/>
            <a:ext cx="249913" cy="117267"/>
          </a:xfrm>
          <a:prstGeom prst="rect">
            <a:avLst/>
          </a:prstGeom>
          <a:noFill/>
          <a:ln>
            <a:noFill/>
          </a:ln>
        </p:spPr>
      </p:pic>
      <p:cxnSp>
        <p:nvCxnSpPr>
          <p:cNvPr id="3653" name="Google Shape;3653;g3b75ff0c716_0_353"/>
          <p:cNvCxnSpPr/>
          <p:nvPr/>
        </p:nvCxnSpPr>
        <p:spPr>
          <a:xfrm>
            <a:off x="2162539" y="410746"/>
            <a:ext cx="13500" cy="1452900"/>
          </a:xfrm>
          <a:prstGeom prst="straightConnector1">
            <a:avLst/>
          </a:prstGeom>
          <a:noFill/>
          <a:ln w="9525" cap="flat" cmpd="sng">
            <a:solidFill>
              <a:srgbClr val="0070C0"/>
            </a:solidFill>
            <a:prstDash val="solid"/>
            <a:round/>
            <a:headEnd type="none" w="sm" len="sm"/>
            <a:tailEnd type="none" w="sm" len="sm"/>
          </a:ln>
        </p:spPr>
      </p:cxnSp>
      <p:sp>
        <p:nvSpPr>
          <p:cNvPr id="3654" name="Google Shape;3654;g3b75ff0c716_0_353"/>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Target		Behavior</a:t>
            </a:r>
            <a:endParaRPr/>
          </a:p>
        </p:txBody>
      </p:sp>
      <p:sp>
        <p:nvSpPr>
          <p:cNvPr id="3655" name="Google Shape;3655;g3b75ff0c716_0_35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656" name="Google Shape;3656;g3b75ff0c716_0_353"/>
          <p:cNvGrpSpPr/>
          <p:nvPr/>
        </p:nvGrpSpPr>
        <p:grpSpPr>
          <a:xfrm>
            <a:off x="0" y="3109250"/>
            <a:ext cx="5760261" cy="92075"/>
            <a:chOff x="0" y="3109250"/>
            <a:chExt cx="5760261" cy="92075"/>
          </a:xfrm>
        </p:grpSpPr>
        <p:sp>
          <p:nvSpPr>
            <p:cNvPr id="3657" name="Google Shape;3657;g3b75ff0c716_0_35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8" name="Google Shape;3658;g3b75ff0c716_0_35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9" name="Google Shape;3659;g3b75ff0c716_0_35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60" name="Google Shape;3660;g3b75ff0c716_0_353"/>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661" name="Google Shape;3661;g3b75ff0c716_0_35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95</a:t>
            </a:fld>
            <a:r>
              <a:rPr lang="en-US"/>
              <a:t> </a:t>
            </a:r>
            <a:endParaRPr/>
          </a:p>
        </p:txBody>
      </p:sp>
      <p:pic>
        <p:nvPicPr>
          <p:cNvPr id="3662" name="Google Shape;3662;g3b75ff0c716_0_353"/>
          <p:cNvPicPr preferRelativeResize="0"/>
          <p:nvPr/>
        </p:nvPicPr>
        <p:blipFill rotWithShape="1">
          <a:blip r:embed="rId6">
            <a:alphaModFix/>
          </a:blip>
          <a:srcRect/>
          <a:stretch/>
        </p:blipFill>
        <p:spPr>
          <a:xfrm>
            <a:off x="485263" y="408737"/>
            <a:ext cx="253340" cy="263412"/>
          </a:xfrm>
          <a:prstGeom prst="rect">
            <a:avLst/>
          </a:prstGeom>
          <a:noFill/>
          <a:ln>
            <a:noFill/>
          </a:ln>
        </p:spPr>
      </p:pic>
      <p:pic>
        <p:nvPicPr>
          <p:cNvPr id="3663" name="Google Shape;3663;g3b75ff0c716_0_353"/>
          <p:cNvPicPr preferRelativeResize="0"/>
          <p:nvPr/>
        </p:nvPicPr>
        <p:blipFill rotWithShape="1">
          <a:blip r:embed="rId7">
            <a:alphaModFix/>
          </a:blip>
          <a:srcRect/>
          <a:stretch/>
        </p:blipFill>
        <p:spPr>
          <a:xfrm>
            <a:off x="1742348" y="375332"/>
            <a:ext cx="268790" cy="301041"/>
          </a:xfrm>
          <a:prstGeom prst="rect">
            <a:avLst/>
          </a:prstGeom>
          <a:noFill/>
          <a:ln>
            <a:noFill/>
          </a:ln>
        </p:spPr>
      </p:pic>
      <p:pic>
        <p:nvPicPr>
          <p:cNvPr id="3664" name="Google Shape;3664;g3b75ff0c716_0_353"/>
          <p:cNvPicPr preferRelativeResize="0"/>
          <p:nvPr/>
        </p:nvPicPr>
        <p:blipFill rotWithShape="1">
          <a:blip r:embed="rId3">
            <a:alphaModFix/>
          </a:blip>
          <a:srcRect/>
          <a:stretch/>
        </p:blipFill>
        <p:spPr>
          <a:xfrm>
            <a:off x="1139997" y="415805"/>
            <a:ext cx="276927" cy="275955"/>
          </a:xfrm>
          <a:prstGeom prst="rect">
            <a:avLst/>
          </a:prstGeom>
          <a:noFill/>
          <a:ln>
            <a:noFill/>
          </a:ln>
        </p:spPr>
      </p:pic>
      <p:sp>
        <p:nvSpPr>
          <p:cNvPr id="3665" name="Google Shape;3665;g3b75ff0c716_0_353"/>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666" name="Google Shape;3666;g3b75ff0c716_0_353"/>
          <p:cNvPicPr preferRelativeResize="0"/>
          <p:nvPr/>
        </p:nvPicPr>
        <p:blipFill rotWithShape="1">
          <a:blip r:embed="rId8">
            <a:alphaModFix/>
          </a:blip>
          <a:srcRect/>
          <a:stretch/>
        </p:blipFill>
        <p:spPr>
          <a:xfrm>
            <a:off x="4069116" y="1789961"/>
            <a:ext cx="1640171" cy="889000"/>
          </a:xfrm>
          <a:prstGeom prst="rect">
            <a:avLst/>
          </a:prstGeom>
          <a:noFill/>
          <a:ln>
            <a:noFill/>
          </a:ln>
        </p:spPr>
      </p:pic>
      <p:sp>
        <p:nvSpPr>
          <p:cNvPr id="3667" name="Google Shape;3667;g3b75ff0c716_0_353"/>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668" name="Google Shape;3668;g3b75ff0c716_0_353"/>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669" name="Google Shape;3669;g3b75ff0c716_0_353"/>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670" name="Google Shape;3670;g3b75ff0c716_0_353"/>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671" name="Google Shape;3671;g3b75ff0c716_0_353"/>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672" name="Google Shape;3672;g3b75ff0c716_0_353"/>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673" name="Google Shape;3673;g3b75ff0c716_0_353"/>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674" name="Google Shape;3674;g3b75ff0c716_0_353"/>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675" name="Google Shape;3675;g3b75ff0c716_0_353"/>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676" name="Google Shape;3676;g3b75ff0c716_0_353"/>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677" name="Google Shape;3677;g3b75ff0c716_0_353"/>
          <p:cNvPicPr preferRelativeResize="0"/>
          <p:nvPr/>
        </p:nvPicPr>
        <p:blipFill rotWithShape="1">
          <a:blip r:embed="rId4">
            <a:alphaModFix/>
          </a:blip>
          <a:srcRect/>
          <a:stretch/>
        </p:blipFill>
        <p:spPr>
          <a:xfrm>
            <a:off x="325079" y="652004"/>
            <a:ext cx="247568" cy="107156"/>
          </a:xfrm>
          <a:prstGeom prst="rect">
            <a:avLst/>
          </a:prstGeom>
          <a:noFill/>
          <a:ln>
            <a:noFill/>
          </a:ln>
        </p:spPr>
      </p:pic>
      <p:pic>
        <p:nvPicPr>
          <p:cNvPr id="3678" name="Google Shape;3678;g3b75ff0c716_0_353"/>
          <p:cNvPicPr preferRelativeResize="0"/>
          <p:nvPr/>
        </p:nvPicPr>
        <p:blipFill rotWithShape="1">
          <a:blip r:embed="rId5">
            <a:alphaModFix/>
          </a:blip>
          <a:srcRect/>
          <a:stretch/>
        </p:blipFill>
        <p:spPr>
          <a:xfrm>
            <a:off x="660303" y="649609"/>
            <a:ext cx="249913" cy="117267"/>
          </a:xfrm>
          <a:prstGeom prst="rect">
            <a:avLst/>
          </a:prstGeom>
          <a:noFill/>
          <a:ln>
            <a:noFill/>
          </a:ln>
        </p:spPr>
      </p:pic>
      <p:pic>
        <p:nvPicPr>
          <p:cNvPr id="3679" name="Google Shape;3679;g3b75ff0c716_0_353"/>
          <p:cNvPicPr preferRelativeResize="0"/>
          <p:nvPr/>
        </p:nvPicPr>
        <p:blipFill rotWithShape="1">
          <a:blip r:embed="rId4">
            <a:alphaModFix/>
          </a:blip>
          <a:srcRect/>
          <a:stretch/>
        </p:blipFill>
        <p:spPr>
          <a:xfrm>
            <a:off x="967808" y="638754"/>
            <a:ext cx="247568" cy="107156"/>
          </a:xfrm>
          <a:prstGeom prst="rect">
            <a:avLst/>
          </a:prstGeom>
          <a:noFill/>
          <a:ln>
            <a:noFill/>
          </a:ln>
        </p:spPr>
      </p:pic>
      <p:pic>
        <p:nvPicPr>
          <p:cNvPr id="3680" name="Google Shape;3680;g3b75ff0c716_0_353"/>
          <p:cNvPicPr preferRelativeResize="0"/>
          <p:nvPr/>
        </p:nvPicPr>
        <p:blipFill rotWithShape="1">
          <a:blip r:embed="rId5">
            <a:alphaModFix/>
          </a:blip>
          <a:srcRect/>
          <a:stretch/>
        </p:blipFill>
        <p:spPr>
          <a:xfrm>
            <a:off x="1303032" y="636359"/>
            <a:ext cx="249913" cy="117267"/>
          </a:xfrm>
          <a:prstGeom prst="rect">
            <a:avLst/>
          </a:prstGeom>
          <a:noFill/>
          <a:ln>
            <a:noFill/>
          </a:ln>
        </p:spPr>
      </p:pic>
      <p:pic>
        <p:nvPicPr>
          <p:cNvPr id="3681" name="Google Shape;3681;g3b75ff0c716_0_353"/>
          <p:cNvPicPr preferRelativeResize="0"/>
          <p:nvPr/>
        </p:nvPicPr>
        <p:blipFill rotWithShape="1">
          <a:blip r:embed="rId4">
            <a:alphaModFix/>
          </a:blip>
          <a:srcRect/>
          <a:stretch/>
        </p:blipFill>
        <p:spPr>
          <a:xfrm>
            <a:off x="1577402" y="638755"/>
            <a:ext cx="247568" cy="107156"/>
          </a:xfrm>
          <a:prstGeom prst="rect">
            <a:avLst/>
          </a:prstGeom>
          <a:noFill/>
          <a:ln>
            <a:noFill/>
          </a:ln>
        </p:spPr>
      </p:pic>
      <p:pic>
        <p:nvPicPr>
          <p:cNvPr id="3682" name="Google Shape;3682;g3b75ff0c716_0_353"/>
          <p:cNvPicPr preferRelativeResize="0"/>
          <p:nvPr/>
        </p:nvPicPr>
        <p:blipFill rotWithShape="1">
          <a:blip r:embed="rId5">
            <a:alphaModFix/>
          </a:blip>
          <a:srcRect/>
          <a:stretch/>
        </p:blipFill>
        <p:spPr>
          <a:xfrm>
            <a:off x="1912626" y="636360"/>
            <a:ext cx="249913" cy="117267"/>
          </a:xfrm>
          <a:prstGeom prst="rect">
            <a:avLst/>
          </a:prstGeom>
          <a:noFill/>
          <a:ln>
            <a:noFill/>
          </a:ln>
        </p:spPr>
      </p:pic>
      <p:sp>
        <p:nvSpPr>
          <p:cNvPr id="3683" name="Google Shape;3683;g3b75ff0c716_0_353"/>
          <p:cNvSpPr/>
          <p:nvPr/>
        </p:nvSpPr>
        <p:spPr>
          <a:xfrm>
            <a:off x="3577091" y="4967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684" name="Google Shape;3684;g3b75ff0c716_0_353"/>
          <p:cNvSpPr txBox="1"/>
          <p:nvPr/>
        </p:nvSpPr>
        <p:spPr>
          <a:xfrm>
            <a:off x="2852197" y="2600622"/>
            <a:ext cx="29082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rgbClr val="1B1472"/>
                </a:solidFill>
                <a:latin typeface="Arial"/>
                <a:ea typeface="Arial"/>
                <a:cs typeface="Arial"/>
                <a:sym typeface="Arial"/>
              </a:rPr>
              <a:t>Terminating episode 1 after 2 steps. </a:t>
            </a:r>
            <a:r>
              <a:rPr lang="en-US" sz="600" b="0" i="0" u="none" strike="noStrike" cap="none">
                <a:solidFill>
                  <a:srgbClr val="000000"/>
                </a:solidFill>
                <a:latin typeface="Arial"/>
                <a:ea typeface="Arial"/>
                <a:cs typeface="Arial"/>
                <a:sym typeface="Arial"/>
              </a:rPr>
              <a:t>In practice, we can define an episode cutoff (e.g., after 2 or10 steps or when Overheated occurs). If Overheated isn’t reached,  still the episode an be programmed to end artificially. That’s how learning continues.</a:t>
            </a:r>
            <a:endParaRPr sz="600" b="1" i="0" u="none" strike="noStrike" cap="none">
              <a:solidFill>
                <a:srgbClr val="1B1472"/>
              </a:solidFill>
              <a:latin typeface="Arial"/>
              <a:ea typeface="Arial"/>
              <a:cs typeface="Arial"/>
              <a:sym typeface="Arial"/>
            </a:endParaRPr>
          </a:p>
          <a:p>
            <a:pPr marL="0" marR="0" lvl="0" indent="0" algn="l" rtl="0">
              <a:lnSpc>
                <a:spcPct val="100000"/>
              </a:lnSpc>
              <a:spcBef>
                <a:spcPts val="0"/>
              </a:spcBef>
              <a:spcAft>
                <a:spcPts val="0"/>
              </a:spcAft>
              <a:buNone/>
            </a:pPr>
            <a:endParaRPr sz="600" b="1" i="0" u="none" strike="noStrike" cap="none">
              <a:solidFill>
                <a:srgbClr val="1B1472"/>
              </a:solidFill>
              <a:latin typeface="Arial"/>
              <a:ea typeface="Arial"/>
              <a:cs typeface="Arial"/>
              <a:sym typeface="Arial"/>
            </a:endParaRPr>
          </a:p>
        </p:txBody>
      </p:sp>
      <p:sp>
        <p:nvSpPr>
          <p:cNvPr id="3685" name="Google Shape;3685;g3b75ff0c716_0_353"/>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6" name="Google Shape;3686;g3b75ff0c716_0_353"/>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sp>
        <p:nvSpPr>
          <p:cNvPr id="3687" name="Google Shape;3687;g3b75ff0c716_0_353"/>
          <p:cNvSpPr txBox="1"/>
          <p:nvPr/>
        </p:nvSpPr>
        <p:spPr>
          <a:xfrm>
            <a:off x="82600" y="1720728"/>
            <a:ext cx="3130500" cy="11967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20,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Q2(W,S) = 0 + 0.8 [20+ (0.9</a:t>
            </a:r>
            <a:r>
              <a:rPr lang="en-US" sz="700" b="1" i="0" u="none" strike="noStrike" cap="none">
                <a:solidFill>
                  <a:srgbClr val="FF0000"/>
                </a:solidFill>
                <a:latin typeface="Arial"/>
                <a:ea typeface="Arial"/>
                <a:cs typeface="Arial"/>
                <a:sym typeface="Arial"/>
              </a:rPr>
              <a:t>*(Q1(C, ARGMAX{Q2(C,S), Q2(C,F)}) )-</a:t>
            </a:r>
            <a:r>
              <a:rPr lang="en-US" sz="700" b="1" i="0" u="none" strike="noStrike" cap="none">
                <a:solidFill>
                  <a:schemeClr val="dk1"/>
                </a:solidFill>
                <a:latin typeface="Arial"/>
                <a:ea typeface="Arial"/>
                <a:cs typeface="Arial"/>
                <a:sym typeface="Arial"/>
              </a:rPr>
              <a:t>0]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0 + 0.8 [20+ (0.9</a:t>
            </a:r>
            <a:r>
              <a:rPr lang="en-US" sz="700" b="1" i="0" u="none" strike="noStrike" cap="none">
                <a:solidFill>
                  <a:srgbClr val="FF0000"/>
                </a:solidFill>
                <a:latin typeface="Arial"/>
                <a:ea typeface="Arial"/>
                <a:cs typeface="Arial"/>
                <a:sym typeface="Arial"/>
              </a:rPr>
              <a:t>*(Q1(C, F) )-</a:t>
            </a:r>
            <a:r>
              <a:rPr lang="en-US" sz="700" b="1" i="0" u="none" strike="noStrike" cap="none">
                <a:solidFill>
                  <a:schemeClr val="dk1"/>
                </a:solidFill>
                <a:latin typeface="Arial"/>
                <a:ea typeface="Arial"/>
                <a:cs typeface="Arial"/>
                <a:sym typeface="Arial"/>
              </a:rPr>
              <a:t>0]</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0 + 0.8 [20+ (0.9</a:t>
            </a:r>
            <a:r>
              <a:rPr lang="en-US" sz="700" b="1" i="0" u="none" strike="noStrike" cap="none">
                <a:solidFill>
                  <a:srgbClr val="FF0000"/>
                </a:solidFill>
                <a:latin typeface="Arial"/>
                <a:ea typeface="Arial"/>
                <a:cs typeface="Arial"/>
                <a:sym typeface="Arial"/>
              </a:rPr>
              <a:t>*5)-</a:t>
            </a:r>
            <a:r>
              <a:rPr lang="en-US" sz="700" b="1" i="0" u="none" strike="noStrike" cap="none">
                <a:solidFill>
                  <a:schemeClr val="dk1"/>
                </a:solidFill>
                <a:latin typeface="Arial"/>
                <a:ea typeface="Arial"/>
                <a:cs typeface="Arial"/>
                <a:sym typeface="Arial"/>
              </a:rPr>
              <a:t>0]</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~19.6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688" name="Google Shape;3688;g3b75ff0c716_0_353"/>
          <p:cNvSpPr/>
          <p:nvPr/>
        </p:nvSpPr>
        <p:spPr>
          <a:xfrm>
            <a:off x="879354" y="1706616"/>
            <a:ext cx="479400" cy="156900"/>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89" name="Google Shape;3689;g3b75ff0c716_0_353"/>
          <p:cNvSpPr/>
          <p:nvPr/>
        </p:nvSpPr>
        <p:spPr>
          <a:xfrm>
            <a:off x="309839" y="1424777"/>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690" name="Google Shape;3690;g3b75ff0c716_0_353"/>
          <p:cNvCxnSpPr/>
          <p:nvPr/>
        </p:nvCxnSpPr>
        <p:spPr>
          <a:xfrm>
            <a:off x="910106" y="1424777"/>
            <a:ext cx="0" cy="225300"/>
          </a:xfrm>
          <a:prstGeom prst="straightConnector1">
            <a:avLst/>
          </a:prstGeom>
          <a:noFill/>
          <a:ln w="9525" cap="flat" cmpd="sng">
            <a:solidFill>
              <a:schemeClr val="dk1"/>
            </a:solidFill>
            <a:prstDash val="solid"/>
            <a:round/>
            <a:headEnd type="none" w="sm" len="sm"/>
            <a:tailEnd type="none" w="sm" len="sm"/>
          </a:ln>
        </p:spPr>
      </p:cxnSp>
      <p:cxnSp>
        <p:nvCxnSpPr>
          <p:cNvPr id="3691" name="Google Shape;3691;g3b75ff0c716_0_353"/>
          <p:cNvCxnSpPr/>
          <p:nvPr/>
        </p:nvCxnSpPr>
        <p:spPr>
          <a:xfrm>
            <a:off x="1566089" y="1431404"/>
            <a:ext cx="0" cy="225300"/>
          </a:xfrm>
          <a:prstGeom prst="straightConnector1">
            <a:avLst/>
          </a:prstGeom>
          <a:noFill/>
          <a:ln w="9525" cap="flat" cmpd="sng">
            <a:solidFill>
              <a:schemeClr val="dk1"/>
            </a:solidFill>
            <a:prstDash val="solid"/>
            <a:round/>
            <a:headEnd type="none" w="sm" len="sm"/>
            <a:tailEnd type="none" w="sm" len="sm"/>
          </a:ln>
        </p:spPr>
      </p:cxnSp>
      <p:pic>
        <p:nvPicPr>
          <p:cNvPr id="3692" name="Google Shape;3692;g3b75ff0c716_0_353"/>
          <p:cNvPicPr preferRelativeResize="0"/>
          <p:nvPr/>
        </p:nvPicPr>
        <p:blipFill rotWithShape="1">
          <a:blip r:embed="rId9">
            <a:alphaModFix/>
          </a:blip>
          <a:srcRect/>
          <a:stretch/>
        </p:blipFill>
        <p:spPr>
          <a:xfrm>
            <a:off x="3797359" y="35192"/>
            <a:ext cx="1958532" cy="1060146"/>
          </a:xfrm>
          <a:prstGeom prst="rect">
            <a:avLst/>
          </a:prstGeom>
          <a:noFill/>
          <a:ln>
            <a:noFill/>
          </a:ln>
        </p:spPr>
      </p:pic>
      <p:sp>
        <p:nvSpPr>
          <p:cNvPr id="3693" name="Google Shape;3693;g3b75ff0c716_0_353"/>
          <p:cNvSpPr/>
          <p:nvPr/>
        </p:nvSpPr>
        <p:spPr>
          <a:xfrm>
            <a:off x="5365917" y="322469"/>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694" name="Google Shape;3694;g3b75ff0c716_0_353"/>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5.2          0         0           </a:t>
            </a:r>
            <a:r>
              <a:rPr lang="en-US" sz="800" b="1" i="0" u="none" strike="noStrike" cap="none">
                <a:solidFill>
                  <a:schemeClr val="dk1"/>
                </a:solidFill>
                <a:latin typeface="Calibri"/>
                <a:ea typeface="Calibri"/>
                <a:cs typeface="Calibri"/>
                <a:sym typeface="Calibri"/>
              </a:rPr>
              <a:t>19.6</a:t>
            </a:r>
            <a:endParaRPr sz="300" b="1" i="0" u="none" strike="noStrike" cap="none">
              <a:solidFill>
                <a:srgbClr val="000000"/>
              </a:solidFill>
              <a:latin typeface="Arial"/>
              <a:ea typeface="Arial"/>
              <a:cs typeface="Arial"/>
              <a:sym typeface="Arial"/>
            </a:endParaRPr>
          </a:p>
        </p:txBody>
      </p:sp>
      <p:sp>
        <p:nvSpPr>
          <p:cNvPr id="3695" name="Google Shape;3695;g3b75ff0c716_0_353"/>
          <p:cNvSpPr txBox="1"/>
          <p:nvPr/>
        </p:nvSpPr>
        <p:spPr>
          <a:xfrm>
            <a:off x="2140174" y="80048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5             1        5           15 </a:t>
            </a:r>
            <a:endParaRPr sz="700" b="0" i="0" u="none" strike="noStrike" cap="none">
              <a:solidFill>
                <a:srgbClr val="000000"/>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92"/>
                                        </p:tgtEl>
                                        <p:attrNameLst>
                                          <p:attrName>style.visibility</p:attrName>
                                        </p:attrNameLst>
                                      </p:cBhvr>
                                      <p:to>
                                        <p:strVal val="visible"/>
                                      </p:to>
                                    </p:set>
                                    <p:animEffect transition="in" filter="fade">
                                      <p:cBhvr>
                                        <p:cTn id="7" dur="500"/>
                                        <p:tgtEl>
                                          <p:spTgt spid="3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3699"/>
        <p:cNvGrpSpPr/>
        <p:nvPr/>
      </p:nvGrpSpPr>
      <p:grpSpPr>
        <a:xfrm>
          <a:off x="0" y="0"/>
          <a:ext cx="0" cy="0"/>
          <a:chOff x="0" y="0"/>
          <a:chExt cx="0" cy="0"/>
        </a:xfrm>
      </p:grpSpPr>
      <p:pic>
        <p:nvPicPr>
          <p:cNvPr id="3700" name="Google Shape;3700;g3b75ff0c716_0_415"/>
          <p:cNvPicPr preferRelativeResize="0"/>
          <p:nvPr/>
        </p:nvPicPr>
        <p:blipFill rotWithShape="1">
          <a:blip r:embed="rId3">
            <a:alphaModFix/>
          </a:blip>
          <a:srcRect/>
          <a:stretch/>
        </p:blipFill>
        <p:spPr>
          <a:xfrm>
            <a:off x="2994214" y="410746"/>
            <a:ext cx="276927" cy="275955"/>
          </a:xfrm>
          <a:prstGeom prst="rect">
            <a:avLst/>
          </a:prstGeom>
          <a:noFill/>
          <a:ln>
            <a:noFill/>
          </a:ln>
        </p:spPr>
      </p:pic>
      <p:sp>
        <p:nvSpPr>
          <p:cNvPr id="3701" name="Google Shape;3701;g3b75ff0c716_0_415"/>
          <p:cNvSpPr/>
          <p:nvPr/>
        </p:nvSpPr>
        <p:spPr>
          <a:xfrm>
            <a:off x="2164056" y="1416916"/>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02" name="Google Shape;3702;g3b75ff0c716_0_415"/>
          <p:cNvSpPr/>
          <p:nvPr/>
        </p:nvSpPr>
        <p:spPr>
          <a:xfrm>
            <a:off x="2179296" y="1072214"/>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03" name="Google Shape;3703;g3b75ff0c716_0_415"/>
          <p:cNvSpPr/>
          <p:nvPr/>
        </p:nvSpPr>
        <p:spPr>
          <a:xfrm>
            <a:off x="2182136" y="784025"/>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704" name="Google Shape;3704;g3b75ff0c716_0_415"/>
          <p:cNvCxnSpPr/>
          <p:nvPr/>
        </p:nvCxnSpPr>
        <p:spPr>
          <a:xfrm>
            <a:off x="2764323" y="769938"/>
            <a:ext cx="0" cy="225300"/>
          </a:xfrm>
          <a:prstGeom prst="straightConnector1">
            <a:avLst/>
          </a:prstGeom>
          <a:noFill/>
          <a:ln w="9525" cap="flat" cmpd="sng">
            <a:solidFill>
              <a:schemeClr val="dk1"/>
            </a:solidFill>
            <a:prstDash val="solid"/>
            <a:round/>
            <a:headEnd type="none" w="sm" len="sm"/>
            <a:tailEnd type="none" w="sm" len="sm"/>
          </a:ln>
        </p:spPr>
      </p:cxnSp>
      <p:cxnSp>
        <p:nvCxnSpPr>
          <p:cNvPr id="3705" name="Google Shape;3705;g3b75ff0c716_0_415"/>
          <p:cNvCxnSpPr/>
          <p:nvPr/>
        </p:nvCxnSpPr>
        <p:spPr>
          <a:xfrm>
            <a:off x="2764323" y="1083652"/>
            <a:ext cx="0" cy="225300"/>
          </a:xfrm>
          <a:prstGeom prst="straightConnector1">
            <a:avLst/>
          </a:prstGeom>
          <a:noFill/>
          <a:ln w="9525" cap="flat" cmpd="sng">
            <a:solidFill>
              <a:schemeClr val="dk1"/>
            </a:solidFill>
            <a:prstDash val="solid"/>
            <a:round/>
            <a:headEnd type="none" w="sm" len="sm"/>
            <a:tailEnd type="none" w="sm" len="sm"/>
          </a:ln>
        </p:spPr>
      </p:cxnSp>
      <p:cxnSp>
        <p:nvCxnSpPr>
          <p:cNvPr id="3706" name="Google Shape;3706;g3b75ff0c716_0_415"/>
          <p:cNvCxnSpPr/>
          <p:nvPr/>
        </p:nvCxnSpPr>
        <p:spPr>
          <a:xfrm>
            <a:off x="2764323" y="1416916"/>
            <a:ext cx="0" cy="225300"/>
          </a:xfrm>
          <a:prstGeom prst="straightConnector1">
            <a:avLst/>
          </a:prstGeom>
          <a:noFill/>
          <a:ln w="9525" cap="flat" cmpd="sng">
            <a:solidFill>
              <a:schemeClr val="dk1"/>
            </a:solidFill>
            <a:prstDash val="solid"/>
            <a:round/>
            <a:headEnd type="none" w="sm" len="sm"/>
            <a:tailEnd type="none" w="sm" len="sm"/>
          </a:ln>
        </p:spPr>
      </p:cxnSp>
      <p:cxnSp>
        <p:nvCxnSpPr>
          <p:cNvPr id="3707" name="Google Shape;3707;g3b75ff0c716_0_415"/>
          <p:cNvCxnSpPr/>
          <p:nvPr/>
        </p:nvCxnSpPr>
        <p:spPr>
          <a:xfrm>
            <a:off x="3420306" y="776565"/>
            <a:ext cx="0" cy="225300"/>
          </a:xfrm>
          <a:prstGeom prst="straightConnector1">
            <a:avLst/>
          </a:prstGeom>
          <a:noFill/>
          <a:ln w="9525" cap="flat" cmpd="sng">
            <a:solidFill>
              <a:schemeClr val="dk1"/>
            </a:solidFill>
            <a:prstDash val="solid"/>
            <a:round/>
            <a:headEnd type="none" w="sm" len="sm"/>
            <a:tailEnd type="none" w="sm" len="sm"/>
          </a:ln>
        </p:spPr>
      </p:cxnSp>
      <p:cxnSp>
        <p:nvCxnSpPr>
          <p:cNvPr id="3708" name="Google Shape;3708;g3b75ff0c716_0_415"/>
          <p:cNvCxnSpPr/>
          <p:nvPr/>
        </p:nvCxnSpPr>
        <p:spPr>
          <a:xfrm>
            <a:off x="3420306" y="1090279"/>
            <a:ext cx="0" cy="225300"/>
          </a:xfrm>
          <a:prstGeom prst="straightConnector1">
            <a:avLst/>
          </a:prstGeom>
          <a:noFill/>
          <a:ln w="9525" cap="flat" cmpd="sng">
            <a:solidFill>
              <a:schemeClr val="dk1"/>
            </a:solidFill>
            <a:prstDash val="solid"/>
            <a:round/>
            <a:headEnd type="none" w="sm" len="sm"/>
            <a:tailEnd type="none" w="sm" len="sm"/>
          </a:ln>
        </p:spPr>
      </p:cxnSp>
      <p:cxnSp>
        <p:nvCxnSpPr>
          <p:cNvPr id="3709" name="Google Shape;3709;g3b75ff0c716_0_415"/>
          <p:cNvCxnSpPr/>
          <p:nvPr/>
        </p:nvCxnSpPr>
        <p:spPr>
          <a:xfrm>
            <a:off x="3420306" y="1423543"/>
            <a:ext cx="0" cy="225300"/>
          </a:xfrm>
          <a:prstGeom prst="straightConnector1">
            <a:avLst/>
          </a:prstGeom>
          <a:noFill/>
          <a:ln w="9525" cap="flat" cmpd="sng">
            <a:solidFill>
              <a:schemeClr val="dk1"/>
            </a:solidFill>
            <a:prstDash val="solid"/>
            <a:round/>
            <a:headEnd type="none" w="sm" len="sm"/>
            <a:tailEnd type="none" w="sm" len="sm"/>
          </a:ln>
        </p:spPr>
      </p:cxnSp>
      <p:pic>
        <p:nvPicPr>
          <p:cNvPr id="3710" name="Google Shape;3710;g3b75ff0c716_0_415"/>
          <p:cNvPicPr preferRelativeResize="0"/>
          <p:nvPr/>
        </p:nvPicPr>
        <p:blipFill rotWithShape="1">
          <a:blip r:embed="rId4">
            <a:alphaModFix/>
          </a:blip>
          <a:srcRect/>
          <a:stretch/>
        </p:blipFill>
        <p:spPr>
          <a:xfrm>
            <a:off x="2179296" y="646945"/>
            <a:ext cx="247568" cy="107156"/>
          </a:xfrm>
          <a:prstGeom prst="rect">
            <a:avLst/>
          </a:prstGeom>
          <a:noFill/>
          <a:ln>
            <a:noFill/>
          </a:ln>
        </p:spPr>
      </p:pic>
      <p:pic>
        <p:nvPicPr>
          <p:cNvPr id="3711" name="Google Shape;3711;g3b75ff0c716_0_415"/>
          <p:cNvPicPr preferRelativeResize="0"/>
          <p:nvPr/>
        </p:nvPicPr>
        <p:blipFill rotWithShape="1">
          <a:blip r:embed="rId5">
            <a:alphaModFix/>
          </a:blip>
          <a:srcRect/>
          <a:stretch/>
        </p:blipFill>
        <p:spPr>
          <a:xfrm>
            <a:off x="2514520" y="644550"/>
            <a:ext cx="249913" cy="117267"/>
          </a:xfrm>
          <a:prstGeom prst="rect">
            <a:avLst/>
          </a:prstGeom>
          <a:noFill/>
          <a:ln>
            <a:noFill/>
          </a:ln>
        </p:spPr>
      </p:pic>
      <p:pic>
        <p:nvPicPr>
          <p:cNvPr id="3712" name="Google Shape;3712;g3b75ff0c716_0_415"/>
          <p:cNvPicPr preferRelativeResize="0"/>
          <p:nvPr/>
        </p:nvPicPr>
        <p:blipFill rotWithShape="1">
          <a:blip r:embed="rId4">
            <a:alphaModFix/>
          </a:blip>
          <a:srcRect/>
          <a:stretch/>
        </p:blipFill>
        <p:spPr>
          <a:xfrm>
            <a:off x="2822025" y="633695"/>
            <a:ext cx="247568" cy="107156"/>
          </a:xfrm>
          <a:prstGeom prst="rect">
            <a:avLst/>
          </a:prstGeom>
          <a:noFill/>
          <a:ln>
            <a:noFill/>
          </a:ln>
        </p:spPr>
      </p:pic>
      <p:pic>
        <p:nvPicPr>
          <p:cNvPr id="3713" name="Google Shape;3713;g3b75ff0c716_0_415"/>
          <p:cNvPicPr preferRelativeResize="0"/>
          <p:nvPr/>
        </p:nvPicPr>
        <p:blipFill rotWithShape="1">
          <a:blip r:embed="rId5">
            <a:alphaModFix/>
          </a:blip>
          <a:srcRect/>
          <a:stretch/>
        </p:blipFill>
        <p:spPr>
          <a:xfrm>
            <a:off x="3157249" y="631300"/>
            <a:ext cx="249913" cy="117267"/>
          </a:xfrm>
          <a:prstGeom prst="rect">
            <a:avLst/>
          </a:prstGeom>
          <a:noFill/>
          <a:ln>
            <a:noFill/>
          </a:ln>
        </p:spPr>
      </p:pic>
      <p:pic>
        <p:nvPicPr>
          <p:cNvPr id="3714" name="Google Shape;3714;g3b75ff0c716_0_415"/>
          <p:cNvPicPr preferRelativeResize="0"/>
          <p:nvPr/>
        </p:nvPicPr>
        <p:blipFill rotWithShape="1">
          <a:blip r:embed="rId4">
            <a:alphaModFix/>
          </a:blip>
          <a:srcRect/>
          <a:stretch/>
        </p:blipFill>
        <p:spPr>
          <a:xfrm>
            <a:off x="3431619" y="633696"/>
            <a:ext cx="247568" cy="107156"/>
          </a:xfrm>
          <a:prstGeom prst="rect">
            <a:avLst/>
          </a:prstGeom>
          <a:noFill/>
          <a:ln>
            <a:noFill/>
          </a:ln>
        </p:spPr>
      </p:pic>
      <p:pic>
        <p:nvPicPr>
          <p:cNvPr id="3715" name="Google Shape;3715;g3b75ff0c716_0_415"/>
          <p:cNvPicPr preferRelativeResize="0"/>
          <p:nvPr/>
        </p:nvPicPr>
        <p:blipFill rotWithShape="1">
          <a:blip r:embed="rId5">
            <a:alphaModFix/>
          </a:blip>
          <a:srcRect/>
          <a:stretch/>
        </p:blipFill>
        <p:spPr>
          <a:xfrm>
            <a:off x="3766843" y="631301"/>
            <a:ext cx="249913" cy="117267"/>
          </a:xfrm>
          <a:prstGeom prst="rect">
            <a:avLst/>
          </a:prstGeom>
          <a:noFill/>
          <a:ln>
            <a:noFill/>
          </a:ln>
        </p:spPr>
      </p:pic>
      <p:cxnSp>
        <p:nvCxnSpPr>
          <p:cNvPr id="3716" name="Google Shape;3716;g3b75ff0c716_0_415"/>
          <p:cNvCxnSpPr/>
          <p:nvPr/>
        </p:nvCxnSpPr>
        <p:spPr>
          <a:xfrm>
            <a:off x="2162539" y="410746"/>
            <a:ext cx="9600" cy="1379100"/>
          </a:xfrm>
          <a:prstGeom prst="straightConnector1">
            <a:avLst/>
          </a:prstGeom>
          <a:noFill/>
          <a:ln w="9525" cap="flat" cmpd="sng">
            <a:solidFill>
              <a:srgbClr val="0070C0"/>
            </a:solidFill>
            <a:prstDash val="solid"/>
            <a:round/>
            <a:headEnd type="none" w="sm" len="sm"/>
            <a:tailEnd type="none" w="sm" len="sm"/>
          </a:ln>
        </p:spPr>
      </p:cxnSp>
      <p:sp>
        <p:nvSpPr>
          <p:cNvPr id="3717" name="Google Shape;3717;g3b75ff0c716_0_41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Target		Behavior</a:t>
            </a:r>
            <a:endParaRPr/>
          </a:p>
        </p:txBody>
      </p:sp>
      <p:sp>
        <p:nvSpPr>
          <p:cNvPr id="3718" name="Google Shape;3718;g3b75ff0c716_0_41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719" name="Google Shape;3719;g3b75ff0c716_0_415"/>
          <p:cNvGrpSpPr/>
          <p:nvPr/>
        </p:nvGrpSpPr>
        <p:grpSpPr>
          <a:xfrm>
            <a:off x="0" y="3109250"/>
            <a:ext cx="5760261" cy="92075"/>
            <a:chOff x="0" y="3109250"/>
            <a:chExt cx="5760261" cy="92075"/>
          </a:xfrm>
        </p:grpSpPr>
        <p:sp>
          <p:nvSpPr>
            <p:cNvPr id="3720" name="Google Shape;3720;g3b75ff0c716_0_41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1" name="Google Shape;3721;g3b75ff0c716_0_41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2" name="Google Shape;3722;g3b75ff0c716_0_41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23" name="Google Shape;3723;g3b75ff0c716_0_41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724" name="Google Shape;3724;g3b75ff0c716_0_41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96</a:t>
            </a:fld>
            <a:endParaRPr/>
          </a:p>
        </p:txBody>
      </p:sp>
      <p:pic>
        <p:nvPicPr>
          <p:cNvPr id="3725" name="Google Shape;3725;g3b75ff0c716_0_415"/>
          <p:cNvPicPr preferRelativeResize="0"/>
          <p:nvPr/>
        </p:nvPicPr>
        <p:blipFill rotWithShape="1">
          <a:blip r:embed="rId6">
            <a:alphaModFix/>
          </a:blip>
          <a:srcRect/>
          <a:stretch/>
        </p:blipFill>
        <p:spPr>
          <a:xfrm>
            <a:off x="485263" y="408737"/>
            <a:ext cx="253340" cy="263412"/>
          </a:xfrm>
          <a:prstGeom prst="rect">
            <a:avLst/>
          </a:prstGeom>
          <a:noFill/>
          <a:ln>
            <a:noFill/>
          </a:ln>
        </p:spPr>
      </p:pic>
      <p:pic>
        <p:nvPicPr>
          <p:cNvPr id="3726" name="Google Shape;3726;g3b75ff0c716_0_415"/>
          <p:cNvPicPr preferRelativeResize="0"/>
          <p:nvPr/>
        </p:nvPicPr>
        <p:blipFill rotWithShape="1">
          <a:blip r:embed="rId7">
            <a:alphaModFix/>
          </a:blip>
          <a:srcRect/>
          <a:stretch/>
        </p:blipFill>
        <p:spPr>
          <a:xfrm>
            <a:off x="1742348" y="375332"/>
            <a:ext cx="268790" cy="301041"/>
          </a:xfrm>
          <a:prstGeom prst="rect">
            <a:avLst/>
          </a:prstGeom>
          <a:noFill/>
          <a:ln>
            <a:noFill/>
          </a:ln>
        </p:spPr>
      </p:pic>
      <p:pic>
        <p:nvPicPr>
          <p:cNvPr id="3727" name="Google Shape;3727;g3b75ff0c716_0_415"/>
          <p:cNvPicPr preferRelativeResize="0"/>
          <p:nvPr/>
        </p:nvPicPr>
        <p:blipFill rotWithShape="1">
          <a:blip r:embed="rId3">
            <a:alphaModFix/>
          </a:blip>
          <a:srcRect/>
          <a:stretch/>
        </p:blipFill>
        <p:spPr>
          <a:xfrm>
            <a:off x="1139997" y="415805"/>
            <a:ext cx="276927" cy="275955"/>
          </a:xfrm>
          <a:prstGeom prst="rect">
            <a:avLst/>
          </a:prstGeom>
          <a:noFill/>
          <a:ln>
            <a:noFill/>
          </a:ln>
        </p:spPr>
      </p:pic>
      <p:sp>
        <p:nvSpPr>
          <p:cNvPr id="3728" name="Google Shape;3728;g3b75ff0c716_0_41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729" name="Google Shape;3729;g3b75ff0c716_0_415"/>
          <p:cNvPicPr preferRelativeResize="0"/>
          <p:nvPr/>
        </p:nvPicPr>
        <p:blipFill rotWithShape="1">
          <a:blip r:embed="rId8">
            <a:alphaModFix/>
          </a:blip>
          <a:srcRect/>
          <a:stretch/>
        </p:blipFill>
        <p:spPr>
          <a:xfrm>
            <a:off x="4069116" y="1789961"/>
            <a:ext cx="1640171" cy="889000"/>
          </a:xfrm>
          <a:prstGeom prst="rect">
            <a:avLst/>
          </a:prstGeom>
          <a:noFill/>
          <a:ln>
            <a:noFill/>
          </a:ln>
        </p:spPr>
      </p:pic>
      <p:sp>
        <p:nvSpPr>
          <p:cNvPr id="3730" name="Google Shape;3730;g3b75ff0c716_0_415"/>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731" name="Google Shape;3731;g3b75ff0c716_0_41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32" name="Google Shape;3732;g3b75ff0c716_0_41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33" name="Google Shape;3733;g3b75ff0c716_0_41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734" name="Google Shape;3734;g3b75ff0c716_0_41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735" name="Google Shape;3735;g3b75ff0c716_0_41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736" name="Google Shape;3736;g3b75ff0c716_0_41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737" name="Google Shape;3737;g3b75ff0c716_0_41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738" name="Google Shape;3738;g3b75ff0c716_0_41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739" name="Google Shape;3739;g3b75ff0c716_0_41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740" name="Google Shape;3740;g3b75ff0c716_0_415"/>
          <p:cNvPicPr preferRelativeResize="0"/>
          <p:nvPr/>
        </p:nvPicPr>
        <p:blipFill rotWithShape="1">
          <a:blip r:embed="rId4">
            <a:alphaModFix/>
          </a:blip>
          <a:srcRect/>
          <a:stretch/>
        </p:blipFill>
        <p:spPr>
          <a:xfrm>
            <a:off x="325079" y="652004"/>
            <a:ext cx="247568" cy="107156"/>
          </a:xfrm>
          <a:prstGeom prst="rect">
            <a:avLst/>
          </a:prstGeom>
          <a:noFill/>
          <a:ln>
            <a:noFill/>
          </a:ln>
        </p:spPr>
      </p:pic>
      <p:pic>
        <p:nvPicPr>
          <p:cNvPr id="3741" name="Google Shape;3741;g3b75ff0c716_0_415"/>
          <p:cNvPicPr preferRelativeResize="0"/>
          <p:nvPr/>
        </p:nvPicPr>
        <p:blipFill rotWithShape="1">
          <a:blip r:embed="rId5">
            <a:alphaModFix/>
          </a:blip>
          <a:srcRect/>
          <a:stretch/>
        </p:blipFill>
        <p:spPr>
          <a:xfrm>
            <a:off x="660303" y="649609"/>
            <a:ext cx="249913" cy="117267"/>
          </a:xfrm>
          <a:prstGeom prst="rect">
            <a:avLst/>
          </a:prstGeom>
          <a:noFill/>
          <a:ln>
            <a:noFill/>
          </a:ln>
        </p:spPr>
      </p:pic>
      <p:pic>
        <p:nvPicPr>
          <p:cNvPr id="3742" name="Google Shape;3742;g3b75ff0c716_0_415"/>
          <p:cNvPicPr preferRelativeResize="0"/>
          <p:nvPr/>
        </p:nvPicPr>
        <p:blipFill rotWithShape="1">
          <a:blip r:embed="rId4">
            <a:alphaModFix/>
          </a:blip>
          <a:srcRect/>
          <a:stretch/>
        </p:blipFill>
        <p:spPr>
          <a:xfrm>
            <a:off x="967808" y="638754"/>
            <a:ext cx="247568" cy="107156"/>
          </a:xfrm>
          <a:prstGeom prst="rect">
            <a:avLst/>
          </a:prstGeom>
          <a:noFill/>
          <a:ln>
            <a:noFill/>
          </a:ln>
        </p:spPr>
      </p:pic>
      <p:pic>
        <p:nvPicPr>
          <p:cNvPr id="3743" name="Google Shape;3743;g3b75ff0c716_0_415"/>
          <p:cNvPicPr preferRelativeResize="0"/>
          <p:nvPr/>
        </p:nvPicPr>
        <p:blipFill rotWithShape="1">
          <a:blip r:embed="rId5">
            <a:alphaModFix/>
          </a:blip>
          <a:srcRect/>
          <a:stretch/>
        </p:blipFill>
        <p:spPr>
          <a:xfrm>
            <a:off x="1303032" y="636359"/>
            <a:ext cx="249913" cy="117267"/>
          </a:xfrm>
          <a:prstGeom prst="rect">
            <a:avLst/>
          </a:prstGeom>
          <a:noFill/>
          <a:ln>
            <a:noFill/>
          </a:ln>
        </p:spPr>
      </p:pic>
      <p:pic>
        <p:nvPicPr>
          <p:cNvPr id="3744" name="Google Shape;3744;g3b75ff0c716_0_415"/>
          <p:cNvPicPr preferRelativeResize="0"/>
          <p:nvPr/>
        </p:nvPicPr>
        <p:blipFill rotWithShape="1">
          <a:blip r:embed="rId4">
            <a:alphaModFix/>
          </a:blip>
          <a:srcRect/>
          <a:stretch/>
        </p:blipFill>
        <p:spPr>
          <a:xfrm>
            <a:off x="1577402" y="638755"/>
            <a:ext cx="247568" cy="107156"/>
          </a:xfrm>
          <a:prstGeom prst="rect">
            <a:avLst/>
          </a:prstGeom>
          <a:noFill/>
          <a:ln>
            <a:noFill/>
          </a:ln>
        </p:spPr>
      </p:pic>
      <p:pic>
        <p:nvPicPr>
          <p:cNvPr id="3745" name="Google Shape;3745;g3b75ff0c716_0_415"/>
          <p:cNvPicPr preferRelativeResize="0"/>
          <p:nvPr/>
        </p:nvPicPr>
        <p:blipFill rotWithShape="1">
          <a:blip r:embed="rId5">
            <a:alphaModFix/>
          </a:blip>
          <a:srcRect/>
          <a:stretch/>
        </p:blipFill>
        <p:spPr>
          <a:xfrm>
            <a:off x="1912626" y="636360"/>
            <a:ext cx="249913" cy="117267"/>
          </a:xfrm>
          <a:prstGeom prst="rect">
            <a:avLst/>
          </a:prstGeom>
          <a:noFill/>
          <a:ln>
            <a:noFill/>
          </a:ln>
        </p:spPr>
      </p:pic>
      <p:sp>
        <p:nvSpPr>
          <p:cNvPr id="3746" name="Google Shape;3746;g3b75ff0c716_0_415"/>
          <p:cNvSpPr txBox="1"/>
          <p:nvPr/>
        </p:nvSpPr>
        <p:spPr>
          <a:xfrm>
            <a:off x="3157249" y="2600622"/>
            <a:ext cx="2603100" cy="5085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Target Policy : </a:t>
            </a:r>
            <a:r>
              <a:rPr lang="en-US" sz="700" b="0" i="0" u="none" strike="noStrike" cap="none">
                <a:solidFill>
                  <a:schemeClr val="dk1"/>
                </a:solidFill>
                <a:latin typeface="Arial"/>
                <a:ea typeface="Arial"/>
                <a:cs typeface="Arial"/>
                <a:sym typeface="Arial"/>
              </a:rPr>
              <a:t>Q2 - Table</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Behavior Policy : </a:t>
            </a:r>
            <a:r>
              <a:rPr lang="en-US" sz="700" b="0" i="0" u="none" strike="noStrike" cap="none">
                <a:solidFill>
                  <a:srgbClr val="000000"/>
                </a:solidFill>
                <a:latin typeface="Arial"/>
                <a:ea typeface="Arial"/>
                <a:cs typeface="Arial"/>
                <a:sym typeface="Arial"/>
              </a:rPr>
              <a:t>Q1-Table is available from other sources/experience/logged data. Above algorithm learns to update this as well.</a:t>
            </a:r>
            <a:endParaRPr sz="700" b="1" i="0" u="none" strike="noStrike" cap="none">
              <a:solidFill>
                <a:schemeClr val="dk1"/>
              </a:solidFill>
              <a:latin typeface="Arial"/>
              <a:ea typeface="Arial"/>
              <a:cs typeface="Arial"/>
              <a:sym typeface="Arial"/>
            </a:endParaRPr>
          </a:p>
        </p:txBody>
      </p:sp>
      <p:sp>
        <p:nvSpPr>
          <p:cNvPr id="3747" name="Google Shape;3747;g3b75ff0c716_0_41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8" name="Google Shape;3748;g3b75ff0c716_0_415"/>
          <p:cNvSpPr txBox="1"/>
          <p:nvPr/>
        </p:nvSpPr>
        <p:spPr>
          <a:xfrm>
            <a:off x="92818" y="1649835"/>
            <a:ext cx="3924000" cy="16278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20,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 </a:t>
            </a:r>
            <a:r>
              <a:rPr lang="en-US" sz="700" b="1" i="0" u="none" strike="noStrike" cap="none">
                <a:solidFill>
                  <a:schemeClr val="dk1"/>
                </a:solidFill>
                <a:latin typeface="Arial"/>
                <a:ea typeface="Arial"/>
                <a:cs typeface="Arial"/>
                <a:sym typeface="Arial"/>
              </a:rPr>
              <a:t>F</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4, </a:t>
            </a:r>
            <a:r>
              <a:rPr lang="en-US" sz="700" b="1" i="0" u="none" strike="noStrike" cap="none">
                <a:solidFill>
                  <a:srgbClr val="C00000"/>
                </a:solidFill>
                <a:latin typeface="Arial"/>
                <a:ea typeface="Arial"/>
                <a:cs typeface="Arial"/>
                <a:sym typeface="Arial"/>
              </a:rPr>
              <a:t>W,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r>
              <a:rPr lang="en-US" sz="700" b="1" i="0" u="none" strike="noStrike" cap="none">
                <a:solidFill>
                  <a:schemeClr val="dk1"/>
                </a:solidFill>
                <a:latin typeface="Arial"/>
                <a:ea typeface="Arial"/>
                <a:cs typeface="Arial"/>
                <a:sym typeface="Arial"/>
              </a:rPr>
              <a:t> </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t=0 : Q2(C,F) = 5.2+0.8(2+0.9</a:t>
            </a:r>
            <a:r>
              <a:rPr lang="en-US" sz="700" b="1" i="0" u="none" strike="noStrike" cap="none">
                <a:solidFill>
                  <a:srgbClr val="FF0000"/>
                </a:solidFill>
                <a:latin typeface="Arial"/>
                <a:ea typeface="Arial"/>
                <a:cs typeface="Arial"/>
                <a:sym typeface="Arial"/>
              </a:rPr>
              <a:t>(Q1(C, ARGMAX{Q2(C,F), Q2(C,S)})) </a:t>
            </a:r>
            <a:r>
              <a:rPr lang="en-US" sz="700" b="1" i="0" u="none" strike="noStrike" cap="none">
                <a:solidFill>
                  <a:schemeClr val="dk1"/>
                </a:solidFill>
                <a:latin typeface="Arial"/>
                <a:ea typeface="Arial"/>
                <a:cs typeface="Arial"/>
                <a:sym typeface="Arial"/>
              </a:rPr>
              <a:t>−5.2)=~6.24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0" i="1" u="none" strike="noStrike" cap="none">
                <a:solidFill>
                  <a:srgbClr val="0070C0"/>
                </a:solidFill>
                <a:latin typeface="Arial"/>
                <a:ea typeface="Arial"/>
                <a:cs typeface="Arial"/>
                <a:sym typeface="Arial"/>
              </a:rPr>
              <a:t>For step 2 : The loop goes to Q1(S,A) where the behavior policy is updated: </a:t>
            </a:r>
            <a:endParaRPr sz="700" b="0" i="1"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t=1 : Q1(C,F) = 5+0.8(4+0.9</a:t>
            </a:r>
            <a:r>
              <a:rPr lang="en-US" sz="700" b="1" i="0" u="none" strike="noStrike" cap="none">
                <a:solidFill>
                  <a:srgbClr val="FF0000"/>
                </a:solidFill>
                <a:latin typeface="Arial"/>
                <a:ea typeface="Arial"/>
                <a:cs typeface="Arial"/>
                <a:sym typeface="Arial"/>
              </a:rPr>
              <a:t>(Q2(W, ARGMAX{ Q1(W,S) , Q1(W,F) }) )</a:t>
            </a:r>
            <a:r>
              <a:rPr lang="en-US" sz="700" b="1" i="0" u="none" strike="noStrike" cap="none">
                <a:solidFill>
                  <a:schemeClr val="dk1"/>
                </a:solidFill>
                <a:latin typeface="Arial"/>
                <a:ea typeface="Arial"/>
                <a:cs typeface="Arial"/>
                <a:sym typeface="Arial"/>
              </a:rPr>
              <a:t>−5)</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 5+0.8(4+0.9</a:t>
            </a:r>
            <a:r>
              <a:rPr lang="en-US" sz="700" b="1" i="0" u="none" strike="noStrike" cap="none">
                <a:solidFill>
                  <a:srgbClr val="FF0000"/>
                </a:solidFill>
                <a:latin typeface="Arial"/>
                <a:ea typeface="Arial"/>
                <a:cs typeface="Arial"/>
                <a:sym typeface="Arial"/>
              </a:rPr>
              <a:t>(Q2(W, ARGMAX{ 15, 5}) )</a:t>
            </a:r>
            <a:r>
              <a:rPr lang="en-US" sz="700" b="1" i="0" u="none" strike="noStrike" cap="none">
                <a:solidFill>
                  <a:schemeClr val="dk1"/>
                </a:solidFill>
                <a:latin typeface="Arial"/>
                <a:ea typeface="Arial"/>
                <a:cs typeface="Arial"/>
                <a:sym typeface="Arial"/>
              </a:rPr>
              <a:t>−5)</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 5+0.8(4+0.9</a:t>
            </a:r>
            <a:r>
              <a:rPr lang="en-US" sz="700" b="1" i="0" u="none" strike="noStrike" cap="none">
                <a:solidFill>
                  <a:srgbClr val="FF0000"/>
                </a:solidFill>
                <a:latin typeface="Arial"/>
                <a:ea typeface="Arial"/>
                <a:cs typeface="Arial"/>
                <a:sym typeface="Arial"/>
              </a:rPr>
              <a:t>(Q2(W, S) )</a:t>
            </a:r>
            <a:r>
              <a:rPr lang="en-US" sz="700" b="1" i="0" u="none" strike="noStrike" cap="none">
                <a:solidFill>
                  <a:schemeClr val="dk1"/>
                </a:solidFill>
                <a:latin typeface="Arial"/>
                <a:ea typeface="Arial"/>
                <a:cs typeface="Arial"/>
                <a:sym typeface="Arial"/>
              </a:rPr>
              <a:t>−5)</a:t>
            </a:r>
            <a:endParaRPr/>
          </a:p>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                      = 5+0.8(4+0.9</a:t>
            </a:r>
            <a:r>
              <a:rPr lang="en-US" sz="700" b="1" i="0" u="none" strike="noStrike" cap="none">
                <a:solidFill>
                  <a:srgbClr val="FF0000"/>
                </a:solidFill>
                <a:latin typeface="Arial"/>
                <a:ea typeface="Arial"/>
                <a:cs typeface="Arial"/>
                <a:sym typeface="Arial"/>
              </a:rPr>
              <a:t>(19.6 )</a:t>
            </a:r>
            <a:r>
              <a:rPr lang="en-US" sz="700" b="1" i="0" u="none" strike="noStrike" cap="none">
                <a:solidFill>
                  <a:schemeClr val="dk1"/>
                </a:solidFill>
                <a:latin typeface="Arial"/>
                <a:ea typeface="Arial"/>
                <a:cs typeface="Arial"/>
                <a:sym typeface="Arial"/>
              </a:rPr>
              <a:t>−5)    =~18.3</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0" i="0" u="none" strike="noStrike" cap="none">
                <a:solidFill>
                  <a:schemeClr val="dk1"/>
                </a:solidFill>
                <a:latin typeface="Arial"/>
                <a:ea typeface="Arial"/>
                <a:cs typeface="Arial"/>
                <a:sym typeface="Arial"/>
              </a:rPr>
              <a:t>Only two time step is shown here . </a:t>
            </a:r>
            <a:endParaRPr/>
          </a:p>
          <a:p>
            <a:pPr marL="0" marR="0" lvl="0" indent="0" algn="l" rtl="0">
              <a:lnSpc>
                <a:spcPct val="100000"/>
              </a:lnSpc>
              <a:spcBef>
                <a:spcPts val="0"/>
              </a:spcBef>
              <a:spcAft>
                <a:spcPts val="0"/>
              </a:spcAft>
              <a:buNone/>
            </a:pPr>
            <a:r>
              <a:rPr lang="en-US" sz="700" b="0" i="0" u="none" strike="noStrike" cap="none">
                <a:solidFill>
                  <a:schemeClr val="dk1"/>
                </a:solidFill>
                <a:latin typeface="Arial"/>
                <a:ea typeface="Arial"/>
                <a:cs typeface="Arial"/>
                <a:sym typeface="Arial"/>
              </a:rPr>
              <a:t>Other time steps updated target policy ie., Q2 table and the</a:t>
            </a:r>
            <a:endParaRPr/>
          </a:p>
          <a:p>
            <a:pPr marL="0" marR="0" lvl="0" indent="0" algn="l" rtl="0">
              <a:lnSpc>
                <a:spcPct val="100000"/>
              </a:lnSpc>
              <a:spcBef>
                <a:spcPts val="0"/>
              </a:spcBef>
              <a:spcAft>
                <a:spcPts val="0"/>
              </a:spcAft>
              <a:buNone/>
            </a:pPr>
            <a:r>
              <a:rPr lang="en-US" sz="700" b="0" i="0" u="none" strike="noStrike" cap="none">
                <a:solidFill>
                  <a:schemeClr val="dk1"/>
                </a:solidFill>
                <a:latin typeface="Arial"/>
                <a:ea typeface="Arial"/>
                <a:cs typeface="Arial"/>
                <a:sym typeface="Arial"/>
              </a:rPr>
              <a:t>result is tabulated above.</a:t>
            </a:r>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749" name="Google Shape;3749;g3b75ff0c716_0_415"/>
          <p:cNvSpPr txBox="1"/>
          <p:nvPr/>
        </p:nvSpPr>
        <p:spPr>
          <a:xfrm>
            <a:off x="54070" y="785748"/>
            <a:ext cx="387300" cy="10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sz="700" b="1" i="0" u="none" strike="noStrike" cap="none" baseline="-25000">
              <a:solidFill>
                <a:srgbClr val="000000"/>
              </a:solidFill>
              <a:latin typeface="Arial"/>
              <a:ea typeface="Arial"/>
              <a:cs typeface="Arial"/>
              <a:sym typeface="Arial"/>
            </a:endParaRPr>
          </a:p>
        </p:txBody>
      </p:sp>
      <p:pic>
        <p:nvPicPr>
          <p:cNvPr id="3750" name="Google Shape;3750;g3b75ff0c716_0_415"/>
          <p:cNvPicPr preferRelativeResize="0"/>
          <p:nvPr/>
        </p:nvPicPr>
        <p:blipFill rotWithShape="1">
          <a:blip r:embed="rId9">
            <a:alphaModFix/>
          </a:blip>
          <a:srcRect/>
          <a:stretch/>
        </p:blipFill>
        <p:spPr>
          <a:xfrm>
            <a:off x="3797359" y="35192"/>
            <a:ext cx="1958532" cy="1060146"/>
          </a:xfrm>
          <a:prstGeom prst="rect">
            <a:avLst/>
          </a:prstGeom>
          <a:noFill/>
          <a:ln>
            <a:noFill/>
          </a:ln>
        </p:spPr>
      </p:pic>
      <p:sp>
        <p:nvSpPr>
          <p:cNvPr id="3751" name="Google Shape;3751;g3b75ff0c716_0_415"/>
          <p:cNvSpPr/>
          <p:nvPr/>
        </p:nvSpPr>
        <p:spPr>
          <a:xfrm>
            <a:off x="5365917" y="322469"/>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752" name="Google Shape;3752;g3b75ff0c716_0_41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5.2          0         0           19.6</a:t>
            </a:r>
            <a:endParaRPr sz="300" b="0" i="0" u="none" strike="noStrike" cap="none">
              <a:solidFill>
                <a:srgbClr val="000000"/>
              </a:solidFill>
              <a:latin typeface="Arial"/>
              <a:ea typeface="Arial"/>
              <a:cs typeface="Arial"/>
              <a:sym typeface="Arial"/>
            </a:endParaRPr>
          </a:p>
        </p:txBody>
      </p:sp>
      <p:sp>
        <p:nvSpPr>
          <p:cNvPr id="3753" name="Google Shape;3753;g3b75ff0c716_0_415"/>
          <p:cNvSpPr txBox="1"/>
          <p:nvPr/>
        </p:nvSpPr>
        <p:spPr>
          <a:xfrm>
            <a:off x="289408" y="110411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1" i="0" u="none" strike="noStrike" cap="none">
                <a:solidFill>
                  <a:schemeClr val="dk1"/>
                </a:solidFill>
                <a:latin typeface="Calibri"/>
                <a:ea typeface="Calibri"/>
                <a:cs typeface="Calibri"/>
                <a:sym typeface="Calibri"/>
              </a:rPr>
              <a:t> 6.24        </a:t>
            </a:r>
            <a:r>
              <a:rPr lang="en-US" sz="800" b="0" i="0" u="none" strike="noStrike" cap="none">
                <a:solidFill>
                  <a:schemeClr val="dk1"/>
                </a:solidFill>
                <a:latin typeface="Calibri"/>
                <a:ea typeface="Calibri"/>
                <a:cs typeface="Calibri"/>
                <a:sym typeface="Calibri"/>
              </a:rPr>
              <a:t>0  </a:t>
            </a:r>
            <a:r>
              <a:rPr lang="en-US" sz="800" b="1" i="0" u="none" strike="noStrike" cap="none">
                <a:solidFill>
                  <a:schemeClr val="dk1"/>
                </a:solidFill>
                <a:latin typeface="Calibri"/>
                <a:ea typeface="Calibri"/>
                <a:cs typeface="Calibri"/>
                <a:sym typeface="Calibri"/>
              </a:rPr>
              <a:t>      -8           13.74</a:t>
            </a:r>
            <a:endParaRPr sz="300" b="1" i="0" u="none" strike="noStrike" cap="none">
              <a:solidFill>
                <a:srgbClr val="000000"/>
              </a:solidFill>
              <a:latin typeface="Arial"/>
              <a:ea typeface="Arial"/>
              <a:cs typeface="Arial"/>
              <a:sym typeface="Arial"/>
            </a:endParaRPr>
          </a:p>
        </p:txBody>
      </p:sp>
      <p:sp>
        <p:nvSpPr>
          <p:cNvPr id="3754" name="Google Shape;3754;g3b75ff0c716_0_415"/>
          <p:cNvSpPr txBox="1"/>
          <p:nvPr/>
        </p:nvSpPr>
        <p:spPr>
          <a:xfrm>
            <a:off x="2153082" y="111650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18.3 </a:t>
            </a:r>
            <a:r>
              <a:rPr lang="en-US" sz="700" b="0" i="0" u="none" strike="noStrike" cap="none">
                <a:solidFill>
                  <a:srgbClr val="000000"/>
                </a:solidFill>
                <a:latin typeface="Arial"/>
                <a:ea typeface="Arial"/>
                <a:cs typeface="Arial"/>
                <a:sym typeface="Arial"/>
              </a:rPr>
              <a:t>       1        5          15 </a:t>
            </a:r>
            <a:endParaRPr sz="700" b="0" i="0" u="none" strike="noStrike" cap="none">
              <a:solidFill>
                <a:srgbClr val="000000"/>
              </a:solidFill>
              <a:latin typeface="Arial"/>
              <a:ea typeface="Arial"/>
              <a:cs typeface="Arial"/>
              <a:sym typeface="Arial"/>
            </a:endParaRPr>
          </a:p>
        </p:txBody>
      </p:sp>
      <p:sp>
        <p:nvSpPr>
          <p:cNvPr id="3755" name="Google Shape;3755;g3b75ff0c716_0_415"/>
          <p:cNvSpPr txBox="1"/>
          <p:nvPr/>
        </p:nvSpPr>
        <p:spPr>
          <a:xfrm>
            <a:off x="2140174" y="80048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5             1        5           15 </a:t>
            </a:r>
            <a:endParaRPr sz="700" b="0" i="0" u="none" strike="noStrike" cap="none">
              <a:solidFill>
                <a:srgbClr val="000000"/>
              </a:solidFill>
              <a:latin typeface="Arial"/>
              <a:ea typeface="Arial"/>
              <a:cs typeface="Arial"/>
              <a:sym typeface="Arial"/>
            </a:endParaRPr>
          </a:p>
        </p:txBody>
      </p:sp>
      <p:cxnSp>
        <p:nvCxnSpPr>
          <p:cNvPr id="3756" name="Google Shape;3756;g3b75ff0c716_0_415"/>
          <p:cNvCxnSpPr/>
          <p:nvPr/>
        </p:nvCxnSpPr>
        <p:spPr>
          <a:xfrm rot="-5400000">
            <a:off x="2876693" y="933650"/>
            <a:ext cx="1513500" cy="1127700"/>
          </a:xfrm>
          <a:prstGeom prst="curvedConnector3">
            <a:avLst>
              <a:gd name="adj1" fmla="val 13495"/>
            </a:avLst>
          </a:prstGeom>
          <a:noFill/>
          <a:ln w="9525" cap="flat" cmpd="sng">
            <a:solidFill>
              <a:srgbClr val="4A7DBA"/>
            </a:solidFill>
            <a:prstDash val="solid"/>
            <a:round/>
            <a:headEnd type="none" w="sm" len="sm"/>
            <a:tailEnd type="triangle" w="med" len="med"/>
          </a:ln>
        </p:spPr>
      </p:cxnSp>
      <p:sp>
        <p:nvSpPr>
          <p:cNvPr id="3757" name="Google Shape;3757;g3b75ff0c716_0_415"/>
          <p:cNvSpPr/>
          <p:nvPr/>
        </p:nvSpPr>
        <p:spPr>
          <a:xfrm>
            <a:off x="3729702" y="453168"/>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758" name="Google Shape;3758;g3b75ff0c716_0_415"/>
          <p:cNvSpPr/>
          <p:nvPr/>
        </p:nvSpPr>
        <p:spPr>
          <a:xfrm>
            <a:off x="3850905" y="69549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759" name="Google Shape;3759;g3b75ff0c716_0_415"/>
          <p:cNvCxnSpPr/>
          <p:nvPr/>
        </p:nvCxnSpPr>
        <p:spPr>
          <a:xfrm rot="-5400000">
            <a:off x="1492138" y="1827861"/>
            <a:ext cx="1370100" cy="332100"/>
          </a:xfrm>
          <a:prstGeom prst="curvedConnector3">
            <a:avLst>
              <a:gd name="adj1" fmla="val 50000"/>
            </a:avLst>
          </a:prstGeom>
          <a:noFill/>
          <a:ln w="9525" cap="flat" cmpd="sng">
            <a:solidFill>
              <a:schemeClr val="dk1"/>
            </a:solidFill>
            <a:prstDash val="solid"/>
            <a:round/>
            <a:headEnd type="none" w="sm" len="sm"/>
            <a:tailEnd type="triangle" w="med" len="med"/>
          </a:ln>
        </p:spPr>
      </p:cxn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50"/>
                                        </p:tgtEl>
                                        <p:attrNameLst>
                                          <p:attrName>style.visibility</p:attrName>
                                        </p:attrNameLst>
                                      </p:cBhvr>
                                      <p:to>
                                        <p:strVal val="visible"/>
                                      </p:to>
                                    </p:set>
                                    <p:animEffect transition="in" filter="fade">
                                      <p:cBhvr>
                                        <p:cTn id="7" dur="500"/>
                                        <p:tgtEl>
                                          <p:spTgt spid="3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3763"/>
        <p:cNvGrpSpPr/>
        <p:nvPr/>
      </p:nvGrpSpPr>
      <p:grpSpPr>
        <a:xfrm>
          <a:off x="0" y="0"/>
          <a:ext cx="0" cy="0"/>
          <a:chOff x="0" y="0"/>
          <a:chExt cx="0" cy="0"/>
        </a:xfrm>
      </p:grpSpPr>
      <p:pic>
        <p:nvPicPr>
          <p:cNvPr id="3764" name="Google Shape;3764;g3b75ff0c716_0_478"/>
          <p:cNvPicPr preferRelativeResize="0"/>
          <p:nvPr/>
        </p:nvPicPr>
        <p:blipFill rotWithShape="1">
          <a:blip r:embed="rId3">
            <a:alphaModFix/>
          </a:blip>
          <a:srcRect/>
          <a:stretch/>
        </p:blipFill>
        <p:spPr>
          <a:xfrm>
            <a:off x="2994214" y="410746"/>
            <a:ext cx="276927" cy="275955"/>
          </a:xfrm>
          <a:prstGeom prst="rect">
            <a:avLst/>
          </a:prstGeom>
          <a:noFill/>
          <a:ln>
            <a:noFill/>
          </a:ln>
        </p:spPr>
      </p:pic>
      <p:sp>
        <p:nvSpPr>
          <p:cNvPr id="3765" name="Google Shape;3765;g3b75ff0c716_0_478"/>
          <p:cNvSpPr/>
          <p:nvPr/>
        </p:nvSpPr>
        <p:spPr>
          <a:xfrm>
            <a:off x="2164056" y="1416916"/>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66" name="Google Shape;3766;g3b75ff0c716_0_478"/>
          <p:cNvSpPr/>
          <p:nvPr/>
        </p:nvSpPr>
        <p:spPr>
          <a:xfrm>
            <a:off x="2179296" y="1072214"/>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67" name="Google Shape;3767;g3b75ff0c716_0_478"/>
          <p:cNvSpPr/>
          <p:nvPr/>
        </p:nvSpPr>
        <p:spPr>
          <a:xfrm>
            <a:off x="2182136" y="784025"/>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768" name="Google Shape;3768;g3b75ff0c716_0_478"/>
          <p:cNvCxnSpPr/>
          <p:nvPr/>
        </p:nvCxnSpPr>
        <p:spPr>
          <a:xfrm>
            <a:off x="2764323" y="769938"/>
            <a:ext cx="0" cy="225300"/>
          </a:xfrm>
          <a:prstGeom prst="straightConnector1">
            <a:avLst/>
          </a:prstGeom>
          <a:noFill/>
          <a:ln w="9525" cap="flat" cmpd="sng">
            <a:solidFill>
              <a:schemeClr val="dk1"/>
            </a:solidFill>
            <a:prstDash val="solid"/>
            <a:round/>
            <a:headEnd type="none" w="sm" len="sm"/>
            <a:tailEnd type="none" w="sm" len="sm"/>
          </a:ln>
        </p:spPr>
      </p:cxnSp>
      <p:cxnSp>
        <p:nvCxnSpPr>
          <p:cNvPr id="3769" name="Google Shape;3769;g3b75ff0c716_0_478"/>
          <p:cNvCxnSpPr/>
          <p:nvPr/>
        </p:nvCxnSpPr>
        <p:spPr>
          <a:xfrm>
            <a:off x="2764323" y="1083652"/>
            <a:ext cx="0" cy="225300"/>
          </a:xfrm>
          <a:prstGeom prst="straightConnector1">
            <a:avLst/>
          </a:prstGeom>
          <a:noFill/>
          <a:ln w="9525" cap="flat" cmpd="sng">
            <a:solidFill>
              <a:schemeClr val="dk1"/>
            </a:solidFill>
            <a:prstDash val="solid"/>
            <a:round/>
            <a:headEnd type="none" w="sm" len="sm"/>
            <a:tailEnd type="none" w="sm" len="sm"/>
          </a:ln>
        </p:spPr>
      </p:cxnSp>
      <p:cxnSp>
        <p:nvCxnSpPr>
          <p:cNvPr id="3770" name="Google Shape;3770;g3b75ff0c716_0_478"/>
          <p:cNvCxnSpPr/>
          <p:nvPr/>
        </p:nvCxnSpPr>
        <p:spPr>
          <a:xfrm>
            <a:off x="2764323" y="1416916"/>
            <a:ext cx="0" cy="225300"/>
          </a:xfrm>
          <a:prstGeom prst="straightConnector1">
            <a:avLst/>
          </a:prstGeom>
          <a:noFill/>
          <a:ln w="9525" cap="flat" cmpd="sng">
            <a:solidFill>
              <a:schemeClr val="dk1"/>
            </a:solidFill>
            <a:prstDash val="solid"/>
            <a:round/>
            <a:headEnd type="none" w="sm" len="sm"/>
            <a:tailEnd type="none" w="sm" len="sm"/>
          </a:ln>
        </p:spPr>
      </p:cxnSp>
      <p:cxnSp>
        <p:nvCxnSpPr>
          <p:cNvPr id="3771" name="Google Shape;3771;g3b75ff0c716_0_478"/>
          <p:cNvCxnSpPr/>
          <p:nvPr/>
        </p:nvCxnSpPr>
        <p:spPr>
          <a:xfrm>
            <a:off x="3420306" y="776565"/>
            <a:ext cx="0" cy="225300"/>
          </a:xfrm>
          <a:prstGeom prst="straightConnector1">
            <a:avLst/>
          </a:prstGeom>
          <a:noFill/>
          <a:ln w="9525" cap="flat" cmpd="sng">
            <a:solidFill>
              <a:schemeClr val="dk1"/>
            </a:solidFill>
            <a:prstDash val="solid"/>
            <a:round/>
            <a:headEnd type="none" w="sm" len="sm"/>
            <a:tailEnd type="none" w="sm" len="sm"/>
          </a:ln>
        </p:spPr>
      </p:cxnSp>
      <p:cxnSp>
        <p:nvCxnSpPr>
          <p:cNvPr id="3772" name="Google Shape;3772;g3b75ff0c716_0_478"/>
          <p:cNvCxnSpPr/>
          <p:nvPr/>
        </p:nvCxnSpPr>
        <p:spPr>
          <a:xfrm>
            <a:off x="3420306" y="1090279"/>
            <a:ext cx="0" cy="225300"/>
          </a:xfrm>
          <a:prstGeom prst="straightConnector1">
            <a:avLst/>
          </a:prstGeom>
          <a:noFill/>
          <a:ln w="9525" cap="flat" cmpd="sng">
            <a:solidFill>
              <a:schemeClr val="dk1"/>
            </a:solidFill>
            <a:prstDash val="solid"/>
            <a:round/>
            <a:headEnd type="none" w="sm" len="sm"/>
            <a:tailEnd type="none" w="sm" len="sm"/>
          </a:ln>
        </p:spPr>
      </p:cxnSp>
      <p:cxnSp>
        <p:nvCxnSpPr>
          <p:cNvPr id="3773" name="Google Shape;3773;g3b75ff0c716_0_478"/>
          <p:cNvCxnSpPr/>
          <p:nvPr/>
        </p:nvCxnSpPr>
        <p:spPr>
          <a:xfrm>
            <a:off x="3420306" y="1423543"/>
            <a:ext cx="0" cy="225300"/>
          </a:xfrm>
          <a:prstGeom prst="straightConnector1">
            <a:avLst/>
          </a:prstGeom>
          <a:noFill/>
          <a:ln w="9525" cap="flat" cmpd="sng">
            <a:solidFill>
              <a:schemeClr val="dk1"/>
            </a:solidFill>
            <a:prstDash val="solid"/>
            <a:round/>
            <a:headEnd type="none" w="sm" len="sm"/>
            <a:tailEnd type="none" w="sm" len="sm"/>
          </a:ln>
        </p:spPr>
      </p:cxnSp>
      <p:pic>
        <p:nvPicPr>
          <p:cNvPr id="3774" name="Google Shape;3774;g3b75ff0c716_0_478"/>
          <p:cNvPicPr preferRelativeResize="0"/>
          <p:nvPr/>
        </p:nvPicPr>
        <p:blipFill rotWithShape="1">
          <a:blip r:embed="rId4">
            <a:alphaModFix/>
          </a:blip>
          <a:srcRect/>
          <a:stretch/>
        </p:blipFill>
        <p:spPr>
          <a:xfrm>
            <a:off x="2179296" y="646945"/>
            <a:ext cx="247568" cy="107156"/>
          </a:xfrm>
          <a:prstGeom prst="rect">
            <a:avLst/>
          </a:prstGeom>
          <a:noFill/>
          <a:ln>
            <a:noFill/>
          </a:ln>
        </p:spPr>
      </p:pic>
      <p:pic>
        <p:nvPicPr>
          <p:cNvPr id="3775" name="Google Shape;3775;g3b75ff0c716_0_478"/>
          <p:cNvPicPr preferRelativeResize="0"/>
          <p:nvPr/>
        </p:nvPicPr>
        <p:blipFill rotWithShape="1">
          <a:blip r:embed="rId5">
            <a:alphaModFix/>
          </a:blip>
          <a:srcRect/>
          <a:stretch/>
        </p:blipFill>
        <p:spPr>
          <a:xfrm>
            <a:off x="2514520" y="644550"/>
            <a:ext cx="249913" cy="117267"/>
          </a:xfrm>
          <a:prstGeom prst="rect">
            <a:avLst/>
          </a:prstGeom>
          <a:noFill/>
          <a:ln>
            <a:noFill/>
          </a:ln>
        </p:spPr>
      </p:pic>
      <p:pic>
        <p:nvPicPr>
          <p:cNvPr id="3776" name="Google Shape;3776;g3b75ff0c716_0_478"/>
          <p:cNvPicPr preferRelativeResize="0"/>
          <p:nvPr/>
        </p:nvPicPr>
        <p:blipFill rotWithShape="1">
          <a:blip r:embed="rId4">
            <a:alphaModFix/>
          </a:blip>
          <a:srcRect/>
          <a:stretch/>
        </p:blipFill>
        <p:spPr>
          <a:xfrm>
            <a:off x="2822025" y="633695"/>
            <a:ext cx="247568" cy="107156"/>
          </a:xfrm>
          <a:prstGeom prst="rect">
            <a:avLst/>
          </a:prstGeom>
          <a:noFill/>
          <a:ln>
            <a:noFill/>
          </a:ln>
        </p:spPr>
      </p:pic>
      <p:pic>
        <p:nvPicPr>
          <p:cNvPr id="3777" name="Google Shape;3777;g3b75ff0c716_0_478"/>
          <p:cNvPicPr preferRelativeResize="0"/>
          <p:nvPr/>
        </p:nvPicPr>
        <p:blipFill rotWithShape="1">
          <a:blip r:embed="rId5">
            <a:alphaModFix/>
          </a:blip>
          <a:srcRect/>
          <a:stretch/>
        </p:blipFill>
        <p:spPr>
          <a:xfrm>
            <a:off x="3157249" y="631300"/>
            <a:ext cx="249913" cy="117267"/>
          </a:xfrm>
          <a:prstGeom prst="rect">
            <a:avLst/>
          </a:prstGeom>
          <a:noFill/>
          <a:ln>
            <a:noFill/>
          </a:ln>
        </p:spPr>
      </p:pic>
      <p:pic>
        <p:nvPicPr>
          <p:cNvPr id="3778" name="Google Shape;3778;g3b75ff0c716_0_478"/>
          <p:cNvPicPr preferRelativeResize="0"/>
          <p:nvPr/>
        </p:nvPicPr>
        <p:blipFill rotWithShape="1">
          <a:blip r:embed="rId4">
            <a:alphaModFix/>
          </a:blip>
          <a:srcRect/>
          <a:stretch/>
        </p:blipFill>
        <p:spPr>
          <a:xfrm>
            <a:off x="3431619" y="633696"/>
            <a:ext cx="247568" cy="107156"/>
          </a:xfrm>
          <a:prstGeom prst="rect">
            <a:avLst/>
          </a:prstGeom>
          <a:noFill/>
          <a:ln>
            <a:noFill/>
          </a:ln>
        </p:spPr>
      </p:pic>
      <p:pic>
        <p:nvPicPr>
          <p:cNvPr id="3779" name="Google Shape;3779;g3b75ff0c716_0_478"/>
          <p:cNvPicPr preferRelativeResize="0"/>
          <p:nvPr/>
        </p:nvPicPr>
        <p:blipFill rotWithShape="1">
          <a:blip r:embed="rId5">
            <a:alphaModFix/>
          </a:blip>
          <a:srcRect/>
          <a:stretch/>
        </p:blipFill>
        <p:spPr>
          <a:xfrm>
            <a:off x="3766843" y="631301"/>
            <a:ext cx="249913" cy="117267"/>
          </a:xfrm>
          <a:prstGeom prst="rect">
            <a:avLst/>
          </a:prstGeom>
          <a:noFill/>
          <a:ln>
            <a:noFill/>
          </a:ln>
        </p:spPr>
      </p:pic>
      <p:cxnSp>
        <p:nvCxnSpPr>
          <p:cNvPr id="3780" name="Google Shape;3780;g3b75ff0c716_0_478"/>
          <p:cNvCxnSpPr/>
          <p:nvPr/>
        </p:nvCxnSpPr>
        <p:spPr>
          <a:xfrm>
            <a:off x="2162539" y="410746"/>
            <a:ext cx="0" cy="1975500"/>
          </a:xfrm>
          <a:prstGeom prst="straightConnector1">
            <a:avLst/>
          </a:prstGeom>
          <a:noFill/>
          <a:ln w="9525" cap="flat" cmpd="sng">
            <a:solidFill>
              <a:srgbClr val="0070C0"/>
            </a:solidFill>
            <a:prstDash val="solid"/>
            <a:round/>
            <a:headEnd type="none" w="sm" len="sm"/>
            <a:tailEnd type="none" w="sm" len="sm"/>
          </a:ln>
        </p:spPr>
      </p:cxnSp>
      <p:sp>
        <p:nvSpPr>
          <p:cNvPr id="3781" name="Google Shape;3781;g3b75ff0c716_0_478"/>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Target		Behavior</a:t>
            </a:r>
            <a:endParaRPr/>
          </a:p>
        </p:txBody>
      </p:sp>
      <p:sp>
        <p:nvSpPr>
          <p:cNvPr id="3782" name="Google Shape;3782;g3b75ff0c716_0_478"/>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783" name="Google Shape;3783;g3b75ff0c716_0_478"/>
          <p:cNvGrpSpPr/>
          <p:nvPr/>
        </p:nvGrpSpPr>
        <p:grpSpPr>
          <a:xfrm>
            <a:off x="0" y="3109250"/>
            <a:ext cx="5760261" cy="92075"/>
            <a:chOff x="0" y="3109250"/>
            <a:chExt cx="5760261" cy="92075"/>
          </a:xfrm>
        </p:grpSpPr>
        <p:sp>
          <p:nvSpPr>
            <p:cNvPr id="3784" name="Google Shape;3784;g3b75ff0c716_0_47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5" name="Google Shape;3785;g3b75ff0c716_0_47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6" name="Google Shape;3786;g3b75ff0c716_0_47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87" name="Google Shape;3787;g3b75ff0c716_0_478"/>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788" name="Google Shape;3788;g3b75ff0c716_0_47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97</a:t>
            </a:fld>
            <a:endParaRPr/>
          </a:p>
        </p:txBody>
      </p:sp>
      <p:pic>
        <p:nvPicPr>
          <p:cNvPr id="3789" name="Google Shape;3789;g3b75ff0c716_0_478"/>
          <p:cNvPicPr preferRelativeResize="0"/>
          <p:nvPr/>
        </p:nvPicPr>
        <p:blipFill rotWithShape="1">
          <a:blip r:embed="rId6">
            <a:alphaModFix/>
          </a:blip>
          <a:srcRect/>
          <a:stretch/>
        </p:blipFill>
        <p:spPr>
          <a:xfrm>
            <a:off x="485263" y="408737"/>
            <a:ext cx="253340" cy="263412"/>
          </a:xfrm>
          <a:prstGeom prst="rect">
            <a:avLst/>
          </a:prstGeom>
          <a:noFill/>
          <a:ln>
            <a:noFill/>
          </a:ln>
        </p:spPr>
      </p:pic>
      <p:pic>
        <p:nvPicPr>
          <p:cNvPr id="3790" name="Google Shape;3790;g3b75ff0c716_0_478"/>
          <p:cNvPicPr preferRelativeResize="0"/>
          <p:nvPr/>
        </p:nvPicPr>
        <p:blipFill rotWithShape="1">
          <a:blip r:embed="rId7">
            <a:alphaModFix/>
          </a:blip>
          <a:srcRect/>
          <a:stretch/>
        </p:blipFill>
        <p:spPr>
          <a:xfrm>
            <a:off x="1742348" y="375332"/>
            <a:ext cx="268790" cy="301041"/>
          </a:xfrm>
          <a:prstGeom prst="rect">
            <a:avLst/>
          </a:prstGeom>
          <a:noFill/>
          <a:ln>
            <a:noFill/>
          </a:ln>
        </p:spPr>
      </p:pic>
      <p:pic>
        <p:nvPicPr>
          <p:cNvPr id="3791" name="Google Shape;3791;g3b75ff0c716_0_478"/>
          <p:cNvPicPr preferRelativeResize="0"/>
          <p:nvPr/>
        </p:nvPicPr>
        <p:blipFill rotWithShape="1">
          <a:blip r:embed="rId3">
            <a:alphaModFix/>
          </a:blip>
          <a:srcRect/>
          <a:stretch/>
        </p:blipFill>
        <p:spPr>
          <a:xfrm>
            <a:off x="1139997" y="415805"/>
            <a:ext cx="276927" cy="275955"/>
          </a:xfrm>
          <a:prstGeom prst="rect">
            <a:avLst/>
          </a:prstGeom>
          <a:noFill/>
          <a:ln>
            <a:noFill/>
          </a:ln>
        </p:spPr>
      </p:pic>
      <p:sp>
        <p:nvSpPr>
          <p:cNvPr id="3792" name="Google Shape;3792;g3b75ff0c716_0_478"/>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793" name="Google Shape;3793;g3b75ff0c716_0_478"/>
          <p:cNvPicPr preferRelativeResize="0"/>
          <p:nvPr/>
        </p:nvPicPr>
        <p:blipFill rotWithShape="1">
          <a:blip r:embed="rId8">
            <a:alphaModFix/>
          </a:blip>
          <a:srcRect/>
          <a:stretch/>
        </p:blipFill>
        <p:spPr>
          <a:xfrm>
            <a:off x="4069116" y="1789961"/>
            <a:ext cx="1640171" cy="889000"/>
          </a:xfrm>
          <a:prstGeom prst="rect">
            <a:avLst/>
          </a:prstGeom>
          <a:noFill/>
          <a:ln>
            <a:noFill/>
          </a:ln>
        </p:spPr>
      </p:pic>
      <p:sp>
        <p:nvSpPr>
          <p:cNvPr id="3794" name="Google Shape;3794;g3b75ff0c716_0_478"/>
          <p:cNvSpPr txBox="1"/>
          <p:nvPr/>
        </p:nvSpPr>
        <p:spPr>
          <a:xfrm>
            <a:off x="4680998" y="1796495"/>
            <a:ext cx="4164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Arial"/>
                <a:ea typeface="Arial"/>
                <a:cs typeface="Arial"/>
                <a:sym typeface="Arial"/>
              </a:rPr>
              <a:t>π</a:t>
            </a:r>
            <a:endParaRPr sz="1100" b="1" i="0" u="none" strike="noStrike" cap="none" baseline="-25000">
              <a:solidFill>
                <a:schemeClr val="dk1"/>
              </a:solidFill>
              <a:latin typeface="Arial"/>
              <a:ea typeface="Arial"/>
              <a:cs typeface="Arial"/>
              <a:sym typeface="Arial"/>
            </a:endParaRPr>
          </a:p>
        </p:txBody>
      </p:sp>
      <p:sp>
        <p:nvSpPr>
          <p:cNvPr id="3795" name="Google Shape;3795;g3b75ff0c716_0_478"/>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96" name="Google Shape;3796;g3b75ff0c716_0_478"/>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97" name="Google Shape;3797;g3b75ff0c716_0_478"/>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798" name="Google Shape;3798;g3b75ff0c716_0_478"/>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5.2          0         0           19.6</a:t>
            </a:r>
            <a:endParaRPr sz="300" b="0" i="0" u="none" strike="noStrike" cap="none">
              <a:solidFill>
                <a:srgbClr val="000000"/>
              </a:solidFill>
              <a:latin typeface="Arial"/>
              <a:ea typeface="Arial"/>
              <a:cs typeface="Arial"/>
              <a:sym typeface="Arial"/>
            </a:endParaRPr>
          </a:p>
        </p:txBody>
      </p:sp>
      <p:cxnSp>
        <p:nvCxnSpPr>
          <p:cNvPr id="3799" name="Google Shape;3799;g3b75ff0c716_0_478"/>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800" name="Google Shape;3800;g3b75ff0c716_0_478"/>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801" name="Google Shape;3801;g3b75ff0c716_0_478"/>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802" name="Google Shape;3802;g3b75ff0c716_0_478"/>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803" name="Google Shape;3803;g3b75ff0c716_0_478"/>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804" name="Google Shape;3804;g3b75ff0c716_0_478"/>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805" name="Google Shape;3805;g3b75ff0c716_0_478"/>
          <p:cNvPicPr preferRelativeResize="0"/>
          <p:nvPr/>
        </p:nvPicPr>
        <p:blipFill rotWithShape="1">
          <a:blip r:embed="rId4">
            <a:alphaModFix/>
          </a:blip>
          <a:srcRect/>
          <a:stretch/>
        </p:blipFill>
        <p:spPr>
          <a:xfrm>
            <a:off x="325079" y="652004"/>
            <a:ext cx="247568" cy="107156"/>
          </a:xfrm>
          <a:prstGeom prst="rect">
            <a:avLst/>
          </a:prstGeom>
          <a:noFill/>
          <a:ln>
            <a:noFill/>
          </a:ln>
        </p:spPr>
      </p:pic>
      <p:pic>
        <p:nvPicPr>
          <p:cNvPr id="3806" name="Google Shape;3806;g3b75ff0c716_0_478"/>
          <p:cNvPicPr preferRelativeResize="0"/>
          <p:nvPr/>
        </p:nvPicPr>
        <p:blipFill rotWithShape="1">
          <a:blip r:embed="rId5">
            <a:alphaModFix/>
          </a:blip>
          <a:srcRect/>
          <a:stretch/>
        </p:blipFill>
        <p:spPr>
          <a:xfrm>
            <a:off x="660303" y="649609"/>
            <a:ext cx="249913" cy="117267"/>
          </a:xfrm>
          <a:prstGeom prst="rect">
            <a:avLst/>
          </a:prstGeom>
          <a:noFill/>
          <a:ln>
            <a:noFill/>
          </a:ln>
        </p:spPr>
      </p:pic>
      <p:pic>
        <p:nvPicPr>
          <p:cNvPr id="3807" name="Google Shape;3807;g3b75ff0c716_0_478"/>
          <p:cNvPicPr preferRelativeResize="0"/>
          <p:nvPr/>
        </p:nvPicPr>
        <p:blipFill rotWithShape="1">
          <a:blip r:embed="rId4">
            <a:alphaModFix/>
          </a:blip>
          <a:srcRect/>
          <a:stretch/>
        </p:blipFill>
        <p:spPr>
          <a:xfrm>
            <a:off x="967808" y="638754"/>
            <a:ext cx="247568" cy="107156"/>
          </a:xfrm>
          <a:prstGeom prst="rect">
            <a:avLst/>
          </a:prstGeom>
          <a:noFill/>
          <a:ln>
            <a:noFill/>
          </a:ln>
        </p:spPr>
      </p:pic>
      <p:pic>
        <p:nvPicPr>
          <p:cNvPr id="3808" name="Google Shape;3808;g3b75ff0c716_0_478"/>
          <p:cNvPicPr preferRelativeResize="0"/>
          <p:nvPr/>
        </p:nvPicPr>
        <p:blipFill rotWithShape="1">
          <a:blip r:embed="rId5">
            <a:alphaModFix/>
          </a:blip>
          <a:srcRect/>
          <a:stretch/>
        </p:blipFill>
        <p:spPr>
          <a:xfrm>
            <a:off x="1303032" y="636359"/>
            <a:ext cx="249913" cy="117267"/>
          </a:xfrm>
          <a:prstGeom prst="rect">
            <a:avLst/>
          </a:prstGeom>
          <a:noFill/>
          <a:ln>
            <a:noFill/>
          </a:ln>
        </p:spPr>
      </p:pic>
      <p:pic>
        <p:nvPicPr>
          <p:cNvPr id="3809" name="Google Shape;3809;g3b75ff0c716_0_478"/>
          <p:cNvPicPr preferRelativeResize="0"/>
          <p:nvPr/>
        </p:nvPicPr>
        <p:blipFill rotWithShape="1">
          <a:blip r:embed="rId4">
            <a:alphaModFix/>
          </a:blip>
          <a:srcRect/>
          <a:stretch/>
        </p:blipFill>
        <p:spPr>
          <a:xfrm>
            <a:off x="1577402" y="638755"/>
            <a:ext cx="247568" cy="107156"/>
          </a:xfrm>
          <a:prstGeom prst="rect">
            <a:avLst/>
          </a:prstGeom>
          <a:noFill/>
          <a:ln>
            <a:noFill/>
          </a:ln>
        </p:spPr>
      </p:pic>
      <p:pic>
        <p:nvPicPr>
          <p:cNvPr id="3810" name="Google Shape;3810;g3b75ff0c716_0_478"/>
          <p:cNvPicPr preferRelativeResize="0"/>
          <p:nvPr/>
        </p:nvPicPr>
        <p:blipFill rotWithShape="1">
          <a:blip r:embed="rId5">
            <a:alphaModFix/>
          </a:blip>
          <a:srcRect/>
          <a:stretch/>
        </p:blipFill>
        <p:spPr>
          <a:xfrm>
            <a:off x="1912626" y="636360"/>
            <a:ext cx="249913" cy="117267"/>
          </a:xfrm>
          <a:prstGeom prst="rect">
            <a:avLst/>
          </a:prstGeom>
          <a:noFill/>
          <a:ln>
            <a:noFill/>
          </a:ln>
        </p:spPr>
      </p:pic>
      <p:sp>
        <p:nvSpPr>
          <p:cNvPr id="3811" name="Google Shape;3811;g3b75ff0c716_0_478"/>
          <p:cNvSpPr/>
          <p:nvPr/>
        </p:nvSpPr>
        <p:spPr>
          <a:xfrm>
            <a:off x="3577091" y="3443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12" name="Google Shape;3812;g3b75ff0c716_0_478"/>
          <p:cNvSpPr txBox="1"/>
          <p:nvPr/>
        </p:nvSpPr>
        <p:spPr>
          <a:xfrm>
            <a:off x="2852197" y="2600622"/>
            <a:ext cx="2908200" cy="400200"/>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700" b="1" i="0" u="none" strike="noStrike" cap="none">
                <a:solidFill>
                  <a:schemeClr val="dk1"/>
                </a:solidFill>
                <a:latin typeface="Arial"/>
                <a:ea typeface="Arial"/>
                <a:cs typeface="Arial"/>
                <a:sym typeface="Arial"/>
              </a:rPr>
              <a:t>Two more episodes are completed and the results of the update per Q(State, Action) is shown . Students are advised to practice this.</a:t>
            </a:r>
            <a:endParaRPr sz="700" b="1" i="0" u="none" strike="noStrike" cap="none">
              <a:solidFill>
                <a:schemeClr val="dk1"/>
              </a:solidFill>
              <a:latin typeface="Arial"/>
              <a:ea typeface="Arial"/>
              <a:cs typeface="Arial"/>
              <a:sym typeface="Arial"/>
            </a:endParaRPr>
          </a:p>
        </p:txBody>
      </p:sp>
      <p:sp>
        <p:nvSpPr>
          <p:cNvPr id="3813" name="Google Shape;3813;g3b75ff0c716_0_478"/>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4" name="Google Shape;3814;g3b75ff0c716_0_478"/>
          <p:cNvSpPr txBox="1"/>
          <p:nvPr/>
        </p:nvSpPr>
        <p:spPr>
          <a:xfrm>
            <a:off x="113478" y="2346680"/>
            <a:ext cx="2793000" cy="162780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1: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20,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2,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4, </a:t>
            </a:r>
            <a:r>
              <a:rPr lang="en-US" sz="700" b="1" i="0" u="none" strike="noStrike" cap="none">
                <a:solidFill>
                  <a:srgbClr val="C00000"/>
                </a:solidFill>
                <a:latin typeface="Arial"/>
                <a:ea typeface="Arial"/>
                <a:cs typeface="Arial"/>
                <a:sym typeface="Arial"/>
              </a:rPr>
              <a:t>W,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 , </a:t>
            </a:r>
            <a:r>
              <a:rPr lang="en-US" sz="700" b="1" i="0" u="none" strike="noStrike" cap="none">
                <a:solidFill>
                  <a:schemeClr val="dk1"/>
                </a:solidFill>
                <a:latin typeface="Arial"/>
                <a:ea typeface="Arial"/>
                <a:cs typeface="Arial"/>
                <a:sym typeface="Arial"/>
              </a:rPr>
              <a:t>F,</a:t>
            </a:r>
            <a:r>
              <a:rPr lang="en-US" sz="700" b="1" i="0" u="none" strike="noStrike" cap="none">
                <a:solidFill>
                  <a:srgbClr val="0070C0"/>
                </a:solidFill>
                <a:latin typeface="Arial"/>
                <a:ea typeface="Arial"/>
                <a:cs typeface="Arial"/>
                <a:sym typeface="Arial"/>
              </a:rPr>
              <a:t> -10, </a:t>
            </a:r>
            <a:r>
              <a:rPr lang="en-US" sz="700" b="1" i="0" u="none" strike="noStrike" cap="none">
                <a:solidFill>
                  <a:srgbClr val="C00000"/>
                </a:solidFill>
                <a:latin typeface="Arial"/>
                <a:ea typeface="Arial"/>
                <a:cs typeface="Arial"/>
                <a:sym typeface="Arial"/>
              </a:rPr>
              <a:t>O</a:t>
            </a:r>
            <a:r>
              <a:rPr lang="en-US" sz="700" b="1" i="0" u="none" strike="noStrike" cap="none">
                <a:solidFill>
                  <a:schemeClr val="dk1"/>
                </a:solidFill>
                <a:latin typeface="Arial"/>
                <a:ea typeface="Arial"/>
                <a:cs typeface="Arial"/>
                <a:sym typeface="Arial"/>
              </a:rPr>
              <a:t> </a:t>
            </a:r>
            <a:endParaRPr sz="7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3: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F, </a:t>
            </a:r>
            <a:r>
              <a:rPr lang="en-US" sz="700" b="1" i="0" u="none" strike="noStrike" cap="none">
                <a:solidFill>
                  <a:srgbClr val="0070C0"/>
                </a:solidFill>
                <a:latin typeface="Arial"/>
                <a:ea typeface="Arial"/>
                <a:cs typeface="Arial"/>
                <a:sym typeface="Arial"/>
              </a:rPr>
              <a:t>+10, </a:t>
            </a:r>
            <a:r>
              <a:rPr lang="en-US" sz="700" b="1" i="0" u="none" strike="noStrike" cap="none">
                <a:solidFill>
                  <a:srgbClr val="C00000"/>
                </a:solidFill>
                <a:latin typeface="Arial"/>
                <a:ea typeface="Arial"/>
                <a:cs typeface="Arial"/>
                <a:sym typeface="Arial"/>
              </a:rPr>
              <a:t>O</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4: </a:t>
            </a:r>
            <a:r>
              <a:rPr lang="en-US" sz="700" b="1" i="0" u="none" strike="noStrike" cap="none">
                <a:solidFill>
                  <a:srgbClr val="C00000"/>
                </a:solidFill>
                <a:latin typeface="Arial"/>
                <a:ea typeface="Arial"/>
                <a:cs typeface="Arial"/>
                <a:sym typeface="Arial"/>
              </a:rPr>
              <a:t>C</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+1,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 </a:t>
            </a:r>
            <a:r>
              <a:rPr lang="en-US" sz="700" b="1" i="0" u="none" strike="noStrike" cap="none">
                <a:solidFill>
                  <a:srgbClr val="0070C0"/>
                </a:solidFill>
                <a:latin typeface="Arial"/>
                <a:ea typeface="Arial"/>
                <a:cs typeface="Arial"/>
                <a:sym typeface="Arial"/>
              </a:rPr>
              <a:t>+10, </a:t>
            </a:r>
            <a:r>
              <a:rPr lang="en-US" sz="700" b="1" i="0" u="none" strike="noStrike" cap="none">
                <a:solidFill>
                  <a:srgbClr val="C00000"/>
                </a:solidFill>
                <a:latin typeface="Arial"/>
                <a:ea typeface="Arial"/>
                <a:cs typeface="Arial"/>
                <a:sym typeface="Arial"/>
              </a:rPr>
              <a:t>C</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5: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70C0"/>
                </a:solidFill>
                <a:latin typeface="Arial"/>
                <a:ea typeface="Arial"/>
                <a:cs typeface="Arial"/>
                <a:sym typeface="Arial"/>
              </a:rPr>
              <a:t>Episode 6: </a:t>
            </a:r>
            <a:r>
              <a:rPr lang="en-US" sz="700" b="1" i="0" u="none" strike="noStrike" cap="none">
                <a:solidFill>
                  <a:srgbClr val="C00000"/>
                </a:solidFill>
                <a:latin typeface="Arial"/>
                <a:ea typeface="Arial"/>
                <a:cs typeface="Arial"/>
                <a:sym typeface="Arial"/>
              </a:rPr>
              <a:t>W</a:t>
            </a:r>
            <a:r>
              <a:rPr lang="en-US" sz="700" b="1" i="0" u="none" strike="noStrike" cap="none">
                <a:solidFill>
                  <a:srgbClr val="0070C0"/>
                </a:solidFill>
                <a:latin typeface="Arial"/>
                <a:ea typeface="Arial"/>
                <a:cs typeface="Arial"/>
                <a:sym typeface="Arial"/>
              </a:rPr>
              <a:t>, </a:t>
            </a:r>
            <a:r>
              <a:rPr lang="en-US" sz="700" b="1" i="0" u="none" strike="noStrike" cap="none">
                <a:solidFill>
                  <a:schemeClr val="dk1"/>
                </a:solidFill>
                <a:latin typeface="Arial"/>
                <a:ea typeface="Arial"/>
                <a:cs typeface="Arial"/>
                <a:sym typeface="Arial"/>
              </a:rPr>
              <a:t>S</a:t>
            </a:r>
            <a:r>
              <a:rPr lang="en-US" sz="700" b="1" i="0" u="none" strike="noStrike" cap="none">
                <a:solidFill>
                  <a:srgbClr val="0070C0"/>
                </a:solidFill>
                <a:latin typeface="Arial"/>
                <a:ea typeface="Arial"/>
                <a:cs typeface="Arial"/>
                <a:sym typeface="Arial"/>
              </a:rPr>
              <a:t>, +5, </a:t>
            </a:r>
            <a:r>
              <a:rPr lang="en-US" sz="700" b="1" i="0" u="none" strike="noStrike" cap="none">
                <a:solidFill>
                  <a:srgbClr val="C00000"/>
                </a:solidFill>
                <a:latin typeface="Arial"/>
                <a:ea typeface="Arial"/>
                <a:cs typeface="Arial"/>
                <a:sym typeface="Arial"/>
              </a:rPr>
              <a:t>W</a:t>
            </a: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a:solidFill>
                <a:schemeClr val="dk1"/>
              </a:solidFill>
              <a:latin typeface="Arial"/>
              <a:ea typeface="Arial"/>
              <a:cs typeface="Arial"/>
              <a:sym typeface="Arial"/>
            </a:endParaRPr>
          </a:p>
        </p:txBody>
      </p:sp>
      <p:sp>
        <p:nvSpPr>
          <p:cNvPr id="3815" name="Google Shape;3815;g3b75ff0c716_0_478"/>
          <p:cNvSpPr txBox="1"/>
          <p:nvPr/>
        </p:nvSpPr>
        <p:spPr>
          <a:xfrm>
            <a:off x="54070" y="785748"/>
            <a:ext cx="387300" cy="203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4</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5</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6</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p:txBody>
      </p:sp>
      <p:sp>
        <p:nvSpPr>
          <p:cNvPr id="3816" name="Google Shape;3816;g3b75ff0c716_0_478"/>
          <p:cNvSpPr txBox="1"/>
          <p:nvPr/>
        </p:nvSpPr>
        <p:spPr>
          <a:xfrm>
            <a:off x="289408" y="110411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0        -8           13.74</a:t>
            </a:r>
            <a:endParaRPr sz="300" b="0" i="0" u="none" strike="noStrike" cap="none">
              <a:solidFill>
                <a:srgbClr val="000000"/>
              </a:solidFill>
              <a:latin typeface="Arial"/>
              <a:ea typeface="Arial"/>
              <a:cs typeface="Arial"/>
              <a:sym typeface="Arial"/>
            </a:endParaRPr>
          </a:p>
        </p:txBody>
      </p:sp>
      <p:sp>
        <p:nvSpPr>
          <p:cNvPr id="3817" name="Google Shape;3817;g3b75ff0c716_0_478"/>
          <p:cNvSpPr txBox="1"/>
          <p:nvPr/>
        </p:nvSpPr>
        <p:spPr>
          <a:xfrm>
            <a:off x="309839" y="143479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6.24        0        </a:t>
            </a:r>
            <a:r>
              <a:rPr lang="en-US" sz="800" b="1" i="0" u="none" strike="noStrike" cap="none">
                <a:solidFill>
                  <a:schemeClr val="dk1"/>
                </a:solidFill>
                <a:latin typeface="Calibri"/>
                <a:ea typeface="Calibri"/>
                <a:cs typeface="Calibri"/>
                <a:sym typeface="Calibri"/>
              </a:rPr>
              <a:t>9</a:t>
            </a:r>
            <a:r>
              <a:rPr lang="en-US" sz="800" b="0" i="0" u="none" strike="noStrike" cap="none">
                <a:solidFill>
                  <a:schemeClr val="dk1"/>
                </a:solidFill>
                <a:latin typeface="Calibri"/>
                <a:ea typeface="Calibri"/>
                <a:cs typeface="Calibri"/>
                <a:sym typeface="Calibri"/>
              </a:rPr>
              <a:t>           13.74</a:t>
            </a:r>
            <a:endParaRPr sz="300" b="0" i="0" u="none" strike="noStrike" cap="none">
              <a:solidFill>
                <a:srgbClr val="000000"/>
              </a:solidFill>
              <a:latin typeface="Arial"/>
              <a:ea typeface="Arial"/>
              <a:cs typeface="Arial"/>
              <a:sym typeface="Arial"/>
            </a:endParaRPr>
          </a:p>
        </p:txBody>
      </p:sp>
      <p:sp>
        <p:nvSpPr>
          <p:cNvPr id="3818" name="Google Shape;3818;g3b75ff0c716_0_478"/>
          <p:cNvSpPr/>
          <p:nvPr/>
        </p:nvSpPr>
        <p:spPr>
          <a:xfrm>
            <a:off x="309839" y="16442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819" name="Google Shape;3819;g3b75ff0c716_0_478"/>
          <p:cNvCxnSpPr/>
          <p:nvPr/>
        </p:nvCxnSpPr>
        <p:spPr>
          <a:xfrm>
            <a:off x="910106" y="1644225"/>
            <a:ext cx="0" cy="225300"/>
          </a:xfrm>
          <a:prstGeom prst="straightConnector1">
            <a:avLst/>
          </a:prstGeom>
          <a:noFill/>
          <a:ln w="9525" cap="flat" cmpd="sng">
            <a:solidFill>
              <a:schemeClr val="dk1"/>
            </a:solidFill>
            <a:prstDash val="solid"/>
            <a:round/>
            <a:headEnd type="none" w="sm" len="sm"/>
            <a:tailEnd type="none" w="sm" len="sm"/>
          </a:ln>
        </p:spPr>
      </p:cxnSp>
      <p:cxnSp>
        <p:nvCxnSpPr>
          <p:cNvPr id="3820" name="Google Shape;3820;g3b75ff0c716_0_478"/>
          <p:cNvCxnSpPr/>
          <p:nvPr/>
        </p:nvCxnSpPr>
        <p:spPr>
          <a:xfrm>
            <a:off x="1566089" y="1650852"/>
            <a:ext cx="0" cy="225300"/>
          </a:xfrm>
          <a:prstGeom prst="straightConnector1">
            <a:avLst/>
          </a:prstGeom>
          <a:noFill/>
          <a:ln w="9525" cap="flat" cmpd="sng">
            <a:solidFill>
              <a:schemeClr val="dk1"/>
            </a:solidFill>
            <a:prstDash val="solid"/>
            <a:round/>
            <a:headEnd type="none" w="sm" len="sm"/>
            <a:tailEnd type="none" w="sm" len="sm"/>
          </a:ln>
        </p:spPr>
      </p:cxnSp>
      <p:sp>
        <p:nvSpPr>
          <p:cNvPr id="3821" name="Google Shape;3821;g3b75ff0c716_0_478"/>
          <p:cNvSpPr txBox="1"/>
          <p:nvPr/>
        </p:nvSpPr>
        <p:spPr>
          <a:xfrm>
            <a:off x="309839" y="165704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a:t>
            </a:r>
            <a:r>
              <a:rPr lang="en-US" sz="800" b="1" i="0" u="none" strike="noStrike" cap="none">
                <a:solidFill>
                  <a:schemeClr val="dk1"/>
                </a:solidFill>
                <a:latin typeface="Calibri"/>
                <a:ea typeface="Calibri"/>
                <a:cs typeface="Calibri"/>
                <a:sym typeface="Calibri"/>
              </a:rPr>
              <a:t>12.9</a:t>
            </a:r>
            <a:r>
              <a:rPr lang="en-US" sz="800" b="0" i="0" u="none" strike="noStrike" cap="none">
                <a:solidFill>
                  <a:schemeClr val="dk1"/>
                </a:solidFill>
                <a:latin typeface="Calibri"/>
                <a:ea typeface="Calibri"/>
                <a:cs typeface="Calibri"/>
                <a:sym typeface="Calibri"/>
              </a:rPr>
              <a:t>      9            </a:t>
            </a:r>
            <a:r>
              <a:rPr lang="en-US" sz="800" b="1" i="0" u="none" strike="noStrike" cap="none">
                <a:solidFill>
                  <a:schemeClr val="dk1"/>
                </a:solidFill>
                <a:latin typeface="Calibri"/>
                <a:ea typeface="Calibri"/>
                <a:cs typeface="Calibri"/>
                <a:sym typeface="Calibri"/>
              </a:rPr>
              <a:t>15.71</a:t>
            </a:r>
            <a:endParaRPr sz="300" b="1" i="0" u="none" strike="noStrike" cap="none">
              <a:solidFill>
                <a:srgbClr val="000000"/>
              </a:solidFill>
              <a:latin typeface="Arial"/>
              <a:ea typeface="Arial"/>
              <a:cs typeface="Arial"/>
              <a:sym typeface="Arial"/>
            </a:endParaRPr>
          </a:p>
        </p:txBody>
      </p:sp>
      <p:sp>
        <p:nvSpPr>
          <p:cNvPr id="3822" name="Google Shape;3822;g3b75ff0c716_0_478"/>
          <p:cNvSpPr/>
          <p:nvPr/>
        </p:nvSpPr>
        <p:spPr>
          <a:xfrm>
            <a:off x="309839" y="18728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823" name="Google Shape;3823;g3b75ff0c716_0_478"/>
          <p:cNvCxnSpPr/>
          <p:nvPr/>
        </p:nvCxnSpPr>
        <p:spPr>
          <a:xfrm>
            <a:off x="910106" y="1872825"/>
            <a:ext cx="0" cy="225300"/>
          </a:xfrm>
          <a:prstGeom prst="straightConnector1">
            <a:avLst/>
          </a:prstGeom>
          <a:noFill/>
          <a:ln w="9525" cap="flat" cmpd="sng">
            <a:solidFill>
              <a:schemeClr val="dk1"/>
            </a:solidFill>
            <a:prstDash val="solid"/>
            <a:round/>
            <a:headEnd type="none" w="sm" len="sm"/>
            <a:tailEnd type="none" w="sm" len="sm"/>
          </a:ln>
        </p:spPr>
      </p:cxnSp>
      <p:cxnSp>
        <p:nvCxnSpPr>
          <p:cNvPr id="3824" name="Google Shape;3824;g3b75ff0c716_0_478"/>
          <p:cNvCxnSpPr/>
          <p:nvPr/>
        </p:nvCxnSpPr>
        <p:spPr>
          <a:xfrm>
            <a:off x="1566089" y="1879452"/>
            <a:ext cx="0" cy="225300"/>
          </a:xfrm>
          <a:prstGeom prst="straightConnector1">
            <a:avLst/>
          </a:prstGeom>
          <a:noFill/>
          <a:ln w="9525" cap="flat" cmpd="sng">
            <a:solidFill>
              <a:schemeClr val="dk1"/>
            </a:solidFill>
            <a:prstDash val="solid"/>
            <a:round/>
            <a:headEnd type="none" w="sm" len="sm"/>
            <a:tailEnd type="none" w="sm" len="sm"/>
          </a:ln>
        </p:spPr>
      </p:cxnSp>
      <p:sp>
        <p:nvSpPr>
          <p:cNvPr id="3825" name="Google Shape;3825;g3b75ff0c716_0_478"/>
          <p:cNvSpPr txBox="1"/>
          <p:nvPr/>
        </p:nvSpPr>
        <p:spPr>
          <a:xfrm>
            <a:off x="309839" y="188564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6.24    12.9      9            </a:t>
            </a:r>
            <a:r>
              <a:rPr lang="en-US" sz="800" b="1" i="0" u="none" strike="noStrike" cap="none">
                <a:solidFill>
                  <a:schemeClr val="dk1"/>
                </a:solidFill>
                <a:latin typeface="Calibri"/>
                <a:ea typeface="Calibri"/>
                <a:cs typeface="Calibri"/>
                <a:sym typeface="Calibri"/>
              </a:rPr>
              <a:t>10.57</a:t>
            </a:r>
            <a:endParaRPr sz="300" b="0" i="0" u="none" strike="noStrike" cap="none">
              <a:solidFill>
                <a:srgbClr val="000000"/>
              </a:solidFill>
              <a:latin typeface="Arial"/>
              <a:ea typeface="Arial"/>
              <a:cs typeface="Arial"/>
              <a:sym typeface="Arial"/>
            </a:endParaRPr>
          </a:p>
        </p:txBody>
      </p:sp>
      <p:sp>
        <p:nvSpPr>
          <p:cNvPr id="3826" name="Google Shape;3826;g3b75ff0c716_0_478"/>
          <p:cNvSpPr/>
          <p:nvPr/>
        </p:nvSpPr>
        <p:spPr>
          <a:xfrm>
            <a:off x="310939" y="2088820"/>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827" name="Google Shape;3827;g3b75ff0c716_0_478"/>
          <p:cNvCxnSpPr/>
          <p:nvPr/>
        </p:nvCxnSpPr>
        <p:spPr>
          <a:xfrm>
            <a:off x="911206" y="2088820"/>
            <a:ext cx="0" cy="225300"/>
          </a:xfrm>
          <a:prstGeom prst="straightConnector1">
            <a:avLst/>
          </a:prstGeom>
          <a:noFill/>
          <a:ln w="9525" cap="flat" cmpd="sng">
            <a:solidFill>
              <a:schemeClr val="dk1"/>
            </a:solidFill>
            <a:prstDash val="solid"/>
            <a:round/>
            <a:headEnd type="none" w="sm" len="sm"/>
            <a:tailEnd type="none" w="sm" len="sm"/>
          </a:ln>
        </p:spPr>
      </p:cxnSp>
      <p:cxnSp>
        <p:nvCxnSpPr>
          <p:cNvPr id="3828" name="Google Shape;3828;g3b75ff0c716_0_478"/>
          <p:cNvCxnSpPr/>
          <p:nvPr/>
        </p:nvCxnSpPr>
        <p:spPr>
          <a:xfrm>
            <a:off x="1567189" y="2095447"/>
            <a:ext cx="0" cy="225300"/>
          </a:xfrm>
          <a:prstGeom prst="straightConnector1">
            <a:avLst/>
          </a:prstGeom>
          <a:noFill/>
          <a:ln w="9525" cap="flat" cmpd="sng">
            <a:solidFill>
              <a:schemeClr val="dk1"/>
            </a:solidFill>
            <a:prstDash val="solid"/>
            <a:round/>
            <a:headEnd type="none" w="sm" len="sm"/>
            <a:tailEnd type="none" w="sm" len="sm"/>
          </a:ln>
        </p:spPr>
      </p:cxnSp>
      <p:sp>
        <p:nvSpPr>
          <p:cNvPr id="3829" name="Google Shape;3829;g3b75ff0c716_0_478"/>
          <p:cNvSpPr txBox="1"/>
          <p:nvPr/>
        </p:nvSpPr>
        <p:spPr>
          <a:xfrm>
            <a:off x="310939" y="2101640"/>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6.24    12.9      9            </a:t>
            </a:r>
            <a:r>
              <a:rPr lang="en-US" sz="800" b="1" i="0" u="none" strike="noStrike" cap="none">
                <a:solidFill>
                  <a:schemeClr val="dk1"/>
                </a:solidFill>
                <a:latin typeface="Calibri"/>
                <a:ea typeface="Calibri"/>
                <a:cs typeface="Calibri"/>
                <a:sym typeface="Calibri"/>
              </a:rPr>
              <a:t>13.7</a:t>
            </a:r>
            <a:endParaRPr sz="300" b="0" i="0" u="none" strike="noStrike" cap="none">
              <a:solidFill>
                <a:srgbClr val="000000"/>
              </a:solidFill>
              <a:latin typeface="Arial"/>
              <a:ea typeface="Arial"/>
              <a:cs typeface="Arial"/>
              <a:sym typeface="Arial"/>
            </a:endParaRPr>
          </a:p>
        </p:txBody>
      </p:sp>
      <p:pic>
        <p:nvPicPr>
          <p:cNvPr id="3830" name="Google Shape;3830;g3b75ff0c716_0_478"/>
          <p:cNvPicPr preferRelativeResize="0"/>
          <p:nvPr/>
        </p:nvPicPr>
        <p:blipFill rotWithShape="1">
          <a:blip r:embed="rId9">
            <a:alphaModFix/>
          </a:blip>
          <a:srcRect/>
          <a:stretch/>
        </p:blipFill>
        <p:spPr>
          <a:xfrm>
            <a:off x="3797359" y="35192"/>
            <a:ext cx="1958532" cy="1060146"/>
          </a:xfrm>
          <a:prstGeom prst="rect">
            <a:avLst/>
          </a:prstGeom>
          <a:noFill/>
          <a:ln>
            <a:noFill/>
          </a:ln>
        </p:spPr>
      </p:pic>
      <p:sp>
        <p:nvSpPr>
          <p:cNvPr id="3831" name="Google Shape;3831;g3b75ff0c716_0_478"/>
          <p:cNvSpPr/>
          <p:nvPr/>
        </p:nvSpPr>
        <p:spPr>
          <a:xfrm>
            <a:off x="5365917" y="322469"/>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832" name="Google Shape;3832;g3b75ff0c716_0_478"/>
          <p:cNvSpPr/>
          <p:nvPr/>
        </p:nvSpPr>
        <p:spPr>
          <a:xfrm>
            <a:off x="2157689" y="16569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833" name="Google Shape;3833;g3b75ff0c716_0_478"/>
          <p:cNvCxnSpPr/>
          <p:nvPr/>
        </p:nvCxnSpPr>
        <p:spPr>
          <a:xfrm>
            <a:off x="2757956" y="1656925"/>
            <a:ext cx="0" cy="225300"/>
          </a:xfrm>
          <a:prstGeom prst="straightConnector1">
            <a:avLst/>
          </a:prstGeom>
          <a:noFill/>
          <a:ln w="9525" cap="flat" cmpd="sng">
            <a:solidFill>
              <a:schemeClr val="dk1"/>
            </a:solidFill>
            <a:prstDash val="solid"/>
            <a:round/>
            <a:headEnd type="none" w="sm" len="sm"/>
            <a:tailEnd type="none" w="sm" len="sm"/>
          </a:ln>
        </p:spPr>
      </p:cxnSp>
      <p:cxnSp>
        <p:nvCxnSpPr>
          <p:cNvPr id="3834" name="Google Shape;3834;g3b75ff0c716_0_478"/>
          <p:cNvCxnSpPr/>
          <p:nvPr/>
        </p:nvCxnSpPr>
        <p:spPr>
          <a:xfrm>
            <a:off x="3413939" y="1663552"/>
            <a:ext cx="0" cy="225300"/>
          </a:xfrm>
          <a:prstGeom prst="straightConnector1">
            <a:avLst/>
          </a:prstGeom>
          <a:noFill/>
          <a:ln w="9525" cap="flat" cmpd="sng">
            <a:solidFill>
              <a:schemeClr val="dk1"/>
            </a:solidFill>
            <a:prstDash val="solid"/>
            <a:round/>
            <a:headEnd type="none" w="sm" len="sm"/>
            <a:tailEnd type="none" w="sm" len="sm"/>
          </a:ln>
        </p:spPr>
      </p:cxnSp>
      <p:sp>
        <p:nvSpPr>
          <p:cNvPr id="3835" name="Google Shape;3835;g3b75ff0c716_0_478"/>
          <p:cNvSpPr txBox="1"/>
          <p:nvPr/>
        </p:nvSpPr>
        <p:spPr>
          <a:xfrm>
            <a:off x="2157689" y="1669745"/>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a:t>
            </a:r>
            <a:r>
              <a:rPr lang="en-US" sz="700" b="1" i="0" u="none" strike="noStrike" cap="none">
                <a:solidFill>
                  <a:srgbClr val="000000"/>
                </a:solidFill>
                <a:latin typeface="Arial"/>
                <a:ea typeface="Arial"/>
                <a:cs typeface="Arial"/>
                <a:sym typeface="Arial"/>
              </a:rPr>
              <a:t>15.87</a:t>
            </a:r>
            <a:r>
              <a:rPr lang="en-US" sz="700" b="0" i="0" u="none" strike="noStrike" cap="none">
                <a:solidFill>
                  <a:srgbClr val="000000"/>
                </a:solidFill>
                <a:latin typeface="Arial"/>
                <a:ea typeface="Arial"/>
                <a:cs typeface="Arial"/>
                <a:sym typeface="Arial"/>
              </a:rPr>
              <a:t> </a:t>
            </a:r>
            <a:endParaRPr sz="700" b="0" i="0" u="none" strike="noStrike" cap="none">
              <a:solidFill>
                <a:srgbClr val="000000"/>
              </a:solidFill>
              <a:latin typeface="Arial"/>
              <a:ea typeface="Arial"/>
              <a:cs typeface="Arial"/>
              <a:sym typeface="Arial"/>
            </a:endParaRPr>
          </a:p>
        </p:txBody>
      </p:sp>
      <p:sp>
        <p:nvSpPr>
          <p:cNvPr id="3836" name="Google Shape;3836;g3b75ff0c716_0_478"/>
          <p:cNvSpPr/>
          <p:nvPr/>
        </p:nvSpPr>
        <p:spPr>
          <a:xfrm>
            <a:off x="2157689" y="18855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837" name="Google Shape;3837;g3b75ff0c716_0_478"/>
          <p:cNvCxnSpPr/>
          <p:nvPr/>
        </p:nvCxnSpPr>
        <p:spPr>
          <a:xfrm>
            <a:off x="2757956" y="1885525"/>
            <a:ext cx="0" cy="225300"/>
          </a:xfrm>
          <a:prstGeom prst="straightConnector1">
            <a:avLst/>
          </a:prstGeom>
          <a:noFill/>
          <a:ln w="9525" cap="flat" cmpd="sng">
            <a:solidFill>
              <a:schemeClr val="dk1"/>
            </a:solidFill>
            <a:prstDash val="solid"/>
            <a:round/>
            <a:headEnd type="none" w="sm" len="sm"/>
            <a:tailEnd type="none" w="sm" len="sm"/>
          </a:ln>
        </p:spPr>
      </p:cxnSp>
      <p:cxnSp>
        <p:nvCxnSpPr>
          <p:cNvPr id="3838" name="Google Shape;3838;g3b75ff0c716_0_478"/>
          <p:cNvCxnSpPr/>
          <p:nvPr/>
        </p:nvCxnSpPr>
        <p:spPr>
          <a:xfrm>
            <a:off x="3413939" y="1892152"/>
            <a:ext cx="0" cy="225300"/>
          </a:xfrm>
          <a:prstGeom prst="straightConnector1">
            <a:avLst/>
          </a:prstGeom>
          <a:noFill/>
          <a:ln w="9525" cap="flat" cmpd="sng">
            <a:solidFill>
              <a:schemeClr val="dk1"/>
            </a:solidFill>
            <a:prstDash val="solid"/>
            <a:round/>
            <a:headEnd type="none" w="sm" len="sm"/>
            <a:tailEnd type="none" w="sm" len="sm"/>
          </a:ln>
        </p:spPr>
      </p:cxnSp>
      <p:sp>
        <p:nvSpPr>
          <p:cNvPr id="3839" name="Google Shape;3839;g3b75ff0c716_0_478"/>
          <p:cNvSpPr txBox="1"/>
          <p:nvPr/>
        </p:nvSpPr>
        <p:spPr>
          <a:xfrm>
            <a:off x="2157689" y="1898345"/>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18.3        1        5         15.87 </a:t>
            </a:r>
            <a:endParaRPr sz="700" b="0" i="0" u="none" strike="noStrike" cap="none">
              <a:solidFill>
                <a:srgbClr val="000000"/>
              </a:solidFill>
              <a:latin typeface="Arial"/>
              <a:ea typeface="Arial"/>
              <a:cs typeface="Arial"/>
              <a:sym typeface="Arial"/>
            </a:endParaRPr>
          </a:p>
        </p:txBody>
      </p:sp>
      <p:sp>
        <p:nvSpPr>
          <p:cNvPr id="3840" name="Google Shape;3840;g3b75ff0c716_0_478"/>
          <p:cNvSpPr/>
          <p:nvPr/>
        </p:nvSpPr>
        <p:spPr>
          <a:xfrm>
            <a:off x="2158789" y="2101520"/>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841" name="Google Shape;3841;g3b75ff0c716_0_478"/>
          <p:cNvCxnSpPr/>
          <p:nvPr/>
        </p:nvCxnSpPr>
        <p:spPr>
          <a:xfrm>
            <a:off x="2759056" y="2101520"/>
            <a:ext cx="0" cy="225300"/>
          </a:xfrm>
          <a:prstGeom prst="straightConnector1">
            <a:avLst/>
          </a:prstGeom>
          <a:noFill/>
          <a:ln w="9525" cap="flat" cmpd="sng">
            <a:solidFill>
              <a:schemeClr val="dk1"/>
            </a:solidFill>
            <a:prstDash val="solid"/>
            <a:round/>
            <a:headEnd type="none" w="sm" len="sm"/>
            <a:tailEnd type="none" w="sm" len="sm"/>
          </a:ln>
        </p:spPr>
      </p:cxnSp>
      <p:cxnSp>
        <p:nvCxnSpPr>
          <p:cNvPr id="3842" name="Google Shape;3842;g3b75ff0c716_0_478"/>
          <p:cNvCxnSpPr/>
          <p:nvPr/>
        </p:nvCxnSpPr>
        <p:spPr>
          <a:xfrm>
            <a:off x="3415039" y="2108147"/>
            <a:ext cx="0" cy="225300"/>
          </a:xfrm>
          <a:prstGeom prst="straightConnector1">
            <a:avLst/>
          </a:prstGeom>
          <a:noFill/>
          <a:ln w="9525" cap="flat" cmpd="sng">
            <a:solidFill>
              <a:schemeClr val="dk1"/>
            </a:solidFill>
            <a:prstDash val="solid"/>
            <a:round/>
            <a:headEnd type="none" w="sm" len="sm"/>
            <a:tailEnd type="none" w="sm" len="sm"/>
          </a:ln>
        </p:spPr>
      </p:cxnSp>
      <p:sp>
        <p:nvSpPr>
          <p:cNvPr id="3843" name="Google Shape;3843;g3b75ff0c716_0_478"/>
          <p:cNvSpPr txBox="1"/>
          <p:nvPr/>
        </p:nvSpPr>
        <p:spPr>
          <a:xfrm>
            <a:off x="2158789" y="2114340"/>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18.3        1        5         15.87 </a:t>
            </a:r>
            <a:endParaRPr sz="700" b="0" i="0" u="none" strike="noStrike" cap="none">
              <a:solidFill>
                <a:srgbClr val="000000"/>
              </a:solidFill>
              <a:latin typeface="Arial"/>
              <a:ea typeface="Arial"/>
              <a:cs typeface="Arial"/>
              <a:sym typeface="Arial"/>
            </a:endParaRPr>
          </a:p>
        </p:txBody>
      </p:sp>
      <p:sp>
        <p:nvSpPr>
          <p:cNvPr id="3844" name="Google Shape;3844;g3b75ff0c716_0_478"/>
          <p:cNvSpPr txBox="1"/>
          <p:nvPr/>
        </p:nvSpPr>
        <p:spPr>
          <a:xfrm>
            <a:off x="2157688" y="1429163"/>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18.3        1        5         16.89 </a:t>
            </a:r>
            <a:endParaRPr sz="700" b="0" i="0" u="none" strike="noStrike" cap="none">
              <a:solidFill>
                <a:srgbClr val="000000"/>
              </a:solidFill>
              <a:latin typeface="Arial"/>
              <a:ea typeface="Arial"/>
              <a:cs typeface="Arial"/>
              <a:sym typeface="Arial"/>
            </a:endParaRPr>
          </a:p>
        </p:txBody>
      </p:sp>
      <p:sp>
        <p:nvSpPr>
          <p:cNvPr id="3845" name="Google Shape;3845;g3b75ff0c716_0_478"/>
          <p:cNvSpPr txBox="1"/>
          <p:nvPr/>
        </p:nvSpPr>
        <p:spPr>
          <a:xfrm>
            <a:off x="2153082" y="111650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18.3        1        5          15 </a:t>
            </a:r>
            <a:endParaRPr sz="700" b="0" i="0" u="none" strike="noStrike" cap="none">
              <a:solidFill>
                <a:srgbClr val="000000"/>
              </a:solidFill>
              <a:latin typeface="Arial"/>
              <a:ea typeface="Arial"/>
              <a:cs typeface="Arial"/>
              <a:sym typeface="Arial"/>
            </a:endParaRPr>
          </a:p>
        </p:txBody>
      </p:sp>
      <p:sp>
        <p:nvSpPr>
          <p:cNvPr id="3846" name="Google Shape;3846;g3b75ff0c716_0_478"/>
          <p:cNvSpPr txBox="1"/>
          <p:nvPr/>
        </p:nvSpPr>
        <p:spPr>
          <a:xfrm>
            <a:off x="2140174" y="80048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5             1        5           15 </a:t>
            </a:r>
            <a:endParaRPr sz="700" b="0" i="0" u="none" strike="noStrike" cap="none">
              <a:solidFill>
                <a:srgbClr val="000000"/>
              </a:solidFill>
              <a:latin typeface="Arial"/>
              <a:ea typeface="Arial"/>
              <a:cs typeface="Arial"/>
              <a:sym typeface="Arial"/>
            </a:endParaRPr>
          </a:p>
        </p:txBody>
      </p:sp>
      <p:sp>
        <p:nvSpPr>
          <p:cNvPr id="3847" name="Google Shape;3847;g3b75ff0c716_0_478"/>
          <p:cNvSpPr/>
          <p:nvPr/>
        </p:nvSpPr>
        <p:spPr>
          <a:xfrm>
            <a:off x="4321655" y="1133463"/>
            <a:ext cx="1368600" cy="630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700" b="1" i="1" u="none" strike="noStrike" cap="none">
                <a:solidFill>
                  <a:srgbClr val="0070C0"/>
                </a:solidFill>
                <a:latin typeface="Arial"/>
                <a:ea typeface="Arial"/>
                <a:cs typeface="Arial"/>
                <a:sym typeface="Arial"/>
              </a:rPr>
              <a:t>Note : Only in Episode 3 step 1 , episode 4 step 2, the loop is simulated to Q1(S,A) loop, where the behavior policy is updated: </a:t>
            </a:r>
            <a:endParaRPr sz="700" b="1" i="1" u="none" strike="noStrike" cap="none">
              <a:solidFill>
                <a:srgbClr val="0070C0"/>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30"/>
                                        </p:tgtEl>
                                        <p:attrNameLst>
                                          <p:attrName>style.visibility</p:attrName>
                                        </p:attrNameLst>
                                      </p:cBhvr>
                                      <p:to>
                                        <p:strVal val="visible"/>
                                      </p:to>
                                    </p:set>
                                    <p:animEffect transition="in" filter="fade">
                                      <p:cBhvr>
                                        <p:cTn id="7" dur="500"/>
                                        <p:tgtEl>
                                          <p:spTgt spid="3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3851"/>
        <p:cNvGrpSpPr/>
        <p:nvPr/>
      </p:nvGrpSpPr>
      <p:grpSpPr>
        <a:xfrm>
          <a:off x="0" y="0"/>
          <a:ext cx="0" cy="0"/>
          <a:chOff x="0" y="0"/>
          <a:chExt cx="0" cy="0"/>
        </a:xfrm>
      </p:grpSpPr>
      <p:pic>
        <p:nvPicPr>
          <p:cNvPr id="3852" name="Google Shape;3852;g3b75ff0c716_0_565"/>
          <p:cNvPicPr preferRelativeResize="0"/>
          <p:nvPr/>
        </p:nvPicPr>
        <p:blipFill rotWithShape="1">
          <a:blip r:embed="rId3">
            <a:alphaModFix/>
          </a:blip>
          <a:srcRect/>
          <a:stretch/>
        </p:blipFill>
        <p:spPr>
          <a:xfrm>
            <a:off x="2994214" y="410746"/>
            <a:ext cx="276927" cy="275955"/>
          </a:xfrm>
          <a:prstGeom prst="rect">
            <a:avLst/>
          </a:prstGeom>
          <a:noFill/>
          <a:ln>
            <a:noFill/>
          </a:ln>
        </p:spPr>
      </p:pic>
      <p:sp>
        <p:nvSpPr>
          <p:cNvPr id="3853" name="Google Shape;3853;g3b75ff0c716_0_565"/>
          <p:cNvSpPr/>
          <p:nvPr/>
        </p:nvSpPr>
        <p:spPr>
          <a:xfrm>
            <a:off x="2164056" y="1416916"/>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854" name="Google Shape;3854;g3b75ff0c716_0_565"/>
          <p:cNvSpPr/>
          <p:nvPr/>
        </p:nvSpPr>
        <p:spPr>
          <a:xfrm>
            <a:off x="2179296" y="1072214"/>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855" name="Google Shape;3855;g3b75ff0c716_0_565"/>
          <p:cNvSpPr/>
          <p:nvPr/>
        </p:nvSpPr>
        <p:spPr>
          <a:xfrm>
            <a:off x="2182136" y="784025"/>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856" name="Google Shape;3856;g3b75ff0c716_0_565"/>
          <p:cNvCxnSpPr/>
          <p:nvPr/>
        </p:nvCxnSpPr>
        <p:spPr>
          <a:xfrm>
            <a:off x="2764323" y="769938"/>
            <a:ext cx="0" cy="225300"/>
          </a:xfrm>
          <a:prstGeom prst="straightConnector1">
            <a:avLst/>
          </a:prstGeom>
          <a:noFill/>
          <a:ln w="9525" cap="flat" cmpd="sng">
            <a:solidFill>
              <a:schemeClr val="dk1"/>
            </a:solidFill>
            <a:prstDash val="solid"/>
            <a:round/>
            <a:headEnd type="none" w="sm" len="sm"/>
            <a:tailEnd type="none" w="sm" len="sm"/>
          </a:ln>
        </p:spPr>
      </p:cxnSp>
      <p:cxnSp>
        <p:nvCxnSpPr>
          <p:cNvPr id="3857" name="Google Shape;3857;g3b75ff0c716_0_565"/>
          <p:cNvCxnSpPr/>
          <p:nvPr/>
        </p:nvCxnSpPr>
        <p:spPr>
          <a:xfrm>
            <a:off x="2764323" y="1083652"/>
            <a:ext cx="0" cy="225300"/>
          </a:xfrm>
          <a:prstGeom prst="straightConnector1">
            <a:avLst/>
          </a:prstGeom>
          <a:noFill/>
          <a:ln w="9525" cap="flat" cmpd="sng">
            <a:solidFill>
              <a:schemeClr val="dk1"/>
            </a:solidFill>
            <a:prstDash val="solid"/>
            <a:round/>
            <a:headEnd type="none" w="sm" len="sm"/>
            <a:tailEnd type="none" w="sm" len="sm"/>
          </a:ln>
        </p:spPr>
      </p:cxnSp>
      <p:cxnSp>
        <p:nvCxnSpPr>
          <p:cNvPr id="3858" name="Google Shape;3858;g3b75ff0c716_0_565"/>
          <p:cNvCxnSpPr/>
          <p:nvPr/>
        </p:nvCxnSpPr>
        <p:spPr>
          <a:xfrm>
            <a:off x="2764323" y="1416916"/>
            <a:ext cx="0" cy="225300"/>
          </a:xfrm>
          <a:prstGeom prst="straightConnector1">
            <a:avLst/>
          </a:prstGeom>
          <a:noFill/>
          <a:ln w="9525" cap="flat" cmpd="sng">
            <a:solidFill>
              <a:schemeClr val="dk1"/>
            </a:solidFill>
            <a:prstDash val="solid"/>
            <a:round/>
            <a:headEnd type="none" w="sm" len="sm"/>
            <a:tailEnd type="none" w="sm" len="sm"/>
          </a:ln>
        </p:spPr>
      </p:cxnSp>
      <p:cxnSp>
        <p:nvCxnSpPr>
          <p:cNvPr id="3859" name="Google Shape;3859;g3b75ff0c716_0_565"/>
          <p:cNvCxnSpPr/>
          <p:nvPr/>
        </p:nvCxnSpPr>
        <p:spPr>
          <a:xfrm>
            <a:off x="3420306" y="776565"/>
            <a:ext cx="0" cy="225300"/>
          </a:xfrm>
          <a:prstGeom prst="straightConnector1">
            <a:avLst/>
          </a:prstGeom>
          <a:noFill/>
          <a:ln w="9525" cap="flat" cmpd="sng">
            <a:solidFill>
              <a:schemeClr val="dk1"/>
            </a:solidFill>
            <a:prstDash val="solid"/>
            <a:round/>
            <a:headEnd type="none" w="sm" len="sm"/>
            <a:tailEnd type="none" w="sm" len="sm"/>
          </a:ln>
        </p:spPr>
      </p:cxnSp>
      <p:cxnSp>
        <p:nvCxnSpPr>
          <p:cNvPr id="3860" name="Google Shape;3860;g3b75ff0c716_0_565"/>
          <p:cNvCxnSpPr/>
          <p:nvPr/>
        </p:nvCxnSpPr>
        <p:spPr>
          <a:xfrm>
            <a:off x="3420306" y="1090279"/>
            <a:ext cx="0" cy="225300"/>
          </a:xfrm>
          <a:prstGeom prst="straightConnector1">
            <a:avLst/>
          </a:prstGeom>
          <a:noFill/>
          <a:ln w="9525" cap="flat" cmpd="sng">
            <a:solidFill>
              <a:schemeClr val="dk1"/>
            </a:solidFill>
            <a:prstDash val="solid"/>
            <a:round/>
            <a:headEnd type="none" w="sm" len="sm"/>
            <a:tailEnd type="none" w="sm" len="sm"/>
          </a:ln>
        </p:spPr>
      </p:cxnSp>
      <p:cxnSp>
        <p:nvCxnSpPr>
          <p:cNvPr id="3861" name="Google Shape;3861;g3b75ff0c716_0_565"/>
          <p:cNvCxnSpPr/>
          <p:nvPr/>
        </p:nvCxnSpPr>
        <p:spPr>
          <a:xfrm>
            <a:off x="3420306" y="1423543"/>
            <a:ext cx="0" cy="225300"/>
          </a:xfrm>
          <a:prstGeom prst="straightConnector1">
            <a:avLst/>
          </a:prstGeom>
          <a:noFill/>
          <a:ln w="9525" cap="flat" cmpd="sng">
            <a:solidFill>
              <a:schemeClr val="dk1"/>
            </a:solidFill>
            <a:prstDash val="solid"/>
            <a:round/>
            <a:headEnd type="none" w="sm" len="sm"/>
            <a:tailEnd type="none" w="sm" len="sm"/>
          </a:ln>
        </p:spPr>
      </p:cxnSp>
      <p:pic>
        <p:nvPicPr>
          <p:cNvPr id="3862" name="Google Shape;3862;g3b75ff0c716_0_565"/>
          <p:cNvPicPr preferRelativeResize="0"/>
          <p:nvPr/>
        </p:nvPicPr>
        <p:blipFill rotWithShape="1">
          <a:blip r:embed="rId4">
            <a:alphaModFix/>
          </a:blip>
          <a:srcRect/>
          <a:stretch/>
        </p:blipFill>
        <p:spPr>
          <a:xfrm>
            <a:off x="2179296" y="646945"/>
            <a:ext cx="247568" cy="107156"/>
          </a:xfrm>
          <a:prstGeom prst="rect">
            <a:avLst/>
          </a:prstGeom>
          <a:noFill/>
          <a:ln>
            <a:noFill/>
          </a:ln>
        </p:spPr>
      </p:pic>
      <p:pic>
        <p:nvPicPr>
          <p:cNvPr id="3863" name="Google Shape;3863;g3b75ff0c716_0_565"/>
          <p:cNvPicPr preferRelativeResize="0"/>
          <p:nvPr/>
        </p:nvPicPr>
        <p:blipFill rotWithShape="1">
          <a:blip r:embed="rId5">
            <a:alphaModFix/>
          </a:blip>
          <a:srcRect/>
          <a:stretch/>
        </p:blipFill>
        <p:spPr>
          <a:xfrm>
            <a:off x="2514520" y="644550"/>
            <a:ext cx="249913" cy="117267"/>
          </a:xfrm>
          <a:prstGeom prst="rect">
            <a:avLst/>
          </a:prstGeom>
          <a:noFill/>
          <a:ln>
            <a:noFill/>
          </a:ln>
        </p:spPr>
      </p:pic>
      <p:pic>
        <p:nvPicPr>
          <p:cNvPr id="3864" name="Google Shape;3864;g3b75ff0c716_0_565"/>
          <p:cNvPicPr preferRelativeResize="0"/>
          <p:nvPr/>
        </p:nvPicPr>
        <p:blipFill rotWithShape="1">
          <a:blip r:embed="rId4">
            <a:alphaModFix/>
          </a:blip>
          <a:srcRect/>
          <a:stretch/>
        </p:blipFill>
        <p:spPr>
          <a:xfrm>
            <a:off x="2822025" y="633695"/>
            <a:ext cx="247568" cy="107156"/>
          </a:xfrm>
          <a:prstGeom prst="rect">
            <a:avLst/>
          </a:prstGeom>
          <a:noFill/>
          <a:ln>
            <a:noFill/>
          </a:ln>
        </p:spPr>
      </p:pic>
      <p:pic>
        <p:nvPicPr>
          <p:cNvPr id="3865" name="Google Shape;3865;g3b75ff0c716_0_565"/>
          <p:cNvPicPr preferRelativeResize="0"/>
          <p:nvPr/>
        </p:nvPicPr>
        <p:blipFill rotWithShape="1">
          <a:blip r:embed="rId5">
            <a:alphaModFix/>
          </a:blip>
          <a:srcRect/>
          <a:stretch/>
        </p:blipFill>
        <p:spPr>
          <a:xfrm>
            <a:off x="3157249" y="631300"/>
            <a:ext cx="249913" cy="117267"/>
          </a:xfrm>
          <a:prstGeom prst="rect">
            <a:avLst/>
          </a:prstGeom>
          <a:noFill/>
          <a:ln>
            <a:noFill/>
          </a:ln>
        </p:spPr>
      </p:pic>
      <p:pic>
        <p:nvPicPr>
          <p:cNvPr id="3866" name="Google Shape;3866;g3b75ff0c716_0_565"/>
          <p:cNvPicPr preferRelativeResize="0"/>
          <p:nvPr/>
        </p:nvPicPr>
        <p:blipFill rotWithShape="1">
          <a:blip r:embed="rId4">
            <a:alphaModFix/>
          </a:blip>
          <a:srcRect/>
          <a:stretch/>
        </p:blipFill>
        <p:spPr>
          <a:xfrm>
            <a:off x="3431619" y="633696"/>
            <a:ext cx="247568" cy="107156"/>
          </a:xfrm>
          <a:prstGeom prst="rect">
            <a:avLst/>
          </a:prstGeom>
          <a:noFill/>
          <a:ln>
            <a:noFill/>
          </a:ln>
        </p:spPr>
      </p:pic>
      <p:pic>
        <p:nvPicPr>
          <p:cNvPr id="3867" name="Google Shape;3867;g3b75ff0c716_0_565"/>
          <p:cNvPicPr preferRelativeResize="0"/>
          <p:nvPr/>
        </p:nvPicPr>
        <p:blipFill rotWithShape="1">
          <a:blip r:embed="rId5">
            <a:alphaModFix/>
          </a:blip>
          <a:srcRect/>
          <a:stretch/>
        </p:blipFill>
        <p:spPr>
          <a:xfrm>
            <a:off x="3766843" y="631301"/>
            <a:ext cx="249913" cy="117267"/>
          </a:xfrm>
          <a:prstGeom prst="rect">
            <a:avLst/>
          </a:prstGeom>
          <a:noFill/>
          <a:ln>
            <a:noFill/>
          </a:ln>
        </p:spPr>
      </p:pic>
      <p:cxnSp>
        <p:nvCxnSpPr>
          <p:cNvPr id="3868" name="Google Shape;3868;g3b75ff0c716_0_565"/>
          <p:cNvCxnSpPr/>
          <p:nvPr/>
        </p:nvCxnSpPr>
        <p:spPr>
          <a:xfrm>
            <a:off x="2162539" y="410746"/>
            <a:ext cx="0" cy="1975500"/>
          </a:xfrm>
          <a:prstGeom prst="straightConnector1">
            <a:avLst/>
          </a:prstGeom>
          <a:noFill/>
          <a:ln w="9525" cap="flat" cmpd="sng">
            <a:solidFill>
              <a:srgbClr val="0070C0"/>
            </a:solidFill>
            <a:prstDash val="solid"/>
            <a:round/>
            <a:headEnd type="none" w="sm" len="sm"/>
            <a:tailEnd type="none" w="sm" len="sm"/>
          </a:ln>
        </p:spPr>
      </p:cxnSp>
      <p:sp>
        <p:nvSpPr>
          <p:cNvPr id="3869" name="Google Shape;3869;g3b75ff0c716_0_565"/>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Target		Behavior</a:t>
            </a:r>
            <a:endParaRPr/>
          </a:p>
        </p:txBody>
      </p:sp>
      <p:sp>
        <p:nvSpPr>
          <p:cNvPr id="3870" name="Google Shape;3870;g3b75ff0c716_0_56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871" name="Google Shape;3871;g3b75ff0c716_0_565"/>
          <p:cNvGrpSpPr/>
          <p:nvPr/>
        </p:nvGrpSpPr>
        <p:grpSpPr>
          <a:xfrm>
            <a:off x="0" y="3109250"/>
            <a:ext cx="5760261" cy="92075"/>
            <a:chOff x="0" y="3109250"/>
            <a:chExt cx="5760261" cy="92075"/>
          </a:xfrm>
        </p:grpSpPr>
        <p:sp>
          <p:nvSpPr>
            <p:cNvPr id="3872" name="Google Shape;3872;g3b75ff0c716_0_56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3" name="Google Shape;3873;g3b75ff0c716_0_56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4" name="Google Shape;3874;g3b75ff0c716_0_56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75" name="Google Shape;3875;g3b75ff0c716_0_565"/>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876" name="Google Shape;3876;g3b75ff0c716_0_56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98</a:t>
            </a:fld>
            <a:endParaRPr/>
          </a:p>
        </p:txBody>
      </p:sp>
      <p:pic>
        <p:nvPicPr>
          <p:cNvPr id="3877" name="Google Shape;3877;g3b75ff0c716_0_565"/>
          <p:cNvPicPr preferRelativeResize="0"/>
          <p:nvPr/>
        </p:nvPicPr>
        <p:blipFill rotWithShape="1">
          <a:blip r:embed="rId6">
            <a:alphaModFix/>
          </a:blip>
          <a:srcRect/>
          <a:stretch/>
        </p:blipFill>
        <p:spPr>
          <a:xfrm>
            <a:off x="485263" y="408737"/>
            <a:ext cx="253340" cy="263412"/>
          </a:xfrm>
          <a:prstGeom prst="rect">
            <a:avLst/>
          </a:prstGeom>
          <a:noFill/>
          <a:ln>
            <a:noFill/>
          </a:ln>
        </p:spPr>
      </p:pic>
      <p:pic>
        <p:nvPicPr>
          <p:cNvPr id="3878" name="Google Shape;3878;g3b75ff0c716_0_565"/>
          <p:cNvPicPr preferRelativeResize="0"/>
          <p:nvPr/>
        </p:nvPicPr>
        <p:blipFill rotWithShape="1">
          <a:blip r:embed="rId7">
            <a:alphaModFix/>
          </a:blip>
          <a:srcRect/>
          <a:stretch/>
        </p:blipFill>
        <p:spPr>
          <a:xfrm>
            <a:off x="1742348" y="375332"/>
            <a:ext cx="268790" cy="301041"/>
          </a:xfrm>
          <a:prstGeom prst="rect">
            <a:avLst/>
          </a:prstGeom>
          <a:noFill/>
          <a:ln>
            <a:noFill/>
          </a:ln>
        </p:spPr>
      </p:pic>
      <p:pic>
        <p:nvPicPr>
          <p:cNvPr id="3879" name="Google Shape;3879;g3b75ff0c716_0_565"/>
          <p:cNvPicPr preferRelativeResize="0"/>
          <p:nvPr/>
        </p:nvPicPr>
        <p:blipFill rotWithShape="1">
          <a:blip r:embed="rId3">
            <a:alphaModFix/>
          </a:blip>
          <a:srcRect/>
          <a:stretch/>
        </p:blipFill>
        <p:spPr>
          <a:xfrm>
            <a:off x="1139997" y="415805"/>
            <a:ext cx="276927" cy="275955"/>
          </a:xfrm>
          <a:prstGeom prst="rect">
            <a:avLst/>
          </a:prstGeom>
          <a:noFill/>
          <a:ln>
            <a:noFill/>
          </a:ln>
        </p:spPr>
      </p:pic>
      <p:sp>
        <p:nvSpPr>
          <p:cNvPr id="3880" name="Google Shape;3880;g3b75ff0c716_0_565"/>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sp>
        <p:nvSpPr>
          <p:cNvPr id="3881" name="Google Shape;3881;g3b75ff0c716_0_565"/>
          <p:cNvSpPr/>
          <p:nvPr/>
        </p:nvSpPr>
        <p:spPr>
          <a:xfrm>
            <a:off x="309839" y="142197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882" name="Google Shape;3882;g3b75ff0c716_0_565"/>
          <p:cNvSpPr/>
          <p:nvPr/>
        </p:nvSpPr>
        <p:spPr>
          <a:xfrm>
            <a:off x="325079" y="1077273"/>
            <a:ext cx="1837500" cy="2508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883" name="Google Shape;3883;g3b75ff0c716_0_565"/>
          <p:cNvSpPr/>
          <p:nvPr/>
        </p:nvSpPr>
        <p:spPr>
          <a:xfrm>
            <a:off x="327919" y="789084"/>
            <a:ext cx="1844100" cy="215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sp>
        <p:nvSpPr>
          <p:cNvPr id="3884" name="Google Shape;3884;g3b75ff0c716_0_565"/>
          <p:cNvSpPr txBox="1"/>
          <p:nvPr/>
        </p:nvSpPr>
        <p:spPr>
          <a:xfrm>
            <a:off x="289408" y="79888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5.2          0         0           19.6</a:t>
            </a:r>
            <a:endParaRPr sz="300" b="0" i="0" u="none" strike="noStrike" cap="none">
              <a:solidFill>
                <a:srgbClr val="000000"/>
              </a:solidFill>
              <a:latin typeface="Arial"/>
              <a:ea typeface="Arial"/>
              <a:cs typeface="Arial"/>
              <a:sym typeface="Arial"/>
            </a:endParaRPr>
          </a:p>
        </p:txBody>
      </p:sp>
      <p:cxnSp>
        <p:nvCxnSpPr>
          <p:cNvPr id="3885" name="Google Shape;3885;g3b75ff0c716_0_565"/>
          <p:cNvCxnSpPr/>
          <p:nvPr/>
        </p:nvCxnSpPr>
        <p:spPr>
          <a:xfrm>
            <a:off x="910106" y="774997"/>
            <a:ext cx="0" cy="225300"/>
          </a:xfrm>
          <a:prstGeom prst="straightConnector1">
            <a:avLst/>
          </a:prstGeom>
          <a:noFill/>
          <a:ln w="9525" cap="flat" cmpd="sng">
            <a:solidFill>
              <a:schemeClr val="dk1"/>
            </a:solidFill>
            <a:prstDash val="solid"/>
            <a:round/>
            <a:headEnd type="none" w="sm" len="sm"/>
            <a:tailEnd type="none" w="sm" len="sm"/>
          </a:ln>
        </p:spPr>
      </p:cxnSp>
      <p:cxnSp>
        <p:nvCxnSpPr>
          <p:cNvPr id="3886" name="Google Shape;3886;g3b75ff0c716_0_565"/>
          <p:cNvCxnSpPr/>
          <p:nvPr/>
        </p:nvCxnSpPr>
        <p:spPr>
          <a:xfrm>
            <a:off x="910106" y="1088711"/>
            <a:ext cx="0" cy="225300"/>
          </a:xfrm>
          <a:prstGeom prst="straightConnector1">
            <a:avLst/>
          </a:prstGeom>
          <a:noFill/>
          <a:ln w="9525" cap="flat" cmpd="sng">
            <a:solidFill>
              <a:schemeClr val="dk1"/>
            </a:solidFill>
            <a:prstDash val="solid"/>
            <a:round/>
            <a:headEnd type="none" w="sm" len="sm"/>
            <a:tailEnd type="none" w="sm" len="sm"/>
          </a:ln>
        </p:spPr>
      </p:cxnSp>
      <p:cxnSp>
        <p:nvCxnSpPr>
          <p:cNvPr id="3887" name="Google Shape;3887;g3b75ff0c716_0_565"/>
          <p:cNvCxnSpPr/>
          <p:nvPr/>
        </p:nvCxnSpPr>
        <p:spPr>
          <a:xfrm>
            <a:off x="910106" y="1421975"/>
            <a:ext cx="0" cy="225300"/>
          </a:xfrm>
          <a:prstGeom prst="straightConnector1">
            <a:avLst/>
          </a:prstGeom>
          <a:noFill/>
          <a:ln w="9525" cap="flat" cmpd="sng">
            <a:solidFill>
              <a:schemeClr val="dk1"/>
            </a:solidFill>
            <a:prstDash val="solid"/>
            <a:round/>
            <a:headEnd type="none" w="sm" len="sm"/>
            <a:tailEnd type="none" w="sm" len="sm"/>
          </a:ln>
        </p:spPr>
      </p:cxnSp>
      <p:cxnSp>
        <p:nvCxnSpPr>
          <p:cNvPr id="3888" name="Google Shape;3888;g3b75ff0c716_0_565"/>
          <p:cNvCxnSpPr/>
          <p:nvPr/>
        </p:nvCxnSpPr>
        <p:spPr>
          <a:xfrm>
            <a:off x="1566089" y="781624"/>
            <a:ext cx="0" cy="225300"/>
          </a:xfrm>
          <a:prstGeom prst="straightConnector1">
            <a:avLst/>
          </a:prstGeom>
          <a:noFill/>
          <a:ln w="9525" cap="flat" cmpd="sng">
            <a:solidFill>
              <a:schemeClr val="dk1"/>
            </a:solidFill>
            <a:prstDash val="solid"/>
            <a:round/>
            <a:headEnd type="none" w="sm" len="sm"/>
            <a:tailEnd type="none" w="sm" len="sm"/>
          </a:ln>
        </p:spPr>
      </p:cxnSp>
      <p:cxnSp>
        <p:nvCxnSpPr>
          <p:cNvPr id="3889" name="Google Shape;3889;g3b75ff0c716_0_565"/>
          <p:cNvCxnSpPr/>
          <p:nvPr/>
        </p:nvCxnSpPr>
        <p:spPr>
          <a:xfrm>
            <a:off x="1566089" y="1095338"/>
            <a:ext cx="0" cy="225300"/>
          </a:xfrm>
          <a:prstGeom prst="straightConnector1">
            <a:avLst/>
          </a:prstGeom>
          <a:noFill/>
          <a:ln w="9525" cap="flat" cmpd="sng">
            <a:solidFill>
              <a:schemeClr val="dk1"/>
            </a:solidFill>
            <a:prstDash val="solid"/>
            <a:round/>
            <a:headEnd type="none" w="sm" len="sm"/>
            <a:tailEnd type="none" w="sm" len="sm"/>
          </a:ln>
        </p:spPr>
      </p:cxnSp>
      <p:cxnSp>
        <p:nvCxnSpPr>
          <p:cNvPr id="3890" name="Google Shape;3890;g3b75ff0c716_0_565"/>
          <p:cNvCxnSpPr/>
          <p:nvPr/>
        </p:nvCxnSpPr>
        <p:spPr>
          <a:xfrm>
            <a:off x="1566089" y="1428602"/>
            <a:ext cx="0" cy="225300"/>
          </a:xfrm>
          <a:prstGeom prst="straightConnector1">
            <a:avLst/>
          </a:prstGeom>
          <a:noFill/>
          <a:ln w="9525" cap="flat" cmpd="sng">
            <a:solidFill>
              <a:schemeClr val="dk1"/>
            </a:solidFill>
            <a:prstDash val="solid"/>
            <a:round/>
            <a:headEnd type="none" w="sm" len="sm"/>
            <a:tailEnd type="none" w="sm" len="sm"/>
          </a:ln>
        </p:spPr>
      </p:cxnSp>
      <p:pic>
        <p:nvPicPr>
          <p:cNvPr id="3891" name="Google Shape;3891;g3b75ff0c716_0_565"/>
          <p:cNvPicPr preferRelativeResize="0"/>
          <p:nvPr/>
        </p:nvPicPr>
        <p:blipFill rotWithShape="1">
          <a:blip r:embed="rId4">
            <a:alphaModFix/>
          </a:blip>
          <a:srcRect/>
          <a:stretch/>
        </p:blipFill>
        <p:spPr>
          <a:xfrm>
            <a:off x="325079" y="652004"/>
            <a:ext cx="247568" cy="107156"/>
          </a:xfrm>
          <a:prstGeom prst="rect">
            <a:avLst/>
          </a:prstGeom>
          <a:noFill/>
          <a:ln>
            <a:noFill/>
          </a:ln>
        </p:spPr>
      </p:pic>
      <p:pic>
        <p:nvPicPr>
          <p:cNvPr id="3892" name="Google Shape;3892;g3b75ff0c716_0_565"/>
          <p:cNvPicPr preferRelativeResize="0"/>
          <p:nvPr/>
        </p:nvPicPr>
        <p:blipFill rotWithShape="1">
          <a:blip r:embed="rId5">
            <a:alphaModFix/>
          </a:blip>
          <a:srcRect/>
          <a:stretch/>
        </p:blipFill>
        <p:spPr>
          <a:xfrm>
            <a:off x="660303" y="649609"/>
            <a:ext cx="249913" cy="117267"/>
          </a:xfrm>
          <a:prstGeom prst="rect">
            <a:avLst/>
          </a:prstGeom>
          <a:noFill/>
          <a:ln>
            <a:noFill/>
          </a:ln>
        </p:spPr>
      </p:pic>
      <p:pic>
        <p:nvPicPr>
          <p:cNvPr id="3893" name="Google Shape;3893;g3b75ff0c716_0_565"/>
          <p:cNvPicPr preferRelativeResize="0"/>
          <p:nvPr/>
        </p:nvPicPr>
        <p:blipFill rotWithShape="1">
          <a:blip r:embed="rId4">
            <a:alphaModFix/>
          </a:blip>
          <a:srcRect/>
          <a:stretch/>
        </p:blipFill>
        <p:spPr>
          <a:xfrm>
            <a:off x="967808" y="638754"/>
            <a:ext cx="247568" cy="107156"/>
          </a:xfrm>
          <a:prstGeom prst="rect">
            <a:avLst/>
          </a:prstGeom>
          <a:noFill/>
          <a:ln>
            <a:noFill/>
          </a:ln>
        </p:spPr>
      </p:pic>
      <p:pic>
        <p:nvPicPr>
          <p:cNvPr id="3894" name="Google Shape;3894;g3b75ff0c716_0_565"/>
          <p:cNvPicPr preferRelativeResize="0"/>
          <p:nvPr/>
        </p:nvPicPr>
        <p:blipFill rotWithShape="1">
          <a:blip r:embed="rId5">
            <a:alphaModFix/>
          </a:blip>
          <a:srcRect/>
          <a:stretch/>
        </p:blipFill>
        <p:spPr>
          <a:xfrm>
            <a:off x="1303032" y="636359"/>
            <a:ext cx="249913" cy="117267"/>
          </a:xfrm>
          <a:prstGeom prst="rect">
            <a:avLst/>
          </a:prstGeom>
          <a:noFill/>
          <a:ln>
            <a:noFill/>
          </a:ln>
        </p:spPr>
      </p:pic>
      <p:pic>
        <p:nvPicPr>
          <p:cNvPr id="3895" name="Google Shape;3895;g3b75ff0c716_0_565"/>
          <p:cNvPicPr preferRelativeResize="0"/>
          <p:nvPr/>
        </p:nvPicPr>
        <p:blipFill rotWithShape="1">
          <a:blip r:embed="rId4">
            <a:alphaModFix/>
          </a:blip>
          <a:srcRect/>
          <a:stretch/>
        </p:blipFill>
        <p:spPr>
          <a:xfrm>
            <a:off x="1577402" y="638755"/>
            <a:ext cx="247568" cy="107156"/>
          </a:xfrm>
          <a:prstGeom prst="rect">
            <a:avLst/>
          </a:prstGeom>
          <a:noFill/>
          <a:ln>
            <a:noFill/>
          </a:ln>
        </p:spPr>
      </p:pic>
      <p:pic>
        <p:nvPicPr>
          <p:cNvPr id="3896" name="Google Shape;3896;g3b75ff0c716_0_565"/>
          <p:cNvPicPr preferRelativeResize="0"/>
          <p:nvPr/>
        </p:nvPicPr>
        <p:blipFill rotWithShape="1">
          <a:blip r:embed="rId5">
            <a:alphaModFix/>
          </a:blip>
          <a:srcRect/>
          <a:stretch/>
        </p:blipFill>
        <p:spPr>
          <a:xfrm>
            <a:off x="1912626" y="636360"/>
            <a:ext cx="249913" cy="117267"/>
          </a:xfrm>
          <a:prstGeom prst="rect">
            <a:avLst/>
          </a:prstGeom>
          <a:noFill/>
          <a:ln>
            <a:noFill/>
          </a:ln>
        </p:spPr>
      </p:pic>
      <p:sp>
        <p:nvSpPr>
          <p:cNvPr id="3897" name="Google Shape;3897;g3b75ff0c716_0_565"/>
          <p:cNvSpPr/>
          <p:nvPr/>
        </p:nvSpPr>
        <p:spPr>
          <a:xfrm>
            <a:off x="3577091" y="344354"/>
            <a:ext cx="187500" cy="45600"/>
          </a:xfrm>
          <a:prstGeom prst="rightArrow">
            <a:avLst>
              <a:gd name="adj1" fmla="val 50000"/>
              <a:gd name="adj2" fmla="val 50000"/>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98" name="Google Shape;3898;g3b75ff0c716_0_565"/>
          <p:cNvSpPr/>
          <p:nvPr/>
        </p:nvSpPr>
        <p:spPr>
          <a:xfrm>
            <a:off x="2172013" y="2524829"/>
            <a:ext cx="0" cy="41862"/>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9" name="Google Shape;3899;g3b75ff0c716_0_565"/>
          <p:cNvSpPr txBox="1"/>
          <p:nvPr/>
        </p:nvSpPr>
        <p:spPr>
          <a:xfrm>
            <a:off x="54070" y="785748"/>
            <a:ext cx="387300" cy="203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1</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2</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3</a:t>
            </a:r>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4</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5</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700" b="1" i="0" u="none" strike="noStrike" cap="none">
                <a:solidFill>
                  <a:srgbClr val="000000"/>
                </a:solidFill>
                <a:latin typeface="Arial"/>
                <a:ea typeface="Arial"/>
                <a:cs typeface="Arial"/>
                <a:sym typeface="Arial"/>
              </a:rPr>
              <a:t>Q</a:t>
            </a:r>
            <a:r>
              <a:rPr lang="en-US" sz="700" b="1" i="0" u="none" strike="noStrike" cap="none" baseline="-25000">
                <a:solidFill>
                  <a:srgbClr val="000000"/>
                </a:solidFill>
                <a:latin typeface="Arial"/>
                <a:ea typeface="Arial"/>
                <a:cs typeface="Arial"/>
                <a:sym typeface="Arial"/>
              </a:rPr>
              <a:t>6</a:t>
            </a:r>
            <a:endParaRPr sz="700" b="1" i="0" u="none" strike="noStrike" cap="none" baseline="-25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700" b="1" i="0" u="none" strike="noStrike" cap="none" baseline="-25000">
              <a:solidFill>
                <a:srgbClr val="000000"/>
              </a:solidFill>
              <a:latin typeface="Arial"/>
              <a:ea typeface="Arial"/>
              <a:cs typeface="Arial"/>
              <a:sym typeface="Arial"/>
            </a:endParaRPr>
          </a:p>
        </p:txBody>
      </p:sp>
      <p:sp>
        <p:nvSpPr>
          <p:cNvPr id="3900" name="Google Shape;3900;g3b75ff0c716_0_565"/>
          <p:cNvSpPr txBox="1"/>
          <p:nvPr/>
        </p:nvSpPr>
        <p:spPr>
          <a:xfrm>
            <a:off x="289408" y="1104116"/>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0        -8           13.74</a:t>
            </a:r>
            <a:endParaRPr sz="300" b="0" i="0" u="none" strike="noStrike" cap="none">
              <a:solidFill>
                <a:srgbClr val="000000"/>
              </a:solidFill>
              <a:latin typeface="Arial"/>
              <a:ea typeface="Arial"/>
              <a:cs typeface="Arial"/>
              <a:sym typeface="Arial"/>
            </a:endParaRPr>
          </a:p>
        </p:txBody>
      </p:sp>
      <p:sp>
        <p:nvSpPr>
          <p:cNvPr id="3901" name="Google Shape;3901;g3b75ff0c716_0_565"/>
          <p:cNvSpPr txBox="1"/>
          <p:nvPr/>
        </p:nvSpPr>
        <p:spPr>
          <a:xfrm>
            <a:off x="309839" y="143479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6.24        0        </a:t>
            </a:r>
            <a:r>
              <a:rPr lang="en-US" sz="800" b="1" i="0" u="none" strike="noStrike" cap="none">
                <a:solidFill>
                  <a:schemeClr val="dk1"/>
                </a:solidFill>
                <a:latin typeface="Calibri"/>
                <a:ea typeface="Calibri"/>
                <a:cs typeface="Calibri"/>
                <a:sym typeface="Calibri"/>
              </a:rPr>
              <a:t>9</a:t>
            </a:r>
            <a:r>
              <a:rPr lang="en-US" sz="800" b="0" i="0" u="none" strike="noStrike" cap="none">
                <a:solidFill>
                  <a:schemeClr val="dk1"/>
                </a:solidFill>
                <a:latin typeface="Calibri"/>
                <a:ea typeface="Calibri"/>
                <a:cs typeface="Calibri"/>
                <a:sym typeface="Calibri"/>
              </a:rPr>
              <a:t>           13.74</a:t>
            </a:r>
            <a:endParaRPr sz="300" b="0" i="0" u="none" strike="noStrike" cap="none">
              <a:solidFill>
                <a:srgbClr val="000000"/>
              </a:solidFill>
              <a:latin typeface="Arial"/>
              <a:ea typeface="Arial"/>
              <a:cs typeface="Arial"/>
              <a:sym typeface="Arial"/>
            </a:endParaRPr>
          </a:p>
        </p:txBody>
      </p:sp>
      <p:sp>
        <p:nvSpPr>
          <p:cNvPr id="3902" name="Google Shape;3902;g3b75ff0c716_0_565"/>
          <p:cNvSpPr/>
          <p:nvPr/>
        </p:nvSpPr>
        <p:spPr>
          <a:xfrm>
            <a:off x="309839" y="16442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903" name="Google Shape;3903;g3b75ff0c716_0_565"/>
          <p:cNvCxnSpPr/>
          <p:nvPr/>
        </p:nvCxnSpPr>
        <p:spPr>
          <a:xfrm>
            <a:off x="910106" y="1644225"/>
            <a:ext cx="0" cy="225300"/>
          </a:xfrm>
          <a:prstGeom prst="straightConnector1">
            <a:avLst/>
          </a:prstGeom>
          <a:noFill/>
          <a:ln w="9525" cap="flat" cmpd="sng">
            <a:solidFill>
              <a:schemeClr val="dk1"/>
            </a:solidFill>
            <a:prstDash val="solid"/>
            <a:round/>
            <a:headEnd type="none" w="sm" len="sm"/>
            <a:tailEnd type="none" w="sm" len="sm"/>
          </a:ln>
        </p:spPr>
      </p:cxnSp>
      <p:cxnSp>
        <p:nvCxnSpPr>
          <p:cNvPr id="3904" name="Google Shape;3904;g3b75ff0c716_0_565"/>
          <p:cNvCxnSpPr/>
          <p:nvPr/>
        </p:nvCxnSpPr>
        <p:spPr>
          <a:xfrm>
            <a:off x="1566089" y="1650852"/>
            <a:ext cx="0" cy="225300"/>
          </a:xfrm>
          <a:prstGeom prst="straightConnector1">
            <a:avLst/>
          </a:prstGeom>
          <a:noFill/>
          <a:ln w="9525" cap="flat" cmpd="sng">
            <a:solidFill>
              <a:schemeClr val="dk1"/>
            </a:solidFill>
            <a:prstDash val="solid"/>
            <a:round/>
            <a:headEnd type="none" w="sm" len="sm"/>
            <a:tailEnd type="none" w="sm" len="sm"/>
          </a:ln>
        </p:spPr>
      </p:cxnSp>
      <p:sp>
        <p:nvSpPr>
          <p:cNvPr id="3905" name="Google Shape;3905;g3b75ff0c716_0_565"/>
          <p:cNvSpPr txBox="1"/>
          <p:nvPr/>
        </p:nvSpPr>
        <p:spPr>
          <a:xfrm>
            <a:off x="309839" y="165704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a:t>
            </a:r>
            <a:r>
              <a:rPr lang="en-US" sz="800" b="1" i="0" u="none" strike="noStrike" cap="none">
                <a:solidFill>
                  <a:schemeClr val="dk1"/>
                </a:solidFill>
                <a:latin typeface="Calibri"/>
                <a:ea typeface="Calibri"/>
                <a:cs typeface="Calibri"/>
                <a:sym typeface="Calibri"/>
              </a:rPr>
              <a:t>12.9</a:t>
            </a:r>
            <a:r>
              <a:rPr lang="en-US" sz="800" b="0" i="0" u="none" strike="noStrike" cap="none">
                <a:solidFill>
                  <a:schemeClr val="dk1"/>
                </a:solidFill>
                <a:latin typeface="Calibri"/>
                <a:ea typeface="Calibri"/>
                <a:cs typeface="Calibri"/>
                <a:sym typeface="Calibri"/>
              </a:rPr>
              <a:t>      9            </a:t>
            </a:r>
            <a:r>
              <a:rPr lang="en-US" sz="800" b="1" i="0" u="none" strike="noStrike" cap="none">
                <a:solidFill>
                  <a:schemeClr val="dk1"/>
                </a:solidFill>
                <a:latin typeface="Calibri"/>
                <a:ea typeface="Calibri"/>
                <a:cs typeface="Calibri"/>
                <a:sym typeface="Calibri"/>
              </a:rPr>
              <a:t>15.71</a:t>
            </a:r>
            <a:endParaRPr sz="300" b="1" i="0" u="none" strike="noStrike" cap="none">
              <a:solidFill>
                <a:srgbClr val="000000"/>
              </a:solidFill>
              <a:latin typeface="Arial"/>
              <a:ea typeface="Arial"/>
              <a:cs typeface="Arial"/>
              <a:sym typeface="Arial"/>
            </a:endParaRPr>
          </a:p>
        </p:txBody>
      </p:sp>
      <p:sp>
        <p:nvSpPr>
          <p:cNvPr id="3906" name="Google Shape;3906;g3b75ff0c716_0_565"/>
          <p:cNvSpPr/>
          <p:nvPr/>
        </p:nvSpPr>
        <p:spPr>
          <a:xfrm>
            <a:off x="309839" y="18728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907" name="Google Shape;3907;g3b75ff0c716_0_565"/>
          <p:cNvCxnSpPr/>
          <p:nvPr/>
        </p:nvCxnSpPr>
        <p:spPr>
          <a:xfrm>
            <a:off x="910106" y="1872825"/>
            <a:ext cx="0" cy="225300"/>
          </a:xfrm>
          <a:prstGeom prst="straightConnector1">
            <a:avLst/>
          </a:prstGeom>
          <a:noFill/>
          <a:ln w="9525" cap="flat" cmpd="sng">
            <a:solidFill>
              <a:schemeClr val="dk1"/>
            </a:solidFill>
            <a:prstDash val="solid"/>
            <a:round/>
            <a:headEnd type="none" w="sm" len="sm"/>
            <a:tailEnd type="none" w="sm" len="sm"/>
          </a:ln>
        </p:spPr>
      </p:cxnSp>
      <p:cxnSp>
        <p:nvCxnSpPr>
          <p:cNvPr id="3908" name="Google Shape;3908;g3b75ff0c716_0_565"/>
          <p:cNvCxnSpPr/>
          <p:nvPr/>
        </p:nvCxnSpPr>
        <p:spPr>
          <a:xfrm>
            <a:off x="1566089" y="1879452"/>
            <a:ext cx="0" cy="225300"/>
          </a:xfrm>
          <a:prstGeom prst="straightConnector1">
            <a:avLst/>
          </a:prstGeom>
          <a:noFill/>
          <a:ln w="9525" cap="flat" cmpd="sng">
            <a:solidFill>
              <a:schemeClr val="dk1"/>
            </a:solidFill>
            <a:prstDash val="solid"/>
            <a:round/>
            <a:headEnd type="none" w="sm" len="sm"/>
            <a:tailEnd type="none" w="sm" len="sm"/>
          </a:ln>
        </p:spPr>
      </p:cxnSp>
      <p:sp>
        <p:nvSpPr>
          <p:cNvPr id="3909" name="Google Shape;3909;g3b75ff0c716_0_565"/>
          <p:cNvSpPr txBox="1"/>
          <p:nvPr/>
        </p:nvSpPr>
        <p:spPr>
          <a:xfrm>
            <a:off x="309839" y="1885645"/>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6.24    12.9      9            </a:t>
            </a:r>
            <a:r>
              <a:rPr lang="en-US" sz="800" b="1" i="0" u="none" strike="noStrike" cap="none">
                <a:solidFill>
                  <a:schemeClr val="dk1"/>
                </a:solidFill>
                <a:latin typeface="Calibri"/>
                <a:ea typeface="Calibri"/>
                <a:cs typeface="Calibri"/>
                <a:sym typeface="Calibri"/>
              </a:rPr>
              <a:t>10.57</a:t>
            </a:r>
            <a:endParaRPr sz="300" b="0" i="0" u="none" strike="noStrike" cap="none">
              <a:solidFill>
                <a:srgbClr val="000000"/>
              </a:solidFill>
              <a:latin typeface="Arial"/>
              <a:ea typeface="Arial"/>
              <a:cs typeface="Arial"/>
              <a:sym typeface="Arial"/>
            </a:endParaRPr>
          </a:p>
        </p:txBody>
      </p:sp>
      <p:sp>
        <p:nvSpPr>
          <p:cNvPr id="3910" name="Google Shape;3910;g3b75ff0c716_0_565"/>
          <p:cNvSpPr/>
          <p:nvPr/>
        </p:nvSpPr>
        <p:spPr>
          <a:xfrm>
            <a:off x="310939" y="2088820"/>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911" name="Google Shape;3911;g3b75ff0c716_0_565"/>
          <p:cNvCxnSpPr/>
          <p:nvPr/>
        </p:nvCxnSpPr>
        <p:spPr>
          <a:xfrm>
            <a:off x="911206" y="2088820"/>
            <a:ext cx="0" cy="225300"/>
          </a:xfrm>
          <a:prstGeom prst="straightConnector1">
            <a:avLst/>
          </a:prstGeom>
          <a:noFill/>
          <a:ln w="9525" cap="flat" cmpd="sng">
            <a:solidFill>
              <a:schemeClr val="dk1"/>
            </a:solidFill>
            <a:prstDash val="solid"/>
            <a:round/>
            <a:headEnd type="none" w="sm" len="sm"/>
            <a:tailEnd type="none" w="sm" len="sm"/>
          </a:ln>
        </p:spPr>
      </p:cxnSp>
      <p:cxnSp>
        <p:nvCxnSpPr>
          <p:cNvPr id="3912" name="Google Shape;3912;g3b75ff0c716_0_565"/>
          <p:cNvCxnSpPr/>
          <p:nvPr/>
        </p:nvCxnSpPr>
        <p:spPr>
          <a:xfrm>
            <a:off x="1567189" y="2095447"/>
            <a:ext cx="0" cy="225300"/>
          </a:xfrm>
          <a:prstGeom prst="straightConnector1">
            <a:avLst/>
          </a:prstGeom>
          <a:noFill/>
          <a:ln w="9525" cap="flat" cmpd="sng">
            <a:solidFill>
              <a:schemeClr val="dk1"/>
            </a:solidFill>
            <a:prstDash val="solid"/>
            <a:round/>
            <a:headEnd type="none" w="sm" len="sm"/>
            <a:tailEnd type="none" w="sm" len="sm"/>
          </a:ln>
        </p:spPr>
      </p:cxnSp>
      <p:sp>
        <p:nvSpPr>
          <p:cNvPr id="3913" name="Google Shape;3913;g3b75ff0c716_0_565"/>
          <p:cNvSpPr txBox="1"/>
          <p:nvPr/>
        </p:nvSpPr>
        <p:spPr>
          <a:xfrm>
            <a:off x="310939" y="2101640"/>
            <a:ext cx="19290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latin typeface="Calibri"/>
                <a:ea typeface="Calibri"/>
                <a:cs typeface="Calibri"/>
                <a:sym typeface="Calibri"/>
              </a:rPr>
              <a:t> 6.24    12.9      9            </a:t>
            </a:r>
            <a:r>
              <a:rPr lang="en-US" sz="800" b="1" i="0" u="none" strike="noStrike" cap="none">
                <a:solidFill>
                  <a:schemeClr val="dk1"/>
                </a:solidFill>
                <a:latin typeface="Calibri"/>
                <a:ea typeface="Calibri"/>
                <a:cs typeface="Calibri"/>
                <a:sym typeface="Calibri"/>
              </a:rPr>
              <a:t>13.7</a:t>
            </a:r>
            <a:endParaRPr sz="300" b="0" i="0" u="none" strike="noStrike" cap="none">
              <a:solidFill>
                <a:srgbClr val="000000"/>
              </a:solidFill>
              <a:latin typeface="Arial"/>
              <a:ea typeface="Arial"/>
              <a:cs typeface="Arial"/>
              <a:sym typeface="Arial"/>
            </a:endParaRPr>
          </a:p>
        </p:txBody>
      </p:sp>
      <p:pic>
        <p:nvPicPr>
          <p:cNvPr id="3914" name="Google Shape;3914;g3b75ff0c716_0_565"/>
          <p:cNvPicPr preferRelativeResize="0"/>
          <p:nvPr/>
        </p:nvPicPr>
        <p:blipFill rotWithShape="1">
          <a:blip r:embed="rId8">
            <a:alphaModFix/>
          </a:blip>
          <a:srcRect/>
          <a:stretch/>
        </p:blipFill>
        <p:spPr>
          <a:xfrm>
            <a:off x="3797359" y="35192"/>
            <a:ext cx="1958532" cy="1060146"/>
          </a:xfrm>
          <a:prstGeom prst="rect">
            <a:avLst/>
          </a:prstGeom>
          <a:noFill/>
          <a:ln>
            <a:noFill/>
          </a:ln>
        </p:spPr>
      </p:pic>
      <p:sp>
        <p:nvSpPr>
          <p:cNvPr id="3915" name="Google Shape;3915;g3b75ff0c716_0_565"/>
          <p:cNvSpPr/>
          <p:nvPr/>
        </p:nvSpPr>
        <p:spPr>
          <a:xfrm>
            <a:off x="5365917" y="322469"/>
            <a:ext cx="4776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rgbClr val="000000"/>
                </a:solidFill>
                <a:latin typeface="Arial"/>
                <a:ea typeface="Arial"/>
                <a:cs typeface="Arial"/>
                <a:sym typeface="Arial"/>
              </a:rPr>
              <a:t>Ꜫ = 0.1</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γ = 0.9</a:t>
            </a:r>
            <a:endParaRPr/>
          </a:p>
          <a:p>
            <a:pPr marL="0" marR="0" lvl="0" indent="0" algn="l" rtl="0">
              <a:lnSpc>
                <a:spcPct val="100000"/>
              </a:lnSpc>
              <a:spcBef>
                <a:spcPts val="0"/>
              </a:spcBef>
              <a:spcAft>
                <a:spcPts val="0"/>
              </a:spcAft>
              <a:buNone/>
            </a:pPr>
            <a:r>
              <a:rPr lang="en-US" sz="600" b="1" i="0" u="none" strike="noStrike" cap="none">
                <a:solidFill>
                  <a:srgbClr val="000000"/>
                </a:solidFill>
                <a:latin typeface="Arial"/>
                <a:ea typeface="Arial"/>
                <a:cs typeface="Arial"/>
                <a:sym typeface="Arial"/>
              </a:rPr>
              <a:t>α  = 0.8</a:t>
            </a:r>
            <a:endParaRPr sz="600" b="1" i="0" u="none" strike="noStrike" cap="none">
              <a:solidFill>
                <a:srgbClr val="000000"/>
              </a:solidFill>
              <a:latin typeface="Arial"/>
              <a:ea typeface="Arial"/>
              <a:cs typeface="Arial"/>
              <a:sym typeface="Arial"/>
            </a:endParaRPr>
          </a:p>
        </p:txBody>
      </p:sp>
      <p:sp>
        <p:nvSpPr>
          <p:cNvPr id="3916" name="Google Shape;3916;g3b75ff0c716_0_565"/>
          <p:cNvSpPr/>
          <p:nvPr/>
        </p:nvSpPr>
        <p:spPr>
          <a:xfrm>
            <a:off x="2157689" y="16569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917" name="Google Shape;3917;g3b75ff0c716_0_565"/>
          <p:cNvCxnSpPr/>
          <p:nvPr/>
        </p:nvCxnSpPr>
        <p:spPr>
          <a:xfrm>
            <a:off x="2757956" y="1656925"/>
            <a:ext cx="0" cy="225300"/>
          </a:xfrm>
          <a:prstGeom prst="straightConnector1">
            <a:avLst/>
          </a:prstGeom>
          <a:noFill/>
          <a:ln w="9525" cap="flat" cmpd="sng">
            <a:solidFill>
              <a:schemeClr val="dk1"/>
            </a:solidFill>
            <a:prstDash val="solid"/>
            <a:round/>
            <a:headEnd type="none" w="sm" len="sm"/>
            <a:tailEnd type="none" w="sm" len="sm"/>
          </a:ln>
        </p:spPr>
      </p:cxnSp>
      <p:cxnSp>
        <p:nvCxnSpPr>
          <p:cNvPr id="3918" name="Google Shape;3918;g3b75ff0c716_0_565"/>
          <p:cNvCxnSpPr/>
          <p:nvPr/>
        </p:nvCxnSpPr>
        <p:spPr>
          <a:xfrm>
            <a:off x="3413939" y="1663552"/>
            <a:ext cx="0" cy="225300"/>
          </a:xfrm>
          <a:prstGeom prst="straightConnector1">
            <a:avLst/>
          </a:prstGeom>
          <a:noFill/>
          <a:ln w="9525" cap="flat" cmpd="sng">
            <a:solidFill>
              <a:schemeClr val="dk1"/>
            </a:solidFill>
            <a:prstDash val="solid"/>
            <a:round/>
            <a:headEnd type="none" w="sm" len="sm"/>
            <a:tailEnd type="none" w="sm" len="sm"/>
          </a:ln>
        </p:spPr>
      </p:cxnSp>
      <p:sp>
        <p:nvSpPr>
          <p:cNvPr id="3919" name="Google Shape;3919;g3b75ff0c716_0_565"/>
          <p:cNvSpPr txBox="1"/>
          <p:nvPr/>
        </p:nvSpPr>
        <p:spPr>
          <a:xfrm>
            <a:off x="2157689" y="1669745"/>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a:t>
            </a:r>
            <a:r>
              <a:rPr lang="en-US" sz="700" b="1" i="0" u="none" strike="noStrike" cap="none">
                <a:solidFill>
                  <a:srgbClr val="000000"/>
                </a:solidFill>
                <a:latin typeface="Arial"/>
                <a:ea typeface="Arial"/>
                <a:cs typeface="Arial"/>
                <a:sym typeface="Arial"/>
              </a:rPr>
              <a:t>15.87</a:t>
            </a:r>
            <a:r>
              <a:rPr lang="en-US" sz="700" b="0" i="0" u="none" strike="noStrike" cap="none">
                <a:solidFill>
                  <a:srgbClr val="000000"/>
                </a:solidFill>
                <a:latin typeface="Arial"/>
                <a:ea typeface="Arial"/>
                <a:cs typeface="Arial"/>
                <a:sym typeface="Arial"/>
              </a:rPr>
              <a:t> </a:t>
            </a:r>
            <a:endParaRPr sz="700" b="0" i="0" u="none" strike="noStrike" cap="none">
              <a:solidFill>
                <a:srgbClr val="000000"/>
              </a:solidFill>
              <a:latin typeface="Arial"/>
              <a:ea typeface="Arial"/>
              <a:cs typeface="Arial"/>
              <a:sym typeface="Arial"/>
            </a:endParaRPr>
          </a:p>
        </p:txBody>
      </p:sp>
      <p:sp>
        <p:nvSpPr>
          <p:cNvPr id="3920" name="Google Shape;3920;g3b75ff0c716_0_565"/>
          <p:cNvSpPr/>
          <p:nvPr/>
        </p:nvSpPr>
        <p:spPr>
          <a:xfrm>
            <a:off x="2157689" y="1885525"/>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921" name="Google Shape;3921;g3b75ff0c716_0_565"/>
          <p:cNvCxnSpPr/>
          <p:nvPr/>
        </p:nvCxnSpPr>
        <p:spPr>
          <a:xfrm>
            <a:off x="2757956" y="1885525"/>
            <a:ext cx="0" cy="225300"/>
          </a:xfrm>
          <a:prstGeom prst="straightConnector1">
            <a:avLst/>
          </a:prstGeom>
          <a:noFill/>
          <a:ln w="9525" cap="flat" cmpd="sng">
            <a:solidFill>
              <a:schemeClr val="dk1"/>
            </a:solidFill>
            <a:prstDash val="solid"/>
            <a:round/>
            <a:headEnd type="none" w="sm" len="sm"/>
            <a:tailEnd type="none" w="sm" len="sm"/>
          </a:ln>
        </p:spPr>
      </p:cxnSp>
      <p:cxnSp>
        <p:nvCxnSpPr>
          <p:cNvPr id="3922" name="Google Shape;3922;g3b75ff0c716_0_565"/>
          <p:cNvCxnSpPr/>
          <p:nvPr/>
        </p:nvCxnSpPr>
        <p:spPr>
          <a:xfrm>
            <a:off x="3413939" y="1892152"/>
            <a:ext cx="0" cy="225300"/>
          </a:xfrm>
          <a:prstGeom prst="straightConnector1">
            <a:avLst/>
          </a:prstGeom>
          <a:noFill/>
          <a:ln w="9525" cap="flat" cmpd="sng">
            <a:solidFill>
              <a:schemeClr val="dk1"/>
            </a:solidFill>
            <a:prstDash val="solid"/>
            <a:round/>
            <a:headEnd type="none" w="sm" len="sm"/>
            <a:tailEnd type="none" w="sm" len="sm"/>
          </a:ln>
        </p:spPr>
      </p:cxnSp>
      <p:sp>
        <p:nvSpPr>
          <p:cNvPr id="3923" name="Google Shape;3923;g3b75ff0c716_0_565"/>
          <p:cNvSpPr txBox="1"/>
          <p:nvPr/>
        </p:nvSpPr>
        <p:spPr>
          <a:xfrm>
            <a:off x="2157689" y="1898345"/>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18.3        1        5         15.87 </a:t>
            </a:r>
            <a:endParaRPr sz="700" b="0" i="0" u="none" strike="noStrike" cap="none">
              <a:solidFill>
                <a:srgbClr val="000000"/>
              </a:solidFill>
              <a:latin typeface="Arial"/>
              <a:ea typeface="Arial"/>
              <a:cs typeface="Arial"/>
              <a:sym typeface="Arial"/>
            </a:endParaRPr>
          </a:p>
        </p:txBody>
      </p:sp>
      <p:sp>
        <p:nvSpPr>
          <p:cNvPr id="3924" name="Google Shape;3924;g3b75ff0c716_0_565"/>
          <p:cNvSpPr/>
          <p:nvPr/>
        </p:nvSpPr>
        <p:spPr>
          <a:xfrm>
            <a:off x="2158789" y="2101520"/>
            <a:ext cx="1852800" cy="2217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500" b="0" i="0" u="none" strike="noStrike" cap="none">
              <a:solidFill>
                <a:schemeClr val="lt1"/>
              </a:solidFill>
              <a:latin typeface="Calibri"/>
              <a:ea typeface="Calibri"/>
              <a:cs typeface="Calibri"/>
              <a:sym typeface="Calibri"/>
            </a:endParaRPr>
          </a:p>
        </p:txBody>
      </p:sp>
      <p:cxnSp>
        <p:nvCxnSpPr>
          <p:cNvPr id="3925" name="Google Shape;3925;g3b75ff0c716_0_565"/>
          <p:cNvCxnSpPr/>
          <p:nvPr/>
        </p:nvCxnSpPr>
        <p:spPr>
          <a:xfrm>
            <a:off x="2759056" y="2101520"/>
            <a:ext cx="0" cy="225300"/>
          </a:xfrm>
          <a:prstGeom prst="straightConnector1">
            <a:avLst/>
          </a:prstGeom>
          <a:noFill/>
          <a:ln w="9525" cap="flat" cmpd="sng">
            <a:solidFill>
              <a:schemeClr val="dk1"/>
            </a:solidFill>
            <a:prstDash val="solid"/>
            <a:round/>
            <a:headEnd type="none" w="sm" len="sm"/>
            <a:tailEnd type="none" w="sm" len="sm"/>
          </a:ln>
        </p:spPr>
      </p:cxnSp>
      <p:cxnSp>
        <p:nvCxnSpPr>
          <p:cNvPr id="3926" name="Google Shape;3926;g3b75ff0c716_0_565"/>
          <p:cNvCxnSpPr/>
          <p:nvPr/>
        </p:nvCxnSpPr>
        <p:spPr>
          <a:xfrm>
            <a:off x="3415039" y="2108147"/>
            <a:ext cx="0" cy="225300"/>
          </a:xfrm>
          <a:prstGeom prst="straightConnector1">
            <a:avLst/>
          </a:prstGeom>
          <a:noFill/>
          <a:ln w="9525" cap="flat" cmpd="sng">
            <a:solidFill>
              <a:schemeClr val="dk1"/>
            </a:solidFill>
            <a:prstDash val="solid"/>
            <a:round/>
            <a:headEnd type="none" w="sm" len="sm"/>
            <a:tailEnd type="none" w="sm" len="sm"/>
          </a:ln>
        </p:spPr>
      </p:cxnSp>
      <p:sp>
        <p:nvSpPr>
          <p:cNvPr id="3927" name="Google Shape;3927;g3b75ff0c716_0_565"/>
          <p:cNvSpPr txBox="1"/>
          <p:nvPr/>
        </p:nvSpPr>
        <p:spPr>
          <a:xfrm>
            <a:off x="2158789" y="2114340"/>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18.3        1        5         15.87 </a:t>
            </a:r>
            <a:endParaRPr sz="700" b="0" i="0" u="none" strike="noStrike" cap="none">
              <a:solidFill>
                <a:srgbClr val="000000"/>
              </a:solidFill>
              <a:latin typeface="Arial"/>
              <a:ea typeface="Arial"/>
              <a:cs typeface="Arial"/>
              <a:sym typeface="Arial"/>
            </a:endParaRPr>
          </a:p>
        </p:txBody>
      </p:sp>
      <p:sp>
        <p:nvSpPr>
          <p:cNvPr id="3928" name="Google Shape;3928;g3b75ff0c716_0_565"/>
          <p:cNvSpPr txBox="1"/>
          <p:nvPr/>
        </p:nvSpPr>
        <p:spPr>
          <a:xfrm>
            <a:off x="2157688" y="1429163"/>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18.3        1        5         16.89 </a:t>
            </a:r>
            <a:endParaRPr sz="700" b="0" i="0" u="none" strike="noStrike" cap="none">
              <a:solidFill>
                <a:srgbClr val="000000"/>
              </a:solidFill>
              <a:latin typeface="Arial"/>
              <a:ea typeface="Arial"/>
              <a:cs typeface="Arial"/>
              <a:sym typeface="Arial"/>
            </a:endParaRPr>
          </a:p>
        </p:txBody>
      </p:sp>
      <p:sp>
        <p:nvSpPr>
          <p:cNvPr id="3929" name="Google Shape;3929;g3b75ff0c716_0_565"/>
          <p:cNvSpPr txBox="1"/>
          <p:nvPr/>
        </p:nvSpPr>
        <p:spPr>
          <a:xfrm>
            <a:off x="2153082" y="111650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18.3        1        5          15 </a:t>
            </a:r>
            <a:endParaRPr sz="700" b="0" i="0" u="none" strike="noStrike" cap="none">
              <a:solidFill>
                <a:srgbClr val="000000"/>
              </a:solidFill>
              <a:latin typeface="Arial"/>
              <a:ea typeface="Arial"/>
              <a:cs typeface="Arial"/>
              <a:sym typeface="Arial"/>
            </a:endParaRPr>
          </a:p>
        </p:txBody>
      </p:sp>
      <p:sp>
        <p:nvSpPr>
          <p:cNvPr id="3930" name="Google Shape;3930;g3b75ff0c716_0_565"/>
          <p:cNvSpPr txBox="1"/>
          <p:nvPr/>
        </p:nvSpPr>
        <p:spPr>
          <a:xfrm>
            <a:off x="2140174" y="800486"/>
            <a:ext cx="19290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Arial"/>
                <a:ea typeface="Arial"/>
                <a:cs typeface="Arial"/>
                <a:sym typeface="Arial"/>
              </a:rPr>
              <a:t>5             1        5           15 </a:t>
            </a:r>
            <a:endParaRPr sz="700" b="0" i="0" u="none" strike="noStrike" cap="none">
              <a:solidFill>
                <a:srgbClr val="000000"/>
              </a:solidFill>
              <a:latin typeface="Arial"/>
              <a:ea typeface="Arial"/>
              <a:cs typeface="Arial"/>
              <a:sym typeface="Arial"/>
            </a:endParaRPr>
          </a:p>
        </p:txBody>
      </p:sp>
      <p:pic>
        <p:nvPicPr>
          <p:cNvPr id="3931" name="Google Shape;3931;g3b75ff0c716_0_565"/>
          <p:cNvPicPr preferRelativeResize="0"/>
          <p:nvPr/>
        </p:nvPicPr>
        <p:blipFill rotWithShape="1">
          <a:blip r:embed="rId9">
            <a:alphaModFix/>
          </a:blip>
          <a:srcRect/>
          <a:stretch/>
        </p:blipFill>
        <p:spPr>
          <a:xfrm>
            <a:off x="4126336" y="1181424"/>
            <a:ext cx="1562241" cy="189418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14"/>
                                        </p:tgtEl>
                                        <p:attrNameLst>
                                          <p:attrName>style.visibility</p:attrName>
                                        </p:attrNameLst>
                                      </p:cBhvr>
                                      <p:to>
                                        <p:strVal val="visible"/>
                                      </p:to>
                                    </p:set>
                                    <p:animEffect transition="in" filter="fade">
                                      <p:cBhvr>
                                        <p:cTn id="7" dur="500"/>
                                        <p:tgtEl>
                                          <p:spTgt spid="3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3935"/>
        <p:cNvGrpSpPr/>
        <p:nvPr/>
      </p:nvGrpSpPr>
      <p:grpSpPr>
        <a:xfrm>
          <a:off x="0" y="0"/>
          <a:ext cx="0" cy="0"/>
          <a:chOff x="0" y="0"/>
          <a:chExt cx="0" cy="0"/>
        </a:xfrm>
      </p:grpSpPr>
      <p:sp>
        <p:nvSpPr>
          <p:cNvPr id="3936" name="Google Shape;3936;g3b75ff0c716_0_648"/>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DP 		TD 	     MC </a:t>
            </a:r>
            <a:endParaRPr/>
          </a:p>
        </p:txBody>
      </p:sp>
      <p:grpSp>
        <p:nvGrpSpPr>
          <p:cNvPr id="3937" name="Google Shape;3937;g3b75ff0c716_0_648"/>
          <p:cNvGrpSpPr/>
          <p:nvPr/>
        </p:nvGrpSpPr>
        <p:grpSpPr>
          <a:xfrm>
            <a:off x="0" y="3109250"/>
            <a:ext cx="5760261" cy="92075"/>
            <a:chOff x="0" y="3109250"/>
            <a:chExt cx="5760261" cy="92075"/>
          </a:xfrm>
        </p:grpSpPr>
        <p:sp>
          <p:nvSpPr>
            <p:cNvPr id="3938" name="Google Shape;3938;g3b75ff0c716_0_64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9" name="Google Shape;3939;g3b75ff0c716_0_64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0" name="Google Shape;3940;g3b75ff0c716_0_64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941" name="Google Shape;3941;g3b75ff0c716_0_648"/>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942" name="Google Shape;3942;g3b75ff0c716_0_64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99</a:t>
            </a:fld>
            <a:endParaRPr/>
          </a:p>
        </p:txBody>
      </p:sp>
      <p:sp>
        <p:nvSpPr>
          <p:cNvPr id="3943" name="Google Shape;3943;g3b75ff0c716_0_648"/>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944" name="Google Shape;3944;g3b75ff0c716_0_648"/>
          <p:cNvPicPr preferRelativeResize="0"/>
          <p:nvPr/>
        </p:nvPicPr>
        <p:blipFill rotWithShape="1">
          <a:blip r:embed="rId3">
            <a:alphaModFix/>
          </a:blip>
          <a:srcRect/>
          <a:stretch/>
        </p:blipFill>
        <p:spPr>
          <a:xfrm>
            <a:off x="498602" y="680207"/>
            <a:ext cx="1505730" cy="1123193"/>
          </a:xfrm>
          <a:prstGeom prst="rect">
            <a:avLst/>
          </a:prstGeom>
          <a:noFill/>
          <a:ln>
            <a:noFill/>
          </a:ln>
        </p:spPr>
      </p:pic>
      <p:pic>
        <p:nvPicPr>
          <p:cNvPr id="3945" name="Google Shape;3945;g3b75ff0c716_0_648"/>
          <p:cNvPicPr preferRelativeResize="0"/>
          <p:nvPr/>
        </p:nvPicPr>
        <p:blipFill rotWithShape="1">
          <a:blip r:embed="rId4">
            <a:alphaModFix/>
          </a:blip>
          <a:srcRect/>
          <a:stretch/>
        </p:blipFill>
        <p:spPr>
          <a:xfrm>
            <a:off x="12512" y="2349019"/>
            <a:ext cx="2813000" cy="262970"/>
          </a:xfrm>
          <a:prstGeom prst="rect">
            <a:avLst/>
          </a:prstGeom>
          <a:noFill/>
          <a:ln w="9525" cap="flat" cmpd="sng">
            <a:solidFill>
              <a:schemeClr val="dk1"/>
            </a:solidFill>
            <a:prstDash val="solid"/>
            <a:round/>
            <a:headEnd type="none" w="sm" len="sm"/>
            <a:tailEnd type="none" w="sm" len="sm"/>
          </a:ln>
        </p:spPr>
      </p:pic>
      <p:pic>
        <p:nvPicPr>
          <p:cNvPr id="3946" name="Google Shape;3946;g3b75ff0c716_0_648"/>
          <p:cNvPicPr preferRelativeResize="0"/>
          <p:nvPr/>
        </p:nvPicPr>
        <p:blipFill rotWithShape="1">
          <a:blip r:embed="rId5">
            <a:alphaModFix/>
          </a:blip>
          <a:srcRect/>
          <a:stretch/>
        </p:blipFill>
        <p:spPr>
          <a:xfrm>
            <a:off x="4094018" y="816671"/>
            <a:ext cx="258238" cy="1950375"/>
          </a:xfrm>
          <a:prstGeom prst="rect">
            <a:avLst/>
          </a:prstGeom>
          <a:noFill/>
          <a:ln>
            <a:noFill/>
          </a:ln>
        </p:spPr>
      </p:pic>
      <p:pic>
        <p:nvPicPr>
          <p:cNvPr id="3947" name="Google Shape;3947;g3b75ff0c716_0_648"/>
          <p:cNvPicPr preferRelativeResize="0"/>
          <p:nvPr/>
        </p:nvPicPr>
        <p:blipFill rotWithShape="1">
          <a:blip r:embed="rId6">
            <a:alphaModFix/>
          </a:blip>
          <a:srcRect/>
          <a:stretch/>
        </p:blipFill>
        <p:spPr>
          <a:xfrm>
            <a:off x="4271191" y="2331942"/>
            <a:ext cx="1259660" cy="289519"/>
          </a:xfrm>
          <a:prstGeom prst="rect">
            <a:avLst/>
          </a:prstGeom>
          <a:noFill/>
          <a:ln w="9525" cap="flat" cmpd="sng">
            <a:solidFill>
              <a:schemeClr val="dk1"/>
            </a:solidFill>
            <a:prstDash val="solid"/>
            <a:round/>
            <a:headEnd type="none" w="sm" len="sm"/>
            <a:tailEnd type="none" w="sm" len="sm"/>
          </a:ln>
        </p:spPr>
      </p:pic>
      <p:sp>
        <p:nvSpPr>
          <p:cNvPr id="3948" name="Google Shape;3948;g3b75ff0c716_0_648"/>
          <p:cNvSpPr txBox="1"/>
          <p:nvPr/>
        </p:nvSpPr>
        <p:spPr>
          <a:xfrm>
            <a:off x="3892740" y="728733"/>
            <a:ext cx="402600" cy="203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r>
              <a:rPr lang="en-US" sz="900" b="1" i="1" u="none" strike="noStrike" cap="none" baseline="-25000">
                <a:solidFill>
                  <a:srgbClr val="000000"/>
                </a:solidFill>
                <a:latin typeface="Arial"/>
                <a:ea typeface="Arial"/>
                <a:cs typeface="Arial"/>
                <a:sym typeface="Arial"/>
              </a:rPr>
              <a:t>T</a:t>
            </a:r>
            <a:r>
              <a:rPr lang="en-US" sz="900" b="1" i="1" u="none" strike="noStrike" cap="none">
                <a:solidFill>
                  <a:srgbClr val="000000"/>
                </a:solidFill>
                <a:latin typeface="Arial"/>
                <a:ea typeface="Arial"/>
                <a:cs typeface="Arial"/>
                <a:sym typeface="Arial"/>
              </a:rPr>
              <a:t> </a:t>
            </a:r>
            <a:endParaRPr sz="900" b="1" i="1" u="none" strike="noStrike" cap="none">
              <a:solidFill>
                <a:srgbClr val="000000"/>
              </a:solidFill>
              <a:latin typeface="Arial"/>
              <a:ea typeface="Arial"/>
              <a:cs typeface="Arial"/>
              <a:sym typeface="Arial"/>
            </a:endParaRPr>
          </a:p>
        </p:txBody>
      </p:sp>
      <p:pic>
        <p:nvPicPr>
          <p:cNvPr id="3949" name="Google Shape;3949;g3b75ff0c716_0_648"/>
          <p:cNvPicPr preferRelativeResize="0"/>
          <p:nvPr/>
        </p:nvPicPr>
        <p:blipFill rotWithShape="1">
          <a:blip r:embed="rId7">
            <a:alphaModFix/>
          </a:blip>
          <a:srcRect/>
          <a:stretch/>
        </p:blipFill>
        <p:spPr>
          <a:xfrm>
            <a:off x="2693154" y="668857"/>
            <a:ext cx="444538" cy="1029846"/>
          </a:xfrm>
          <a:prstGeom prst="rect">
            <a:avLst/>
          </a:prstGeom>
          <a:noFill/>
          <a:ln>
            <a:noFill/>
          </a:ln>
        </p:spPr>
      </p:pic>
      <p:pic>
        <p:nvPicPr>
          <p:cNvPr id="3950" name="Google Shape;3950;g3b75ff0c716_0_648"/>
          <p:cNvPicPr preferRelativeResize="0"/>
          <p:nvPr/>
        </p:nvPicPr>
        <p:blipFill rotWithShape="1">
          <a:blip r:embed="rId8">
            <a:alphaModFix/>
          </a:blip>
          <a:srcRect/>
          <a:stretch/>
        </p:blipFill>
        <p:spPr>
          <a:xfrm>
            <a:off x="2203450" y="499477"/>
            <a:ext cx="1639815" cy="140958"/>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3954"/>
        <p:cNvGrpSpPr/>
        <p:nvPr/>
      </p:nvGrpSpPr>
      <p:grpSpPr>
        <a:xfrm>
          <a:off x="0" y="0"/>
          <a:ext cx="0" cy="0"/>
          <a:chOff x="0" y="0"/>
          <a:chExt cx="0" cy="0"/>
        </a:xfrm>
      </p:grpSpPr>
      <p:sp>
        <p:nvSpPr>
          <p:cNvPr id="3955" name="Google Shape;3955;g3b75ff0c716_0_666"/>
          <p:cNvSpPr txBox="1">
            <a:spLocks noGrp="1"/>
          </p:cNvSpPr>
          <p:nvPr>
            <p:ph type="title"/>
          </p:nvPr>
        </p:nvSpPr>
        <p:spPr>
          <a:xfrm>
            <a:off x="82600" y="109545"/>
            <a:ext cx="4943400" cy="27690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SzPts val="1400"/>
              <a:buNone/>
            </a:pPr>
            <a:r>
              <a:rPr lang="en-US">
                <a:solidFill>
                  <a:srgbClr val="FFFFFF"/>
                </a:solidFill>
              </a:rPr>
              <a:t>	 DP 		TD 	                   MC </a:t>
            </a:r>
            <a:endParaRPr/>
          </a:p>
        </p:txBody>
      </p:sp>
      <p:grpSp>
        <p:nvGrpSpPr>
          <p:cNvPr id="3956" name="Google Shape;3956;g3b75ff0c716_0_666"/>
          <p:cNvGrpSpPr/>
          <p:nvPr/>
        </p:nvGrpSpPr>
        <p:grpSpPr>
          <a:xfrm>
            <a:off x="0" y="3109250"/>
            <a:ext cx="5760261" cy="92075"/>
            <a:chOff x="0" y="3109250"/>
            <a:chExt cx="5760261" cy="92075"/>
          </a:xfrm>
        </p:grpSpPr>
        <p:sp>
          <p:nvSpPr>
            <p:cNvPr id="3957" name="Google Shape;3957;g3b75ff0c716_0_66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8" name="Google Shape;3958;g3b75ff0c716_0_66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9" name="Google Shape;3959;g3b75ff0c716_0_66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960" name="Google Shape;3960;g3b75ff0c716_0_666"/>
          <p:cNvSpPr txBox="1">
            <a:spLocks noGrp="1"/>
          </p:cNvSpPr>
          <p:nvPr>
            <p:ph type="ftr" idx="11"/>
          </p:nvPr>
        </p:nvSpPr>
        <p:spPr>
          <a:xfrm>
            <a:off x="572122" y="3137672"/>
            <a:ext cx="7353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SzPts val="1400"/>
              <a:buNone/>
            </a:pPr>
            <a:r>
              <a:rPr lang="en-US"/>
              <a:t>BITS P</a:t>
            </a:r>
            <a:r>
              <a:rPr lang="en-US" cap="small"/>
              <a:t>ilani</a:t>
            </a:r>
            <a:r>
              <a:rPr lang="en-US"/>
              <a:t> WILP</a:t>
            </a:r>
            <a:endParaRPr/>
          </a:p>
        </p:txBody>
      </p:sp>
      <p:sp>
        <p:nvSpPr>
          <p:cNvPr id="3961" name="Google Shape;3961;g3b75ff0c716_0_66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spcBef>
                <a:spcPts val="0"/>
              </a:spcBef>
              <a:spcAft>
                <a:spcPts val="0"/>
              </a:spcAft>
              <a:buClr>
                <a:srgbClr val="000000"/>
              </a:buClr>
              <a:buSzPts val="600"/>
              <a:buFont typeface="Arial"/>
              <a:buNone/>
            </a:pPr>
            <a:fld id="{00000000-1234-1234-1234-123412341234}" type="slidenum">
              <a:rPr lang="en-US"/>
              <a:t>100</a:t>
            </a:fld>
            <a:endParaRPr/>
          </a:p>
        </p:txBody>
      </p:sp>
      <p:sp>
        <p:nvSpPr>
          <p:cNvPr id="3962" name="Google Shape;3962;g3b75ff0c716_0_666"/>
          <p:cNvSpPr txBox="1"/>
          <p:nvPr/>
        </p:nvSpPr>
        <p:spPr>
          <a:xfrm>
            <a:off x="2283723" y="3137672"/>
            <a:ext cx="1329900" cy="92400"/>
          </a:xfrm>
          <a:prstGeom prst="rect">
            <a:avLst/>
          </a:prstGeom>
          <a:noFill/>
          <a:ln>
            <a:noFill/>
          </a:ln>
        </p:spPr>
        <p:txBody>
          <a:bodyPr spcFirstLastPara="1" wrap="square" lIns="0" tIns="0" rIns="0" bIns="0" anchor="t" anchorCtr="0">
            <a:spAutoFit/>
          </a:bodyPr>
          <a:lstStyle/>
          <a:p>
            <a:pPr marL="12700" marR="0" lvl="0" indent="0" algn="l" rtl="0">
              <a:lnSpc>
                <a:spcPct val="111666"/>
              </a:lnSpc>
              <a:spcBef>
                <a:spcPts val="0"/>
              </a:spcBef>
              <a:spcAft>
                <a:spcPts val="0"/>
              </a:spcAft>
              <a:buClr>
                <a:srgbClr val="000000"/>
              </a:buClr>
              <a:buSzPts val="600"/>
              <a:buFont typeface="Arial"/>
              <a:buNone/>
            </a:pPr>
            <a:r>
              <a:rPr lang="en-US" sz="600" b="0" i="0" u="sng" strike="noStrike" cap="none">
                <a:solidFill>
                  <a:schemeClr val="hlink"/>
                </a:solidFill>
                <a:latin typeface="Calibri"/>
                <a:ea typeface="Calibri"/>
                <a:cs typeface="Calibri"/>
                <a:sym typeface="Calibri"/>
              </a:rPr>
              <a:t>Deep Reinforcement Learning</a:t>
            </a:r>
            <a:endParaRPr sz="600" b="0" i="0" u="none" strike="noStrike" cap="none">
              <a:solidFill>
                <a:srgbClr val="000000"/>
              </a:solidFill>
              <a:latin typeface="Calibri"/>
              <a:ea typeface="Calibri"/>
              <a:cs typeface="Calibri"/>
              <a:sym typeface="Calibri"/>
            </a:endParaRPr>
          </a:p>
        </p:txBody>
      </p:sp>
      <p:pic>
        <p:nvPicPr>
          <p:cNvPr id="3963" name="Google Shape;3963;g3b75ff0c716_0_666"/>
          <p:cNvPicPr preferRelativeResize="0"/>
          <p:nvPr/>
        </p:nvPicPr>
        <p:blipFill rotWithShape="1">
          <a:blip r:embed="rId3">
            <a:alphaModFix/>
          </a:blip>
          <a:srcRect/>
          <a:stretch/>
        </p:blipFill>
        <p:spPr>
          <a:xfrm>
            <a:off x="512138" y="728733"/>
            <a:ext cx="1411724" cy="1123025"/>
          </a:xfrm>
          <a:prstGeom prst="rect">
            <a:avLst/>
          </a:prstGeom>
          <a:noFill/>
          <a:ln>
            <a:noFill/>
          </a:ln>
        </p:spPr>
      </p:pic>
      <p:pic>
        <p:nvPicPr>
          <p:cNvPr id="3964" name="Google Shape;3964;g3b75ff0c716_0_666"/>
          <p:cNvPicPr preferRelativeResize="0"/>
          <p:nvPr/>
        </p:nvPicPr>
        <p:blipFill rotWithShape="1">
          <a:blip r:embed="rId4">
            <a:alphaModFix/>
          </a:blip>
          <a:srcRect/>
          <a:stretch/>
        </p:blipFill>
        <p:spPr>
          <a:xfrm>
            <a:off x="82600" y="2198937"/>
            <a:ext cx="2444700" cy="384387"/>
          </a:xfrm>
          <a:prstGeom prst="rect">
            <a:avLst/>
          </a:prstGeom>
          <a:noFill/>
          <a:ln w="9525" cap="flat" cmpd="sng">
            <a:solidFill>
              <a:schemeClr val="dk1"/>
            </a:solidFill>
            <a:prstDash val="solid"/>
            <a:round/>
            <a:headEnd type="none" w="sm" len="sm"/>
            <a:tailEnd type="none" w="sm" len="sm"/>
          </a:ln>
        </p:spPr>
      </p:pic>
      <p:pic>
        <p:nvPicPr>
          <p:cNvPr id="3965" name="Google Shape;3965;g3b75ff0c716_0_666"/>
          <p:cNvPicPr preferRelativeResize="0"/>
          <p:nvPr/>
        </p:nvPicPr>
        <p:blipFill rotWithShape="1">
          <a:blip r:embed="rId5">
            <a:alphaModFix/>
          </a:blip>
          <a:srcRect/>
          <a:stretch/>
        </p:blipFill>
        <p:spPr>
          <a:xfrm>
            <a:off x="4649496" y="469592"/>
            <a:ext cx="365089" cy="1549600"/>
          </a:xfrm>
          <a:prstGeom prst="rect">
            <a:avLst/>
          </a:prstGeom>
          <a:noFill/>
          <a:ln>
            <a:noFill/>
          </a:ln>
        </p:spPr>
      </p:pic>
      <p:sp>
        <p:nvSpPr>
          <p:cNvPr id="3966" name="Google Shape;3966;g3b75ff0c716_0_666"/>
          <p:cNvSpPr txBox="1"/>
          <p:nvPr/>
        </p:nvSpPr>
        <p:spPr>
          <a:xfrm>
            <a:off x="4864295" y="431686"/>
            <a:ext cx="402600" cy="1616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a:t>
            </a: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9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900" b="1" i="1" u="none" strike="noStrike" cap="none">
                <a:solidFill>
                  <a:srgbClr val="000000"/>
                </a:solidFill>
                <a:latin typeface="Arial"/>
                <a:ea typeface="Arial"/>
                <a:cs typeface="Arial"/>
                <a:sym typeface="Arial"/>
              </a:rPr>
              <a:t>S</a:t>
            </a:r>
            <a:r>
              <a:rPr lang="en-US" sz="900" b="1" i="1" u="none" strike="noStrike" cap="none" baseline="-25000">
                <a:solidFill>
                  <a:srgbClr val="000000"/>
                </a:solidFill>
                <a:latin typeface="Arial"/>
                <a:ea typeface="Arial"/>
                <a:cs typeface="Arial"/>
                <a:sym typeface="Arial"/>
              </a:rPr>
              <a:t>T</a:t>
            </a:r>
            <a:r>
              <a:rPr lang="en-US" sz="900" b="1" i="1" u="none" strike="noStrike" cap="none">
                <a:solidFill>
                  <a:srgbClr val="000000"/>
                </a:solidFill>
                <a:latin typeface="Arial"/>
                <a:ea typeface="Arial"/>
                <a:cs typeface="Arial"/>
                <a:sym typeface="Arial"/>
              </a:rPr>
              <a:t> </a:t>
            </a:r>
            <a:endParaRPr sz="900" b="1" i="1" u="none" strike="noStrike" cap="none">
              <a:solidFill>
                <a:srgbClr val="000000"/>
              </a:solidFill>
              <a:latin typeface="Arial"/>
              <a:ea typeface="Arial"/>
              <a:cs typeface="Arial"/>
              <a:sym typeface="Arial"/>
            </a:endParaRPr>
          </a:p>
        </p:txBody>
      </p:sp>
      <p:pic>
        <p:nvPicPr>
          <p:cNvPr id="3967" name="Google Shape;3967;g3b75ff0c716_0_666"/>
          <p:cNvPicPr preferRelativeResize="0"/>
          <p:nvPr/>
        </p:nvPicPr>
        <p:blipFill rotWithShape="1">
          <a:blip r:embed="rId6">
            <a:alphaModFix/>
          </a:blip>
          <a:srcRect/>
          <a:stretch/>
        </p:blipFill>
        <p:spPr>
          <a:xfrm>
            <a:off x="4398324" y="2003917"/>
            <a:ext cx="1309687" cy="144036"/>
          </a:xfrm>
          <a:prstGeom prst="rect">
            <a:avLst/>
          </a:prstGeom>
          <a:noFill/>
          <a:ln w="9525" cap="flat" cmpd="sng">
            <a:solidFill>
              <a:schemeClr val="dk1"/>
            </a:solidFill>
            <a:prstDash val="solid"/>
            <a:round/>
            <a:headEnd type="none" w="sm" len="sm"/>
            <a:tailEnd type="none" w="sm" len="sm"/>
          </a:ln>
        </p:spPr>
      </p:pic>
      <p:pic>
        <p:nvPicPr>
          <p:cNvPr id="3968" name="Google Shape;3968;g3b75ff0c716_0_666"/>
          <p:cNvPicPr preferRelativeResize="0"/>
          <p:nvPr/>
        </p:nvPicPr>
        <p:blipFill rotWithShape="1">
          <a:blip r:embed="rId7">
            <a:alphaModFix/>
          </a:blip>
          <a:srcRect/>
          <a:stretch/>
        </p:blipFill>
        <p:spPr>
          <a:xfrm>
            <a:off x="2075931" y="617906"/>
            <a:ext cx="296650" cy="859679"/>
          </a:xfrm>
          <a:prstGeom prst="rect">
            <a:avLst/>
          </a:prstGeom>
          <a:noFill/>
          <a:ln>
            <a:noFill/>
          </a:ln>
        </p:spPr>
      </p:pic>
      <p:pic>
        <p:nvPicPr>
          <p:cNvPr id="3969" name="Google Shape;3969;g3b75ff0c716_0_666"/>
          <p:cNvPicPr preferRelativeResize="0"/>
          <p:nvPr/>
        </p:nvPicPr>
        <p:blipFill rotWithShape="1">
          <a:blip r:embed="rId8">
            <a:alphaModFix/>
          </a:blip>
          <a:srcRect/>
          <a:stretch/>
        </p:blipFill>
        <p:spPr>
          <a:xfrm>
            <a:off x="2476729" y="943647"/>
            <a:ext cx="720435" cy="908111"/>
          </a:xfrm>
          <a:prstGeom prst="rect">
            <a:avLst/>
          </a:prstGeom>
          <a:noFill/>
          <a:ln>
            <a:noFill/>
          </a:ln>
        </p:spPr>
      </p:pic>
      <p:pic>
        <p:nvPicPr>
          <p:cNvPr id="3970" name="Google Shape;3970;g3b75ff0c716_0_666"/>
          <p:cNvPicPr preferRelativeResize="0"/>
          <p:nvPr/>
        </p:nvPicPr>
        <p:blipFill rotWithShape="1">
          <a:blip r:embed="rId9">
            <a:alphaModFix/>
          </a:blip>
          <a:srcRect/>
          <a:stretch/>
        </p:blipFill>
        <p:spPr>
          <a:xfrm>
            <a:off x="3190917" y="1627933"/>
            <a:ext cx="944436" cy="896003"/>
          </a:xfrm>
          <a:prstGeom prst="rect">
            <a:avLst/>
          </a:prstGeom>
          <a:noFill/>
          <a:ln>
            <a:noFill/>
          </a:ln>
        </p:spPr>
      </p:pic>
      <p:pic>
        <p:nvPicPr>
          <p:cNvPr id="3971" name="Google Shape;3971;g3b75ff0c716_0_666"/>
          <p:cNvPicPr preferRelativeResize="0"/>
          <p:nvPr/>
        </p:nvPicPr>
        <p:blipFill rotWithShape="1">
          <a:blip r:embed="rId10">
            <a:alphaModFix/>
          </a:blip>
          <a:srcRect/>
          <a:stretch/>
        </p:blipFill>
        <p:spPr>
          <a:xfrm>
            <a:off x="2135398" y="502728"/>
            <a:ext cx="1812452" cy="129173"/>
          </a:xfrm>
          <a:prstGeom prst="rect">
            <a:avLst/>
          </a:prstGeom>
          <a:noFill/>
          <a:ln w="9525" cap="flat" cmpd="sng">
            <a:solidFill>
              <a:schemeClr val="dk1"/>
            </a:solidFill>
            <a:prstDash val="solid"/>
            <a:round/>
            <a:headEnd type="none" w="sm" len="sm"/>
            <a:tailEnd type="none" w="sm" len="sm"/>
          </a:ln>
        </p:spPr>
      </p:pic>
      <p:pic>
        <p:nvPicPr>
          <p:cNvPr id="3972" name="Google Shape;3972;g3b75ff0c716_0_666"/>
          <p:cNvPicPr preferRelativeResize="0"/>
          <p:nvPr/>
        </p:nvPicPr>
        <p:blipFill rotWithShape="1">
          <a:blip r:embed="rId11">
            <a:alphaModFix/>
          </a:blip>
          <a:srcRect t="-7688" r="11535"/>
          <a:stretch/>
        </p:blipFill>
        <p:spPr>
          <a:xfrm>
            <a:off x="2836946" y="2471808"/>
            <a:ext cx="1839048" cy="330902"/>
          </a:xfrm>
          <a:prstGeom prst="rect">
            <a:avLst/>
          </a:prstGeom>
          <a:noFill/>
          <a:ln w="9525" cap="flat" cmpd="sng">
            <a:solidFill>
              <a:schemeClr val="dk1"/>
            </a:solidFill>
            <a:prstDash val="solid"/>
            <a:round/>
            <a:headEnd type="none" w="sm" len="sm"/>
            <a:tailEnd type="none" w="sm" len="sm"/>
          </a:ln>
        </p:spPr>
      </p:pic>
      <p:pic>
        <p:nvPicPr>
          <p:cNvPr id="3973" name="Google Shape;3973;g3b75ff0c716_0_666"/>
          <p:cNvPicPr preferRelativeResize="0"/>
          <p:nvPr/>
        </p:nvPicPr>
        <p:blipFill rotWithShape="1">
          <a:blip r:embed="rId12">
            <a:alphaModFix/>
          </a:blip>
          <a:srcRect/>
          <a:stretch/>
        </p:blipFill>
        <p:spPr>
          <a:xfrm>
            <a:off x="2472271" y="854967"/>
            <a:ext cx="2128619" cy="132731"/>
          </a:xfrm>
          <a:prstGeom prst="rect">
            <a:avLst/>
          </a:prstGeom>
          <a:noFill/>
          <a:ln w="9525" cap="flat" cmpd="sng">
            <a:solidFill>
              <a:schemeClr val="dk1"/>
            </a:solidFill>
            <a:prstDash val="solid"/>
            <a:round/>
            <a:headEnd type="none" w="sm" len="sm"/>
            <a:tailEnd type="none" w="sm" len="sm"/>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6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23C1875908B441AF4AF4B1296840D8" ma:contentTypeVersion="28" ma:contentTypeDescription="Create a new document." ma:contentTypeScope="" ma:versionID="cd460d5e4ff453c1f08e99aa19986c2b">
  <xsd:schema xmlns:xsd="http://www.w3.org/2001/XMLSchema" xmlns:xs="http://www.w3.org/2001/XMLSchema" xmlns:p="http://schemas.microsoft.com/office/2006/metadata/properties" xmlns:ns2="e1b5d412-63f5-4184-9493-34a8c46e02de" targetNamespace="http://schemas.microsoft.com/office/2006/metadata/properties" ma:root="true" ma:fieldsID="5d2dfc333d423de18e9cc60a840675d7" ns2:_="">
    <xsd:import namespace="e1b5d412-63f5-4184-9493-34a8c46e02d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b5d412-63f5-4184-9493-34a8c46e02d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eamsChannelId xmlns="e1b5d412-63f5-4184-9493-34a8c46e02de" xsi:nil="true"/>
    <FolderType xmlns="e1b5d412-63f5-4184-9493-34a8c46e02de" xsi:nil="true"/>
    <Teachers xmlns="e1b5d412-63f5-4184-9493-34a8c46e02de">
      <UserInfo>
        <DisplayName/>
        <AccountId xsi:nil="true"/>
        <AccountType/>
      </UserInfo>
    </Teachers>
    <Has_Teacher_Only_SectionGroup xmlns="e1b5d412-63f5-4184-9493-34a8c46e02de" xsi:nil="true"/>
    <DefaultSectionNames xmlns="e1b5d412-63f5-4184-9493-34a8c46e02de" xsi:nil="true"/>
    <Is_Collaboration_Space_Locked xmlns="e1b5d412-63f5-4184-9493-34a8c46e02de" xsi:nil="true"/>
    <Invited_Teachers xmlns="e1b5d412-63f5-4184-9493-34a8c46e02de" xsi:nil="true"/>
    <Invited_Students xmlns="e1b5d412-63f5-4184-9493-34a8c46e02de" xsi:nil="true"/>
    <Math_Settings xmlns="e1b5d412-63f5-4184-9493-34a8c46e02de" xsi:nil="true"/>
    <Teams_Channel_Section_Location xmlns="e1b5d412-63f5-4184-9493-34a8c46e02de" xsi:nil="true"/>
    <Owner xmlns="e1b5d412-63f5-4184-9493-34a8c46e02de">
      <UserInfo>
        <DisplayName/>
        <AccountId xsi:nil="true"/>
        <AccountType/>
      </UserInfo>
    </Owner>
    <Students xmlns="e1b5d412-63f5-4184-9493-34a8c46e02de">
      <UserInfo>
        <DisplayName/>
        <AccountId xsi:nil="true"/>
        <AccountType/>
      </UserInfo>
    </Students>
    <LMS_Mappings xmlns="e1b5d412-63f5-4184-9493-34a8c46e02de" xsi:nil="true"/>
    <IsNotebookLocked xmlns="e1b5d412-63f5-4184-9493-34a8c46e02de" xsi:nil="true"/>
    <NotebookType xmlns="e1b5d412-63f5-4184-9493-34a8c46e02de" xsi:nil="true"/>
    <CultureName xmlns="e1b5d412-63f5-4184-9493-34a8c46e02de" xsi:nil="true"/>
    <Student_Groups xmlns="e1b5d412-63f5-4184-9493-34a8c46e02de">
      <UserInfo>
        <DisplayName/>
        <AccountId xsi:nil="true"/>
        <AccountType/>
      </UserInfo>
    </Student_Groups>
    <AppVersion xmlns="e1b5d412-63f5-4184-9493-34a8c46e02de" xsi:nil="true"/>
    <Distribution_Groups xmlns="e1b5d412-63f5-4184-9493-34a8c46e02de" xsi:nil="true"/>
    <Templates xmlns="e1b5d412-63f5-4184-9493-34a8c46e02de" xsi:nil="true"/>
    <Self_Registration_Enabled xmlns="e1b5d412-63f5-4184-9493-34a8c46e02de" xsi:nil="true"/>
  </documentManagement>
</p:properties>
</file>

<file path=customXml/itemProps1.xml><?xml version="1.0" encoding="utf-8"?>
<ds:datastoreItem xmlns:ds="http://schemas.openxmlformats.org/officeDocument/2006/customXml" ds:itemID="{DD4ED884-2128-447C-A434-D6729A1F8C29}"/>
</file>

<file path=customXml/itemProps2.xml><?xml version="1.0" encoding="utf-8"?>
<ds:datastoreItem xmlns:ds="http://schemas.openxmlformats.org/officeDocument/2006/customXml" ds:itemID="{2FC8E7BD-C321-4323-B890-56324513D11E}"/>
</file>

<file path=customXml/itemProps3.xml><?xml version="1.0" encoding="utf-8"?>
<ds:datastoreItem xmlns:ds="http://schemas.openxmlformats.org/officeDocument/2006/customXml" ds:itemID="{C1B48C38-9B65-4C29-93A4-FC1255D0D96D}"/>
</file>

<file path=docProps/app.xml><?xml version="1.0" encoding="utf-8"?>
<Properties xmlns="http://schemas.openxmlformats.org/officeDocument/2006/extended-properties" xmlns:vt="http://schemas.openxmlformats.org/officeDocument/2006/docPropsVTypes">
  <TotalTime>1</TotalTime>
  <Words>11668</Words>
  <Application>Microsoft Office PowerPoint</Application>
  <PresentationFormat>Custom</PresentationFormat>
  <Paragraphs>2888</Paragraphs>
  <Slides>100</Slides>
  <Notes>100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Arial</vt:lpstr>
      <vt:lpstr>Noto Sans Symbols</vt:lpstr>
      <vt:lpstr>Cambria</vt:lpstr>
      <vt:lpstr>Tahoma</vt:lpstr>
      <vt:lpstr>Calibri</vt:lpstr>
      <vt:lpstr>Google Sans</vt:lpstr>
      <vt:lpstr>Office Theme</vt:lpstr>
      <vt:lpstr>PowerPoint Presentation</vt:lpstr>
      <vt:lpstr>PowerPoint Presentation</vt:lpstr>
      <vt:lpstr>Dynamic Programming</vt:lpstr>
      <vt:lpstr>Table of Contents</vt:lpstr>
      <vt:lpstr>Problem Definition</vt:lpstr>
      <vt:lpstr>MARKOV DECISION PROCESS FORMALIZATION (Simplified)</vt:lpstr>
      <vt:lpstr>Dynamic Programming</vt:lpstr>
      <vt:lpstr>PowerPoint Presentation</vt:lpstr>
      <vt:lpstr>Dynamic Programming – Value Iteration</vt:lpstr>
      <vt:lpstr>Dynamic Programming – Value Iteration</vt:lpstr>
      <vt:lpstr>Dynamic Programming – Value Iteration</vt:lpstr>
      <vt:lpstr>Dynamic Programming – Value Iteration</vt:lpstr>
      <vt:lpstr>Dynamic Programming – Value Iteration</vt:lpstr>
      <vt:lpstr>Dynamic Programming – Value Iteration</vt:lpstr>
      <vt:lpstr>Dynamic Programming – Value Iteration</vt:lpstr>
      <vt:lpstr>Dynamic Programming – Value Iteration</vt:lpstr>
      <vt:lpstr>Dynamic Programming – Value Iteration</vt:lpstr>
      <vt:lpstr>PowerPoint Presentation</vt:lpstr>
      <vt:lpstr>Dynamic Programming</vt:lpstr>
      <vt:lpstr>Dynamic Programming – Policy Iteration</vt:lpstr>
      <vt:lpstr>Dynamic Programming – Policy Iteration</vt:lpstr>
      <vt:lpstr>Dynamic Programming – Policy Iteration</vt:lpstr>
      <vt:lpstr>Dynamic Programming – Policy Iteration</vt:lpstr>
      <vt:lpstr>Dynamic Programming – Policy Iteration</vt:lpstr>
      <vt:lpstr>Dynamic Programming – Policy Iteration</vt:lpstr>
      <vt:lpstr>Dynamic Programming – Policy Iteration</vt:lpstr>
      <vt:lpstr>Dynamic Programming -  Policy Iteration</vt:lpstr>
      <vt:lpstr>Table of Contents</vt:lpstr>
      <vt:lpstr>Problem Definition</vt:lpstr>
      <vt:lpstr>MARKOV DECISION PROCESS FORMALIZATION (Reduced)</vt:lpstr>
      <vt:lpstr>Monte Carlo Methods</vt:lpstr>
      <vt:lpstr>PowerPoint Presentation</vt:lpstr>
      <vt:lpstr>Monte Carlo</vt:lpstr>
      <vt:lpstr>Monte Carlo</vt:lpstr>
      <vt:lpstr>Monte Carlo</vt:lpstr>
      <vt:lpstr>Monte Carlo</vt:lpstr>
      <vt:lpstr>Monte Carlo</vt:lpstr>
      <vt:lpstr>Monte Carlo</vt:lpstr>
      <vt:lpstr>Monte Carlo</vt:lpstr>
      <vt:lpstr>Monte Carlo</vt:lpstr>
      <vt:lpstr>Monte Carlo</vt:lpstr>
      <vt:lpstr>Monte Carlo Methods</vt:lpstr>
      <vt:lpstr>PowerPoint Presentation</vt:lpstr>
      <vt:lpstr>Monte Carlo</vt:lpstr>
      <vt:lpstr>Monte Carlo</vt:lpstr>
      <vt:lpstr>Monte Carlo</vt:lpstr>
      <vt:lpstr>Monte Carlo</vt:lpstr>
      <vt:lpstr>Monte Carlo</vt:lpstr>
      <vt:lpstr>Monte Carlo</vt:lpstr>
      <vt:lpstr>Monte Carlo</vt:lpstr>
      <vt:lpstr>Monte Carlo</vt:lpstr>
      <vt:lpstr>Monte Carlo</vt:lpstr>
      <vt:lpstr>Monte Carlo</vt:lpstr>
      <vt:lpstr>Monte Carlo</vt:lpstr>
      <vt:lpstr>Monte Carlo</vt:lpstr>
      <vt:lpstr>Monte Carlo</vt:lpstr>
      <vt:lpstr>Monte Carlo</vt:lpstr>
      <vt:lpstr>Monte Carlo</vt:lpstr>
      <vt:lpstr>Monte Carlo</vt:lpstr>
      <vt:lpstr>Monte Carlo Methods</vt:lpstr>
      <vt:lpstr>Monte Carlo</vt:lpstr>
      <vt:lpstr>Monte Carlo</vt:lpstr>
      <vt:lpstr>  DP   VS       MC </vt:lpstr>
      <vt:lpstr>  DP   VS       MC </vt:lpstr>
      <vt:lpstr>Table of Contents</vt:lpstr>
      <vt:lpstr>Problem Definition</vt:lpstr>
      <vt:lpstr>Temporal Difference Learning Methods</vt:lpstr>
      <vt:lpstr>PowerPoint Presentation</vt:lpstr>
      <vt:lpstr>TD(0)</vt:lpstr>
      <vt:lpstr>TD(0)</vt:lpstr>
      <vt:lpstr>TD(0)</vt:lpstr>
      <vt:lpstr>TD(0)</vt:lpstr>
      <vt:lpstr>PowerPoint Presentation</vt:lpstr>
      <vt:lpstr>PowerPoint Presentation</vt:lpstr>
      <vt:lpstr>SARSA</vt:lpstr>
      <vt:lpstr>SARSA</vt:lpstr>
      <vt:lpstr>SARSA</vt:lpstr>
      <vt:lpstr>SARSA</vt:lpstr>
      <vt:lpstr>SARSA</vt:lpstr>
      <vt:lpstr>PowerPoint Presentation</vt:lpstr>
      <vt:lpstr>Expected SARSA</vt:lpstr>
      <vt:lpstr>Expected SARSA</vt:lpstr>
      <vt:lpstr>Expected SARSA</vt:lpstr>
      <vt:lpstr>Expected SARSA</vt:lpstr>
      <vt:lpstr>Expected SARSA</vt:lpstr>
      <vt:lpstr>PowerPoint Presentation</vt:lpstr>
      <vt:lpstr>Q-Learning</vt:lpstr>
      <vt:lpstr>Q-Learning</vt:lpstr>
      <vt:lpstr>Q-Learning</vt:lpstr>
      <vt:lpstr>Q-Learning</vt:lpstr>
      <vt:lpstr>Q-Learning</vt:lpstr>
      <vt:lpstr>PowerPoint Presentation</vt:lpstr>
      <vt:lpstr> Target  Behavior</vt:lpstr>
      <vt:lpstr> Target  Behavior</vt:lpstr>
      <vt:lpstr> Target  Behavior</vt:lpstr>
      <vt:lpstr> Target  Behavior</vt:lpstr>
      <vt:lpstr> Target  Behavior</vt:lpstr>
      <vt:lpstr> Target  Behavior</vt:lpstr>
      <vt:lpstr>  DP   TD       MC </vt:lpstr>
      <vt:lpstr>  DP   TD                     MC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Prakash G</cp:lastModifiedBy>
  <cp:revision>2</cp:revision>
  <dcterms:modified xsi:type="dcterms:W3CDTF">2026-03-01T04:49:02Z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0x010100B123C1875908B441AF4AF4B1296840D8</vt:lpwstr>
  </property>
</Properties>
</file>