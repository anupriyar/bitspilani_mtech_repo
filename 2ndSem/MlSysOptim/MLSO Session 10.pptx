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2" r:id="rId2"/>
    <p:sldMasterId id="2147483673" r:id="rId3"/>
  </p:sldMasterIdLst>
  <p:notesMasterIdLst>
    <p:notesMasterId r:id="rId35"/>
  </p:notesMasterIdLst>
  <p:sldIdLst>
    <p:sldId id="256" r:id="rId4"/>
    <p:sldId id="257" r:id="rId5"/>
    <p:sldId id="258" r:id="rId6"/>
    <p:sldId id="347" r:id="rId7"/>
    <p:sldId id="348" r:id="rId8"/>
    <p:sldId id="349" r:id="rId9"/>
    <p:sldId id="350" r:id="rId10"/>
    <p:sldId id="351" r:id="rId11"/>
    <p:sldId id="352" r:id="rId12"/>
    <p:sldId id="353" r:id="rId13"/>
    <p:sldId id="354" r:id="rId14"/>
    <p:sldId id="355" r:id="rId15"/>
    <p:sldId id="356" r:id="rId16"/>
    <p:sldId id="269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278" r:id="rId26"/>
    <p:sldId id="365" r:id="rId27"/>
    <p:sldId id="366" r:id="rId28"/>
    <p:sldId id="367" r:id="rId29"/>
    <p:sldId id="368" r:id="rId30"/>
    <p:sldId id="283" r:id="rId31"/>
    <p:sldId id="369" r:id="rId32"/>
    <p:sldId id="370" r:id="rId33"/>
    <p:sldId id="371" r:id="rId34"/>
  </p:sldIdLst>
  <p:sldSz cx="9144000" cy="5143500" type="screen16x9"/>
  <p:notesSz cx="6858000" cy="9144000"/>
  <p:embeddedFontLst>
    <p:embeddedFont>
      <p:font typeface="Comic Sans MS" panose="030F0702030302020204" pitchFamily="66" charset="0"/>
      <p:regular r:id="rId36"/>
      <p:bold r:id="rId37"/>
      <p:italic r:id="rId38"/>
      <p:boldItalic r:id="rId39"/>
    </p:embeddedFont>
    <p:embeddedFont>
      <p:font typeface="Helvetica Neue" panose="020B0604020202020204" charset="0"/>
      <p:regular r:id="rId40"/>
      <p:bold r:id="rId41"/>
      <p:italic r:id="rId42"/>
      <p:boldItalic r:id="rId43"/>
    </p:embeddedFont>
    <p:embeddedFont>
      <p:font typeface="Helvetica Neue Light" panose="020B0604020202020204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4.fntdata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customXml" Target="../customXml/item2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font" Target="fonts/font9.fntdata"/><Relationship Id="rId52" Type="http://schemas.openxmlformats.org/officeDocument/2006/relationships/customXml" Target="../customXml/item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7.xml"/><Relationship Id="rId41" Type="http://schemas.openxmlformats.org/officeDocument/2006/relationships/font" Target="fonts/font6.fntdata"/><Relationship Id="rId54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font" Target="fonts/font1.fntdata"/><Relationship Id="rId4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069599b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c069599bc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3c069599bc8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069599bc8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3c069599bc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35af67d2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3d35af67d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5c87d61c_0_3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c85c87d61c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F66A2EB-3C07-6C64-2A19-6BD54D982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5c87d61c_0_363:notes">
            <a:extLst>
              <a:ext uri="{FF2B5EF4-FFF2-40B4-BE49-F238E27FC236}">
                <a16:creationId xmlns:a16="http://schemas.microsoft.com/office/drawing/2014/main" id="{288BBAA7-FE51-4129-1D3B-31094B5386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c85c87d61c_0_363:notes">
            <a:extLst>
              <a:ext uri="{FF2B5EF4-FFF2-40B4-BE49-F238E27FC236}">
                <a16:creationId xmlns:a16="http://schemas.microsoft.com/office/drawing/2014/main" id="{0B5C5936-7073-6101-2B4E-ADA7F0787E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4130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77B66886-7AFF-97E1-495A-D94D529F4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5c87d61c_0_363:notes">
            <a:extLst>
              <a:ext uri="{FF2B5EF4-FFF2-40B4-BE49-F238E27FC236}">
                <a16:creationId xmlns:a16="http://schemas.microsoft.com/office/drawing/2014/main" id="{79B6C53B-A95F-32B8-43A7-BE151F8E91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c85c87d61c_0_363:notes">
            <a:extLst>
              <a:ext uri="{FF2B5EF4-FFF2-40B4-BE49-F238E27FC236}">
                <a16:creationId xmlns:a16="http://schemas.microsoft.com/office/drawing/2014/main" id="{FE111ED9-9B89-1EEC-7CE0-16CD216220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790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330D24D0-34C8-2F40-2A13-4695AF83B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5c87d61c_0_363:notes">
            <a:extLst>
              <a:ext uri="{FF2B5EF4-FFF2-40B4-BE49-F238E27FC236}">
                <a16:creationId xmlns:a16="http://schemas.microsoft.com/office/drawing/2014/main" id="{0B419B25-24EF-84D2-3BEB-C0481A1C1E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c85c87d61c_0_363:notes">
            <a:extLst>
              <a:ext uri="{FF2B5EF4-FFF2-40B4-BE49-F238E27FC236}">
                <a16:creationId xmlns:a16="http://schemas.microsoft.com/office/drawing/2014/main" id="{1C457479-6323-D6DE-776A-72D12052E5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392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3821B2C6-78E9-122D-DBC5-48FF88244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5c87d61c_0_363:notes">
            <a:extLst>
              <a:ext uri="{FF2B5EF4-FFF2-40B4-BE49-F238E27FC236}">
                <a16:creationId xmlns:a16="http://schemas.microsoft.com/office/drawing/2014/main" id="{63FEDF61-6476-746D-25C6-10C309975C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c85c87d61c_0_363:notes">
            <a:extLst>
              <a:ext uri="{FF2B5EF4-FFF2-40B4-BE49-F238E27FC236}">
                <a16:creationId xmlns:a16="http://schemas.microsoft.com/office/drawing/2014/main" id="{36C0DEC7-ACD0-C320-120F-EF5470D861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8116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4545FF89-A5A6-8C6C-6425-B33016453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5c87d61c_0_363:notes">
            <a:extLst>
              <a:ext uri="{FF2B5EF4-FFF2-40B4-BE49-F238E27FC236}">
                <a16:creationId xmlns:a16="http://schemas.microsoft.com/office/drawing/2014/main" id="{2F6A3B63-33F4-9C67-7C57-D77EBC89A7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c85c87d61c_0_363:notes">
            <a:extLst>
              <a:ext uri="{FF2B5EF4-FFF2-40B4-BE49-F238E27FC236}">
                <a16:creationId xmlns:a16="http://schemas.microsoft.com/office/drawing/2014/main" id="{C3B8746C-1266-CCFC-637A-ED245126B9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8344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F67905C1-8175-4989-FCDD-ECCDB7D7A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5c87d61c_0_363:notes">
            <a:extLst>
              <a:ext uri="{FF2B5EF4-FFF2-40B4-BE49-F238E27FC236}">
                <a16:creationId xmlns:a16="http://schemas.microsoft.com/office/drawing/2014/main" id="{5F68FEC7-B767-7758-AAE0-3DA4207B48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c85c87d61c_0_363:notes">
            <a:extLst>
              <a:ext uri="{FF2B5EF4-FFF2-40B4-BE49-F238E27FC236}">
                <a16:creationId xmlns:a16="http://schemas.microsoft.com/office/drawing/2014/main" id="{1E621680-6991-686C-AD35-F09FACFE4B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752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404A7FC4-9CB3-0A04-997A-42C770FEC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5c87d61c_0_363:notes">
            <a:extLst>
              <a:ext uri="{FF2B5EF4-FFF2-40B4-BE49-F238E27FC236}">
                <a16:creationId xmlns:a16="http://schemas.microsoft.com/office/drawing/2014/main" id="{C17E2675-5AD2-2343-FDE8-E113A74AB5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c85c87d61c_0_363:notes">
            <a:extLst>
              <a:ext uri="{FF2B5EF4-FFF2-40B4-BE49-F238E27FC236}">
                <a16:creationId xmlns:a16="http://schemas.microsoft.com/office/drawing/2014/main" id="{4912E86F-7CAE-50D0-376B-4C95F32287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7699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34EFB9EB-8D18-62ED-6505-EDC722351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5c87d61c_0_363:notes">
            <a:extLst>
              <a:ext uri="{FF2B5EF4-FFF2-40B4-BE49-F238E27FC236}">
                <a16:creationId xmlns:a16="http://schemas.microsoft.com/office/drawing/2014/main" id="{01B03D15-1022-ECC7-4378-161708AF6A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c85c87d61c_0_363:notes">
            <a:extLst>
              <a:ext uri="{FF2B5EF4-FFF2-40B4-BE49-F238E27FC236}">
                <a16:creationId xmlns:a16="http://schemas.microsoft.com/office/drawing/2014/main" id="{E7889760-F376-B568-7FBE-FF0A798831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5387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DB6973FF-BF2D-D3AF-3191-CCD3267BD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5c87d61c_0_363:notes">
            <a:extLst>
              <a:ext uri="{FF2B5EF4-FFF2-40B4-BE49-F238E27FC236}">
                <a16:creationId xmlns:a16="http://schemas.microsoft.com/office/drawing/2014/main" id="{7D8CE42C-4DFA-9481-2DFD-59E5522229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c85c87d61c_0_363:notes">
            <a:extLst>
              <a:ext uri="{FF2B5EF4-FFF2-40B4-BE49-F238E27FC236}">
                <a16:creationId xmlns:a16="http://schemas.microsoft.com/office/drawing/2014/main" id="{71E97A4D-0024-1939-9812-DB5719192C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8214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35af67d27_0_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3d35af67d27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1368DEAA-73B0-A184-3F5A-C18C56342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5c87d61c_0_363:notes">
            <a:extLst>
              <a:ext uri="{FF2B5EF4-FFF2-40B4-BE49-F238E27FC236}">
                <a16:creationId xmlns:a16="http://schemas.microsoft.com/office/drawing/2014/main" id="{B316EA74-A145-03D3-6A3F-17D9B86D5F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c85c87d61c_0_363:notes">
            <a:extLst>
              <a:ext uri="{FF2B5EF4-FFF2-40B4-BE49-F238E27FC236}">
                <a16:creationId xmlns:a16="http://schemas.microsoft.com/office/drawing/2014/main" id="{9282031A-6B91-B964-2A39-7C6921E618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5200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CCF3C411-ACA0-16BC-D167-3D7ED2878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5c87d61c_0_363:notes">
            <a:extLst>
              <a:ext uri="{FF2B5EF4-FFF2-40B4-BE49-F238E27FC236}">
                <a16:creationId xmlns:a16="http://schemas.microsoft.com/office/drawing/2014/main" id="{02AE74D6-5C75-0219-5F9F-93F508CC34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c85c87d61c_0_363:notes">
            <a:extLst>
              <a:ext uri="{FF2B5EF4-FFF2-40B4-BE49-F238E27FC236}">
                <a16:creationId xmlns:a16="http://schemas.microsoft.com/office/drawing/2014/main" id="{95C37DF8-88BC-400C-65CA-5AF171FA63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1937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279B5A0-9953-CEB2-3967-D684290C9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5c87d61c_0_363:notes">
            <a:extLst>
              <a:ext uri="{FF2B5EF4-FFF2-40B4-BE49-F238E27FC236}">
                <a16:creationId xmlns:a16="http://schemas.microsoft.com/office/drawing/2014/main" id="{BDFC9E85-6DE0-F785-2465-90519D257A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c85c87d61c_0_363:notes">
            <a:extLst>
              <a:ext uri="{FF2B5EF4-FFF2-40B4-BE49-F238E27FC236}">
                <a16:creationId xmlns:a16="http://schemas.microsoft.com/office/drawing/2014/main" id="{E99931D2-1CC0-5E80-2DAE-CF3FB328E0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6340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1A18234-508F-6EC0-6E1B-E59B98536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5c87d61c_0_363:notes">
            <a:extLst>
              <a:ext uri="{FF2B5EF4-FFF2-40B4-BE49-F238E27FC236}">
                <a16:creationId xmlns:a16="http://schemas.microsoft.com/office/drawing/2014/main" id="{B86A48A8-97D4-37FB-84E7-C134AF8EE6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c85c87d61c_0_363:notes">
            <a:extLst>
              <a:ext uri="{FF2B5EF4-FFF2-40B4-BE49-F238E27FC236}">
                <a16:creationId xmlns:a16="http://schemas.microsoft.com/office/drawing/2014/main" id="{B54C4E4D-92C8-AAA0-1606-00DC2E35DF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3932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54A38519-AF02-85B7-712D-D152B78DC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5c87d61c_0_363:notes">
            <a:extLst>
              <a:ext uri="{FF2B5EF4-FFF2-40B4-BE49-F238E27FC236}">
                <a16:creationId xmlns:a16="http://schemas.microsoft.com/office/drawing/2014/main" id="{62EBE4FD-ED74-4640-01E2-DCFDEF22DC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c85c87d61c_0_363:notes">
            <a:extLst>
              <a:ext uri="{FF2B5EF4-FFF2-40B4-BE49-F238E27FC236}">
                <a16:creationId xmlns:a16="http://schemas.microsoft.com/office/drawing/2014/main" id="{992ADE49-1CB4-1806-80AB-501E9A3A33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5171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9836BC2D-AC89-8378-6300-627CA4508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5c87d61c_0_363:notes">
            <a:extLst>
              <a:ext uri="{FF2B5EF4-FFF2-40B4-BE49-F238E27FC236}">
                <a16:creationId xmlns:a16="http://schemas.microsoft.com/office/drawing/2014/main" id="{108A7BFB-872E-9512-9F78-643B267100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c85c87d61c_0_363:notes">
            <a:extLst>
              <a:ext uri="{FF2B5EF4-FFF2-40B4-BE49-F238E27FC236}">
                <a16:creationId xmlns:a16="http://schemas.microsoft.com/office/drawing/2014/main" id="{2A7C105C-F8CE-DFB2-E471-04ABAF81DB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9175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91045C81-128D-621C-A278-89F2F95B9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5c87d61c_0_363:notes">
            <a:extLst>
              <a:ext uri="{FF2B5EF4-FFF2-40B4-BE49-F238E27FC236}">
                <a16:creationId xmlns:a16="http://schemas.microsoft.com/office/drawing/2014/main" id="{B50F6768-7A16-1275-F079-7A4334A2A9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c85c87d61c_0_363:notes">
            <a:extLst>
              <a:ext uri="{FF2B5EF4-FFF2-40B4-BE49-F238E27FC236}">
                <a16:creationId xmlns:a16="http://schemas.microsoft.com/office/drawing/2014/main" id="{CEE6BF46-9FB9-B74E-CA7A-97516AAA47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8985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94403826-5339-7AA9-2767-A0ED1EEDE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5c87d61c_0_363:notes">
            <a:extLst>
              <a:ext uri="{FF2B5EF4-FFF2-40B4-BE49-F238E27FC236}">
                <a16:creationId xmlns:a16="http://schemas.microsoft.com/office/drawing/2014/main" id="{49CBCEF8-BD00-5AAC-196F-FE5C3F2BC6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c85c87d61c_0_363:notes">
            <a:extLst>
              <a:ext uri="{FF2B5EF4-FFF2-40B4-BE49-F238E27FC236}">
                <a16:creationId xmlns:a16="http://schemas.microsoft.com/office/drawing/2014/main" id="{3DEA7106-8F59-B20F-E0A2-05CE39BF90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1812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d35af67d27_0_1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3d35af67d27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3FEEAA7E-C825-3C09-D97B-9D003EC11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5c87d61c_0_363:notes">
            <a:extLst>
              <a:ext uri="{FF2B5EF4-FFF2-40B4-BE49-F238E27FC236}">
                <a16:creationId xmlns:a16="http://schemas.microsoft.com/office/drawing/2014/main" id="{51D2FB8F-65DB-B0B9-695F-60AF02521A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c85c87d61c_0_363:notes">
            <a:extLst>
              <a:ext uri="{FF2B5EF4-FFF2-40B4-BE49-F238E27FC236}">
                <a16:creationId xmlns:a16="http://schemas.microsoft.com/office/drawing/2014/main" id="{CBFD3BA1-7D75-F838-25BE-607682B9A7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3374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3E588F9C-36C5-3263-37C4-DA1E0DAC4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5c87d61c_0_363:notes">
            <a:extLst>
              <a:ext uri="{FF2B5EF4-FFF2-40B4-BE49-F238E27FC236}">
                <a16:creationId xmlns:a16="http://schemas.microsoft.com/office/drawing/2014/main" id="{E5E37D40-AF06-B021-723B-B8B61764EB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c85c87d61c_0_363:notes">
            <a:extLst>
              <a:ext uri="{FF2B5EF4-FFF2-40B4-BE49-F238E27FC236}">
                <a16:creationId xmlns:a16="http://schemas.microsoft.com/office/drawing/2014/main" id="{4335B82B-CD6F-37E4-D351-E952F5EBDA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8277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A5888AD2-5351-AAEE-CB95-53204FDBE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5c87d61c_0_363:notes">
            <a:extLst>
              <a:ext uri="{FF2B5EF4-FFF2-40B4-BE49-F238E27FC236}">
                <a16:creationId xmlns:a16="http://schemas.microsoft.com/office/drawing/2014/main" id="{DB257EA7-3455-B1BA-4B36-6D09585618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c85c87d61c_0_363:notes">
            <a:extLst>
              <a:ext uri="{FF2B5EF4-FFF2-40B4-BE49-F238E27FC236}">
                <a16:creationId xmlns:a16="http://schemas.microsoft.com/office/drawing/2014/main" id="{0F72D0BC-59FE-336A-E8EB-3278A461A8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6115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0CB8D092-C6D8-C307-0767-0F2E06399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5c87d61c_0_363:notes">
            <a:extLst>
              <a:ext uri="{FF2B5EF4-FFF2-40B4-BE49-F238E27FC236}">
                <a16:creationId xmlns:a16="http://schemas.microsoft.com/office/drawing/2014/main" id="{595FA3CF-68A1-EBCB-3618-6BA6DC7685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c85c87d61c_0_363:notes">
            <a:extLst>
              <a:ext uri="{FF2B5EF4-FFF2-40B4-BE49-F238E27FC236}">
                <a16:creationId xmlns:a16="http://schemas.microsoft.com/office/drawing/2014/main" id="{77DE5A85-6F5C-C1DA-F664-710C689B22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9325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d35af67d27_0_2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g3d35af67d27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638B5161-0839-4F04-05E1-AF0A2D920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5c87d61c_0_363:notes">
            <a:extLst>
              <a:ext uri="{FF2B5EF4-FFF2-40B4-BE49-F238E27FC236}">
                <a16:creationId xmlns:a16="http://schemas.microsoft.com/office/drawing/2014/main" id="{D7034F98-2854-08FA-24C3-3D633AA582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c85c87d61c_0_363:notes">
            <a:extLst>
              <a:ext uri="{FF2B5EF4-FFF2-40B4-BE49-F238E27FC236}">
                <a16:creationId xmlns:a16="http://schemas.microsoft.com/office/drawing/2014/main" id="{1979118C-88F7-B95C-C32B-B26C07FBA9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1884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6E882E96-EDF6-FDC6-389D-9AD571DA0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5c87d61c_0_363:notes">
            <a:extLst>
              <a:ext uri="{FF2B5EF4-FFF2-40B4-BE49-F238E27FC236}">
                <a16:creationId xmlns:a16="http://schemas.microsoft.com/office/drawing/2014/main" id="{B9FEF403-229B-8430-CD80-43E07A0812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c85c87d61c_0_363:notes">
            <a:extLst>
              <a:ext uri="{FF2B5EF4-FFF2-40B4-BE49-F238E27FC236}">
                <a16:creationId xmlns:a16="http://schemas.microsoft.com/office/drawing/2014/main" id="{13DD01C5-F3C8-175D-8185-4B07F33061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9176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18E5F3C8-2716-71F7-0B10-D82823E16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5c87d61c_0_363:notes">
            <a:extLst>
              <a:ext uri="{FF2B5EF4-FFF2-40B4-BE49-F238E27FC236}">
                <a16:creationId xmlns:a16="http://schemas.microsoft.com/office/drawing/2014/main" id="{3E4F8B67-0654-D64E-2053-B43CEA68BF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c85c87d61c_0_363:notes">
            <a:extLst>
              <a:ext uri="{FF2B5EF4-FFF2-40B4-BE49-F238E27FC236}">
                <a16:creationId xmlns:a16="http://schemas.microsoft.com/office/drawing/2014/main" id="{CE52DD4D-51E6-D292-888B-54F188784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308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8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w Title Slide">
  <p:cSld name="TITLE_AND_BODY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6343288" y="4663389"/>
            <a:ext cx="2100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2" name="Google Shape;52;p13"/>
          <p:cNvSpPr/>
          <p:nvPr/>
        </p:nvSpPr>
        <p:spPr>
          <a:xfrm>
            <a:off x="0" y="2514600"/>
            <a:ext cx="8686800" cy="20574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2895600" y="4572000"/>
            <a:ext cx="2895600" cy="570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3"/>
          <p:cNvSpPr/>
          <p:nvPr/>
        </p:nvSpPr>
        <p:spPr>
          <a:xfrm>
            <a:off x="0" y="4572000"/>
            <a:ext cx="2895600" cy="570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5791200" y="4572000"/>
            <a:ext cx="2895600" cy="57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13" descr="Picture 10"/>
          <p:cNvPicPr preferRelativeResize="0"/>
          <p:nvPr/>
        </p:nvPicPr>
        <p:blipFill rotWithShape="1">
          <a:blip r:embed="rId2">
            <a:alphaModFix/>
          </a:blip>
          <a:srcRect b="28592"/>
          <a:stretch/>
        </p:blipFill>
        <p:spPr>
          <a:xfrm>
            <a:off x="76200" y="2514600"/>
            <a:ext cx="2057400" cy="148471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-30482" y="3943351"/>
            <a:ext cx="21183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lang="en-GB" sz="2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GB"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2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/>
          </p:nvPr>
        </p:nvSpPr>
        <p:spPr>
          <a:xfrm>
            <a:off x="2667000" y="2923546"/>
            <a:ext cx="6019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1pPr>
            <a:lvl2pPr lvl="1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lvl="2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lvl="3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lvl="4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lvl="5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6pPr>
            <a:lvl7pPr lvl="6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7pPr>
            <a:lvl8pPr lvl="7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8pPr>
            <a:lvl9pPr lvl="8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bg>
      <p:bgPr>
        <a:solidFill>
          <a:srgbClr val="FFFFFF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descr="Picture 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0" y="3211116"/>
            <a:ext cx="9144000" cy="19323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  <a:effectLst>
            <a:outerShdw blurRad="28575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2" name="Google Shape;62;p14" descr="Picture 8"/>
          <p:cNvPicPr preferRelativeResize="0"/>
          <p:nvPr/>
        </p:nvPicPr>
        <p:blipFill rotWithShape="1">
          <a:blip r:embed="rId3">
            <a:alphaModFix/>
          </a:blip>
          <a:srcRect t="2678" b="2678"/>
          <a:stretch/>
        </p:blipFill>
        <p:spPr>
          <a:xfrm>
            <a:off x="6629401" y="0"/>
            <a:ext cx="2193923" cy="51911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>
            <a:off x="2882900" y="5081588"/>
            <a:ext cx="2895600" cy="570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-12700" y="5081588"/>
            <a:ext cx="2895600" cy="570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5778500" y="5081588"/>
            <a:ext cx="2895600" cy="57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6903719" y="571501"/>
            <a:ext cx="21183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GB"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100"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04800" y="3486150"/>
            <a:ext cx="84582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1"/>
            </a:lvl1pPr>
            <a:lvl2pPr marL="914400" lvl="1" indent="-4191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○"/>
              <a:defRPr sz="3000" b="1"/>
            </a:lvl2pPr>
            <a:lvl3pPr marL="1371600" lvl="2" indent="-4191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■"/>
              <a:defRPr sz="3000" b="1"/>
            </a:lvl3pPr>
            <a:lvl4pPr marL="1828800" lvl="3" indent="-4191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  <a:defRPr sz="3000" b="1"/>
            </a:lvl4pPr>
            <a:lvl5pPr marL="2286000" lvl="4" indent="-4191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○"/>
              <a:defRPr sz="3000" b="1"/>
            </a:lvl5pPr>
            <a:lvl6pPr marL="2743200" lvl="5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6343288" y="4663389"/>
            <a:ext cx="210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w_Title and Content">
  <p:cSld name="New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113065"/>
            <a:ext cx="9143998" cy="3043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643304" y="48924"/>
            <a:ext cx="69915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643304" y="1200151"/>
            <a:ext cx="7620000" cy="20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4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04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9845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 sz="11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w Title Slide" type="tx">
  <p:cSld name="TITLE_AND_BOD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sldNum" idx="12"/>
          </p:nvPr>
        </p:nvSpPr>
        <p:spPr>
          <a:xfrm>
            <a:off x="6343288" y="4663389"/>
            <a:ext cx="210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9" name="Google Shape;79;p17"/>
          <p:cNvSpPr/>
          <p:nvPr/>
        </p:nvSpPr>
        <p:spPr>
          <a:xfrm>
            <a:off x="0" y="2514600"/>
            <a:ext cx="8686800" cy="20574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2895600" y="4572000"/>
            <a:ext cx="2895600" cy="570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0" y="4572000"/>
            <a:ext cx="2895600" cy="570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5791200" y="4572000"/>
            <a:ext cx="2895600" cy="57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17" descr="Picture 10"/>
          <p:cNvPicPr preferRelativeResize="0"/>
          <p:nvPr/>
        </p:nvPicPr>
        <p:blipFill rotWithShape="1">
          <a:blip r:embed="rId2">
            <a:alphaModFix/>
          </a:blip>
          <a:srcRect b="28592"/>
          <a:stretch/>
        </p:blipFill>
        <p:spPr>
          <a:xfrm>
            <a:off x="76200" y="2514600"/>
            <a:ext cx="2057400" cy="148471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-30482" y="3943351"/>
            <a:ext cx="21183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lang="en-GB" sz="2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GB"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2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2667000" y="2923546"/>
            <a:ext cx="6019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1pPr>
            <a:lvl2pPr lvl="1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2pPr>
            <a:lvl3pPr lvl="2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3pPr>
            <a:lvl4pPr lvl="3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4pPr>
            <a:lvl5pPr lvl="4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5pPr>
            <a:lvl6pPr lvl="5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6pPr>
            <a:lvl7pPr lvl="6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7pPr>
            <a:lvl8pPr lvl="7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8pPr>
            <a:lvl9pPr lvl="8" algn="l">
              <a:lnSpc>
                <a:spcPct val="2222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bg>
      <p:bgPr>
        <a:solidFill>
          <a:srgbClr val="FFFF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descr="Picture 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/>
          <p:nvPr/>
        </p:nvSpPr>
        <p:spPr>
          <a:xfrm>
            <a:off x="0" y="3211116"/>
            <a:ext cx="9144000" cy="19323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  <a:effectLst>
            <a:outerShdw blurRad="28575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9" name="Google Shape;89;p18" descr="Picture 8"/>
          <p:cNvPicPr preferRelativeResize="0"/>
          <p:nvPr/>
        </p:nvPicPr>
        <p:blipFill rotWithShape="1">
          <a:blip r:embed="rId3">
            <a:alphaModFix/>
          </a:blip>
          <a:srcRect t="2678" b="2678"/>
          <a:stretch/>
        </p:blipFill>
        <p:spPr>
          <a:xfrm>
            <a:off x="6629401" y="0"/>
            <a:ext cx="2193923" cy="5191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/>
          <p:nvPr/>
        </p:nvSpPr>
        <p:spPr>
          <a:xfrm>
            <a:off x="2882900" y="5081588"/>
            <a:ext cx="2895600" cy="570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-12700" y="5081588"/>
            <a:ext cx="2895600" cy="570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p18"/>
          <p:cNvSpPr/>
          <p:nvPr/>
        </p:nvSpPr>
        <p:spPr>
          <a:xfrm>
            <a:off x="5778500" y="5081588"/>
            <a:ext cx="2895600" cy="57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6903719" y="571501"/>
            <a:ext cx="21183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GB"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100"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04800" y="3486150"/>
            <a:ext cx="84582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1"/>
            </a:lvl1pPr>
            <a:lvl2pPr marL="914400" lvl="1" indent="-4191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–"/>
              <a:defRPr sz="3000" b="1"/>
            </a:lvl2pPr>
            <a:lvl3pPr marL="1371600" lvl="2" indent="-4191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  <a:defRPr sz="3000" b="1"/>
            </a:lvl3pPr>
            <a:lvl4pPr marL="1828800" lvl="3" indent="-4191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–"/>
              <a:defRPr sz="3000" b="1"/>
            </a:lvl4pPr>
            <a:lvl5pPr marL="2286000" lvl="4" indent="-4191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»"/>
              <a:defRPr sz="3000" b="1"/>
            </a:lvl5pPr>
            <a:lvl6pPr marL="2743200" lvl="5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6343288" y="4663389"/>
            <a:ext cx="210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w_Title and Content">
  <p:cSld name="New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113065"/>
            <a:ext cx="9143998" cy="3043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643304" y="48924"/>
            <a:ext cx="69915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643304" y="1200151"/>
            <a:ext cx="7620000" cy="20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/>
          <p:cNvPicPr preferRelativeResize="0"/>
          <p:nvPr/>
        </p:nvPicPr>
        <p:blipFill rotWithShape="1">
          <a:blip r:embed="rId2">
            <a:alphaModFix/>
          </a:blip>
          <a:srcRect t="3184" b="1186"/>
          <a:stretch/>
        </p:blipFill>
        <p:spPr>
          <a:xfrm>
            <a:off x="1" y="0"/>
            <a:ext cx="9144000" cy="514350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05" name="Google Shape;10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858330" cy="5143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85950" y="1912985"/>
            <a:ext cx="7260141" cy="1344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3" y="-335515"/>
            <a:ext cx="8058149" cy="604361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1"/>
          <p:cNvSpPr txBox="1">
            <a:spLocks noGrp="1"/>
          </p:cNvSpPr>
          <p:nvPr>
            <p:ph type="ctrTitle"/>
          </p:nvPr>
        </p:nvSpPr>
        <p:spPr>
          <a:xfrm>
            <a:off x="3429000" y="1912327"/>
            <a:ext cx="54981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subTitle" idx="1"/>
          </p:nvPr>
        </p:nvSpPr>
        <p:spPr>
          <a:xfrm>
            <a:off x="4431323" y="3339473"/>
            <a:ext cx="44958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C1573"/>
              </a:buClr>
              <a:buSzPts val="1300"/>
              <a:buNone/>
              <a:defRPr sz="13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2474" y="672656"/>
            <a:ext cx="2322473" cy="813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83587" y="3600450"/>
            <a:ext cx="3843537" cy="1600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>
            <a:spLocks noGrp="1"/>
          </p:cNvSpPr>
          <p:nvPr>
            <p:ph type="body" idx="2"/>
          </p:nvPr>
        </p:nvSpPr>
        <p:spPr>
          <a:xfrm>
            <a:off x="3892059" y="3620233"/>
            <a:ext cx="50352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1573"/>
              </a:buClr>
              <a:buSzPts val="1300"/>
              <a:buNone/>
              <a:defRPr sz="1300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3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2"/>
          <p:cNvPicPr preferRelativeResize="0"/>
          <p:nvPr/>
        </p:nvPicPr>
        <p:blipFill rotWithShape="1">
          <a:blip r:embed="rId2">
            <a:alphaModFix amt="50000"/>
          </a:blip>
          <a:srcRect l="179" t="-546" r="179" b="-536"/>
          <a:stretch/>
        </p:blipFill>
        <p:spPr>
          <a:xfrm>
            <a:off x="3563107" y="1667742"/>
            <a:ext cx="2017786" cy="2047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113065"/>
            <a:ext cx="9143998" cy="30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07501" y="1861587"/>
            <a:ext cx="6636350" cy="159792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 txBox="1"/>
          <p:nvPr/>
        </p:nvSpPr>
        <p:spPr>
          <a:xfrm>
            <a:off x="1373631" y="1931342"/>
            <a:ext cx="6500400" cy="14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Helvetica Neue"/>
              <a:buNone/>
            </a:pPr>
            <a:r>
              <a:rPr lang="en-GB" sz="27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Click to edit Session title</a:t>
            </a:r>
            <a:endParaRPr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3"/>
          <p:cNvPicPr preferRelativeResize="0"/>
          <p:nvPr/>
        </p:nvPicPr>
        <p:blipFill rotWithShape="1">
          <a:blip r:embed="rId2">
            <a:alphaModFix amt="50000"/>
          </a:blip>
          <a:srcRect l="179" t="-546" r="179" b="-536"/>
          <a:stretch/>
        </p:blipFill>
        <p:spPr>
          <a:xfrm>
            <a:off x="3563107" y="1667742"/>
            <a:ext cx="2017786" cy="2047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113065"/>
            <a:ext cx="9143998" cy="30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20427"/>
            <a:ext cx="8001002" cy="57327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3"/>
          <p:cNvSpPr txBox="1">
            <a:spLocks noGrp="1"/>
          </p:cNvSpPr>
          <p:nvPr>
            <p:ph type="title"/>
          </p:nvPr>
        </p:nvSpPr>
        <p:spPr>
          <a:xfrm>
            <a:off x="628650" y="120427"/>
            <a:ext cx="6991500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  <a:defRPr sz="24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3"/>
          <p:cNvSpPr txBox="1">
            <a:spLocks noGrp="1"/>
          </p:cNvSpPr>
          <p:nvPr>
            <p:ph type="body" idx="1"/>
          </p:nvPr>
        </p:nvSpPr>
        <p:spPr>
          <a:xfrm>
            <a:off x="643304" y="1200151"/>
            <a:ext cx="7620000" cy="20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23"/>
          <p:cNvSpPr txBox="1">
            <a:spLocks noGrp="1"/>
          </p:cNvSpPr>
          <p:nvPr>
            <p:ph type="body" idx="2"/>
          </p:nvPr>
        </p:nvSpPr>
        <p:spPr>
          <a:xfrm>
            <a:off x="246935" y="857251"/>
            <a:ext cx="83976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1C1573"/>
              </a:buClr>
              <a:buSzPts val="1500"/>
              <a:buNone/>
              <a:defRPr sz="1500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18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15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1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C1573"/>
              </a:buClr>
              <a:buSzPts val="1400"/>
              <a:buChar char="•"/>
              <a:defRPr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 type="secHead">
  <p:cSld name="SECTION_HEADER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4"/>
          <p:cNvPicPr preferRelativeResize="0"/>
          <p:nvPr/>
        </p:nvPicPr>
        <p:blipFill rotWithShape="1">
          <a:blip r:embed="rId2">
            <a:alphaModFix amt="50000"/>
          </a:blip>
          <a:srcRect l="179" t="-546" r="179" b="-536"/>
          <a:stretch/>
        </p:blipFill>
        <p:spPr>
          <a:xfrm>
            <a:off x="3563107" y="1667742"/>
            <a:ext cx="2017786" cy="204700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4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0860"/>
              </a:buClr>
              <a:buSzPts val="4100"/>
              <a:buFont typeface="Helvetica Neue"/>
              <a:buNone/>
              <a:defRPr sz="4100" b="1">
                <a:solidFill>
                  <a:srgbClr val="15086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4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 b="0" i="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129" name="Google Shape;129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113065"/>
            <a:ext cx="9143998" cy="30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>
            <a:spLocks noGrp="1"/>
          </p:cNvSpPr>
          <p:nvPr>
            <p:ph type="title"/>
          </p:nvPr>
        </p:nvSpPr>
        <p:spPr>
          <a:xfrm>
            <a:off x="3893438" y="1001078"/>
            <a:ext cx="13572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300"/>
              <a:buNone/>
              <a:defRPr sz="41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5"/>
          <p:cNvSpPr txBox="1">
            <a:spLocks noGrp="1"/>
          </p:cNvSpPr>
          <p:nvPr>
            <p:ph type="body" idx="1"/>
          </p:nvPr>
        </p:nvSpPr>
        <p:spPr>
          <a:xfrm>
            <a:off x="687704" y="2131789"/>
            <a:ext cx="7705500" cy="22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2100"/>
              <a:buNone/>
              <a:defRPr sz="1800" b="0" i="0">
                <a:solidFill>
                  <a:srgbClr val="C55A1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SzPts val="1500"/>
              <a:buNone/>
              <a:defRPr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5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34" name="Google Shape;134;p2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35" name="Google Shape;135;p25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_1"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6" descr="Picture 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6"/>
          <p:cNvSpPr/>
          <p:nvPr/>
        </p:nvSpPr>
        <p:spPr>
          <a:xfrm>
            <a:off x="0" y="3211116"/>
            <a:ext cx="9144000" cy="19323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  <a:effectLst>
            <a:outerShdw blurRad="28575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9" name="Google Shape;139;p26" descr="Picture 8"/>
          <p:cNvPicPr preferRelativeResize="0"/>
          <p:nvPr/>
        </p:nvPicPr>
        <p:blipFill rotWithShape="1">
          <a:blip r:embed="rId3">
            <a:alphaModFix/>
          </a:blip>
          <a:srcRect t="2678" b="2678"/>
          <a:stretch/>
        </p:blipFill>
        <p:spPr>
          <a:xfrm>
            <a:off x="6629401" y="0"/>
            <a:ext cx="2193923" cy="519113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6"/>
          <p:cNvSpPr/>
          <p:nvPr/>
        </p:nvSpPr>
        <p:spPr>
          <a:xfrm>
            <a:off x="2882900" y="5081588"/>
            <a:ext cx="2895600" cy="570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" name="Google Shape;141;p26"/>
          <p:cNvSpPr/>
          <p:nvPr/>
        </p:nvSpPr>
        <p:spPr>
          <a:xfrm>
            <a:off x="-12700" y="5081588"/>
            <a:ext cx="2895600" cy="570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26"/>
          <p:cNvSpPr/>
          <p:nvPr/>
        </p:nvSpPr>
        <p:spPr>
          <a:xfrm>
            <a:off x="5778500" y="5081588"/>
            <a:ext cx="2895600" cy="57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6903719" y="571501"/>
            <a:ext cx="21183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GB"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100"/>
          </a:p>
        </p:txBody>
      </p:sp>
      <p:sp>
        <p:nvSpPr>
          <p:cNvPr id="144" name="Google Shape;144;p26"/>
          <p:cNvSpPr txBox="1">
            <a:spLocks noGrp="1"/>
          </p:cNvSpPr>
          <p:nvPr>
            <p:ph type="body" idx="1"/>
          </p:nvPr>
        </p:nvSpPr>
        <p:spPr>
          <a:xfrm>
            <a:off x="304800" y="3486150"/>
            <a:ext cx="84582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rm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1"/>
            </a:lvl1pPr>
            <a:lvl2pPr marL="914400" lvl="1" indent="-4191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  <a:defRPr sz="3000" b="1"/>
            </a:lvl2pPr>
            <a:lvl3pPr marL="1371600" lvl="2" indent="-4191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  <a:defRPr sz="3000" b="1"/>
            </a:lvl3pPr>
            <a:lvl4pPr marL="1828800" lvl="3" indent="-4191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  <a:defRPr sz="3000" b="1"/>
            </a:lvl4pPr>
            <a:lvl5pPr marL="2286000" lvl="4" indent="-4191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  <a:defRPr sz="3000" b="1"/>
            </a:lvl5pPr>
            <a:lvl6pPr marL="2743200" lvl="5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26"/>
          <p:cNvSpPr txBox="1">
            <a:spLocks noGrp="1"/>
          </p:cNvSpPr>
          <p:nvPr>
            <p:ph type="sldNum" idx="12"/>
          </p:nvPr>
        </p:nvSpPr>
        <p:spPr>
          <a:xfrm>
            <a:off x="6343288" y="4663389"/>
            <a:ext cx="210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»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6343288" y="4663389"/>
            <a:ext cx="210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sp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  <a:defRPr sz="3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  <a:defRPr sz="3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  <a:defRPr sz="3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  <a:defRPr sz="3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  <a:defRPr sz="3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  <a:defRPr sz="3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  <a:defRPr sz="3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  <a:defRPr sz="3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  <a:defRPr sz="3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>
            <a:spLocks noGrp="1"/>
          </p:cNvSpPr>
          <p:nvPr>
            <p:ph type="title"/>
          </p:nvPr>
        </p:nvSpPr>
        <p:spPr>
          <a:xfrm>
            <a:off x="2667000" y="2923546"/>
            <a:ext cx="6019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lang="en-GB"/>
              <a:t>ML SYSTEM OPTIMIZATION</a:t>
            </a:r>
            <a:endParaRPr/>
          </a:p>
          <a:p>
            <a:pPr marL="0" lvl="0" indent="0" algn="l" rtl="0">
              <a:lnSpc>
                <a:spcPct val="90909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lang="en-GB" sz="2600"/>
              <a:t>                    Session 10</a:t>
            </a:r>
            <a:endParaRPr sz="2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>
            <a:spLocks noGrp="1"/>
          </p:cNvSpPr>
          <p:nvPr>
            <p:ph type="ctrTitle" idx="4294967295"/>
          </p:nvPr>
        </p:nvSpPr>
        <p:spPr>
          <a:xfrm>
            <a:off x="1200150" y="3429000"/>
            <a:ext cx="77151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000"/>
              <a:buFont typeface="Arial"/>
              <a:buNone/>
            </a:pPr>
            <a:r>
              <a:rPr lang="en-GB" sz="3000">
                <a:solidFill>
                  <a:schemeClr val="dk1"/>
                </a:solidFill>
              </a:rPr>
              <a:t>M3: Scale-Out Systems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>
            <a:spLocks noGrp="1"/>
          </p:cNvSpPr>
          <p:nvPr>
            <p:ph type="ctrTitle" idx="4294967295"/>
          </p:nvPr>
        </p:nvSpPr>
        <p:spPr>
          <a:xfrm>
            <a:off x="1200150" y="3429000"/>
            <a:ext cx="77151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000"/>
              <a:buFont typeface="Arial"/>
              <a:buNone/>
            </a:pPr>
            <a:r>
              <a:rPr lang="en-GB" sz="3000"/>
              <a:t>Baseline Synchronization Protocols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>
            <a:spLocks noGrp="1"/>
          </p:cNvSpPr>
          <p:nvPr>
            <p:ph type="title"/>
          </p:nvPr>
        </p:nvSpPr>
        <p:spPr>
          <a:xfrm>
            <a:off x="643304" y="310179"/>
            <a:ext cx="69915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GB" dirty="0">
                <a:latin typeface="Arial"/>
                <a:ea typeface="Arial"/>
                <a:cs typeface="Arial"/>
                <a:sym typeface="Arial"/>
              </a:rPr>
              <a:t>Bulk Synchronous Parallel (BSP)</a:t>
            </a:r>
            <a:endParaRPr dirty="0"/>
          </a:p>
        </p:txBody>
      </p:sp>
      <p:sp>
        <p:nvSpPr>
          <p:cNvPr id="93" name="Google Shape;93;p20"/>
          <p:cNvSpPr txBox="1">
            <a:spLocks noGrp="1"/>
          </p:cNvSpPr>
          <p:nvPr>
            <p:ph type="body" idx="1"/>
          </p:nvPr>
        </p:nvSpPr>
        <p:spPr>
          <a:xfrm>
            <a:off x="643304" y="998479"/>
            <a:ext cx="7620000" cy="20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>
              <a:lnSpc>
                <a:spcPct val="115000"/>
              </a:lnSpc>
              <a:spcBef>
                <a:spcPts val="0"/>
              </a:spcBef>
              <a:buChar char="●"/>
            </a:pPr>
            <a:r>
              <a:rPr lang="en-US" dirty="0"/>
              <a:t>Uses </a:t>
            </a:r>
            <a:r>
              <a:rPr lang="en-US" b="1" dirty="0"/>
              <a:t>barrier synchronization</a:t>
            </a:r>
            <a:r>
              <a:rPr lang="en-US" dirty="0"/>
              <a:t>, where all workers must complete their computation before moving to the next step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har char="●"/>
            </a:pPr>
            <a:r>
              <a:rPr lang="en-US" dirty="0"/>
              <a:t>Training proceeds in </a:t>
            </a:r>
            <a:r>
              <a:rPr lang="en-US" b="1" dirty="0"/>
              <a:t>strict, synchronized iterations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har char="●"/>
            </a:pPr>
            <a:r>
              <a:rPr lang="en-US" dirty="0"/>
              <a:t>Parameter servers update the global model </a:t>
            </a:r>
            <a:r>
              <a:rPr lang="en-US" b="1" dirty="0"/>
              <a:t>only after receiving gradients from all workers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har char="●"/>
            </a:pPr>
            <a:r>
              <a:rPr lang="en-US" dirty="0"/>
              <a:t>Ensures:</a:t>
            </a:r>
          </a:p>
          <a:p>
            <a:pPr lvl="1" indent="-323850">
              <a:lnSpc>
                <a:spcPct val="115000"/>
              </a:lnSpc>
              <a:spcBef>
                <a:spcPts val="0"/>
              </a:spcBef>
              <a:buSzPts val="1500"/>
              <a:buChar char="○"/>
            </a:pPr>
            <a:r>
              <a:rPr lang="en-US" sz="1500" dirty="0"/>
              <a:t>Fully </a:t>
            </a:r>
            <a:r>
              <a:rPr lang="en-US" sz="1500" b="1" dirty="0"/>
              <a:t>consistent model updates</a:t>
            </a:r>
          </a:p>
          <a:p>
            <a:pPr lvl="1" indent="-323850">
              <a:lnSpc>
                <a:spcPct val="115000"/>
              </a:lnSpc>
              <a:spcBef>
                <a:spcPts val="0"/>
              </a:spcBef>
              <a:buSzPts val="1500"/>
              <a:buChar char="○"/>
            </a:pPr>
            <a:r>
              <a:rPr lang="en-US" sz="1500" dirty="0"/>
              <a:t>Equivalent behavior to single-node training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har char="●"/>
            </a:pPr>
            <a:r>
              <a:rPr lang="en-US" dirty="0"/>
              <a:t>Major limitation:</a:t>
            </a:r>
          </a:p>
          <a:p>
            <a:pPr lvl="1" indent="-323850">
              <a:lnSpc>
                <a:spcPct val="115000"/>
              </a:lnSpc>
              <a:spcBef>
                <a:spcPts val="0"/>
              </a:spcBef>
              <a:buSzPts val="1500"/>
              <a:buChar char="○"/>
            </a:pPr>
            <a:r>
              <a:rPr lang="en-US" sz="1500" b="1" dirty="0"/>
              <a:t>Straggler problem</a:t>
            </a:r>
            <a:r>
              <a:rPr lang="en-US" sz="1500" dirty="0"/>
              <a:t> – slow workers delay the entire system</a:t>
            </a:r>
          </a:p>
          <a:p>
            <a:pPr lvl="1" indent="-323850">
              <a:lnSpc>
                <a:spcPct val="115000"/>
              </a:lnSpc>
              <a:spcBef>
                <a:spcPts val="0"/>
              </a:spcBef>
              <a:buSzPts val="1500"/>
              <a:buChar char="○"/>
            </a:pPr>
            <a:r>
              <a:rPr lang="en-US" sz="1500" dirty="0"/>
              <a:t>Reduces overall system efficiency in large clusters</a:t>
            </a:r>
            <a:endParaRPr lang="en-US" sz="15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C2D647F9-4D46-0184-6591-C88A9BBE0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>
            <a:extLst>
              <a:ext uri="{FF2B5EF4-FFF2-40B4-BE49-F238E27FC236}">
                <a16:creationId xmlns:a16="http://schemas.microsoft.com/office/drawing/2014/main" id="{EC25FD80-0BEC-CE7F-CDD2-70FC505270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304" y="310179"/>
            <a:ext cx="69915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GB" dirty="0">
                <a:latin typeface="Arial"/>
                <a:ea typeface="Arial"/>
                <a:cs typeface="Arial"/>
                <a:sym typeface="Arial"/>
              </a:rPr>
              <a:t>Asynchronous Parallel (ASP)</a:t>
            </a:r>
            <a:endParaRPr dirty="0"/>
          </a:p>
        </p:txBody>
      </p:sp>
      <p:sp>
        <p:nvSpPr>
          <p:cNvPr id="93" name="Google Shape;93;p20">
            <a:extLst>
              <a:ext uri="{FF2B5EF4-FFF2-40B4-BE49-F238E27FC236}">
                <a16:creationId xmlns:a16="http://schemas.microsoft.com/office/drawing/2014/main" id="{530B8F76-0CED-D5A4-1647-C49CA97C94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304" y="833478"/>
            <a:ext cx="7620000" cy="3656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  <a:buChar char="●"/>
            </a:pPr>
            <a:r>
              <a:rPr lang="en-US" dirty="0"/>
              <a:t>Removes synchronization barriers between workers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har char="●"/>
            </a:pPr>
            <a:r>
              <a:rPr lang="en-US" dirty="0"/>
              <a:t>Workers operate </a:t>
            </a:r>
            <a:r>
              <a:rPr lang="en-US" b="1" dirty="0"/>
              <a:t>independently</a:t>
            </a:r>
            <a:r>
              <a:rPr lang="en-US" dirty="0"/>
              <a:t> without waiting for others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har char="●"/>
            </a:pPr>
            <a:r>
              <a:rPr lang="en-US" dirty="0"/>
              <a:t>Each worker:</a:t>
            </a:r>
          </a:p>
          <a:p>
            <a:pPr lvl="1" indent="-323850">
              <a:lnSpc>
                <a:spcPct val="115000"/>
              </a:lnSpc>
              <a:spcBef>
                <a:spcPts val="0"/>
              </a:spcBef>
              <a:buSzPts val="1500"/>
              <a:buChar char="○"/>
            </a:pPr>
            <a:r>
              <a:rPr lang="en-US" sz="1500" dirty="0"/>
              <a:t>Fetches parameters</a:t>
            </a:r>
          </a:p>
          <a:p>
            <a:pPr lvl="1" indent="-323850">
              <a:lnSpc>
                <a:spcPct val="115000"/>
              </a:lnSpc>
              <a:spcBef>
                <a:spcPts val="0"/>
              </a:spcBef>
              <a:buSzPts val="1500"/>
              <a:buChar char="○"/>
            </a:pPr>
            <a:r>
              <a:rPr lang="en-US" sz="1500" dirty="0"/>
              <a:t>Computes gradients</a:t>
            </a:r>
          </a:p>
          <a:p>
            <a:pPr lvl="1" indent="-323850">
              <a:lnSpc>
                <a:spcPct val="115000"/>
              </a:lnSpc>
              <a:spcBef>
                <a:spcPts val="0"/>
              </a:spcBef>
              <a:buSzPts val="1500"/>
              <a:buChar char="○"/>
            </a:pPr>
            <a:r>
              <a:rPr lang="en-US" sz="1500" dirty="0"/>
              <a:t>Pushes updates immediately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har char="●"/>
            </a:pPr>
            <a:r>
              <a:rPr lang="en-US" dirty="0"/>
              <a:t>Parameter servers update model </a:t>
            </a:r>
            <a:r>
              <a:rPr lang="en-US" b="1" dirty="0"/>
              <a:t>continuously</a:t>
            </a:r>
            <a:r>
              <a:rPr lang="en-US" dirty="0"/>
              <a:t> as gradients arrive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har char="●"/>
            </a:pPr>
            <a:r>
              <a:rPr lang="en-US" dirty="0"/>
              <a:t>Advantages:</a:t>
            </a:r>
          </a:p>
          <a:p>
            <a:pPr lvl="1" indent="-323850">
              <a:lnSpc>
                <a:spcPct val="115000"/>
              </a:lnSpc>
              <a:spcBef>
                <a:spcPts val="0"/>
              </a:spcBef>
              <a:buSzPts val="1500"/>
              <a:buChar char="○"/>
            </a:pPr>
            <a:r>
              <a:rPr lang="en-US" sz="1500" dirty="0"/>
              <a:t>High training speed</a:t>
            </a:r>
          </a:p>
          <a:p>
            <a:pPr lvl="1" indent="-323850">
              <a:lnSpc>
                <a:spcPct val="115000"/>
              </a:lnSpc>
              <a:spcBef>
                <a:spcPts val="0"/>
              </a:spcBef>
              <a:buSzPts val="1500"/>
              <a:buChar char="○"/>
            </a:pPr>
            <a:r>
              <a:rPr lang="en-US" sz="1500" dirty="0"/>
              <a:t>Better resource utilization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Char char="●"/>
            </a:pPr>
            <a:r>
              <a:rPr lang="en-US" dirty="0"/>
              <a:t>Limitation:</a:t>
            </a:r>
          </a:p>
          <a:p>
            <a:pPr lvl="1" indent="-323850">
              <a:lnSpc>
                <a:spcPct val="115000"/>
              </a:lnSpc>
              <a:spcBef>
                <a:spcPts val="0"/>
              </a:spcBef>
              <a:buSzPts val="1500"/>
              <a:buChar char="○"/>
            </a:pPr>
            <a:r>
              <a:rPr lang="en-US" sz="1500" dirty="0"/>
              <a:t>Uses </a:t>
            </a:r>
            <a:r>
              <a:rPr lang="en-US" sz="1500" b="1" dirty="0"/>
              <a:t>stale gradients</a:t>
            </a:r>
            <a:r>
              <a:rPr lang="en-US" sz="1500" dirty="0"/>
              <a:t> (updates based on outdated parameters)</a:t>
            </a:r>
          </a:p>
          <a:p>
            <a:pPr lvl="1" indent="-323850">
              <a:lnSpc>
                <a:spcPct val="115000"/>
              </a:lnSpc>
              <a:spcBef>
                <a:spcPts val="0"/>
              </a:spcBef>
              <a:buSzPts val="1500"/>
              <a:buChar char="○"/>
            </a:pPr>
            <a:r>
              <a:rPr lang="en-US" sz="1500" dirty="0"/>
              <a:t>May affect convergence stability</a:t>
            </a:r>
          </a:p>
        </p:txBody>
      </p:sp>
    </p:spTree>
    <p:extLst>
      <p:ext uri="{BB962C8B-B14F-4D97-AF65-F5344CB8AC3E}">
        <p14:creationId xmlns:p14="http://schemas.microsoft.com/office/powerpoint/2010/main" val="723748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4A1526FE-BB28-0A92-0577-08C949153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>
            <a:extLst>
              <a:ext uri="{FF2B5EF4-FFF2-40B4-BE49-F238E27FC236}">
                <a16:creationId xmlns:a16="http://schemas.microsoft.com/office/drawing/2014/main" id="{142567EA-CC73-6396-B5C7-FEECFBEEB9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304" y="310179"/>
            <a:ext cx="69915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lvl="0"/>
            <a:r>
              <a:rPr lang="en-GB" dirty="0">
                <a:latin typeface="Arial"/>
                <a:ea typeface="Arial"/>
                <a:cs typeface="Arial"/>
                <a:sym typeface="Arial"/>
              </a:rPr>
              <a:t>BSP Synchronization in Parameter Server Model</a:t>
            </a:r>
            <a:endParaRPr dirty="0"/>
          </a:p>
        </p:txBody>
      </p:sp>
      <p:sp>
        <p:nvSpPr>
          <p:cNvPr id="93" name="Google Shape;93;p20">
            <a:extLst>
              <a:ext uri="{FF2B5EF4-FFF2-40B4-BE49-F238E27FC236}">
                <a16:creationId xmlns:a16="http://schemas.microsoft.com/office/drawing/2014/main" id="{02CD0767-1635-0814-9EA2-74B910AF23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304" y="833478"/>
            <a:ext cx="7620000" cy="3656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  <a:buChar char="●"/>
            </a:pPr>
            <a:r>
              <a:rPr lang="en-US" b="1" dirty="0"/>
              <a:t>Parallel Gradient Computation: </a:t>
            </a:r>
          </a:p>
          <a:p>
            <a:pPr lv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dirty="0"/>
              <a:t>Each worker k processes its local data and computes gradients independently:</a:t>
            </a:r>
          </a:p>
          <a:p>
            <a:pPr lvl="0" indent="0" algn="ctr">
              <a:lnSpc>
                <a:spcPct val="115000"/>
              </a:lnSpc>
              <a:spcBef>
                <a:spcPts val="1200"/>
              </a:spcBef>
              <a:buNone/>
            </a:pPr>
            <a:r>
              <a:rPr lang="en-US" dirty="0" err="1"/>
              <a:t>g</a:t>
            </a:r>
            <a:r>
              <a:rPr lang="en-US" baseline="-25000" dirty="0" err="1"/>
              <a:t>k</a:t>
            </a:r>
            <a:r>
              <a:rPr lang="en-US" dirty="0"/>
              <a:t>​ = ∇L</a:t>
            </a:r>
            <a:r>
              <a:rPr lang="en-US" baseline="-25000" dirty="0"/>
              <a:t>k</a:t>
            </a:r>
            <a:r>
              <a:rPr lang="en-US" dirty="0"/>
              <a:t>​(θ)</a:t>
            </a:r>
          </a:p>
          <a:p>
            <a:pPr lvl="0" indent="0">
              <a:lnSpc>
                <a:spcPct val="115000"/>
              </a:lnSpc>
              <a:spcBef>
                <a:spcPts val="1200"/>
              </a:spcBef>
              <a:buNone/>
            </a:pPr>
            <a:endParaRPr lang="en-US" dirty="0"/>
          </a:p>
          <a:p>
            <a:pPr lvl="0" indent="0">
              <a:lnSpc>
                <a:spcPct val="115000"/>
              </a:lnSpc>
              <a:spcBef>
                <a:spcPts val="1200"/>
              </a:spcBef>
              <a:buNone/>
            </a:pPr>
            <a:endParaRPr lang="en-US" dirty="0"/>
          </a:p>
          <a:p>
            <a:pPr lvl="0" indent="0">
              <a:lnSpc>
                <a:spcPct val="115000"/>
              </a:lnSpc>
              <a:spcBef>
                <a:spcPts val="1200"/>
              </a:spcBef>
              <a:buNone/>
            </a:pPr>
            <a:r>
              <a:rPr lang="en-US" dirty="0"/>
              <a:t>This allows multiple workers to perform computation simultaneously, improving efficiency.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buChar char="●"/>
            </a:pPr>
            <a:r>
              <a:rPr lang="en-US" b="1" dirty="0"/>
              <a:t>Barrier Synchronization:</a:t>
            </a:r>
            <a:br>
              <a:rPr lang="en-US" b="1" dirty="0"/>
            </a:br>
            <a:r>
              <a:rPr lang="en-US" dirty="0"/>
              <a:t> The parameter server </a:t>
            </a:r>
            <a:r>
              <a:rPr lang="en-US" b="1" dirty="0"/>
              <a:t>waits for gradients from all K workers</a:t>
            </a:r>
            <a:r>
              <a:rPr lang="en-US" dirty="0"/>
              <a:t> before proceeding.</a:t>
            </a:r>
            <a:br>
              <a:rPr lang="en-US" dirty="0"/>
            </a:br>
            <a:r>
              <a:rPr lang="en-US" dirty="0"/>
              <a:t> No update happens until every worker completes its computation → ensures strict synchronization.</a:t>
            </a:r>
          </a:p>
        </p:txBody>
      </p:sp>
      <p:pic>
        <p:nvPicPr>
          <p:cNvPr id="2" name="Google Shape;180;p32">
            <a:extLst>
              <a:ext uri="{FF2B5EF4-FFF2-40B4-BE49-F238E27FC236}">
                <a16:creationId xmlns:a16="http://schemas.microsoft.com/office/drawing/2014/main" id="{5D80F5A5-E193-934D-3755-C360FE1E529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0240" y="2007026"/>
            <a:ext cx="3673643" cy="9213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3663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975CBB6C-E163-3909-15C9-A0D7F0F6D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>
            <a:extLst>
              <a:ext uri="{FF2B5EF4-FFF2-40B4-BE49-F238E27FC236}">
                <a16:creationId xmlns:a16="http://schemas.microsoft.com/office/drawing/2014/main" id="{9B56F836-A4DD-10B0-51C7-62D8594625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304" y="310179"/>
            <a:ext cx="69915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lvl="0"/>
            <a:r>
              <a:rPr lang="en-GB" dirty="0">
                <a:latin typeface="Arial"/>
                <a:ea typeface="Arial"/>
                <a:cs typeface="Arial"/>
                <a:sym typeface="Arial"/>
              </a:rPr>
              <a:t>BSP Synchronization in Parameter Server Model</a:t>
            </a:r>
            <a:endParaRPr dirty="0"/>
          </a:p>
        </p:txBody>
      </p:sp>
      <p:sp>
        <p:nvSpPr>
          <p:cNvPr id="5" name="Google Shape;186;p33">
            <a:extLst>
              <a:ext uri="{FF2B5EF4-FFF2-40B4-BE49-F238E27FC236}">
                <a16:creationId xmlns:a16="http://schemas.microsoft.com/office/drawing/2014/main" id="{826AB8C2-2122-25F3-D7FC-65070D92E68E}"/>
              </a:ext>
            </a:extLst>
          </p:cNvPr>
          <p:cNvSpPr txBox="1"/>
          <p:nvPr/>
        </p:nvSpPr>
        <p:spPr>
          <a:xfrm>
            <a:off x="643300" y="740846"/>
            <a:ext cx="8221500" cy="41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 b="1" dirty="0">
                <a:solidFill>
                  <a:schemeClr val="dk1"/>
                </a:solidFill>
              </a:rPr>
              <a:t>Global Parameter Update:</a:t>
            </a:r>
            <a:br>
              <a:rPr lang="en-GB" sz="1500" b="1" dirty="0">
                <a:solidFill>
                  <a:schemeClr val="dk1"/>
                </a:solidFill>
              </a:rPr>
            </a:br>
            <a:r>
              <a:rPr lang="en-GB" sz="1500" dirty="0">
                <a:solidFill>
                  <a:schemeClr val="dk1"/>
                </a:solidFill>
              </a:rPr>
              <a:t> Once all gradients are received, the server aggregates them and updates the model:</a:t>
            </a: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 dirty="0">
                <a:solidFill>
                  <a:schemeClr val="dk1"/>
                </a:solidFill>
              </a:rPr>
              <a:t>This guarantees that updates are based on </a:t>
            </a:r>
            <a:r>
              <a:rPr lang="en-GB" sz="1500" b="1" dirty="0">
                <a:solidFill>
                  <a:schemeClr val="dk1"/>
                </a:solidFill>
              </a:rPr>
              <a:t>complete and consistent information</a:t>
            </a:r>
            <a:r>
              <a:rPr lang="en-GB" sz="1500" dirty="0">
                <a:solidFill>
                  <a:schemeClr val="dk1"/>
                </a:solidFill>
              </a:rPr>
              <a:t>.</a:t>
            </a:r>
            <a:endParaRPr sz="1500" dirty="0">
              <a:solidFill>
                <a:schemeClr val="dk1"/>
              </a:solidFill>
            </a:endParaRPr>
          </a:p>
        </p:txBody>
      </p:sp>
      <p:pic>
        <p:nvPicPr>
          <p:cNvPr id="6" name="Google Shape;187;p33">
            <a:extLst>
              <a:ext uri="{FF2B5EF4-FFF2-40B4-BE49-F238E27FC236}">
                <a16:creationId xmlns:a16="http://schemas.microsoft.com/office/drawing/2014/main" id="{EB4C76A4-89D6-2A1F-A427-4334632C63C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5750" y="1559872"/>
            <a:ext cx="2407874" cy="83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88;p33">
            <a:extLst>
              <a:ext uri="{FF2B5EF4-FFF2-40B4-BE49-F238E27FC236}">
                <a16:creationId xmlns:a16="http://schemas.microsoft.com/office/drawing/2014/main" id="{96AA203F-AF5B-AE93-CD0C-8BD982E07C1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7825" y="2476022"/>
            <a:ext cx="4284275" cy="18072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8499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4340756D-6A82-3B03-6CA9-A64D6EEE5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>
            <a:extLst>
              <a:ext uri="{FF2B5EF4-FFF2-40B4-BE49-F238E27FC236}">
                <a16:creationId xmlns:a16="http://schemas.microsoft.com/office/drawing/2014/main" id="{1496D15A-E6FC-B77E-67E6-A9BEA3265B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304" y="310179"/>
            <a:ext cx="69915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lvl="0"/>
            <a:r>
              <a:rPr lang="en-GB" dirty="0">
                <a:latin typeface="Arial"/>
                <a:ea typeface="Arial"/>
                <a:cs typeface="Arial"/>
                <a:sym typeface="Arial"/>
              </a:rPr>
              <a:t>BSP Synchronization in Parameter Server Model</a:t>
            </a:r>
            <a:endParaRPr dirty="0"/>
          </a:p>
        </p:txBody>
      </p:sp>
      <p:sp>
        <p:nvSpPr>
          <p:cNvPr id="5" name="Google Shape;186;p33">
            <a:extLst>
              <a:ext uri="{FF2B5EF4-FFF2-40B4-BE49-F238E27FC236}">
                <a16:creationId xmlns:a16="http://schemas.microsoft.com/office/drawing/2014/main" id="{375AA72C-C0EE-36E5-DB70-AB2BFD443E08}"/>
              </a:ext>
            </a:extLst>
          </p:cNvPr>
          <p:cNvSpPr txBox="1"/>
          <p:nvPr/>
        </p:nvSpPr>
        <p:spPr>
          <a:xfrm>
            <a:off x="643300" y="1057099"/>
            <a:ext cx="8221500" cy="2744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500"/>
              <a:buChar char="●"/>
            </a:pPr>
            <a:r>
              <a:rPr lang="en-US" sz="1500" b="1" dirty="0">
                <a:solidFill>
                  <a:schemeClr val="dk1"/>
                </a:solidFill>
              </a:rPr>
              <a:t>Consistency Across Workers:</a:t>
            </a:r>
            <a:br>
              <a:rPr lang="en-US" sz="1500" b="1" dirty="0">
                <a:solidFill>
                  <a:schemeClr val="dk1"/>
                </a:solidFill>
              </a:rPr>
            </a:br>
            <a:r>
              <a:rPr lang="en-US" sz="1500" dirty="0">
                <a:solidFill>
                  <a:schemeClr val="dk1"/>
                </a:solidFill>
              </a:rPr>
              <a:t> After the update, all workers receive the </a:t>
            </a:r>
            <a:r>
              <a:rPr lang="en-US" sz="1500" b="1" dirty="0">
                <a:solidFill>
                  <a:schemeClr val="dk1"/>
                </a:solidFill>
              </a:rPr>
              <a:t>same updated parameter version θ</a:t>
            </a:r>
            <a:r>
              <a:rPr lang="en-US" sz="1500" b="1" baseline="30000" dirty="0">
                <a:solidFill>
                  <a:schemeClr val="dk1"/>
                </a:solidFill>
              </a:rPr>
              <a:t>(t+1)</a:t>
            </a:r>
            <a:r>
              <a:rPr lang="en-US" sz="1500" dirty="0">
                <a:solidFill>
                  <a:schemeClr val="dk1"/>
                </a:solidFill>
              </a:rPr>
              <a:t>.</a:t>
            </a:r>
            <a:br>
              <a:rPr lang="en-US" sz="1500" dirty="0">
                <a:solidFill>
                  <a:schemeClr val="dk1"/>
                </a:solidFill>
              </a:rPr>
            </a:br>
            <a:r>
              <a:rPr lang="en-US" sz="1500" dirty="0">
                <a:solidFill>
                  <a:schemeClr val="dk1"/>
                </a:solidFill>
              </a:rPr>
              <a:t> This ensures uniformity and avoids stale or inconsistent updates.</a:t>
            </a:r>
          </a:p>
          <a:p>
            <a:pPr marL="457200" lvl="0" indent="-323850">
              <a:lnSpc>
                <a:spcPct val="115000"/>
              </a:lnSpc>
              <a:spcBef>
                <a:spcPts val="1000"/>
              </a:spcBef>
              <a:buClr>
                <a:schemeClr val="dk1"/>
              </a:buClr>
              <a:buSzPts val="1500"/>
              <a:buChar char="●"/>
            </a:pPr>
            <a:r>
              <a:rPr lang="en-US" sz="1500" b="1" dirty="0">
                <a:solidFill>
                  <a:schemeClr val="dk1"/>
                </a:solidFill>
              </a:rPr>
              <a:t>Iteration Cycle:</a:t>
            </a:r>
            <a:br>
              <a:rPr lang="en-US" sz="1500" b="1" dirty="0">
                <a:solidFill>
                  <a:schemeClr val="dk1"/>
                </a:solidFill>
              </a:rPr>
            </a:br>
            <a:r>
              <a:rPr lang="en-US" sz="1500" dirty="0">
                <a:solidFill>
                  <a:schemeClr val="dk1"/>
                </a:solidFill>
              </a:rPr>
              <a:t> The process repeats in synchronized steps:</a:t>
            </a:r>
            <a:br>
              <a:rPr lang="en-US" sz="1500" dirty="0">
                <a:solidFill>
                  <a:schemeClr val="dk1"/>
                </a:solidFill>
              </a:rPr>
            </a:br>
            <a:r>
              <a:rPr lang="en-US" sz="1500" dirty="0">
                <a:solidFill>
                  <a:schemeClr val="dk1"/>
                </a:solidFill>
              </a:rPr>
              <a:t> </a:t>
            </a:r>
            <a:r>
              <a:rPr lang="en-US" sz="1500" b="1" dirty="0">
                <a:solidFill>
                  <a:schemeClr val="dk1"/>
                </a:solidFill>
              </a:rPr>
              <a:t>Compute → Wait → Aggregate → Update → Broadcast</a:t>
            </a:r>
          </a:p>
          <a:p>
            <a:pPr lvl="0">
              <a:lnSpc>
                <a:spcPct val="115000"/>
              </a:lnSpc>
              <a:spcBef>
                <a:spcPts val="1200"/>
              </a:spcBef>
            </a:pPr>
            <a:r>
              <a:rPr lang="en-US" sz="1500" i="1" dirty="0">
                <a:solidFill>
                  <a:schemeClr val="dk1"/>
                </a:solidFill>
              </a:rPr>
              <a:t>BSP provides </a:t>
            </a:r>
            <a:r>
              <a:rPr lang="en-US" sz="1500" b="1" i="1" dirty="0">
                <a:solidFill>
                  <a:schemeClr val="dk1"/>
                </a:solidFill>
              </a:rPr>
              <a:t>high model consistency and stability</a:t>
            </a:r>
            <a:r>
              <a:rPr lang="en-US" sz="1500" i="1" dirty="0">
                <a:solidFill>
                  <a:schemeClr val="dk1"/>
                </a:solidFill>
              </a:rPr>
              <a:t>, but training speed may be reduced due to waiting for slower workers (stragglers).</a:t>
            </a:r>
          </a:p>
        </p:txBody>
      </p:sp>
    </p:spTree>
    <p:extLst>
      <p:ext uri="{BB962C8B-B14F-4D97-AF65-F5344CB8AC3E}">
        <p14:creationId xmlns:p14="http://schemas.microsoft.com/office/powerpoint/2010/main" val="2733942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693E9230-A31B-7DCD-91F0-80AEAF670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>
            <a:extLst>
              <a:ext uri="{FF2B5EF4-FFF2-40B4-BE49-F238E27FC236}">
                <a16:creationId xmlns:a16="http://schemas.microsoft.com/office/drawing/2014/main" id="{A4678F65-8F1E-336C-F47F-BB02A2EBEE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304" y="310179"/>
            <a:ext cx="69915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lvl="0"/>
            <a:r>
              <a:rPr lang="en-GB" dirty="0">
                <a:latin typeface="Arial"/>
                <a:ea typeface="Arial"/>
                <a:cs typeface="Arial"/>
                <a:sym typeface="Arial"/>
              </a:rPr>
              <a:t>BSP Synchronization in Parameter Server Model</a:t>
            </a:r>
            <a:endParaRPr dirty="0"/>
          </a:p>
        </p:txBody>
      </p:sp>
      <p:pic>
        <p:nvPicPr>
          <p:cNvPr id="2" name="Google Shape;202;p35">
            <a:extLst>
              <a:ext uri="{FF2B5EF4-FFF2-40B4-BE49-F238E27FC236}">
                <a16:creationId xmlns:a16="http://schemas.microsoft.com/office/drawing/2014/main" id="{03EEEBFF-665B-EAE2-F036-8EA6CAC3B04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8181" y="1028987"/>
            <a:ext cx="4095432" cy="145504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01;p35">
            <a:extLst>
              <a:ext uri="{FF2B5EF4-FFF2-40B4-BE49-F238E27FC236}">
                <a16:creationId xmlns:a16="http://schemas.microsoft.com/office/drawing/2014/main" id="{616374D2-1ACF-A641-9E30-246ABA128C5D}"/>
              </a:ext>
            </a:extLst>
          </p:cNvPr>
          <p:cNvSpPr txBox="1"/>
          <p:nvPr/>
        </p:nvSpPr>
        <p:spPr>
          <a:xfrm>
            <a:off x="4247394" y="2481962"/>
            <a:ext cx="4803312" cy="2040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After completing computation: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dirty="0">
                <a:solidFill>
                  <a:schemeClr val="dk1"/>
                </a:solidFill>
              </a:rPr>
              <a:t>Workers </a:t>
            </a:r>
            <a:r>
              <a:rPr lang="en-GB" b="1" dirty="0">
                <a:solidFill>
                  <a:schemeClr val="dk1"/>
                </a:solidFill>
              </a:rPr>
              <a:t>send gradients to the parameter server</a:t>
            </a:r>
            <a:endParaRPr b="1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dirty="0">
                <a:solidFill>
                  <a:schemeClr val="dk1"/>
                </a:solidFill>
              </a:rPr>
              <a:t>Server </a:t>
            </a:r>
            <a:r>
              <a:rPr lang="en-GB" b="1" dirty="0">
                <a:solidFill>
                  <a:schemeClr val="dk1"/>
                </a:solidFill>
              </a:rPr>
              <a:t>waits for all workers</a:t>
            </a:r>
            <a:endParaRPr b="1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dirty="0">
                <a:solidFill>
                  <a:schemeClr val="dk1"/>
                </a:solidFill>
              </a:rPr>
              <a:t>Then performs a </a:t>
            </a:r>
            <a:r>
              <a:rPr lang="en-GB" b="1" dirty="0">
                <a:solidFill>
                  <a:schemeClr val="dk1"/>
                </a:solidFill>
              </a:rPr>
              <a:t>global parameter update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Only after the update: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dirty="0">
                <a:solidFill>
                  <a:schemeClr val="dk1"/>
                </a:solidFill>
              </a:rPr>
              <a:t>New parameters are </a:t>
            </a:r>
            <a:r>
              <a:rPr lang="en-GB" b="1" dirty="0">
                <a:solidFill>
                  <a:schemeClr val="dk1"/>
                </a:solidFill>
              </a:rPr>
              <a:t>broadcast back to all workers</a:t>
            </a:r>
            <a:endParaRPr b="1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dirty="0">
                <a:solidFill>
                  <a:schemeClr val="dk1"/>
                </a:solidFill>
              </a:rPr>
              <a:t>Next iteration begins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4" name="Google Shape;203;p35">
            <a:extLst>
              <a:ext uri="{FF2B5EF4-FFF2-40B4-BE49-F238E27FC236}">
                <a16:creationId xmlns:a16="http://schemas.microsoft.com/office/drawing/2014/main" id="{9E1A21ED-1A58-D133-992F-A785F6278612}"/>
              </a:ext>
            </a:extLst>
          </p:cNvPr>
          <p:cNvSpPr txBox="1"/>
          <p:nvPr/>
        </p:nvSpPr>
        <p:spPr>
          <a:xfrm>
            <a:off x="93294" y="2486023"/>
            <a:ext cx="4154100" cy="2508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b="1" dirty="0">
                <a:solidFill>
                  <a:schemeClr val="dk1"/>
                </a:solidFill>
              </a:rPr>
              <a:t>Multiple </a:t>
            </a:r>
            <a:r>
              <a:rPr lang="en-GB" b="1" u="sng" dirty="0">
                <a:solidFill>
                  <a:schemeClr val="dk1"/>
                </a:solidFill>
              </a:rPr>
              <a:t>workers (Worker #1, #2, #3)</a:t>
            </a:r>
            <a:r>
              <a:rPr lang="en-GB" u="sng" dirty="0">
                <a:solidFill>
                  <a:schemeClr val="dk1"/>
                </a:solidFill>
              </a:rPr>
              <a:t> </a:t>
            </a:r>
            <a:r>
              <a:rPr lang="en-GB" dirty="0">
                <a:solidFill>
                  <a:schemeClr val="dk1"/>
                </a:solidFill>
              </a:rPr>
              <a:t>computing in parallel across iterations W1​,W2​,W3​,…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dirty="0">
                <a:solidFill>
                  <a:schemeClr val="dk1"/>
                </a:solidFill>
              </a:rPr>
              <a:t>Each worker processes its data and computes gradients </a:t>
            </a:r>
            <a:r>
              <a:rPr lang="en-GB" b="1" dirty="0">
                <a:solidFill>
                  <a:schemeClr val="dk1"/>
                </a:solidFill>
              </a:rPr>
              <a:t>simultaneously for the same iteration</a:t>
            </a:r>
            <a:endParaRPr b="1"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●"/>
            </a:pPr>
            <a:r>
              <a:rPr lang="en-GB" dirty="0">
                <a:solidFill>
                  <a:schemeClr val="dk1"/>
                </a:solidFill>
              </a:rPr>
              <a:t>The </a:t>
            </a:r>
            <a:r>
              <a:rPr lang="en-GB" b="1" dirty="0">
                <a:solidFill>
                  <a:schemeClr val="dk1"/>
                </a:solidFill>
              </a:rPr>
              <a:t>vertical red lines represent synchronization barriers. </a:t>
            </a:r>
            <a:r>
              <a:rPr lang="en-GB" dirty="0">
                <a:solidFill>
                  <a:schemeClr val="dk1"/>
                </a:solidFill>
              </a:rPr>
              <a:t>All workers must </a:t>
            </a:r>
            <a:r>
              <a:rPr lang="en-GB" b="1" dirty="0">
                <a:solidFill>
                  <a:schemeClr val="dk1"/>
                </a:solidFill>
              </a:rPr>
              <a:t>reach the barrier before moving forward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1007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4B168FDA-4B47-BA6D-8254-FE840950D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>
            <a:extLst>
              <a:ext uri="{FF2B5EF4-FFF2-40B4-BE49-F238E27FC236}">
                <a16:creationId xmlns:a16="http://schemas.microsoft.com/office/drawing/2014/main" id="{7E20212E-FABB-FD63-17A4-447E5B20BE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304" y="310179"/>
            <a:ext cx="69915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lvl="0"/>
            <a:r>
              <a:rPr lang="en-GB" dirty="0">
                <a:latin typeface="Arial"/>
                <a:ea typeface="Arial"/>
                <a:cs typeface="Arial"/>
                <a:sym typeface="Arial"/>
              </a:rPr>
              <a:t>ASP Synchronization in Parameter Server Model</a:t>
            </a:r>
            <a:endParaRPr dirty="0"/>
          </a:p>
        </p:txBody>
      </p:sp>
      <p:sp>
        <p:nvSpPr>
          <p:cNvPr id="5" name="Google Shape;209;p36">
            <a:extLst>
              <a:ext uri="{FF2B5EF4-FFF2-40B4-BE49-F238E27FC236}">
                <a16:creationId xmlns:a16="http://schemas.microsoft.com/office/drawing/2014/main" id="{1709E876-D161-B2F0-C74A-D431AC0E8EDC}"/>
              </a:ext>
            </a:extLst>
          </p:cNvPr>
          <p:cNvSpPr txBox="1"/>
          <p:nvPr/>
        </p:nvSpPr>
        <p:spPr>
          <a:xfrm>
            <a:off x="437048" y="802725"/>
            <a:ext cx="8221500" cy="26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 b="1" dirty="0">
                <a:solidFill>
                  <a:schemeClr val="dk1"/>
                </a:solidFill>
              </a:rPr>
              <a:t>Independent Communication: </a:t>
            </a:r>
            <a:r>
              <a:rPr lang="en-GB" sz="1500" dirty="0">
                <a:solidFill>
                  <a:schemeClr val="dk1"/>
                </a:solidFill>
              </a:rPr>
              <a:t>Workers </a:t>
            </a:r>
            <a:r>
              <a:rPr lang="en-GB" sz="1500" b="1" dirty="0">
                <a:solidFill>
                  <a:schemeClr val="dk1"/>
                </a:solidFill>
              </a:rPr>
              <a:t>pull parameters and push gradients independently</a:t>
            </a:r>
            <a:r>
              <a:rPr lang="en-GB" sz="1500" dirty="0">
                <a:solidFill>
                  <a:schemeClr val="dk1"/>
                </a:solidFill>
              </a:rPr>
              <a:t> without waiting for others, enabling continuous computation.</a:t>
            </a:r>
            <a:endParaRPr sz="1500" dirty="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 b="1" dirty="0">
                <a:solidFill>
                  <a:schemeClr val="dk1"/>
                </a:solidFill>
              </a:rPr>
              <a:t>Immediate Parameter Update: </a:t>
            </a:r>
            <a:r>
              <a:rPr lang="en-GB" sz="1500" dirty="0">
                <a:solidFill>
                  <a:schemeClr val="dk1"/>
                </a:solidFill>
              </a:rPr>
              <a:t>The server updates parameters as soon as it receives a gradient from any worker:</a:t>
            </a: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endParaRPr sz="1500" b="1" dirty="0">
              <a:solidFill>
                <a:schemeClr val="dk1"/>
              </a:solidFill>
            </a:endParaRPr>
          </a:p>
        </p:txBody>
      </p:sp>
      <p:pic>
        <p:nvPicPr>
          <p:cNvPr id="6" name="Google Shape;210;p36">
            <a:extLst>
              <a:ext uri="{FF2B5EF4-FFF2-40B4-BE49-F238E27FC236}">
                <a16:creationId xmlns:a16="http://schemas.microsoft.com/office/drawing/2014/main" id="{5104ACE1-867F-7D9C-C5D2-BB9124622C8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7098" y="2262074"/>
            <a:ext cx="3088274" cy="58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11;p36">
            <a:extLst>
              <a:ext uri="{FF2B5EF4-FFF2-40B4-BE49-F238E27FC236}">
                <a16:creationId xmlns:a16="http://schemas.microsoft.com/office/drawing/2014/main" id="{D7D93375-7FAE-F9C7-63BD-8B42001B154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4423" y="3078370"/>
            <a:ext cx="4378924" cy="174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8672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F20B8852-4A11-280C-272C-CC118BC33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>
            <a:extLst>
              <a:ext uri="{FF2B5EF4-FFF2-40B4-BE49-F238E27FC236}">
                <a16:creationId xmlns:a16="http://schemas.microsoft.com/office/drawing/2014/main" id="{59B9DBFC-6D2F-4CCF-DF19-C4CC7F390E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304" y="310179"/>
            <a:ext cx="69915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lvl="0"/>
            <a:r>
              <a:rPr lang="en-GB" dirty="0">
                <a:latin typeface="Arial"/>
                <a:ea typeface="Arial"/>
                <a:cs typeface="Arial"/>
                <a:sym typeface="Arial"/>
              </a:rPr>
              <a:t>ASP Synchronization in Parameter Server Model</a:t>
            </a:r>
            <a:endParaRPr dirty="0"/>
          </a:p>
        </p:txBody>
      </p:sp>
      <p:sp>
        <p:nvSpPr>
          <p:cNvPr id="2" name="Google Shape;217;p37">
            <a:extLst>
              <a:ext uri="{FF2B5EF4-FFF2-40B4-BE49-F238E27FC236}">
                <a16:creationId xmlns:a16="http://schemas.microsoft.com/office/drawing/2014/main" id="{840B348F-ECB6-F20E-6EDD-23026045291B}"/>
              </a:ext>
            </a:extLst>
          </p:cNvPr>
          <p:cNvSpPr txBox="1"/>
          <p:nvPr/>
        </p:nvSpPr>
        <p:spPr>
          <a:xfrm>
            <a:off x="643300" y="795848"/>
            <a:ext cx="8221500" cy="3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 b="1">
                <a:solidFill>
                  <a:schemeClr val="dk1"/>
                </a:solidFill>
              </a:rPr>
              <a:t>No Barrier Synchronization: </a:t>
            </a:r>
            <a:r>
              <a:rPr lang="en-GB" sz="1500">
                <a:solidFill>
                  <a:schemeClr val="dk1"/>
                </a:solidFill>
              </a:rPr>
              <a:t>Unlike BSP, there is </a:t>
            </a:r>
            <a:r>
              <a:rPr lang="en-GB" sz="1500" b="1">
                <a:solidFill>
                  <a:schemeClr val="dk1"/>
                </a:solidFill>
              </a:rPr>
              <a:t>no waiting for all workers</a:t>
            </a:r>
            <a:r>
              <a:rPr lang="en-GB" sz="1500">
                <a:solidFill>
                  <a:schemeClr val="dk1"/>
                </a:solidFill>
              </a:rPr>
              <a:t>, which improves training speed and resource utilization.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 b="1">
                <a:solidFill>
                  <a:schemeClr val="dk1"/>
                </a:solidFill>
              </a:rPr>
              <a:t>Stale Gradient Problem: </a:t>
            </a:r>
            <a:r>
              <a:rPr lang="en-GB" sz="1500">
                <a:solidFill>
                  <a:schemeClr val="dk1"/>
                </a:solidFill>
              </a:rPr>
              <a:t>Workers may compute gradients using </a:t>
            </a:r>
            <a:r>
              <a:rPr lang="en-GB" sz="1500" b="1">
                <a:solidFill>
                  <a:schemeClr val="dk1"/>
                </a:solidFill>
              </a:rPr>
              <a:t>older (stale) parameter versions</a:t>
            </a:r>
            <a:r>
              <a:rPr lang="en-GB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  <p:pic>
        <p:nvPicPr>
          <p:cNvPr id="3" name="Google Shape;218;p37">
            <a:extLst>
              <a:ext uri="{FF2B5EF4-FFF2-40B4-BE49-F238E27FC236}">
                <a16:creationId xmlns:a16="http://schemas.microsoft.com/office/drawing/2014/main" id="{B998EB41-01EB-0993-2CC8-600DD7E8803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4125" y="2255452"/>
            <a:ext cx="3971099" cy="51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19;p37">
            <a:extLst>
              <a:ext uri="{FF2B5EF4-FFF2-40B4-BE49-F238E27FC236}">
                <a16:creationId xmlns:a16="http://schemas.microsoft.com/office/drawing/2014/main" id="{D8E151A9-10E4-8A97-97C0-377E8B98108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3475" y="2877269"/>
            <a:ext cx="7535799" cy="1552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7299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AAECFB5B-4D51-1C70-398A-706E82373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>
            <a:extLst>
              <a:ext uri="{FF2B5EF4-FFF2-40B4-BE49-F238E27FC236}">
                <a16:creationId xmlns:a16="http://schemas.microsoft.com/office/drawing/2014/main" id="{19F4A0A5-4244-D3BA-0AFD-22D2038701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304" y="310179"/>
            <a:ext cx="69915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lvl="0"/>
            <a:r>
              <a:rPr lang="en-GB" dirty="0">
                <a:latin typeface="Arial"/>
                <a:ea typeface="Arial"/>
                <a:cs typeface="Arial"/>
                <a:sym typeface="Arial"/>
              </a:rPr>
              <a:t>ASP Synchronization in Parameter Server Model</a:t>
            </a:r>
            <a:endParaRPr dirty="0"/>
          </a:p>
        </p:txBody>
      </p:sp>
      <p:sp>
        <p:nvSpPr>
          <p:cNvPr id="2" name="Google Shape;217;p37">
            <a:extLst>
              <a:ext uri="{FF2B5EF4-FFF2-40B4-BE49-F238E27FC236}">
                <a16:creationId xmlns:a16="http://schemas.microsoft.com/office/drawing/2014/main" id="{416A8EA2-3347-A75B-EA83-1201A972EAC0}"/>
              </a:ext>
            </a:extLst>
          </p:cNvPr>
          <p:cNvSpPr txBox="1"/>
          <p:nvPr/>
        </p:nvSpPr>
        <p:spPr>
          <a:xfrm>
            <a:off x="643300" y="795848"/>
            <a:ext cx="8221500" cy="40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500"/>
              <a:buChar char="●"/>
            </a:pPr>
            <a:r>
              <a:rPr lang="en-US" sz="1500" b="1" dirty="0">
                <a:solidFill>
                  <a:schemeClr val="dk1"/>
                </a:solidFill>
              </a:rPr>
              <a:t>Higher Throughput: </a:t>
            </a:r>
            <a:r>
              <a:rPr lang="en-US" sz="1500" dirty="0">
                <a:solidFill>
                  <a:schemeClr val="dk1"/>
                </a:solidFill>
              </a:rPr>
              <a:t>Continuous updates allow faster training, especially in large-scale distributed systems.</a:t>
            </a:r>
          </a:p>
          <a:p>
            <a:pPr marL="457200" lvl="0" indent="-3238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500"/>
              <a:buChar char="●"/>
            </a:pPr>
            <a:r>
              <a:rPr lang="en-US" sz="1500" b="1" dirty="0">
                <a:solidFill>
                  <a:schemeClr val="dk1"/>
                </a:solidFill>
              </a:rPr>
              <a:t>Better Resource Utilization: </a:t>
            </a:r>
            <a:r>
              <a:rPr lang="en-US" sz="1500" dirty="0">
                <a:solidFill>
                  <a:schemeClr val="dk1"/>
                </a:solidFill>
              </a:rPr>
              <a:t>Workers are never idle, leading to efficient use of compute resources</a:t>
            </a:r>
          </a:p>
          <a:p>
            <a:pPr marL="457200" lvl="0" indent="-3238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500"/>
              <a:buChar char="●"/>
            </a:pPr>
            <a:r>
              <a:rPr lang="en-US" sz="1500" b="1" dirty="0">
                <a:solidFill>
                  <a:schemeClr val="dk1"/>
                </a:solidFill>
              </a:rPr>
              <a:t>Reduced Impact of Stragglers: </a:t>
            </a:r>
            <a:r>
              <a:rPr lang="en-US" sz="1500" dirty="0">
                <a:solidFill>
                  <a:schemeClr val="dk1"/>
                </a:solidFill>
              </a:rPr>
              <a:t>Slow workers do not block the system, unlike in BSP</a:t>
            </a:r>
          </a:p>
          <a:p>
            <a:pPr marL="457200" lvl="0" indent="-3238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500"/>
              <a:buChar char="●"/>
            </a:pPr>
            <a:r>
              <a:rPr lang="en-US" sz="1500" b="1" dirty="0">
                <a:solidFill>
                  <a:schemeClr val="dk1"/>
                </a:solidFill>
              </a:rPr>
              <a:t>Trade-off: </a:t>
            </a:r>
            <a:r>
              <a:rPr lang="en-US" sz="1500" dirty="0">
                <a:solidFill>
                  <a:schemeClr val="dk1"/>
                </a:solidFill>
              </a:rPr>
              <a:t>Gains speed and efficiency, but may reduce convergence accuracy due to stale gradients.</a:t>
            </a:r>
          </a:p>
          <a:p>
            <a:pPr marL="457200" lvl="0" indent="-32385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500"/>
              <a:buChar char="●"/>
            </a:pPr>
            <a:r>
              <a:rPr lang="en-US" sz="1500" b="1" dirty="0">
                <a:solidFill>
                  <a:schemeClr val="dk1"/>
                </a:solidFill>
              </a:rPr>
              <a:t>Suitable for Large-Scale Systems: </a:t>
            </a:r>
            <a:r>
              <a:rPr lang="en-US" sz="1500" dirty="0">
                <a:solidFill>
                  <a:schemeClr val="dk1"/>
                </a:solidFill>
              </a:rPr>
              <a:t>Works well when the number of workers is very high and synchronization cost is significant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endParaRPr sz="15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906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B4FB25F2-E09C-2A3A-B0E6-32F689225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>
            <a:extLst>
              <a:ext uri="{FF2B5EF4-FFF2-40B4-BE49-F238E27FC236}">
                <a16:creationId xmlns:a16="http://schemas.microsoft.com/office/drawing/2014/main" id="{7ED8D043-6AC1-1F35-4F23-3D3030E05B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304" y="310179"/>
            <a:ext cx="69915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lvl="0"/>
            <a:r>
              <a:rPr lang="en-GB" dirty="0">
                <a:latin typeface="Arial"/>
                <a:ea typeface="Arial"/>
                <a:cs typeface="Arial"/>
                <a:sym typeface="Arial"/>
              </a:rPr>
              <a:t>ASP Synchronization in Parameter Server Model</a:t>
            </a:r>
            <a:endParaRPr dirty="0"/>
          </a:p>
        </p:txBody>
      </p:sp>
      <p:pic>
        <p:nvPicPr>
          <p:cNvPr id="3" name="Google Shape;231;p39">
            <a:extLst>
              <a:ext uri="{FF2B5EF4-FFF2-40B4-BE49-F238E27FC236}">
                <a16:creationId xmlns:a16="http://schemas.microsoft.com/office/drawing/2014/main" id="{ECEBB5D9-AC81-338D-0F35-8C59DC7C876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5177" y="1048188"/>
            <a:ext cx="5353646" cy="179326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32;p39">
            <a:extLst>
              <a:ext uri="{FF2B5EF4-FFF2-40B4-BE49-F238E27FC236}">
                <a16:creationId xmlns:a16="http://schemas.microsoft.com/office/drawing/2014/main" id="{A5985E05-8649-D3DC-B95C-B86002CFDEC3}"/>
              </a:ext>
            </a:extLst>
          </p:cNvPr>
          <p:cNvSpPr txBox="1"/>
          <p:nvPr/>
        </p:nvSpPr>
        <p:spPr>
          <a:xfrm>
            <a:off x="97625" y="2921625"/>
            <a:ext cx="42459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M</a:t>
            </a:r>
            <a:r>
              <a:rPr lang="en-GB" sz="1500" b="1">
                <a:solidFill>
                  <a:schemeClr val="dk1"/>
                </a:solidFill>
              </a:rPr>
              <a:t>ultiple workers (Worker #1, #2, #3)</a:t>
            </a:r>
            <a:r>
              <a:rPr lang="en-GB" sz="1500">
                <a:solidFill>
                  <a:schemeClr val="dk1"/>
                </a:solidFill>
              </a:rPr>
              <a:t> progressing </a:t>
            </a:r>
            <a:r>
              <a:rPr lang="en-GB" sz="1500" b="1">
                <a:solidFill>
                  <a:schemeClr val="dk1"/>
                </a:solidFill>
              </a:rPr>
              <a:t>independently</a:t>
            </a:r>
            <a:r>
              <a:rPr lang="en-GB" sz="1500">
                <a:solidFill>
                  <a:schemeClr val="dk1"/>
                </a:solidFill>
              </a:rPr>
              <a:t> across iterations W1​,W2​,W3​,…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Unlike BSP, there are </a:t>
            </a:r>
            <a:r>
              <a:rPr lang="en-GB" sz="1500" b="1">
                <a:solidFill>
                  <a:schemeClr val="dk1"/>
                </a:solidFill>
              </a:rPr>
              <a:t>no strict synchronization barriers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Workers </a:t>
            </a:r>
            <a:r>
              <a:rPr lang="en-GB" sz="1500" b="1">
                <a:solidFill>
                  <a:schemeClr val="dk1"/>
                </a:solidFill>
              </a:rPr>
              <a:t>do not wait for each other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5" name="Google Shape;233;p39">
            <a:extLst>
              <a:ext uri="{FF2B5EF4-FFF2-40B4-BE49-F238E27FC236}">
                <a16:creationId xmlns:a16="http://schemas.microsoft.com/office/drawing/2014/main" id="{25BFD0F4-319E-C28F-C9D9-92E29788458F}"/>
              </a:ext>
            </a:extLst>
          </p:cNvPr>
          <p:cNvSpPr txBox="1"/>
          <p:nvPr/>
        </p:nvSpPr>
        <p:spPr>
          <a:xfrm>
            <a:off x="4112625" y="2921625"/>
            <a:ext cx="4882500" cy="18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</a:rPr>
              <a:t>Each worker: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 b="1">
                <a:solidFill>
                  <a:schemeClr val="dk1"/>
                </a:solidFill>
              </a:rPr>
              <a:t>Pulls parameters</a:t>
            </a:r>
            <a:r>
              <a:rPr lang="en-GB" sz="1500">
                <a:solidFill>
                  <a:schemeClr val="dk1"/>
                </a:solidFill>
              </a:rPr>
              <a:t> from the server at its own time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Computes gradients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 b="1">
                <a:solidFill>
                  <a:schemeClr val="dk1"/>
                </a:solidFill>
              </a:rPr>
              <a:t>Pushes updates immediately</a:t>
            </a:r>
            <a:r>
              <a:rPr lang="en-GB" sz="1500">
                <a:solidFill>
                  <a:schemeClr val="dk1"/>
                </a:solidFill>
              </a:rPr>
              <a:t> to the server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</a:rPr>
              <a:t>The </a:t>
            </a:r>
            <a:r>
              <a:rPr lang="en-GB" sz="1500" b="1">
                <a:solidFill>
                  <a:schemeClr val="dk1"/>
                </a:solidFill>
              </a:rPr>
              <a:t>vertical red lines</a:t>
            </a:r>
            <a:r>
              <a:rPr lang="en-GB" sz="1500">
                <a:solidFill>
                  <a:schemeClr val="dk1"/>
                </a:solidFill>
              </a:rPr>
              <a:t> indicate </a:t>
            </a:r>
            <a:r>
              <a:rPr lang="en-GB" sz="1500" b="1">
                <a:solidFill>
                  <a:schemeClr val="dk1"/>
                </a:solidFill>
              </a:rPr>
              <a:t>parameter updates happening continuously</a:t>
            </a:r>
            <a:r>
              <a:rPr lang="en-GB" sz="1500">
                <a:solidFill>
                  <a:schemeClr val="dk1"/>
                </a:solidFill>
              </a:rPr>
              <a:t>, not in synchronized steps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51794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0"/>
          <p:cNvSpPr txBox="1">
            <a:spLocks noGrp="1"/>
          </p:cNvSpPr>
          <p:nvPr>
            <p:ph type="ctrTitle" idx="4294967295"/>
          </p:nvPr>
        </p:nvSpPr>
        <p:spPr>
          <a:xfrm>
            <a:off x="1200150" y="3429000"/>
            <a:ext cx="77151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000"/>
              <a:buFont typeface="Arial"/>
              <a:buNone/>
            </a:pPr>
            <a:r>
              <a:rPr lang="en-GB" sz="3000"/>
              <a:t>Flexible Synchronization Models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FC565A40-49A4-4EF4-48DF-FB39FC32E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>
            <a:extLst>
              <a:ext uri="{FF2B5EF4-FFF2-40B4-BE49-F238E27FC236}">
                <a16:creationId xmlns:a16="http://schemas.microsoft.com/office/drawing/2014/main" id="{59D641A2-BE7C-1BD4-91DD-77E885EA92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304" y="310179"/>
            <a:ext cx="69915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GB" dirty="0">
                <a:latin typeface="Arial"/>
                <a:ea typeface="Arial"/>
                <a:cs typeface="Arial"/>
                <a:sym typeface="Arial"/>
              </a:rPr>
              <a:t>Stale Synchronous Parallel (SSP)</a:t>
            </a:r>
            <a:endParaRPr dirty="0"/>
          </a:p>
        </p:txBody>
      </p:sp>
      <p:sp>
        <p:nvSpPr>
          <p:cNvPr id="2" name="Google Shape;244;p41">
            <a:extLst>
              <a:ext uri="{FF2B5EF4-FFF2-40B4-BE49-F238E27FC236}">
                <a16:creationId xmlns:a16="http://schemas.microsoft.com/office/drawing/2014/main" id="{F28E2497-3C97-28A2-D50F-F663D0F686A1}"/>
              </a:ext>
            </a:extLst>
          </p:cNvPr>
          <p:cNvSpPr txBox="1"/>
          <p:nvPr/>
        </p:nvSpPr>
        <p:spPr>
          <a:xfrm>
            <a:off x="643300" y="768350"/>
            <a:ext cx="8221500" cy="38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Combines benefits of </a:t>
            </a:r>
            <a:r>
              <a:rPr lang="en-GB" sz="1500" b="1">
                <a:solidFill>
                  <a:schemeClr val="dk1"/>
                </a:solidFill>
              </a:rPr>
              <a:t>BSP</a:t>
            </a:r>
            <a:r>
              <a:rPr lang="en-GB" sz="1500">
                <a:solidFill>
                  <a:schemeClr val="dk1"/>
                </a:solidFill>
              </a:rPr>
              <a:t> and </a:t>
            </a:r>
            <a:r>
              <a:rPr lang="en-GB" sz="1500" b="1">
                <a:solidFill>
                  <a:schemeClr val="dk1"/>
                </a:solidFill>
              </a:rPr>
              <a:t>ASP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Workers proceed </a:t>
            </a:r>
            <a:r>
              <a:rPr lang="en-GB" sz="1500" b="1">
                <a:solidFill>
                  <a:schemeClr val="dk1"/>
                </a:solidFill>
              </a:rPr>
              <a:t>asynchronously</a:t>
            </a:r>
            <a:r>
              <a:rPr lang="en-GB" sz="1500">
                <a:solidFill>
                  <a:schemeClr val="dk1"/>
                </a:solidFill>
              </a:rPr>
              <a:t> without waiting for others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 b="1">
                <a:solidFill>
                  <a:schemeClr val="dk1"/>
                </a:solidFill>
              </a:rPr>
              <a:t>Staleness of updates is bounded</a:t>
            </a:r>
            <a:r>
              <a:rPr lang="en-GB" sz="1500">
                <a:solidFill>
                  <a:schemeClr val="dk1"/>
                </a:solidFill>
              </a:rPr>
              <a:t> to ensure stability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Reduces waiting time while controlling inconsistency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</a:rPr>
              <a:t>Staleness Condition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</a:rPr>
              <a:t>t</a:t>
            </a:r>
            <a:r>
              <a:rPr lang="en-GB" sz="1700" baseline="-25000">
                <a:solidFill>
                  <a:schemeClr val="dk1"/>
                </a:solidFill>
              </a:rPr>
              <a:t>fast​ </a:t>
            </a:r>
            <a:r>
              <a:rPr lang="en-GB" sz="1700">
                <a:solidFill>
                  <a:schemeClr val="dk1"/>
                </a:solidFill>
              </a:rPr>
              <a:t>− t</a:t>
            </a:r>
            <a:r>
              <a:rPr lang="en-GB" sz="1700" baseline="-25000">
                <a:solidFill>
                  <a:schemeClr val="dk1"/>
                </a:solidFill>
              </a:rPr>
              <a:t>slow</a:t>
            </a:r>
            <a:r>
              <a:rPr lang="en-GB" sz="1700">
                <a:solidFill>
                  <a:schemeClr val="dk1"/>
                </a:solidFill>
              </a:rPr>
              <a:t>​ ≤ s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dk1"/>
                </a:solidFill>
              </a:rPr>
              <a:t>Where: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t</a:t>
            </a:r>
            <a:r>
              <a:rPr lang="en-GB" sz="1500" baseline="-25000">
                <a:solidFill>
                  <a:schemeClr val="dk1"/>
                </a:solidFill>
              </a:rPr>
              <a:t>fast​</a:t>
            </a:r>
            <a:r>
              <a:rPr lang="en-GB" sz="1500">
                <a:solidFill>
                  <a:schemeClr val="dk1"/>
                </a:solidFill>
              </a:rPr>
              <a:t> = iteration number of fastest worker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t</a:t>
            </a:r>
            <a:r>
              <a:rPr lang="en-GB" sz="1500" baseline="-25000">
                <a:solidFill>
                  <a:schemeClr val="dk1"/>
                </a:solidFill>
              </a:rPr>
              <a:t>slow</a:t>
            </a:r>
            <a:r>
              <a:rPr lang="en-GB" sz="1500">
                <a:solidFill>
                  <a:schemeClr val="dk1"/>
                </a:solidFill>
              </a:rPr>
              <a:t>​ = iteration number of slowest worker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s = </a:t>
            </a:r>
            <a:r>
              <a:rPr lang="en-GB" sz="1500" b="1">
                <a:solidFill>
                  <a:schemeClr val="dk1"/>
                </a:solidFill>
              </a:rPr>
              <a:t>staleness threshold</a:t>
            </a:r>
            <a:r>
              <a:rPr lang="en-GB" sz="1500">
                <a:solidFill>
                  <a:schemeClr val="dk1"/>
                </a:solidFill>
              </a:rPr>
              <a:t>, maximum allowed difference in iterations</a:t>
            </a:r>
            <a:endParaRPr sz="1500" b="1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790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B6B249EF-980B-1EDF-802C-1B8D2E30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>
            <a:extLst>
              <a:ext uri="{FF2B5EF4-FFF2-40B4-BE49-F238E27FC236}">
                <a16:creationId xmlns:a16="http://schemas.microsoft.com/office/drawing/2014/main" id="{447A3C75-6152-0441-9E53-07097570A6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304" y="310179"/>
            <a:ext cx="69915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GB" dirty="0">
                <a:latin typeface="Arial"/>
                <a:ea typeface="Arial"/>
                <a:cs typeface="Arial"/>
                <a:sym typeface="Arial"/>
              </a:rPr>
              <a:t>Stale Synchronous Parallel (SSP)</a:t>
            </a:r>
            <a:endParaRPr dirty="0"/>
          </a:p>
        </p:txBody>
      </p:sp>
      <p:sp>
        <p:nvSpPr>
          <p:cNvPr id="3" name="Google Shape;250;p42">
            <a:extLst>
              <a:ext uri="{FF2B5EF4-FFF2-40B4-BE49-F238E27FC236}">
                <a16:creationId xmlns:a16="http://schemas.microsoft.com/office/drawing/2014/main" id="{45719E0B-8320-3441-2703-590021A6AE97}"/>
              </a:ext>
            </a:extLst>
          </p:cNvPr>
          <p:cNvSpPr txBox="1"/>
          <p:nvPr/>
        </p:nvSpPr>
        <p:spPr>
          <a:xfrm>
            <a:off x="643300" y="1153355"/>
            <a:ext cx="8221500" cy="30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Workers can be up to </a:t>
            </a:r>
            <a:r>
              <a:rPr lang="en-GB" sz="1500" b="1">
                <a:solidFill>
                  <a:schemeClr val="dk1"/>
                </a:solidFill>
              </a:rPr>
              <a:t>s iterations ahead</a:t>
            </a:r>
            <a:r>
              <a:rPr lang="en-GB" sz="1500">
                <a:solidFill>
                  <a:schemeClr val="dk1"/>
                </a:solidFill>
              </a:rPr>
              <a:t> of the slowest worker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Parameter servers accept updates as long as they </a:t>
            </a:r>
            <a:r>
              <a:rPr lang="en-GB" sz="1500" b="1">
                <a:solidFill>
                  <a:schemeClr val="dk1"/>
                </a:solidFill>
              </a:rPr>
              <a:t>do not exceed staleness limit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Maintains: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</a:rPr>
              <a:t>High training speed (like ASP)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</a:rPr>
              <a:t>Controlled consistency (like BSP)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</a:rPr>
              <a:t>Trade-off: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Large s → faster training, more stale gradients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Small s → slower training, closer to fully consistent model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00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A1EE7E70-1E84-0A90-91DD-3C90FBA22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>
            <a:extLst>
              <a:ext uri="{FF2B5EF4-FFF2-40B4-BE49-F238E27FC236}">
                <a16:creationId xmlns:a16="http://schemas.microsoft.com/office/drawing/2014/main" id="{FCFE0A3E-62F4-6417-3027-17B352341B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304" y="310179"/>
            <a:ext cx="69915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GB" dirty="0">
                <a:latin typeface="Arial"/>
                <a:ea typeface="Arial"/>
                <a:cs typeface="Arial"/>
                <a:sym typeface="Arial"/>
              </a:rPr>
              <a:t>k-Variants</a:t>
            </a:r>
            <a:endParaRPr dirty="0"/>
          </a:p>
        </p:txBody>
      </p:sp>
      <p:sp>
        <p:nvSpPr>
          <p:cNvPr id="3" name="Google Shape;250;p42">
            <a:extLst>
              <a:ext uri="{FF2B5EF4-FFF2-40B4-BE49-F238E27FC236}">
                <a16:creationId xmlns:a16="http://schemas.microsoft.com/office/drawing/2014/main" id="{F6EDC5C2-B7A7-AC72-453B-4FF68636F570}"/>
              </a:ext>
            </a:extLst>
          </p:cNvPr>
          <p:cNvSpPr txBox="1"/>
          <p:nvPr/>
        </p:nvSpPr>
        <p:spPr>
          <a:xfrm>
            <a:off x="643300" y="768350"/>
            <a:ext cx="8221500" cy="4234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500"/>
              <a:buChar char="●"/>
            </a:pPr>
            <a:r>
              <a:rPr lang="en-US" sz="1500" b="1" dirty="0">
                <a:solidFill>
                  <a:schemeClr val="dk1"/>
                </a:solidFill>
              </a:rPr>
              <a:t>k-Variants</a:t>
            </a:r>
            <a:r>
              <a:rPr lang="en-US" sz="1500" dirty="0">
                <a:solidFill>
                  <a:schemeClr val="dk1"/>
                </a:solidFill>
              </a:rPr>
              <a:t> are modifications of the traditional </a:t>
            </a:r>
            <a:r>
              <a:rPr lang="en-US" sz="1500" b="1" dirty="0">
                <a:solidFill>
                  <a:schemeClr val="dk1"/>
                </a:solidFill>
              </a:rPr>
              <a:t>Bulk Synchronous Parallel (BSP)</a:t>
            </a:r>
            <a:r>
              <a:rPr lang="en-US" sz="1500" dirty="0">
                <a:solidFill>
                  <a:schemeClr val="dk1"/>
                </a:solidFill>
              </a:rPr>
              <a:t> protocol used in distributed training with Parameter Servers.</a:t>
            </a:r>
          </a:p>
          <a:p>
            <a:pPr marL="457200" lvl="0" indent="-323850">
              <a:lnSpc>
                <a:spcPct val="115000"/>
              </a:lnSpc>
              <a:buClr>
                <a:schemeClr val="dk1"/>
              </a:buClr>
              <a:buSzPts val="1500"/>
              <a:buChar char="●"/>
            </a:pPr>
            <a:r>
              <a:rPr lang="en-US" sz="1500" b="1" dirty="0">
                <a:solidFill>
                  <a:schemeClr val="dk1"/>
                </a:solidFill>
              </a:rPr>
              <a:t>Purpose:</a:t>
            </a:r>
            <a:r>
              <a:rPr lang="en-US" sz="1500" dirty="0">
                <a:solidFill>
                  <a:schemeClr val="dk1"/>
                </a:solidFill>
              </a:rPr>
              <a:t> Address the </a:t>
            </a:r>
            <a:r>
              <a:rPr lang="en-US" sz="1500" b="1" dirty="0">
                <a:solidFill>
                  <a:schemeClr val="dk1"/>
                </a:solidFill>
              </a:rPr>
              <a:t>straggler problem</a:t>
            </a:r>
            <a:r>
              <a:rPr lang="en-US" sz="1500" dirty="0">
                <a:solidFill>
                  <a:schemeClr val="dk1"/>
                </a:solidFill>
              </a:rPr>
              <a:t> in BSP by allowing the system to proceed without waiting for all workers.</a:t>
            </a:r>
          </a:p>
          <a:p>
            <a:pPr marL="457200" lvl="0" indent="-323850">
              <a:lnSpc>
                <a:spcPct val="115000"/>
              </a:lnSpc>
              <a:buClr>
                <a:schemeClr val="dk1"/>
              </a:buClr>
              <a:buSzPts val="1500"/>
              <a:buChar char="●"/>
            </a:pPr>
            <a:r>
              <a:rPr lang="en-US" sz="1500" dirty="0">
                <a:solidFill>
                  <a:schemeClr val="dk1"/>
                </a:solidFill>
              </a:rPr>
              <a:t>Instead of full synchronization across </a:t>
            </a:r>
            <a:r>
              <a:rPr lang="en-US" sz="1500" b="1" dirty="0">
                <a:solidFill>
                  <a:schemeClr val="dk1"/>
                </a:solidFill>
              </a:rPr>
              <a:t>all K workers</a:t>
            </a:r>
            <a:r>
              <a:rPr lang="en-US" sz="1500" dirty="0">
                <a:solidFill>
                  <a:schemeClr val="dk1"/>
                </a:solidFill>
              </a:rPr>
              <a:t>, updates can proceed after </a:t>
            </a:r>
            <a:r>
              <a:rPr lang="en-US" sz="1500" b="1" dirty="0">
                <a:solidFill>
                  <a:schemeClr val="dk1"/>
                </a:solidFill>
              </a:rPr>
              <a:t>k workers</a:t>
            </a:r>
            <a:r>
              <a:rPr lang="en-US" sz="1500" dirty="0">
                <a:solidFill>
                  <a:schemeClr val="dk1"/>
                </a:solidFill>
              </a:rPr>
              <a:t> complete their computation.</a:t>
            </a:r>
          </a:p>
          <a:p>
            <a:pPr marL="457200" lvl="0" indent="-323850">
              <a:lnSpc>
                <a:spcPct val="115000"/>
              </a:lnSpc>
              <a:buClr>
                <a:schemeClr val="dk1"/>
              </a:buClr>
              <a:buSzPts val="1500"/>
              <a:buChar char="●"/>
            </a:pPr>
            <a:r>
              <a:rPr lang="en-US" sz="1500" dirty="0">
                <a:solidFill>
                  <a:schemeClr val="dk1"/>
                </a:solidFill>
              </a:rPr>
              <a:t>Provides a </a:t>
            </a:r>
            <a:r>
              <a:rPr lang="en-US" sz="1500" b="1" dirty="0">
                <a:solidFill>
                  <a:schemeClr val="dk1"/>
                </a:solidFill>
              </a:rPr>
              <a:t>flexible trade-off</a:t>
            </a:r>
            <a:r>
              <a:rPr lang="en-US" sz="1500" dirty="0">
                <a:solidFill>
                  <a:schemeClr val="dk1"/>
                </a:solidFill>
              </a:rPr>
              <a:t> between:</a:t>
            </a:r>
          </a:p>
          <a:p>
            <a:pPr marL="914400" lvl="1" indent="-323850">
              <a:lnSpc>
                <a:spcPct val="115000"/>
              </a:lnSpc>
              <a:buClr>
                <a:schemeClr val="dk1"/>
              </a:buClr>
              <a:buSzPts val="1500"/>
              <a:buChar char="○"/>
            </a:pPr>
            <a:r>
              <a:rPr lang="en-US" sz="1500" dirty="0">
                <a:solidFill>
                  <a:schemeClr val="dk1"/>
                </a:solidFill>
              </a:rPr>
              <a:t>Training speed (like asynchronous approaches)</a:t>
            </a:r>
          </a:p>
          <a:p>
            <a:pPr marL="914400" lvl="1" indent="-323850">
              <a:lnSpc>
                <a:spcPct val="115000"/>
              </a:lnSpc>
              <a:buClr>
                <a:schemeClr val="dk1"/>
              </a:buClr>
              <a:buSzPts val="1500"/>
              <a:buChar char="○"/>
            </a:pPr>
            <a:r>
              <a:rPr lang="en-US" sz="1500" dirty="0">
                <a:solidFill>
                  <a:schemeClr val="dk1"/>
                </a:solidFill>
              </a:rPr>
              <a:t>Consistency of model updates (like BSP)</a:t>
            </a:r>
          </a:p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en-US" sz="1500" b="1" dirty="0">
                <a:solidFill>
                  <a:schemeClr val="dk1"/>
                </a:solidFill>
              </a:rPr>
              <a:t>Types of k-Variants</a:t>
            </a:r>
          </a:p>
          <a:p>
            <a:pPr marL="457200" lvl="0" indent="-323850">
              <a:lnSpc>
                <a:spcPct val="115000"/>
              </a:lnSpc>
              <a:buClr>
                <a:schemeClr val="dk1"/>
              </a:buClr>
              <a:buSzPts val="1500"/>
              <a:buAutoNum type="arabicPeriod"/>
            </a:pPr>
            <a:r>
              <a:rPr lang="en-US" sz="1500" b="1" dirty="0">
                <a:solidFill>
                  <a:schemeClr val="dk1"/>
                </a:solidFill>
              </a:rPr>
              <a:t>k-BSP</a:t>
            </a:r>
            <a:r>
              <a:rPr lang="en-US" sz="1500" dirty="0">
                <a:solidFill>
                  <a:schemeClr val="dk1"/>
                </a:solidFill>
              </a:rPr>
              <a:t> – Wait for </a:t>
            </a:r>
            <a:r>
              <a:rPr lang="en-US" sz="1500" b="1" dirty="0">
                <a:solidFill>
                  <a:schemeClr val="dk1"/>
                </a:solidFill>
              </a:rPr>
              <a:t>k workers</a:t>
            </a:r>
            <a:r>
              <a:rPr lang="en-US" sz="1500" dirty="0">
                <a:solidFill>
                  <a:schemeClr val="dk1"/>
                </a:solidFill>
              </a:rPr>
              <a:t> out of K before updating parameters.</a:t>
            </a:r>
          </a:p>
          <a:p>
            <a:pPr marL="457200" lvl="0" indent="-323850">
              <a:lnSpc>
                <a:spcPct val="115000"/>
              </a:lnSpc>
              <a:buClr>
                <a:schemeClr val="dk1"/>
              </a:buClr>
              <a:buSzPts val="1500"/>
              <a:buAutoNum type="arabicPeriod"/>
            </a:pPr>
            <a:r>
              <a:rPr lang="en-US" sz="1500" b="1" dirty="0">
                <a:solidFill>
                  <a:schemeClr val="dk1"/>
                </a:solidFill>
              </a:rPr>
              <a:t>k-batch-BSP</a:t>
            </a:r>
            <a:r>
              <a:rPr lang="en-US" sz="1500" dirty="0">
                <a:solidFill>
                  <a:schemeClr val="dk1"/>
                </a:solidFill>
              </a:rPr>
              <a:t> – Wait for </a:t>
            </a:r>
            <a:r>
              <a:rPr lang="en-US" sz="1500" b="1" dirty="0">
                <a:solidFill>
                  <a:schemeClr val="dk1"/>
                </a:solidFill>
              </a:rPr>
              <a:t>k mini-batches</a:t>
            </a:r>
            <a:r>
              <a:rPr lang="en-US" sz="1500" dirty="0">
                <a:solidFill>
                  <a:schemeClr val="dk1"/>
                </a:solidFill>
              </a:rPr>
              <a:t> (from any workers) instead of all batches.</a:t>
            </a:r>
          </a:p>
          <a:p>
            <a:pPr marL="457200" lvl="0" indent="-323850">
              <a:lnSpc>
                <a:spcPct val="115000"/>
              </a:lnSpc>
              <a:buClr>
                <a:schemeClr val="dk1"/>
              </a:buClr>
              <a:buSzPts val="1500"/>
              <a:buAutoNum type="arabicPeriod"/>
            </a:pPr>
            <a:r>
              <a:rPr lang="en-US" sz="1500" b="1" dirty="0">
                <a:solidFill>
                  <a:schemeClr val="dk1"/>
                </a:solidFill>
              </a:rPr>
              <a:t>k-ASP</a:t>
            </a:r>
            <a:r>
              <a:rPr lang="en-US" sz="1500" dirty="0">
                <a:solidFill>
                  <a:schemeClr val="dk1"/>
                </a:solidFill>
              </a:rPr>
              <a:t> – Asynchronous updates, but only use gradients from </a:t>
            </a:r>
            <a:r>
              <a:rPr lang="en-US" sz="1500" b="1" dirty="0">
                <a:solidFill>
                  <a:schemeClr val="dk1"/>
                </a:solidFill>
              </a:rPr>
              <a:t>k workers</a:t>
            </a:r>
            <a:r>
              <a:rPr lang="en-US" sz="1500" dirty="0">
                <a:solidFill>
                  <a:schemeClr val="dk1"/>
                </a:solidFill>
              </a:rPr>
              <a:t> per update.</a:t>
            </a:r>
          </a:p>
          <a:p>
            <a:pPr marL="457200" lvl="0" indent="-323850">
              <a:lnSpc>
                <a:spcPct val="115000"/>
              </a:lnSpc>
              <a:buClr>
                <a:schemeClr val="dk1"/>
              </a:buClr>
              <a:buSzPts val="1500"/>
              <a:buAutoNum type="arabicPeriod"/>
            </a:pPr>
            <a:r>
              <a:rPr lang="en-US" sz="1500" b="1" dirty="0">
                <a:solidFill>
                  <a:schemeClr val="dk1"/>
                </a:solidFill>
              </a:rPr>
              <a:t>k-batch-ASP</a:t>
            </a:r>
            <a:r>
              <a:rPr lang="en-US" sz="1500" dirty="0">
                <a:solidFill>
                  <a:schemeClr val="dk1"/>
                </a:solidFill>
              </a:rPr>
              <a:t> – Asynchronous updates using </a:t>
            </a:r>
            <a:r>
              <a:rPr lang="en-US" sz="1500" b="1" dirty="0">
                <a:solidFill>
                  <a:schemeClr val="dk1"/>
                </a:solidFill>
              </a:rPr>
              <a:t>k mini-batches</a:t>
            </a:r>
            <a:r>
              <a:rPr lang="en-US" sz="1500" dirty="0">
                <a:solidFill>
                  <a:schemeClr val="dk1"/>
                </a:solidFill>
              </a:rPr>
              <a:t> per update.</a:t>
            </a:r>
          </a:p>
        </p:txBody>
      </p:sp>
    </p:spTree>
    <p:extLst>
      <p:ext uri="{BB962C8B-B14F-4D97-AF65-F5344CB8AC3E}">
        <p14:creationId xmlns:p14="http://schemas.microsoft.com/office/powerpoint/2010/main" val="3879443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428269BB-2583-D34E-F0DC-7E693BD63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>
            <a:extLst>
              <a:ext uri="{FF2B5EF4-FFF2-40B4-BE49-F238E27FC236}">
                <a16:creationId xmlns:a16="http://schemas.microsoft.com/office/drawing/2014/main" id="{CEA9D33E-F1CD-6273-0827-6ECED0218E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304" y="310179"/>
            <a:ext cx="69915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GB" dirty="0">
                <a:latin typeface="Arial"/>
                <a:ea typeface="Arial"/>
                <a:cs typeface="Arial"/>
                <a:sym typeface="Arial"/>
              </a:rPr>
              <a:t>k-Variants</a:t>
            </a:r>
            <a:endParaRPr dirty="0"/>
          </a:p>
        </p:txBody>
      </p:sp>
      <p:sp>
        <p:nvSpPr>
          <p:cNvPr id="3" name="Google Shape;250;p42">
            <a:extLst>
              <a:ext uri="{FF2B5EF4-FFF2-40B4-BE49-F238E27FC236}">
                <a16:creationId xmlns:a16="http://schemas.microsoft.com/office/drawing/2014/main" id="{4122ECFB-1238-AD79-790A-2698EECA9BCD}"/>
              </a:ext>
            </a:extLst>
          </p:cNvPr>
          <p:cNvSpPr txBox="1"/>
          <p:nvPr/>
        </p:nvSpPr>
        <p:spPr>
          <a:xfrm>
            <a:off x="643300" y="919602"/>
            <a:ext cx="8221500" cy="623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94500"/>
              </a:lnSpc>
            </a:pPr>
            <a:r>
              <a:rPr lang="en-US" sz="1500" dirty="0">
                <a:solidFill>
                  <a:schemeClr val="dk1"/>
                </a:solidFill>
                <a:highlight>
                  <a:srgbClr val="FFFFFF"/>
                </a:highlight>
              </a:rPr>
              <a:t>Fig. a, Fig. b, Fig. c and Fig. d outline the process of training under k-BSP, k-batch-BSP, k-ASP, k-batch-ASP for 3 worker with k= 2.</a:t>
            </a:r>
          </a:p>
        </p:txBody>
      </p:sp>
      <p:pic>
        <p:nvPicPr>
          <p:cNvPr id="2" name="Google Shape;263;p44">
            <a:extLst>
              <a:ext uri="{FF2B5EF4-FFF2-40B4-BE49-F238E27FC236}">
                <a16:creationId xmlns:a16="http://schemas.microsoft.com/office/drawing/2014/main" id="{29E618A1-DF7E-7844-AC0E-0B55A437747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8800" y="1473750"/>
            <a:ext cx="6289215" cy="1594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64;p44">
            <a:extLst>
              <a:ext uri="{FF2B5EF4-FFF2-40B4-BE49-F238E27FC236}">
                <a16:creationId xmlns:a16="http://schemas.microsoft.com/office/drawing/2014/main" id="{6187D430-BCD2-6A52-83A4-F0228666F8D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1850" y="3212901"/>
            <a:ext cx="2154493" cy="16358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5087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4803E6AE-534E-DDD3-5A5C-B524EDDA3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>
            <a:extLst>
              <a:ext uri="{FF2B5EF4-FFF2-40B4-BE49-F238E27FC236}">
                <a16:creationId xmlns:a16="http://schemas.microsoft.com/office/drawing/2014/main" id="{8464F682-28CA-BB45-D63E-7A949225CC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304" y="310179"/>
            <a:ext cx="69915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GB" dirty="0">
                <a:latin typeface="Arial"/>
                <a:ea typeface="Arial"/>
                <a:cs typeface="Arial"/>
                <a:sym typeface="Arial"/>
              </a:rPr>
              <a:t>k-BSP</a:t>
            </a:r>
            <a:endParaRPr dirty="0"/>
          </a:p>
        </p:txBody>
      </p:sp>
      <p:sp>
        <p:nvSpPr>
          <p:cNvPr id="5" name="Google Shape;270;p45">
            <a:extLst>
              <a:ext uri="{FF2B5EF4-FFF2-40B4-BE49-F238E27FC236}">
                <a16:creationId xmlns:a16="http://schemas.microsoft.com/office/drawing/2014/main" id="{FB9711D3-E65C-1E09-3592-84CF2FBFED2B}"/>
              </a:ext>
            </a:extLst>
          </p:cNvPr>
          <p:cNvSpPr txBox="1"/>
          <p:nvPr/>
        </p:nvSpPr>
        <p:spPr>
          <a:xfrm>
            <a:off x="4572000" y="1057105"/>
            <a:ext cx="4194900" cy="28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 b="1">
                <a:solidFill>
                  <a:schemeClr val="dk1"/>
                </a:solidFill>
              </a:rPr>
              <a:t>k-BSP:</a:t>
            </a:r>
            <a:r>
              <a:rPr lang="en-GB" sz="1500">
                <a:solidFill>
                  <a:schemeClr val="dk1"/>
                </a:solidFill>
              </a:rPr>
              <a:t> In this protocol, the parameter server collects gradients from </a:t>
            </a:r>
            <a:r>
              <a:rPr lang="en-GB" sz="1500" b="1">
                <a:solidFill>
                  <a:schemeClr val="dk1"/>
                </a:solidFill>
              </a:rPr>
              <a:t>k = 2 different workers</a:t>
            </a:r>
            <a:r>
              <a:rPr lang="en-GB" sz="1500">
                <a:solidFill>
                  <a:schemeClr val="dk1"/>
                </a:solidFill>
              </a:rPr>
              <a:t> before updating the global model. Any workers that are stalled during the iteration (for example, Worker #3 after W1 and Worker #2 after W2) are </a:t>
            </a:r>
            <a:r>
              <a:rPr lang="en-GB" sz="1500" b="1">
                <a:solidFill>
                  <a:schemeClr val="dk1"/>
                </a:solidFill>
              </a:rPr>
              <a:t>skipped</a:t>
            </a:r>
            <a:r>
              <a:rPr lang="en-GB" sz="1500">
                <a:solidFill>
                  <a:schemeClr val="dk1"/>
                </a:solidFill>
              </a:rPr>
              <a:t>, and their gradients are </a:t>
            </a:r>
            <a:r>
              <a:rPr lang="en-GB" sz="1500" b="1">
                <a:solidFill>
                  <a:schemeClr val="dk1"/>
                </a:solidFill>
              </a:rPr>
              <a:t>discarded</a:t>
            </a:r>
            <a:r>
              <a:rPr lang="en-GB" sz="1500">
                <a:solidFill>
                  <a:schemeClr val="dk1"/>
                </a:solidFill>
              </a:rPr>
              <a:t> for that iteration. This reduces the impact of slow or straggling workers while ensuring that the server can continue updating the model efficiently.</a:t>
            </a:r>
            <a:endParaRPr sz="1500" b="1">
              <a:solidFill>
                <a:schemeClr val="dk1"/>
              </a:solidFill>
            </a:endParaRPr>
          </a:p>
        </p:txBody>
      </p:sp>
      <p:pic>
        <p:nvPicPr>
          <p:cNvPr id="6" name="Google Shape;271;p45">
            <a:extLst>
              <a:ext uri="{FF2B5EF4-FFF2-40B4-BE49-F238E27FC236}">
                <a16:creationId xmlns:a16="http://schemas.microsoft.com/office/drawing/2014/main" id="{661A765A-DEAC-FD43-C7FD-72B45A54753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36155"/>
            <a:ext cx="4267199" cy="29090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1991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0715F93F-ACC8-A4B5-DAAF-66E74C6F7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>
            <a:extLst>
              <a:ext uri="{FF2B5EF4-FFF2-40B4-BE49-F238E27FC236}">
                <a16:creationId xmlns:a16="http://schemas.microsoft.com/office/drawing/2014/main" id="{8F13D76B-9826-95B1-F8F7-96718454CF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304" y="310179"/>
            <a:ext cx="69915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GB" dirty="0">
                <a:latin typeface="Arial"/>
                <a:ea typeface="Arial"/>
                <a:cs typeface="Arial"/>
                <a:sym typeface="Arial"/>
              </a:rPr>
              <a:t>k-batch-BSP</a:t>
            </a:r>
            <a:endParaRPr dirty="0"/>
          </a:p>
        </p:txBody>
      </p:sp>
      <p:sp>
        <p:nvSpPr>
          <p:cNvPr id="2" name="Google Shape;277;p46">
            <a:extLst>
              <a:ext uri="{FF2B5EF4-FFF2-40B4-BE49-F238E27FC236}">
                <a16:creationId xmlns:a16="http://schemas.microsoft.com/office/drawing/2014/main" id="{05BF5615-2D08-B475-3D0D-489A56FFEDAE}"/>
              </a:ext>
            </a:extLst>
          </p:cNvPr>
          <p:cNvSpPr txBox="1"/>
          <p:nvPr/>
        </p:nvSpPr>
        <p:spPr>
          <a:xfrm>
            <a:off x="4572000" y="1063979"/>
            <a:ext cx="4194900" cy="3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 b="1">
                <a:solidFill>
                  <a:schemeClr val="dk1"/>
                </a:solidFill>
              </a:rPr>
              <a:t>k-batch-BSP:</a:t>
            </a:r>
            <a:r>
              <a:rPr lang="en-GB" sz="1500">
                <a:solidFill>
                  <a:schemeClr val="dk1"/>
                </a:solidFill>
              </a:rPr>
              <a:t> In this method, illustrated in Figure b, the server waits for </a:t>
            </a:r>
            <a:r>
              <a:rPr lang="en-GB" sz="1500" b="1">
                <a:solidFill>
                  <a:schemeClr val="dk1"/>
                </a:solidFill>
              </a:rPr>
              <a:t>k = 2 batch gradient updates</a:t>
            </a:r>
            <a:r>
              <a:rPr lang="en-GB" sz="1500">
                <a:solidFill>
                  <a:schemeClr val="dk1"/>
                </a:solidFill>
              </a:rPr>
              <a:t>, which may come from the same worker rather than from distinct workers. The process is similar to k-BSP, but more flexible in handling batches. For instance, after W1, two batches from Worker #1 might complete the first iteration, causing Workers #2 and #3 to be skipped for that step. In the following iteration, the previously skipped workers are allowed to contribute, ensuring all workers participate over time.</a:t>
            </a:r>
            <a:endParaRPr sz="1500" b="1">
              <a:solidFill>
                <a:schemeClr val="dk1"/>
              </a:solidFill>
            </a:endParaRPr>
          </a:p>
        </p:txBody>
      </p:sp>
      <p:pic>
        <p:nvPicPr>
          <p:cNvPr id="3" name="Google Shape;278;p46">
            <a:extLst>
              <a:ext uri="{FF2B5EF4-FFF2-40B4-BE49-F238E27FC236}">
                <a16:creationId xmlns:a16="http://schemas.microsoft.com/office/drawing/2014/main" id="{DED7B0CB-FB1B-4609-CA92-F4A9D103A1F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43029"/>
            <a:ext cx="4267201" cy="33125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64050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D52C5770-AA3C-957C-5626-92F5C9D2B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>
            <a:extLst>
              <a:ext uri="{FF2B5EF4-FFF2-40B4-BE49-F238E27FC236}">
                <a16:creationId xmlns:a16="http://schemas.microsoft.com/office/drawing/2014/main" id="{0C66516F-B300-03EA-C1B9-964E8C6C87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304" y="310179"/>
            <a:ext cx="69915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GB" dirty="0">
                <a:latin typeface="Arial"/>
                <a:ea typeface="Arial"/>
                <a:cs typeface="Arial"/>
                <a:sym typeface="Arial"/>
              </a:rPr>
              <a:t>k-ASP</a:t>
            </a:r>
            <a:endParaRPr dirty="0"/>
          </a:p>
        </p:txBody>
      </p:sp>
      <p:sp>
        <p:nvSpPr>
          <p:cNvPr id="4" name="Google Shape;284;p47">
            <a:extLst>
              <a:ext uri="{FF2B5EF4-FFF2-40B4-BE49-F238E27FC236}">
                <a16:creationId xmlns:a16="http://schemas.microsoft.com/office/drawing/2014/main" id="{3796DA5F-8211-080F-EA08-32CC14577CF8}"/>
              </a:ext>
            </a:extLst>
          </p:cNvPr>
          <p:cNvSpPr txBox="1"/>
          <p:nvPr/>
        </p:nvSpPr>
        <p:spPr>
          <a:xfrm>
            <a:off x="4572000" y="1029600"/>
            <a:ext cx="4194900" cy="28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 b="1" dirty="0">
                <a:solidFill>
                  <a:schemeClr val="dk1"/>
                </a:solidFill>
              </a:rPr>
              <a:t>k-ASP:</a:t>
            </a:r>
            <a:r>
              <a:rPr lang="en-GB" sz="1500" dirty="0">
                <a:solidFill>
                  <a:schemeClr val="dk1"/>
                </a:solidFill>
              </a:rPr>
              <a:t> This protocol is similar to k-BSP, but with a key difference: stalled workers are </a:t>
            </a:r>
            <a:r>
              <a:rPr lang="en-GB" sz="1500" b="1" dirty="0">
                <a:solidFill>
                  <a:schemeClr val="dk1"/>
                </a:solidFill>
              </a:rPr>
              <a:t>not </a:t>
            </a:r>
            <a:r>
              <a:rPr lang="en-GB" sz="1500" b="1" dirty="0" err="1">
                <a:solidFill>
                  <a:schemeClr val="dk1"/>
                </a:solidFill>
              </a:rPr>
              <a:t>canceled</a:t>
            </a:r>
            <a:r>
              <a:rPr lang="en-GB" sz="1500" dirty="0">
                <a:solidFill>
                  <a:schemeClr val="dk1"/>
                </a:solidFill>
              </a:rPr>
              <a:t>. Their gradients may be included in </a:t>
            </a:r>
            <a:r>
              <a:rPr lang="en-GB" sz="1500" b="1" dirty="0">
                <a:solidFill>
                  <a:schemeClr val="dk1"/>
                </a:solidFill>
              </a:rPr>
              <a:t>future iterations</a:t>
            </a:r>
            <a:r>
              <a:rPr lang="en-GB" sz="1500" dirty="0">
                <a:solidFill>
                  <a:schemeClr val="dk1"/>
                </a:solidFill>
              </a:rPr>
              <a:t> and can contribute to completing the required k updates, as illustrated in Figure c. This approach allows delayed workers to participate without blocking the server, improving overall resource utilization while maintaining asynchronous updates.</a:t>
            </a:r>
            <a:endParaRPr sz="1500" b="1" dirty="0">
              <a:solidFill>
                <a:schemeClr val="dk1"/>
              </a:solidFill>
            </a:endParaRPr>
          </a:p>
        </p:txBody>
      </p:sp>
      <p:pic>
        <p:nvPicPr>
          <p:cNvPr id="5" name="Google Shape;285;p47">
            <a:extLst>
              <a:ext uri="{FF2B5EF4-FFF2-40B4-BE49-F238E27FC236}">
                <a16:creationId xmlns:a16="http://schemas.microsoft.com/office/drawing/2014/main" id="{07586B4A-D687-AFB9-7452-176B93C1C69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50475"/>
            <a:ext cx="4267201" cy="32885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2514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B5C1FB5B-C95B-4382-D44B-A85A53382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>
            <a:extLst>
              <a:ext uri="{FF2B5EF4-FFF2-40B4-BE49-F238E27FC236}">
                <a16:creationId xmlns:a16="http://schemas.microsoft.com/office/drawing/2014/main" id="{223E4A6F-8198-EECE-EE81-938AB8DF60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304" y="310179"/>
            <a:ext cx="69915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GB" dirty="0">
                <a:latin typeface="Arial"/>
                <a:ea typeface="Arial"/>
                <a:cs typeface="Arial"/>
                <a:sym typeface="Arial"/>
              </a:rPr>
              <a:t>k-batch-ASP</a:t>
            </a:r>
            <a:endParaRPr dirty="0"/>
          </a:p>
        </p:txBody>
      </p:sp>
      <p:sp>
        <p:nvSpPr>
          <p:cNvPr id="2" name="Google Shape;291;p48">
            <a:extLst>
              <a:ext uri="{FF2B5EF4-FFF2-40B4-BE49-F238E27FC236}">
                <a16:creationId xmlns:a16="http://schemas.microsoft.com/office/drawing/2014/main" id="{E242CB57-CF3A-0825-2A8E-D8FBC002DF05}"/>
              </a:ext>
            </a:extLst>
          </p:cNvPr>
          <p:cNvSpPr txBox="1"/>
          <p:nvPr/>
        </p:nvSpPr>
        <p:spPr>
          <a:xfrm>
            <a:off x="4572000" y="1098355"/>
            <a:ext cx="4194900" cy="28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 b="1">
                <a:solidFill>
                  <a:schemeClr val="dk1"/>
                </a:solidFill>
              </a:rPr>
              <a:t>k-batch-ASP:</a:t>
            </a:r>
            <a:r>
              <a:rPr lang="en-GB" sz="1500">
                <a:solidFill>
                  <a:schemeClr val="dk1"/>
                </a:solidFill>
              </a:rPr>
              <a:t> This protocol is equivalent to k-batch-BSP, with the key difference that </a:t>
            </a:r>
            <a:r>
              <a:rPr lang="en-GB" sz="1500" b="1">
                <a:solidFill>
                  <a:schemeClr val="dk1"/>
                </a:solidFill>
              </a:rPr>
              <a:t>stalled workers are not canceled</a:t>
            </a:r>
            <a:r>
              <a:rPr lang="en-GB" sz="1500">
                <a:solidFill>
                  <a:schemeClr val="dk1"/>
                </a:solidFill>
              </a:rPr>
              <a:t>. Their updates can be used in subsequent iterations to complete the required k batch gradients, as shown in Figure d. This approach combines the flexibility of batch-based updates with asynchronous execution, improving training efficiency without losing contributions from slower workers.</a:t>
            </a:r>
            <a:endParaRPr sz="1500" b="1">
              <a:solidFill>
                <a:schemeClr val="dk1"/>
              </a:solidFill>
            </a:endParaRPr>
          </a:p>
        </p:txBody>
      </p:sp>
      <p:pic>
        <p:nvPicPr>
          <p:cNvPr id="3" name="Google Shape;292;p48">
            <a:extLst>
              <a:ext uri="{FF2B5EF4-FFF2-40B4-BE49-F238E27FC236}">
                <a16:creationId xmlns:a16="http://schemas.microsoft.com/office/drawing/2014/main" id="{F28F6F6C-1339-0290-0001-ED85D6F9AA5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77405"/>
            <a:ext cx="4267198" cy="31723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36798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9"/>
          <p:cNvSpPr txBox="1">
            <a:spLocks noGrp="1"/>
          </p:cNvSpPr>
          <p:nvPr>
            <p:ph type="ctrTitle" idx="4294967295"/>
          </p:nvPr>
        </p:nvSpPr>
        <p:spPr>
          <a:xfrm>
            <a:off x="1200150" y="3429000"/>
            <a:ext cx="77151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000"/>
              <a:buFont typeface="Arial"/>
              <a:buNone/>
            </a:pPr>
            <a:r>
              <a:rPr lang="en-GB" sz="3000"/>
              <a:t>Network Related Optimizations in Parameter Server Architectures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D545C7E0-9A89-AC60-7D53-AFC6BB433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>
            <a:extLst>
              <a:ext uri="{FF2B5EF4-FFF2-40B4-BE49-F238E27FC236}">
                <a16:creationId xmlns:a16="http://schemas.microsoft.com/office/drawing/2014/main" id="{EE9467B5-DF15-CCE8-8AC6-6CD642D18B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304" y="310179"/>
            <a:ext cx="69915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GB" dirty="0">
                <a:latin typeface="Arial"/>
                <a:ea typeface="Arial"/>
                <a:cs typeface="Arial"/>
                <a:sym typeface="Arial"/>
              </a:rPr>
              <a:t>Network-Related Optimizations</a:t>
            </a:r>
            <a:endParaRPr dirty="0"/>
          </a:p>
        </p:txBody>
      </p:sp>
      <p:sp>
        <p:nvSpPr>
          <p:cNvPr id="4" name="Google Shape;303;p50">
            <a:extLst>
              <a:ext uri="{FF2B5EF4-FFF2-40B4-BE49-F238E27FC236}">
                <a16:creationId xmlns:a16="http://schemas.microsoft.com/office/drawing/2014/main" id="{EFC5CDB6-C1D6-69C4-ED79-9F54D5920153}"/>
              </a:ext>
            </a:extLst>
          </p:cNvPr>
          <p:cNvSpPr txBox="1"/>
          <p:nvPr/>
        </p:nvSpPr>
        <p:spPr>
          <a:xfrm>
            <a:off x="643299" y="782099"/>
            <a:ext cx="8136315" cy="41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In </a:t>
            </a:r>
            <a:r>
              <a:rPr lang="en-GB" sz="1500" b="1">
                <a:solidFill>
                  <a:schemeClr val="dk1"/>
                </a:solidFill>
              </a:rPr>
              <a:t>Parameter Server (PS) systems</a:t>
            </a:r>
            <a:r>
              <a:rPr lang="en-GB" sz="1500">
                <a:solidFill>
                  <a:schemeClr val="dk1"/>
                </a:solidFill>
              </a:rPr>
              <a:t>, </a:t>
            </a:r>
            <a:r>
              <a:rPr lang="en-GB" sz="1500" b="1">
                <a:solidFill>
                  <a:schemeClr val="dk1"/>
                </a:solidFill>
              </a:rPr>
              <a:t>communication overhead</a:t>
            </a:r>
            <a:r>
              <a:rPr lang="en-GB" sz="1500">
                <a:solidFill>
                  <a:schemeClr val="dk1"/>
                </a:solidFill>
              </a:rPr>
              <a:t> is a major bottleneck.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Servers often become </a:t>
            </a:r>
            <a:r>
              <a:rPr lang="en-GB" sz="1500" b="1">
                <a:solidFill>
                  <a:schemeClr val="dk1"/>
                </a:solidFill>
              </a:rPr>
              <a:t>hotspots</a:t>
            </a:r>
            <a:r>
              <a:rPr lang="en-GB" sz="1500">
                <a:solidFill>
                  <a:schemeClr val="dk1"/>
                </a:solidFill>
              </a:rPr>
              <a:t> because multiple workers </a:t>
            </a:r>
            <a:r>
              <a:rPr lang="en-GB" sz="1500" b="1">
                <a:solidFill>
                  <a:schemeClr val="dk1"/>
                </a:solidFill>
              </a:rPr>
              <a:t>simultaneously push gradients and pull parameters</a:t>
            </a:r>
            <a:r>
              <a:rPr lang="en-GB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 b="1">
                <a:solidFill>
                  <a:schemeClr val="dk1"/>
                </a:solidFill>
              </a:rPr>
              <a:t>Network optimizations</a:t>
            </a:r>
            <a:r>
              <a:rPr lang="en-GB" sz="1500">
                <a:solidFill>
                  <a:schemeClr val="dk1"/>
                </a:solidFill>
              </a:rPr>
              <a:t> aim to: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</a:rPr>
              <a:t>Reduce </a:t>
            </a:r>
            <a:r>
              <a:rPr lang="en-GB" sz="1500" b="1">
                <a:solidFill>
                  <a:schemeClr val="dk1"/>
                </a:solidFill>
              </a:rPr>
              <a:t>bandwidth usage</a:t>
            </a:r>
            <a:endParaRPr sz="1500" b="1">
              <a:solidFill>
                <a:schemeClr val="dk1"/>
              </a:solidFill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</a:rPr>
              <a:t>Lower </a:t>
            </a:r>
            <a:r>
              <a:rPr lang="en-GB" sz="1500" b="1">
                <a:solidFill>
                  <a:schemeClr val="dk1"/>
                </a:solidFill>
              </a:rPr>
              <a:t>latency</a:t>
            </a:r>
            <a:endParaRPr sz="1500" b="1">
              <a:solidFill>
                <a:schemeClr val="dk1"/>
              </a:solidFill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</a:rPr>
              <a:t>Reduce </a:t>
            </a:r>
            <a:r>
              <a:rPr lang="en-GB" sz="1500" b="1">
                <a:solidFill>
                  <a:schemeClr val="dk1"/>
                </a:solidFill>
              </a:rPr>
              <a:t>server load</a:t>
            </a:r>
            <a:endParaRPr sz="1500" b="1">
              <a:solidFill>
                <a:schemeClr val="dk1"/>
              </a:solidFill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GB" sz="1500">
                <a:solidFill>
                  <a:schemeClr val="dk1"/>
                </a:solidFill>
              </a:rPr>
              <a:t>Improve </a:t>
            </a:r>
            <a:r>
              <a:rPr lang="en-GB" sz="1500" b="1">
                <a:solidFill>
                  <a:schemeClr val="dk1"/>
                </a:solidFill>
              </a:rPr>
              <a:t>training speed and scalability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These optimizations are categorized into </a:t>
            </a:r>
            <a:r>
              <a:rPr lang="en-GB" sz="1500" b="1">
                <a:solidFill>
                  <a:schemeClr val="dk1"/>
                </a:solidFill>
              </a:rPr>
              <a:t>five key areas:</a:t>
            </a:r>
            <a:endParaRPr sz="1500" b="1">
              <a:solidFill>
                <a:schemeClr val="dk1"/>
              </a:solidFill>
            </a:endParaRPr>
          </a:p>
          <a:p>
            <a:pPr marL="13716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GB" sz="1500">
                <a:solidFill>
                  <a:schemeClr val="dk1"/>
                </a:solidFill>
              </a:rPr>
              <a:t>Gradient Compression</a:t>
            </a:r>
            <a:endParaRPr sz="1500">
              <a:solidFill>
                <a:schemeClr val="dk1"/>
              </a:solidFill>
            </a:endParaRPr>
          </a:p>
          <a:p>
            <a:pPr marL="13716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GB" sz="1500">
                <a:solidFill>
                  <a:schemeClr val="dk1"/>
                </a:solidFill>
              </a:rPr>
              <a:t>Pipelining and Overlapping</a:t>
            </a:r>
            <a:endParaRPr sz="1500">
              <a:solidFill>
                <a:schemeClr val="dk1"/>
              </a:solidFill>
            </a:endParaRPr>
          </a:p>
          <a:p>
            <a:pPr marL="13716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GB" sz="1500">
                <a:solidFill>
                  <a:schemeClr val="dk1"/>
                </a:solidFill>
              </a:rPr>
              <a:t>Local Aggregation and Caching</a:t>
            </a:r>
            <a:endParaRPr sz="1500">
              <a:solidFill>
                <a:schemeClr val="dk1"/>
              </a:solidFill>
            </a:endParaRPr>
          </a:p>
          <a:p>
            <a:pPr marL="13716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GB" sz="1500">
                <a:solidFill>
                  <a:schemeClr val="dk1"/>
                </a:solidFill>
              </a:rPr>
              <a:t>Prioritization and Scheduling</a:t>
            </a:r>
            <a:endParaRPr sz="1500">
              <a:solidFill>
                <a:schemeClr val="dk1"/>
              </a:solidFill>
            </a:endParaRPr>
          </a:p>
          <a:p>
            <a:pPr marL="13716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GB" sz="1500">
                <a:solidFill>
                  <a:schemeClr val="dk1"/>
                </a:solidFill>
              </a:rPr>
              <a:t>Topology and Structural Improvements</a:t>
            </a:r>
            <a:endParaRPr sz="15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54816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709E950F-DB97-1E72-9071-B4064A4F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>
            <a:extLst>
              <a:ext uri="{FF2B5EF4-FFF2-40B4-BE49-F238E27FC236}">
                <a16:creationId xmlns:a16="http://schemas.microsoft.com/office/drawing/2014/main" id="{13BE50EA-995E-E69F-F465-1DBD047E5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304" y="310179"/>
            <a:ext cx="69915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GB" dirty="0">
                <a:latin typeface="Arial"/>
                <a:ea typeface="Arial"/>
                <a:cs typeface="Arial"/>
                <a:sym typeface="Arial"/>
              </a:rPr>
              <a:t>Gradient Compression</a:t>
            </a:r>
            <a:endParaRPr dirty="0"/>
          </a:p>
        </p:txBody>
      </p:sp>
      <p:sp>
        <p:nvSpPr>
          <p:cNvPr id="4" name="Google Shape;303;p50">
            <a:extLst>
              <a:ext uri="{FF2B5EF4-FFF2-40B4-BE49-F238E27FC236}">
                <a16:creationId xmlns:a16="http://schemas.microsoft.com/office/drawing/2014/main" id="{590FD271-B140-E550-4D7A-06AA1BC7978B}"/>
              </a:ext>
            </a:extLst>
          </p:cNvPr>
          <p:cNvSpPr txBox="1"/>
          <p:nvPr/>
        </p:nvSpPr>
        <p:spPr>
          <a:xfrm>
            <a:off x="361416" y="843974"/>
            <a:ext cx="8211943" cy="3903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>
              <a:spcBef>
                <a:spcPts val="1200"/>
              </a:spcBef>
              <a:buClr>
                <a:schemeClr val="dk1"/>
              </a:buClr>
              <a:buSzPts val="1500"/>
              <a:buChar char="●"/>
            </a:pPr>
            <a:r>
              <a:rPr lang="en-US" sz="1500" dirty="0">
                <a:solidFill>
                  <a:schemeClr val="dk1"/>
                </a:solidFill>
              </a:rPr>
              <a:t>Reduce </a:t>
            </a:r>
            <a:r>
              <a:rPr lang="en-US" sz="1500" b="1" dirty="0">
                <a:solidFill>
                  <a:schemeClr val="dk1"/>
                </a:solidFill>
              </a:rPr>
              <a:t>communication overhead</a:t>
            </a:r>
            <a:r>
              <a:rPr lang="en-US" sz="1500" dirty="0">
                <a:solidFill>
                  <a:schemeClr val="dk1"/>
                </a:solidFill>
              </a:rPr>
              <a:t> between workers and parameter servers.</a:t>
            </a:r>
          </a:p>
          <a:p>
            <a:pPr marL="457200" lvl="0" indent="-323850">
              <a:buClr>
                <a:schemeClr val="dk1"/>
              </a:buClr>
              <a:buSzPts val="1500"/>
              <a:buChar char="●"/>
            </a:pPr>
            <a:r>
              <a:rPr lang="en-US" sz="1500" dirty="0">
                <a:solidFill>
                  <a:schemeClr val="dk1"/>
                </a:solidFill>
              </a:rPr>
              <a:t>Maintain </a:t>
            </a:r>
            <a:r>
              <a:rPr lang="en-US" sz="1500" b="1" dirty="0">
                <a:solidFill>
                  <a:schemeClr val="dk1"/>
                </a:solidFill>
              </a:rPr>
              <a:t>model accuracy and convergence</a:t>
            </a:r>
            <a:r>
              <a:rPr lang="en-US" sz="1500" dirty="0">
                <a:solidFill>
                  <a:schemeClr val="dk1"/>
                </a:solidFill>
              </a:rPr>
              <a:t> while lowering network traffic.</a:t>
            </a:r>
          </a:p>
          <a:p>
            <a:pPr lvl="0">
              <a:spcBef>
                <a:spcPts val="1400"/>
              </a:spcBef>
            </a:pPr>
            <a:r>
              <a:rPr lang="en-US" sz="1500" b="1" dirty="0">
                <a:solidFill>
                  <a:schemeClr val="dk1"/>
                </a:solidFill>
              </a:rPr>
              <a:t>Techniques</a:t>
            </a:r>
          </a:p>
          <a:p>
            <a:pPr lvl="0"/>
            <a:r>
              <a:rPr lang="en-US" sz="1500" b="1" dirty="0">
                <a:solidFill>
                  <a:schemeClr val="dk1"/>
                </a:solidFill>
              </a:rPr>
              <a:t>1. </a:t>
            </a:r>
            <a:r>
              <a:rPr lang="en-US" sz="1500" b="1" dirty="0" err="1">
                <a:solidFill>
                  <a:schemeClr val="dk1"/>
                </a:solidFill>
              </a:rPr>
              <a:t>Sparsification</a:t>
            </a:r>
            <a:endParaRPr lang="en-US" sz="1500" b="1" dirty="0">
              <a:solidFill>
                <a:schemeClr val="dk1"/>
              </a:solidFill>
            </a:endParaRPr>
          </a:p>
          <a:p>
            <a:pPr marL="457200" lvl="0" indent="-323850">
              <a:buClr>
                <a:schemeClr val="dk1"/>
              </a:buClr>
              <a:buSzPts val="1500"/>
              <a:buChar char="●"/>
            </a:pPr>
            <a:r>
              <a:rPr lang="en-US" sz="1500" dirty="0">
                <a:solidFill>
                  <a:schemeClr val="dk1"/>
                </a:solidFill>
              </a:rPr>
              <a:t>Send only </a:t>
            </a:r>
            <a:r>
              <a:rPr lang="en-US" sz="1500" b="1" dirty="0">
                <a:solidFill>
                  <a:schemeClr val="dk1"/>
                </a:solidFill>
              </a:rPr>
              <a:t>significant gradients</a:t>
            </a:r>
            <a:r>
              <a:rPr lang="en-US" sz="1500" dirty="0">
                <a:solidFill>
                  <a:schemeClr val="dk1"/>
                </a:solidFill>
              </a:rPr>
              <a:t>, ignore small ones.</a:t>
            </a:r>
          </a:p>
          <a:p>
            <a:pPr marL="457200" lvl="0" indent="-323850">
              <a:buClr>
                <a:schemeClr val="dk1"/>
              </a:buClr>
              <a:buSzPts val="1500"/>
              <a:buChar char="●"/>
            </a:pPr>
            <a:r>
              <a:rPr lang="en-US" sz="1500" dirty="0">
                <a:solidFill>
                  <a:schemeClr val="dk1"/>
                </a:solidFill>
              </a:rPr>
              <a:t>Examples: </a:t>
            </a:r>
            <a:r>
              <a:rPr lang="en-US" sz="1500" b="1" dirty="0">
                <a:solidFill>
                  <a:schemeClr val="dk1"/>
                </a:solidFill>
              </a:rPr>
              <a:t>Top-1%, Top-K</a:t>
            </a:r>
            <a:r>
              <a:rPr lang="en-US" sz="1500" dirty="0">
                <a:solidFill>
                  <a:schemeClr val="dk1"/>
                </a:solidFill>
              </a:rPr>
              <a:t> </a:t>
            </a:r>
            <a:r>
              <a:rPr lang="en-US" sz="1500" dirty="0" err="1">
                <a:solidFill>
                  <a:schemeClr val="dk1"/>
                </a:solidFill>
              </a:rPr>
              <a:t>sparsification</a:t>
            </a:r>
            <a:r>
              <a:rPr lang="en-US" sz="1500" dirty="0">
                <a:solidFill>
                  <a:schemeClr val="dk1"/>
                </a:solidFill>
              </a:rPr>
              <a:t>.</a:t>
            </a:r>
          </a:p>
          <a:p>
            <a:pPr marL="457200" lvl="0" indent="-323850">
              <a:buClr>
                <a:schemeClr val="dk1"/>
              </a:buClr>
              <a:buSzPts val="1500"/>
              <a:buChar char="●"/>
            </a:pPr>
            <a:r>
              <a:rPr lang="en-US" sz="1500" b="1" dirty="0">
                <a:solidFill>
                  <a:schemeClr val="dk1"/>
                </a:solidFill>
              </a:rPr>
              <a:t>Error compensation:</a:t>
            </a:r>
            <a:r>
              <a:rPr lang="en-US" sz="1500" dirty="0">
                <a:solidFill>
                  <a:schemeClr val="dk1"/>
                </a:solidFill>
              </a:rPr>
              <a:t> Track discarded gradients and add them in future updates to maintain convergence.</a:t>
            </a:r>
          </a:p>
          <a:p>
            <a:pPr lvl="0">
              <a:spcBef>
                <a:spcPts val="1200"/>
              </a:spcBef>
            </a:pPr>
            <a:r>
              <a:rPr lang="en-US" sz="1500" b="1" dirty="0">
                <a:solidFill>
                  <a:schemeClr val="dk1"/>
                </a:solidFill>
              </a:rPr>
              <a:t>2. Quantization</a:t>
            </a:r>
          </a:p>
          <a:p>
            <a:pPr marL="457200" lvl="0" indent="-323850">
              <a:buClr>
                <a:schemeClr val="dk1"/>
              </a:buClr>
              <a:buSzPts val="1500"/>
              <a:buChar char="●"/>
            </a:pPr>
            <a:r>
              <a:rPr lang="en-US" sz="1500" dirty="0">
                <a:solidFill>
                  <a:schemeClr val="dk1"/>
                </a:solidFill>
              </a:rPr>
              <a:t>Reduce </a:t>
            </a:r>
            <a:r>
              <a:rPr lang="en-US" sz="1500" b="1" dirty="0">
                <a:solidFill>
                  <a:schemeClr val="dk1"/>
                </a:solidFill>
              </a:rPr>
              <a:t>bit-precision</a:t>
            </a:r>
            <a:r>
              <a:rPr lang="en-US" sz="1500" dirty="0">
                <a:solidFill>
                  <a:schemeClr val="dk1"/>
                </a:solidFill>
              </a:rPr>
              <a:t> of gradient updates.</a:t>
            </a:r>
          </a:p>
          <a:p>
            <a:pPr marL="457200" lvl="0" indent="-323850">
              <a:buClr>
                <a:schemeClr val="dk1"/>
              </a:buClr>
              <a:buSzPts val="1500"/>
              <a:buChar char="●"/>
            </a:pPr>
            <a:r>
              <a:rPr lang="en-US" sz="1500" dirty="0">
                <a:solidFill>
                  <a:schemeClr val="dk1"/>
                </a:solidFill>
              </a:rPr>
              <a:t>Examples: </a:t>
            </a:r>
            <a:r>
              <a:rPr lang="en-US" sz="1500" b="1" dirty="0">
                <a:solidFill>
                  <a:schemeClr val="dk1"/>
                </a:solidFill>
              </a:rPr>
              <a:t>16-bit, 8-bit, 1-bit, ternary (</a:t>
            </a:r>
            <a:r>
              <a:rPr lang="en-US" sz="1500" b="1" dirty="0" err="1">
                <a:solidFill>
                  <a:schemeClr val="dk1"/>
                </a:solidFill>
              </a:rPr>
              <a:t>TernGRAD</a:t>
            </a:r>
            <a:r>
              <a:rPr lang="en-US" sz="1500" b="1" dirty="0">
                <a:solidFill>
                  <a:schemeClr val="dk1"/>
                </a:solidFill>
              </a:rPr>
              <a:t> - </a:t>
            </a:r>
            <a:r>
              <a:rPr lang="en-US" sz="1500" dirty="0">
                <a:solidFill>
                  <a:schemeClr val="dk1"/>
                </a:solidFill>
              </a:rPr>
              <a:t>Uses </a:t>
            </a:r>
            <a:r>
              <a:rPr lang="en-US" sz="1500" b="1" dirty="0">
                <a:solidFill>
                  <a:schemeClr val="dk1"/>
                </a:solidFill>
              </a:rPr>
              <a:t>three levels</a:t>
            </a:r>
            <a:r>
              <a:rPr lang="en-US" sz="1500" dirty="0">
                <a:solidFill>
                  <a:schemeClr val="dk1"/>
                </a:solidFill>
              </a:rPr>
              <a:t> (e.g., {-1, 0, +1}) for gradient quantization to reduce communication.</a:t>
            </a:r>
            <a:r>
              <a:rPr lang="en-US" sz="1500" b="1" dirty="0">
                <a:solidFill>
                  <a:schemeClr val="dk1"/>
                </a:solidFill>
              </a:rPr>
              <a:t>)</a:t>
            </a:r>
            <a:r>
              <a:rPr lang="en-US" sz="1500" dirty="0">
                <a:solidFill>
                  <a:schemeClr val="dk1"/>
                </a:solidFill>
              </a:rPr>
              <a:t>.</a:t>
            </a:r>
          </a:p>
          <a:p>
            <a:pPr marL="457200" lvl="0" indent="-323850">
              <a:buClr>
                <a:schemeClr val="dk1"/>
              </a:buClr>
              <a:buSzPts val="1500"/>
              <a:buChar char="●"/>
            </a:pPr>
            <a:r>
              <a:rPr lang="en-US" sz="1500" dirty="0">
                <a:solidFill>
                  <a:schemeClr val="dk1"/>
                </a:solidFill>
              </a:rPr>
              <a:t>Advanced methods like </a:t>
            </a:r>
            <a:r>
              <a:rPr lang="en-US" sz="1500" b="1" dirty="0" err="1">
                <a:solidFill>
                  <a:schemeClr val="dk1"/>
                </a:solidFill>
              </a:rPr>
              <a:t>MQGrad</a:t>
            </a:r>
            <a:r>
              <a:rPr lang="en-US" sz="1500" b="1" dirty="0">
                <a:solidFill>
                  <a:schemeClr val="dk1"/>
                </a:solidFill>
              </a:rPr>
              <a:t> (Multi-level Quantized Gradient)</a:t>
            </a:r>
            <a:r>
              <a:rPr lang="en-US" sz="1500" dirty="0">
                <a:solidFill>
                  <a:schemeClr val="dk1"/>
                </a:solidFill>
              </a:rPr>
              <a:t> use </a:t>
            </a:r>
            <a:r>
              <a:rPr lang="en-US" sz="1500" b="1" dirty="0">
                <a:solidFill>
                  <a:schemeClr val="dk1"/>
                </a:solidFill>
              </a:rPr>
              <a:t>reinforcement learning</a:t>
            </a:r>
            <a:r>
              <a:rPr lang="en-US" sz="1500" dirty="0">
                <a:solidFill>
                  <a:schemeClr val="dk1"/>
                </a:solidFill>
              </a:rPr>
              <a:t> to dynamically adjust bit size based on model loss.</a:t>
            </a:r>
          </a:p>
        </p:txBody>
      </p:sp>
    </p:spTree>
    <p:extLst>
      <p:ext uri="{BB962C8B-B14F-4D97-AF65-F5344CB8AC3E}">
        <p14:creationId xmlns:p14="http://schemas.microsoft.com/office/powerpoint/2010/main" val="22307417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AC912940-C034-B725-FAC9-7D7D4CAB2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>
            <a:extLst>
              <a:ext uri="{FF2B5EF4-FFF2-40B4-BE49-F238E27FC236}">
                <a16:creationId xmlns:a16="http://schemas.microsoft.com/office/drawing/2014/main" id="{2DC85C33-EE19-FD9F-43ED-9728FB9588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304" y="310179"/>
            <a:ext cx="69915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GB" dirty="0">
                <a:latin typeface="Arial"/>
                <a:ea typeface="Arial"/>
                <a:cs typeface="Arial"/>
                <a:sym typeface="Arial"/>
              </a:rPr>
              <a:t>Pipelining and Overlapping</a:t>
            </a:r>
            <a:endParaRPr dirty="0"/>
          </a:p>
        </p:txBody>
      </p:sp>
      <p:sp>
        <p:nvSpPr>
          <p:cNvPr id="4" name="Google Shape;303;p50">
            <a:extLst>
              <a:ext uri="{FF2B5EF4-FFF2-40B4-BE49-F238E27FC236}">
                <a16:creationId xmlns:a16="http://schemas.microsoft.com/office/drawing/2014/main" id="{21EABB93-29F7-E2C6-5EA0-FB75DFA195C3}"/>
              </a:ext>
            </a:extLst>
          </p:cNvPr>
          <p:cNvSpPr txBox="1"/>
          <p:nvPr/>
        </p:nvSpPr>
        <p:spPr>
          <a:xfrm>
            <a:off x="272041" y="843974"/>
            <a:ext cx="8555703" cy="3591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500"/>
              <a:buChar char="●"/>
            </a:pPr>
            <a:r>
              <a:rPr lang="en-US" sz="1500" b="1" dirty="0">
                <a:solidFill>
                  <a:schemeClr val="dk1"/>
                </a:solidFill>
              </a:rPr>
              <a:t>Hide communication latency</a:t>
            </a:r>
            <a:r>
              <a:rPr lang="en-US" sz="1500" dirty="0">
                <a:solidFill>
                  <a:schemeClr val="dk1"/>
                </a:solidFill>
              </a:rPr>
              <a:t> by performing </a:t>
            </a:r>
            <a:r>
              <a:rPr lang="en-US" sz="1500" b="1" dirty="0">
                <a:solidFill>
                  <a:schemeClr val="dk1"/>
                </a:solidFill>
              </a:rPr>
              <a:t>communication in parallel with computation</a:t>
            </a:r>
            <a:r>
              <a:rPr lang="en-US" sz="1500" dirty="0">
                <a:solidFill>
                  <a:schemeClr val="dk1"/>
                </a:solidFill>
              </a:rPr>
              <a:t>.</a:t>
            </a:r>
          </a:p>
          <a:p>
            <a:pPr marL="457200" lvl="0" indent="-323850">
              <a:lnSpc>
                <a:spcPct val="115000"/>
              </a:lnSpc>
              <a:buClr>
                <a:schemeClr val="dk1"/>
              </a:buClr>
              <a:buSzPts val="1500"/>
              <a:buChar char="●"/>
            </a:pPr>
            <a:r>
              <a:rPr lang="en-US" sz="1500" dirty="0">
                <a:solidFill>
                  <a:schemeClr val="dk1"/>
                </a:solidFill>
              </a:rPr>
              <a:t>Improves </a:t>
            </a:r>
            <a:r>
              <a:rPr lang="en-US" sz="1500" b="1" dirty="0">
                <a:solidFill>
                  <a:schemeClr val="dk1"/>
                </a:solidFill>
              </a:rPr>
              <a:t>resource utilization</a:t>
            </a:r>
            <a:r>
              <a:rPr lang="en-US" sz="1500" dirty="0">
                <a:solidFill>
                  <a:schemeClr val="dk1"/>
                </a:solidFill>
              </a:rPr>
              <a:t> and reduces </a:t>
            </a:r>
            <a:r>
              <a:rPr lang="en-US" sz="1500" b="1" dirty="0">
                <a:solidFill>
                  <a:schemeClr val="dk1"/>
                </a:solidFill>
              </a:rPr>
              <a:t>idle time</a:t>
            </a:r>
            <a:r>
              <a:rPr lang="en-US" sz="1500" dirty="0">
                <a:solidFill>
                  <a:schemeClr val="dk1"/>
                </a:solidFill>
              </a:rPr>
              <a:t> in large-scale distributed training.</a:t>
            </a:r>
          </a:p>
          <a:p>
            <a:pPr lvl="0">
              <a:lnSpc>
                <a:spcPct val="115000"/>
              </a:lnSpc>
              <a:spcBef>
                <a:spcPts val="1400"/>
              </a:spcBef>
            </a:pPr>
            <a:r>
              <a:rPr lang="en-US" sz="1500" b="1" dirty="0">
                <a:solidFill>
                  <a:schemeClr val="dk1"/>
                </a:solidFill>
              </a:rPr>
              <a:t>Techniques</a:t>
            </a:r>
          </a:p>
          <a:p>
            <a:pPr lvl="0">
              <a:lnSpc>
                <a:spcPct val="115000"/>
              </a:lnSpc>
            </a:pPr>
            <a:r>
              <a:rPr lang="en-US" sz="1500" b="1" dirty="0">
                <a:solidFill>
                  <a:schemeClr val="dk1"/>
                </a:solidFill>
              </a:rPr>
              <a:t>1. Pipelining</a:t>
            </a:r>
          </a:p>
          <a:p>
            <a:pPr marL="457200" lvl="0" indent="-323850">
              <a:lnSpc>
                <a:spcPct val="115000"/>
              </a:lnSpc>
              <a:buClr>
                <a:schemeClr val="dk1"/>
              </a:buClr>
              <a:buSzPts val="1500"/>
              <a:buChar char="●"/>
            </a:pPr>
            <a:r>
              <a:rPr lang="en-US" sz="1500" dirty="0">
                <a:solidFill>
                  <a:schemeClr val="dk1"/>
                </a:solidFill>
              </a:rPr>
              <a:t>Gradients from </a:t>
            </a:r>
            <a:r>
              <a:rPr lang="en-US" sz="1500" b="1" dirty="0">
                <a:solidFill>
                  <a:schemeClr val="dk1"/>
                </a:solidFill>
              </a:rPr>
              <a:t>iteration </a:t>
            </a:r>
            <a:r>
              <a:rPr lang="en-US" sz="1500" b="1" dirty="0" err="1">
                <a:solidFill>
                  <a:schemeClr val="dk1"/>
                </a:solidFill>
              </a:rPr>
              <a:t>i</a:t>
            </a:r>
            <a:r>
              <a:rPr lang="en-US" sz="1500" dirty="0">
                <a:solidFill>
                  <a:schemeClr val="dk1"/>
                </a:solidFill>
              </a:rPr>
              <a:t> are pushed to the server while </a:t>
            </a:r>
            <a:r>
              <a:rPr lang="en-US" sz="1500" b="1" dirty="0">
                <a:solidFill>
                  <a:schemeClr val="dk1"/>
                </a:solidFill>
              </a:rPr>
              <a:t>iteration i+1</a:t>
            </a:r>
            <a:r>
              <a:rPr lang="en-US" sz="1500" dirty="0">
                <a:solidFill>
                  <a:schemeClr val="dk1"/>
                </a:solidFill>
              </a:rPr>
              <a:t> is being computed.</a:t>
            </a:r>
          </a:p>
          <a:p>
            <a:pPr marL="457200" lvl="0" indent="-323850">
              <a:lnSpc>
                <a:spcPct val="115000"/>
              </a:lnSpc>
              <a:buClr>
                <a:schemeClr val="dk1"/>
              </a:buClr>
              <a:buSzPts val="1500"/>
              <a:buChar char="●"/>
            </a:pPr>
            <a:r>
              <a:rPr lang="en-US" sz="1500" dirty="0">
                <a:solidFill>
                  <a:schemeClr val="dk1"/>
                </a:solidFill>
              </a:rPr>
              <a:t>Example: </a:t>
            </a:r>
            <a:r>
              <a:rPr lang="en-US" sz="1500" b="1" dirty="0">
                <a:solidFill>
                  <a:schemeClr val="dk1"/>
                </a:solidFill>
              </a:rPr>
              <a:t>Poseidon system</a:t>
            </a:r>
            <a:r>
              <a:rPr lang="en-US" sz="1500" dirty="0">
                <a:solidFill>
                  <a:schemeClr val="dk1"/>
                </a:solidFill>
              </a:rPr>
              <a:t> implements pipelining to reduce waiting.</a:t>
            </a:r>
          </a:p>
          <a:p>
            <a:pPr marL="457200" lvl="0" indent="-323850">
              <a:lnSpc>
                <a:spcPct val="115000"/>
              </a:lnSpc>
              <a:buClr>
                <a:schemeClr val="dk1"/>
              </a:buClr>
              <a:buSzPts val="1500"/>
              <a:buChar char="●"/>
            </a:pPr>
            <a:r>
              <a:rPr lang="en-US" sz="1500" b="1" dirty="0">
                <a:solidFill>
                  <a:schemeClr val="dk1"/>
                </a:solidFill>
              </a:rPr>
              <a:t>Benefit:</a:t>
            </a:r>
            <a:r>
              <a:rPr lang="en-US" sz="1500" dirty="0">
                <a:solidFill>
                  <a:schemeClr val="dk1"/>
                </a:solidFill>
              </a:rPr>
              <a:t> Communication and computation happen </a:t>
            </a:r>
            <a:r>
              <a:rPr lang="en-US" sz="1500" b="1" dirty="0">
                <a:solidFill>
                  <a:schemeClr val="dk1"/>
                </a:solidFill>
              </a:rPr>
              <a:t>simultaneously</a:t>
            </a:r>
            <a:r>
              <a:rPr lang="en-US" sz="1500" dirty="0">
                <a:solidFill>
                  <a:schemeClr val="dk1"/>
                </a:solidFill>
              </a:rPr>
              <a:t>, improving throughput.</a:t>
            </a:r>
          </a:p>
          <a:p>
            <a:pPr lvl="0">
              <a:lnSpc>
                <a:spcPct val="115000"/>
              </a:lnSpc>
              <a:spcBef>
                <a:spcPts val="1200"/>
              </a:spcBef>
            </a:pPr>
            <a:r>
              <a:rPr lang="en-US" sz="1500" b="1" dirty="0">
                <a:solidFill>
                  <a:schemeClr val="dk1"/>
                </a:solidFill>
              </a:rPr>
              <a:t>2. Overlapping (Overlap Synchronous Parallel – OSP)</a:t>
            </a:r>
          </a:p>
          <a:p>
            <a:pPr marL="457200" lvl="0" indent="-323850">
              <a:lnSpc>
                <a:spcPct val="115000"/>
              </a:lnSpc>
              <a:buClr>
                <a:schemeClr val="dk1"/>
              </a:buClr>
              <a:buSzPts val="1500"/>
              <a:buChar char="●"/>
            </a:pPr>
            <a:r>
              <a:rPr lang="en-US" sz="1500" dirty="0">
                <a:solidFill>
                  <a:schemeClr val="dk1"/>
                </a:solidFill>
              </a:rPr>
              <a:t>Uses </a:t>
            </a:r>
            <a:r>
              <a:rPr lang="en-US" sz="1500" b="1" dirty="0">
                <a:solidFill>
                  <a:schemeClr val="dk1"/>
                </a:solidFill>
              </a:rPr>
              <a:t>separate threads</a:t>
            </a:r>
            <a:r>
              <a:rPr lang="en-US" sz="1500" dirty="0">
                <a:solidFill>
                  <a:schemeClr val="dk1"/>
                </a:solidFill>
              </a:rPr>
              <a:t> for communication and computation.</a:t>
            </a:r>
          </a:p>
          <a:p>
            <a:pPr marL="457200" lvl="0" indent="-323850">
              <a:lnSpc>
                <a:spcPct val="115000"/>
              </a:lnSpc>
              <a:buClr>
                <a:schemeClr val="dk1"/>
              </a:buClr>
              <a:buSzPts val="1500"/>
              <a:buChar char="●"/>
            </a:pPr>
            <a:r>
              <a:rPr lang="en-US" sz="1500" b="1" dirty="0">
                <a:solidFill>
                  <a:schemeClr val="dk1"/>
                </a:solidFill>
              </a:rPr>
              <a:t>Local training continues</a:t>
            </a:r>
            <a:r>
              <a:rPr lang="en-US" sz="1500" dirty="0">
                <a:solidFill>
                  <a:schemeClr val="dk1"/>
                </a:solidFill>
              </a:rPr>
              <a:t> while parameter updates are applied in the background.</a:t>
            </a:r>
          </a:p>
          <a:p>
            <a:pPr marL="457200" lvl="0" indent="-323850">
              <a:lnSpc>
                <a:spcPct val="115000"/>
              </a:lnSpc>
              <a:buClr>
                <a:schemeClr val="dk1"/>
              </a:buClr>
              <a:buSzPts val="1500"/>
              <a:buChar char="●"/>
            </a:pPr>
            <a:r>
              <a:rPr lang="en-US" sz="1500" b="1" dirty="0">
                <a:solidFill>
                  <a:schemeClr val="dk1"/>
                </a:solidFill>
              </a:rPr>
              <a:t>Benefit:</a:t>
            </a:r>
            <a:r>
              <a:rPr lang="en-US" sz="1500" dirty="0">
                <a:solidFill>
                  <a:schemeClr val="dk1"/>
                </a:solidFill>
              </a:rPr>
              <a:t> Minimizes idle time and keeps workers busy, even during large gradient transfers.</a:t>
            </a:r>
          </a:p>
        </p:txBody>
      </p:sp>
    </p:spTree>
    <p:extLst>
      <p:ext uri="{BB962C8B-B14F-4D97-AF65-F5344CB8AC3E}">
        <p14:creationId xmlns:p14="http://schemas.microsoft.com/office/powerpoint/2010/main" val="18422223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C16976A3-E887-B6F9-91C4-48CEEBA84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>
            <a:extLst>
              <a:ext uri="{FF2B5EF4-FFF2-40B4-BE49-F238E27FC236}">
                <a16:creationId xmlns:a16="http://schemas.microsoft.com/office/drawing/2014/main" id="{38B2F43D-9441-BFAA-9195-9587571D53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303" y="310179"/>
            <a:ext cx="7579421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lvl="0"/>
            <a:r>
              <a:rPr lang="en-GB" dirty="0">
                <a:latin typeface="Arial"/>
                <a:ea typeface="Arial"/>
                <a:cs typeface="Arial"/>
                <a:sym typeface="Arial"/>
              </a:rPr>
              <a:t>Network related optimizations for the parameter server</a:t>
            </a:r>
            <a:endParaRPr dirty="0"/>
          </a:p>
        </p:txBody>
      </p:sp>
      <p:pic>
        <p:nvPicPr>
          <p:cNvPr id="2" name="Google Shape;321;p53">
            <a:extLst>
              <a:ext uri="{FF2B5EF4-FFF2-40B4-BE49-F238E27FC236}">
                <a16:creationId xmlns:a16="http://schemas.microsoft.com/office/drawing/2014/main" id="{9C26207C-1580-3A51-39CD-B3B53C5D48D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9763" y="1123815"/>
            <a:ext cx="5306499" cy="35741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19292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4"/>
          <p:cNvSpPr txBox="1">
            <a:spLocks noGrp="1"/>
          </p:cNvSpPr>
          <p:nvPr>
            <p:ph type="ctrTitle" idx="4294967295"/>
          </p:nvPr>
        </p:nvSpPr>
        <p:spPr>
          <a:xfrm>
            <a:off x="1200150" y="3429000"/>
            <a:ext cx="77151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000"/>
              <a:buFont typeface="Arial"/>
              <a:buNone/>
            </a:pPr>
            <a:r>
              <a:rPr lang="en-GB" sz="3000"/>
              <a:t>Parameter Management in Parameter Server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668BAC98-B11E-9660-7405-4012DBA11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>
            <a:extLst>
              <a:ext uri="{FF2B5EF4-FFF2-40B4-BE49-F238E27FC236}">
                <a16:creationId xmlns:a16="http://schemas.microsoft.com/office/drawing/2014/main" id="{7812C4A2-012A-957B-7C0D-3C0F2C3820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304" y="310179"/>
            <a:ext cx="69915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GB" dirty="0">
                <a:latin typeface="Arial"/>
                <a:ea typeface="Arial"/>
                <a:cs typeface="Arial"/>
                <a:sym typeface="Arial"/>
              </a:rPr>
              <a:t>Parameter Management</a:t>
            </a:r>
            <a:endParaRPr dirty="0"/>
          </a:p>
        </p:txBody>
      </p:sp>
      <p:sp>
        <p:nvSpPr>
          <p:cNvPr id="4" name="Google Shape;303;p50">
            <a:extLst>
              <a:ext uri="{FF2B5EF4-FFF2-40B4-BE49-F238E27FC236}">
                <a16:creationId xmlns:a16="http://schemas.microsoft.com/office/drawing/2014/main" id="{0D27AC27-5DDD-294B-4831-A8F5939BE3D7}"/>
              </a:ext>
            </a:extLst>
          </p:cNvPr>
          <p:cNvSpPr txBox="1"/>
          <p:nvPr/>
        </p:nvSpPr>
        <p:spPr>
          <a:xfrm>
            <a:off x="272041" y="795849"/>
            <a:ext cx="8555703" cy="434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500"/>
              <a:buChar char="●"/>
            </a:pPr>
            <a:r>
              <a:rPr lang="en-US" sz="1500" dirty="0">
                <a:solidFill>
                  <a:schemeClr val="dk1"/>
                </a:solidFill>
              </a:rPr>
              <a:t>In </a:t>
            </a:r>
            <a:r>
              <a:rPr lang="en-US" sz="1500" b="1" dirty="0">
                <a:solidFill>
                  <a:schemeClr val="dk1"/>
                </a:solidFill>
              </a:rPr>
              <a:t>Parameter Server (PS) systems</a:t>
            </a:r>
            <a:r>
              <a:rPr lang="en-US" sz="1500" dirty="0">
                <a:solidFill>
                  <a:schemeClr val="dk1"/>
                </a:solidFill>
              </a:rPr>
              <a:t>, model parameters are </a:t>
            </a:r>
            <a:r>
              <a:rPr lang="en-US" sz="1500" b="1" dirty="0">
                <a:solidFill>
                  <a:schemeClr val="dk1"/>
                </a:solidFill>
              </a:rPr>
              <a:t>distributed across multiple servers</a:t>
            </a:r>
            <a:r>
              <a:rPr lang="en-US" sz="1500" dirty="0">
                <a:solidFill>
                  <a:schemeClr val="dk1"/>
                </a:solidFill>
              </a:rPr>
              <a:t> instead of being stored in a single location.</a:t>
            </a:r>
          </a:p>
          <a:p>
            <a:pPr marL="457200" lvl="0" indent="-323850">
              <a:lnSpc>
                <a:spcPct val="115000"/>
              </a:lnSpc>
              <a:spcBef>
                <a:spcPts val="1000"/>
              </a:spcBef>
              <a:buClr>
                <a:schemeClr val="dk1"/>
              </a:buClr>
              <a:buSzPts val="1500"/>
              <a:buChar char="●"/>
            </a:pPr>
            <a:r>
              <a:rPr lang="en-US" sz="1500" dirty="0">
                <a:solidFill>
                  <a:schemeClr val="dk1"/>
                </a:solidFill>
              </a:rPr>
              <a:t>As models grow larger, efficient management of parameters becomes </a:t>
            </a:r>
            <a:r>
              <a:rPr lang="en-US" sz="1500" b="1" dirty="0">
                <a:solidFill>
                  <a:schemeClr val="dk1"/>
                </a:solidFill>
              </a:rPr>
              <a:t>critical for scalability and performance</a:t>
            </a:r>
            <a:r>
              <a:rPr lang="en-US" sz="1500" dirty="0">
                <a:solidFill>
                  <a:schemeClr val="dk1"/>
                </a:solidFill>
              </a:rPr>
              <a:t>.</a:t>
            </a:r>
          </a:p>
          <a:p>
            <a:pPr marL="457200" lvl="0" indent="-323850">
              <a:lnSpc>
                <a:spcPct val="115000"/>
              </a:lnSpc>
              <a:spcBef>
                <a:spcPts val="1000"/>
              </a:spcBef>
              <a:buClr>
                <a:schemeClr val="dk1"/>
              </a:buClr>
              <a:buSzPts val="1500"/>
              <a:buChar char="●"/>
            </a:pPr>
            <a:r>
              <a:rPr lang="en-US" sz="1500" dirty="0">
                <a:solidFill>
                  <a:schemeClr val="dk1"/>
                </a:solidFill>
              </a:rPr>
              <a:t>Poor parameter distribution can lead to:</a:t>
            </a:r>
          </a:p>
          <a:p>
            <a:pPr marL="914400" lvl="1" indent="-323850">
              <a:lnSpc>
                <a:spcPct val="115000"/>
              </a:lnSpc>
              <a:spcBef>
                <a:spcPts val="1000"/>
              </a:spcBef>
              <a:buClr>
                <a:schemeClr val="dk1"/>
              </a:buClr>
              <a:buSzPts val="1500"/>
              <a:buChar char="○"/>
            </a:pPr>
            <a:r>
              <a:rPr lang="en-US" sz="1500" dirty="0">
                <a:solidFill>
                  <a:schemeClr val="dk1"/>
                </a:solidFill>
              </a:rPr>
              <a:t>Load imbalance</a:t>
            </a:r>
          </a:p>
          <a:p>
            <a:pPr marL="914400" lvl="1" indent="-323850">
              <a:lnSpc>
                <a:spcPct val="115000"/>
              </a:lnSpc>
              <a:buClr>
                <a:schemeClr val="dk1"/>
              </a:buClr>
              <a:buSzPts val="1500"/>
              <a:buChar char="○"/>
            </a:pPr>
            <a:r>
              <a:rPr lang="en-US" sz="1500" dirty="0">
                <a:solidFill>
                  <a:schemeClr val="dk1"/>
                </a:solidFill>
              </a:rPr>
              <a:t>Network congestion</a:t>
            </a:r>
          </a:p>
          <a:p>
            <a:pPr marL="914400" lvl="1" indent="-323850">
              <a:lnSpc>
                <a:spcPct val="115000"/>
              </a:lnSpc>
              <a:buClr>
                <a:schemeClr val="dk1"/>
              </a:buClr>
              <a:buSzPts val="1500"/>
              <a:buChar char="○"/>
            </a:pPr>
            <a:r>
              <a:rPr lang="en-US" sz="1500" dirty="0">
                <a:solidFill>
                  <a:schemeClr val="dk1"/>
                </a:solidFill>
              </a:rPr>
              <a:t>Server hotspots</a:t>
            </a:r>
          </a:p>
          <a:p>
            <a:pPr marL="457200" lvl="0" indent="-3238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500"/>
              <a:buChar char="●"/>
            </a:pPr>
            <a:r>
              <a:rPr lang="en-US" sz="1500" b="1" dirty="0">
                <a:solidFill>
                  <a:schemeClr val="dk1"/>
                </a:solidFill>
              </a:rPr>
              <a:t>Parameter management</a:t>
            </a:r>
            <a:r>
              <a:rPr lang="en-US" sz="1500" dirty="0">
                <a:solidFill>
                  <a:schemeClr val="dk1"/>
                </a:solidFill>
              </a:rPr>
              <a:t> focuses on organizing and distributing parameters effectively to ensure smooth training.</a:t>
            </a:r>
          </a:p>
          <a:p>
            <a:pPr lvl="0" algn="ctr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</a:pPr>
            <a:r>
              <a:rPr lang="en-US" sz="1500" i="1" dirty="0">
                <a:solidFill>
                  <a:schemeClr val="dk1"/>
                </a:solidFill>
              </a:rPr>
              <a:t>Efficiently </a:t>
            </a:r>
            <a:r>
              <a:rPr lang="en-US" sz="1500" b="1" i="1" dirty="0">
                <a:solidFill>
                  <a:schemeClr val="dk1"/>
                </a:solidFill>
              </a:rPr>
              <a:t>shard, store, and balance model parameters</a:t>
            </a:r>
            <a:r>
              <a:rPr lang="en-US" sz="1500" i="1" dirty="0">
                <a:solidFill>
                  <a:schemeClr val="dk1"/>
                </a:solidFill>
              </a:rPr>
              <a:t> across servers to avoid bottlenecks and hotspots.</a:t>
            </a:r>
          </a:p>
        </p:txBody>
      </p:sp>
    </p:spTree>
    <p:extLst>
      <p:ext uri="{BB962C8B-B14F-4D97-AF65-F5344CB8AC3E}">
        <p14:creationId xmlns:p14="http://schemas.microsoft.com/office/powerpoint/2010/main" val="24582361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B1AFEE7C-DD7A-34E7-DCDC-8064AB98E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>
            <a:extLst>
              <a:ext uri="{FF2B5EF4-FFF2-40B4-BE49-F238E27FC236}">
                <a16:creationId xmlns:a16="http://schemas.microsoft.com/office/drawing/2014/main" id="{FA8FA96A-1199-6996-5F9E-33326C79BF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304" y="310179"/>
            <a:ext cx="69915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GB" dirty="0">
                <a:latin typeface="Arial"/>
                <a:ea typeface="Arial"/>
                <a:cs typeface="Arial"/>
                <a:sym typeface="Arial"/>
              </a:rPr>
              <a:t>Parameter Storage Techniques</a:t>
            </a:r>
            <a:endParaRPr dirty="0"/>
          </a:p>
        </p:txBody>
      </p:sp>
      <p:sp>
        <p:nvSpPr>
          <p:cNvPr id="4" name="Google Shape;303;p50">
            <a:extLst>
              <a:ext uri="{FF2B5EF4-FFF2-40B4-BE49-F238E27FC236}">
                <a16:creationId xmlns:a16="http://schemas.microsoft.com/office/drawing/2014/main" id="{7E7F1C2E-5967-0BAE-4F0F-CE7B55480F50}"/>
              </a:ext>
            </a:extLst>
          </p:cNvPr>
          <p:cNvSpPr txBox="1"/>
          <p:nvPr/>
        </p:nvSpPr>
        <p:spPr>
          <a:xfrm>
            <a:off x="272041" y="740849"/>
            <a:ext cx="8555703" cy="439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spcBef>
                <a:spcPts val="1400"/>
              </a:spcBef>
              <a:buClr>
                <a:schemeClr val="dk1"/>
              </a:buClr>
              <a:buSzPts val="1100"/>
            </a:pPr>
            <a:r>
              <a:rPr lang="en-US" sz="1500" b="1" dirty="0">
                <a:solidFill>
                  <a:schemeClr val="dk1"/>
                </a:solidFill>
              </a:rPr>
              <a:t>Basic Approach: Hash-Based Storage</a:t>
            </a:r>
          </a:p>
          <a:p>
            <a:pPr marL="457200" lvl="0" indent="-323850">
              <a:buClr>
                <a:schemeClr val="dk1"/>
              </a:buClr>
              <a:buSzPts val="1500"/>
              <a:buChar char="●"/>
            </a:pPr>
            <a:r>
              <a:rPr lang="en-US" sz="1500" dirty="0">
                <a:solidFill>
                  <a:schemeClr val="dk1"/>
                </a:solidFill>
              </a:rPr>
              <a:t>Early parameter server systems used </a:t>
            </a:r>
            <a:r>
              <a:rPr lang="en-US" sz="1500" b="1" dirty="0">
                <a:solidFill>
                  <a:schemeClr val="dk1"/>
                </a:solidFill>
              </a:rPr>
              <a:t>simple hashing techniques</a:t>
            </a:r>
            <a:r>
              <a:rPr lang="en-US" sz="1500" dirty="0">
                <a:solidFill>
                  <a:schemeClr val="dk1"/>
                </a:solidFill>
              </a:rPr>
              <a:t> to distribute model parameters across servers</a:t>
            </a:r>
          </a:p>
          <a:p>
            <a:pPr marL="457200" lvl="0" indent="-323850">
              <a:buClr>
                <a:schemeClr val="dk1"/>
              </a:buClr>
              <a:buSzPts val="1500"/>
              <a:buChar char="●"/>
            </a:pPr>
            <a:r>
              <a:rPr lang="en-US" sz="1500" dirty="0">
                <a:solidFill>
                  <a:schemeClr val="dk1"/>
                </a:solidFill>
              </a:rPr>
              <a:t>Each parameter is assigned to a server based on a </a:t>
            </a:r>
            <a:r>
              <a:rPr lang="en-US" sz="1500" b="1" dirty="0">
                <a:solidFill>
                  <a:schemeClr val="dk1"/>
                </a:solidFill>
              </a:rPr>
              <a:t>hash function</a:t>
            </a:r>
          </a:p>
          <a:p>
            <a:pPr marL="457200" lvl="0" indent="-323850">
              <a:buClr>
                <a:schemeClr val="dk1"/>
              </a:buClr>
              <a:buSzPts val="1500"/>
              <a:buChar char="●"/>
            </a:pPr>
            <a:r>
              <a:rPr lang="en-US" sz="1500" dirty="0">
                <a:solidFill>
                  <a:schemeClr val="dk1"/>
                </a:solidFill>
              </a:rPr>
              <a:t>Advantages:</a:t>
            </a:r>
          </a:p>
          <a:p>
            <a:pPr marL="914400" lvl="1" indent="-323850">
              <a:buClr>
                <a:schemeClr val="dk1"/>
              </a:buClr>
              <a:buSzPts val="1500"/>
              <a:buChar char="○"/>
            </a:pPr>
            <a:r>
              <a:rPr lang="en-US" sz="1500" dirty="0">
                <a:solidFill>
                  <a:schemeClr val="dk1"/>
                </a:solidFill>
              </a:rPr>
              <a:t>Simple to implement</a:t>
            </a:r>
          </a:p>
          <a:p>
            <a:pPr marL="914400" lvl="1" indent="-323850">
              <a:buClr>
                <a:schemeClr val="dk1"/>
              </a:buClr>
              <a:buSzPts val="1500"/>
              <a:buChar char="○"/>
            </a:pPr>
            <a:r>
              <a:rPr lang="en-US" sz="1500" dirty="0">
                <a:solidFill>
                  <a:schemeClr val="dk1"/>
                </a:solidFill>
              </a:rPr>
              <a:t>Ensures uniform distribution in theory</a:t>
            </a:r>
          </a:p>
          <a:p>
            <a:pPr lvl="0">
              <a:spcBef>
                <a:spcPts val="1400"/>
              </a:spcBef>
            </a:pPr>
            <a:r>
              <a:rPr lang="en-US" sz="1500" b="1" dirty="0">
                <a:solidFill>
                  <a:schemeClr val="dk1"/>
                </a:solidFill>
              </a:rPr>
              <a:t>Limitations of Hashing</a:t>
            </a:r>
          </a:p>
          <a:p>
            <a:pPr marL="457200" lvl="0" indent="-323850">
              <a:buClr>
                <a:schemeClr val="dk1"/>
              </a:buClr>
              <a:buSzPts val="1500"/>
              <a:buChar char="●"/>
            </a:pPr>
            <a:r>
              <a:rPr lang="en-US" sz="1500" dirty="0">
                <a:solidFill>
                  <a:schemeClr val="dk1"/>
                </a:solidFill>
              </a:rPr>
              <a:t>Does </a:t>
            </a:r>
            <a:r>
              <a:rPr lang="en-US" sz="1500" b="1" dirty="0">
                <a:solidFill>
                  <a:schemeClr val="dk1"/>
                </a:solidFill>
              </a:rPr>
              <a:t>not consider parameter access patterns</a:t>
            </a:r>
            <a:r>
              <a:rPr lang="en-US" sz="1500" dirty="0">
                <a:solidFill>
                  <a:schemeClr val="dk1"/>
                </a:solidFill>
              </a:rPr>
              <a:t> during training</a:t>
            </a:r>
          </a:p>
          <a:p>
            <a:pPr marL="457200" lvl="0" indent="-323850">
              <a:buClr>
                <a:schemeClr val="dk1"/>
              </a:buClr>
              <a:buSzPts val="1500"/>
              <a:buChar char="●"/>
            </a:pPr>
            <a:r>
              <a:rPr lang="en-US" sz="1500" dirty="0">
                <a:solidFill>
                  <a:schemeClr val="dk1"/>
                </a:solidFill>
              </a:rPr>
              <a:t>In real-world workloads, access is often </a:t>
            </a:r>
            <a:r>
              <a:rPr lang="en-US" sz="1500" b="1" dirty="0">
                <a:solidFill>
                  <a:schemeClr val="dk1"/>
                </a:solidFill>
              </a:rPr>
              <a:t>skewed (non-uniform)</a:t>
            </a:r>
          </a:p>
          <a:p>
            <a:pPr marL="457200" lvl="0" indent="-323850">
              <a:buClr>
                <a:schemeClr val="dk1"/>
              </a:buClr>
              <a:buSzPts val="1500"/>
              <a:buChar char="●"/>
            </a:pPr>
            <a:r>
              <a:rPr lang="en-US" sz="1500" dirty="0">
                <a:solidFill>
                  <a:schemeClr val="dk1"/>
                </a:solidFill>
              </a:rPr>
              <a:t>Leads to:</a:t>
            </a:r>
          </a:p>
          <a:p>
            <a:pPr marL="914400" lvl="1" indent="-323850">
              <a:buClr>
                <a:schemeClr val="dk1"/>
              </a:buClr>
              <a:buSzPts val="1500"/>
              <a:buChar char="○"/>
            </a:pPr>
            <a:r>
              <a:rPr lang="en-US" sz="1500" b="1" dirty="0">
                <a:solidFill>
                  <a:schemeClr val="dk1"/>
                </a:solidFill>
              </a:rPr>
              <a:t>Load imbalance</a:t>
            </a:r>
            <a:r>
              <a:rPr lang="en-US" sz="1500" dirty="0">
                <a:solidFill>
                  <a:schemeClr val="dk1"/>
                </a:solidFill>
              </a:rPr>
              <a:t> – some servers receive more requests than others</a:t>
            </a:r>
          </a:p>
          <a:p>
            <a:pPr marL="914400" lvl="1" indent="-323850">
              <a:buClr>
                <a:schemeClr val="dk1"/>
              </a:buClr>
              <a:buSzPts val="1500"/>
              <a:buChar char="○"/>
            </a:pPr>
            <a:r>
              <a:rPr lang="en-US" sz="1500" b="1" dirty="0">
                <a:solidFill>
                  <a:schemeClr val="dk1"/>
                </a:solidFill>
              </a:rPr>
              <a:t>Hotspots</a:t>
            </a:r>
            <a:r>
              <a:rPr lang="en-US" sz="1500" dirty="0">
                <a:solidFill>
                  <a:schemeClr val="dk1"/>
                </a:solidFill>
              </a:rPr>
              <a:t> – frequently accessed parameters overload specific servers</a:t>
            </a:r>
          </a:p>
          <a:p>
            <a:pPr marL="914400" lvl="1" indent="-323850">
              <a:buClr>
                <a:schemeClr val="dk1"/>
              </a:buClr>
              <a:buSzPts val="1500"/>
              <a:buChar char="○"/>
            </a:pPr>
            <a:r>
              <a:rPr lang="en-US" sz="1500" dirty="0">
                <a:solidFill>
                  <a:schemeClr val="dk1"/>
                </a:solidFill>
              </a:rPr>
              <a:t>Increased </a:t>
            </a:r>
            <a:r>
              <a:rPr lang="en-US" sz="1500" b="1" dirty="0">
                <a:solidFill>
                  <a:schemeClr val="dk1"/>
                </a:solidFill>
              </a:rPr>
              <a:t>network congestion and latency</a:t>
            </a:r>
          </a:p>
          <a:p>
            <a:pPr lvl="0">
              <a:spcAft>
                <a:spcPts val="1200"/>
              </a:spcAft>
            </a:pPr>
            <a:r>
              <a:rPr lang="en-US" sz="1500" dirty="0">
                <a:solidFill>
                  <a:schemeClr val="dk1"/>
                </a:solidFill>
              </a:rPr>
              <a:t>Example: If many workers frequently update the same parameters, the server holding them becomes a bottleneck</a:t>
            </a:r>
          </a:p>
        </p:txBody>
      </p:sp>
    </p:spTree>
    <p:extLst>
      <p:ext uri="{BB962C8B-B14F-4D97-AF65-F5344CB8AC3E}">
        <p14:creationId xmlns:p14="http://schemas.microsoft.com/office/powerpoint/2010/main" val="29010028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C4CC5CCB-EBB9-BFDA-6442-FC6AB49A7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>
            <a:extLst>
              <a:ext uri="{FF2B5EF4-FFF2-40B4-BE49-F238E27FC236}">
                <a16:creationId xmlns:a16="http://schemas.microsoft.com/office/drawing/2014/main" id="{C1BC4965-4CAC-4537-49B7-892CE02A1D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3304" y="310179"/>
            <a:ext cx="69915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GB" dirty="0">
                <a:latin typeface="Arial"/>
                <a:ea typeface="Arial"/>
                <a:cs typeface="Arial"/>
                <a:sym typeface="Arial"/>
              </a:rPr>
              <a:t>Parameter Management</a:t>
            </a:r>
            <a:endParaRPr dirty="0"/>
          </a:p>
        </p:txBody>
      </p:sp>
      <p:sp>
        <p:nvSpPr>
          <p:cNvPr id="2" name="Google Shape;344;p57">
            <a:extLst>
              <a:ext uri="{FF2B5EF4-FFF2-40B4-BE49-F238E27FC236}">
                <a16:creationId xmlns:a16="http://schemas.microsoft.com/office/drawing/2014/main" id="{F724911B-950D-7702-02D3-B474A810D694}"/>
              </a:ext>
            </a:extLst>
          </p:cNvPr>
          <p:cNvSpPr txBox="1"/>
          <p:nvPr/>
        </p:nvSpPr>
        <p:spPr>
          <a:xfrm>
            <a:off x="643300" y="782096"/>
            <a:ext cx="7764600" cy="3954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</a:rPr>
              <a:t>Advanced Optimization Technique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</a:rPr>
              <a:t>Access-Pattern-Based Partitioning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Instead of randomly distributing parameters across servers, parameters are </a:t>
            </a:r>
            <a:r>
              <a:rPr lang="en-GB" sz="1500" b="1">
                <a:solidFill>
                  <a:schemeClr val="dk1"/>
                </a:solidFill>
              </a:rPr>
              <a:t>grouped based on how they are accessed during training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Parameters that are </a:t>
            </a:r>
            <a:r>
              <a:rPr lang="en-GB" sz="1500" b="1">
                <a:solidFill>
                  <a:schemeClr val="dk1"/>
                </a:solidFill>
              </a:rPr>
              <a:t>frequently updated together (co-accessed)</a:t>
            </a:r>
            <a:r>
              <a:rPr lang="en-GB" sz="1500">
                <a:solidFill>
                  <a:schemeClr val="dk1"/>
                </a:solidFill>
              </a:rPr>
              <a:t> are placed on the </a:t>
            </a:r>
            <a:r>
              <a:rPr lang="en-GB" sz="1500" b="1">
                <a:solidFill>
                  <a:schemeClr val="dk1"/>
                </a:solidFill>
              </a:rPr>
              <a:t>same parameter server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Introduced in systems like </a:t>
            </a:r>
            <a:r>
              <a:rPr lang="en-GB" sz="1500" b="1">
                <a:solidFill>
                  <a:schemeClr val="dk1"/>
                </a:solidFill>
              </a:rPr>
              <a:t>Bosen </a:t>
            </a:r>
            <a:r>
              <a:rPr lang="en-GB" sz="1500">
                <a:solidFill>
                  <a:schemeClr val="dk1"/>
                </a:solidFill>
              </a:rPr>
              <a:t>(a distributed parameter server system designed for large-scale machine learning optimization)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</a:rPr>
              <a:t>How it Works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Analyze </a:t>
            </a:r>
            <a:r>
              <a:rPr lang="en-GB" sz="1500" b="1">
                <a:solidFill>
                  <a:schemeClr val="dk1"/>
                </a:solidFill>
              </a:rPr>
              <a:t>access patterns</a:t>
            </a:r>
            <a:r>
              <a:rPr lang="en-GB" sz="1500">
                <a:solidFill>
                  <a:schemeClr val="dk1"/>
                </a:solidFill>
              </a:rPr>
              <a:t> of model parameters during training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Identify parameters that are </a:t>
            </a:r>
            <a:r>
              <a:rPr lang="en-GB" sz="1500" b="1">
                <a:solidFill>
                  <a:schemeClr val="dk1"/>
                </a:solidFill>
              </a:rPr>
              <a:t>commonly used together</a:t>
            </a:r>
            <a:r>
              <a:rPr lang="en-GB" sz="1500">
                <a:solidFill>
                  <a:schemeClr val="dk1"/>
                </a:solidFill>
              </a:rPr>
              <a:t> in gradient computations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Assign these related parameters to the </a:t>
            </a:r>
            <a:r>
              <a:rPr lang="en-GB" sz="1500" b="1">
                <a:solidFill>
                  <a:schemeClr val="dk1"/>
                </a:solidFill>
              </a:rPr>
              <a:t>same server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Reduces the need to fetch parameters from multiple servers</a:t>
            </a:r>
            <a:endParaRPr sz="15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98061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23C1875908B441AF4AF4B1296840D8" ma:contentTypeVersion="32" ma:contentTypeDescription="Create a new document." ma:contentTypeScope="" ma:versionID="3aa5fa41ca760a2812c9bf6a813eb89a">
  <xsd:schema xmlns:xsd="http://www.w3.org/2001/XMLSchema" xmlns:xs="http://www.w3.org/2001/XMLSchema" xmlns:p="http://schemas.microsoft.com/office/2006/metadata/properties" xmlns:ns2="e1b5d412-63f5-4184-9493-34a8c46e02de" xmlns:ns3="385a44b4-34aa-45df-8ce2-c9f8500b9889" targetNamespace="http://schemas.microsoft.com/office/2006/metadata/properties" ma:root="true" ma:fieldsID="a480b5c33877535d079a860614ed79ea" ns2:_="" ns3:_="">
    <xsd:import namespace="e1b5d412-63f5-4184-9493-34a8c46e02de"/>
    <xsd:import namespace="385a44b4-34aa-45df-8ce2-c9f8500b98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5d412-63f5-4184-9493-34a8c46e02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NotebookType" ma:index="15" nillable="true" ma:displayName="Notebook Type" ma:internalName="NotebookType">
      <xsd:simpleType>
        <xsd:restriction base="dms:Text"/>
      </xsd:simpleType>
    </xsd:element>
    <xsd:element name="FolderType" ma:index="16" nillable="true" ma:displayName="Folder Type" ma:internalName="FolderType">
      <xsd:simpleType>
        <xsd:restriction base="dms:Text"/>
      </xsd:simpleType>
    </xsd:element>
    <xsd:element name="CultureName" ma:index="17" nillable="true" ma:displayName="Culture Name" ma:internalName="CultureName">
      <xsd:simpleType>
        <xsd:restriction base="dms:Text"/>
      </xsd:simpleType>
    </xsd:element>
    <xsd:element name="AppVersion" ma:index="18" nillable="true" ma:displayName="App Version" ma:internalName="AppVersion">
      <xsd:simpleType>
        <xsd:restriction base="dms:Text"/>
      </xsd:simpleType>
    </xsd:element>
    <xsd:element name="TeamsChannelId" ma:index="19" nillable="true" ma:displayName="Teams Channel Id" ma:internalName="TeamsChannelId">
      <xsd:simpleType>
        <xsd:restriction base="dms:Text"/>
      </xsd:simpleType>
    </xsd:element>
    <xsd:element name="Owner" ma:index="20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1" nillable="true" ma:displayName="Math Settings" ma:internalName="Math_Settings">
      <xsd:simpleType>
        <xsd:restriction base="dms:Text"/>
      </xsd:simpleType>
    </xsd:element>
    <xsd:element name="DefaultSectionNames" ma:index="22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3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4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5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6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7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8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9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0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1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2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3" nillable="true" ma:displayName="Is Collaboration Space Locked" ma:internalName="Is_Collaboration_Space_Locked">
      <xsd:simpleType>
        <xsd:restriction base="dms:Boolean"/>
      </xsd:simpleType>
    </xsd:element>
    <xsd:element name="IsNotebookLocked" ma:index="34" nillable="true" ma:displayName="Is Notebook Locked" ma:internalName="IsNotebookLocked">
      <xsd:simpleType>
        <xsd:restriction base="dms:Boolean"/>
      </xsd:simpleType>
    </xsd:element>
    <xsd:element name="Teams_Channel_Section_Location" ma:index="35" nillable="true" ma:displayName="Teams Channel Section Location" ma:internalName="Teams_Channel_Section_Location">
      <xsd:simpleType>
        <xsd:restriction base="dms:Text"/>
      </xsd:simpleType>
    </xsd:element>
    <xsd:element name="lcf76f155ced4ddcb4097134ff3c332f" ma:index="37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5a44b4-34aa-45df-8ce2-c9f8500b9889" elementFormDefault="qualified">
    <xsd:import namespace="http://schemas.microsoft.com/office/2006/documentManagement/types"/>
    <xsd:import namespace="http://schemas.microsoft.com/office/infopath/2007/PartnerControls"/>
    <xsd:element name="TaxCatchAll" ma:index="38" nillable="true" ma:displayName="Taxonomy Catch All Column" ma:hidden="true" ma:list="{7f643f79-0ab1-4e03-965a-6658c90b6d7f}" ma:internalName="TaxCatchAll" ma:showField="CatchAllData" ma:web="385a44b4-34aa-45df-8ce2-c9f8500b98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amsChannelId xmlns="e1b5d412-63f5-4184-9493-34a8c46e02de" xsi:nil="true"/>
    <FolderType xmlns="e1b5d412-63f5-4184-9493-34a8c46e02de" xsi:nil="true"/>
    <Teachers xmlns="e1b5d412-63f5-4184-9493-34a8c46e02de">
      <UserInfo>
        <DisplayName/>
        <AccountId xsi:nil="true"/>
        <AccountType/>
      </UserInfo>
    </Teachers>
    <lcf76f155ced4ddcb4097134ff3c332f xmlns="e1b5d412-63f5-4184-9493-34a8c46e02de">
      <Terms xmlns="http://schemas.microsoft.com/office/infopath/2007/PartnerControls"/>
    </lcf76f155ced4ddcb4097134ff3c332f>
    <Has_Teacher_Only_SectionGroup xmlns="e1b5d412-63f5-4184-9493-34a8c46e02de" xsi:nil="true"/>
    <DefaultSectionNames xmlns="e1b5d412-63f5-4184-9493-34a8c46e02de" xsi:nil="true"/>
    <Is_Collaboration_Space_Locked xmlns="e1b5d412-63f5-4184-9493-34a8c46e02de" xsi:nil="true"/>
    <Invited_Teachers xmlns="e1b5d412-63f5-4184-9493-34a8c46e02de" xsi:nil="true"/>
    <Invited_Students xmlns="e1b5d412-63f5-4184-9493-34a8c46e02de" xsi:nil="true"/>
    <Math_Settings xmlns="e1b5d412-63f5-4184-9493-34a8c46e02de" xsi:nil="true"/>
    <Teams_Channel_Section_Location xmlns="e1b5d412-63f5-4184-9493-34a8c46e02de" xsi:nil="true"/>
    <TaxCatchAll xmlns="385a44b4-34aa-45df-8ce2-c9f8500b9889" xsi:nil="true"/>
    <Owner xmlns="e1b5d412-63f5-4184-9493-34a8c46e02de">
      <UserInfo>
        <DisplayName/>
        <AccountId xsi:nil="true"/>
        <AccountType/>
      </UserInfo>
    </Owner>
    <Students xmlns="e1b5d412-63f5-4184-9493-34a8c46e02de">
      <UserInfo>
        <DisplayName/>
        <AccountId xsi:nil="true"/>
        <AccountType/>
      </UserInfo>
    </Students>
    <LMS_Mappings xmlns="e1b5d412-63f5-4184-9493-34a8c46e02de" xsi:nil="true"/>
    <IsNotebookLocked xmlns="e1b5d412-63f5-4184-9493-34a8c46e02de" xsi:nil="true"/>
    <NotebookType xmlns="e1b5d412-63f5-4184-9493-34a8c46e02de" xsi:nil="true"/>
    <CultureName xmlns="e1b5d412-63f5-4184-9493-34a8c46e02de" xsi:nil="true"/>
    <Student_Groups xmlns="e1b5d412-63f5-4184-9493-34a8c46e02de">
      <UserInfo>
        <DisplayName/>
        <AccountId xsi:nil="true"/>
        <AccountType/>
      </UserInfo>
    </Student_Groups>
    <AppVersion xmlns="e1b5d412-63f5-4184-9493-34a8c46e02de" xsi:nil="true"/>
    <Distribution_Groups xmlns="e1b5d412-63f5-4184-9493-34a8c46e02de" xsi:nil="true"/>
    <Templates xmlns="e1b5d412-63f5-4184-9493-34a8c46e02de" xsi:nil="true"/>
    <Self_Registration_Enabled xmlns="e1b5d412-63f5-4184-9493-34a8c46e02de" xsi:nil="true"/>
  </documentManagement>
</p:properties>
</file>

<file path=customXml/itemProps1.xml><?xml version="1.0" encoding="utf-8"?>
<ds:datastoreItem xmlns:ds="http://schemas.openxmlformats.org/officeDocument/2006/customXml" ds:itemID="{F89F3CCC-9598-4BEC-8C8A-FCEE578829D3}"/>
</file>

<file path=customXml/itemProps2.xml><?xml version="1.0" encoding="utf-8"?>
<ds:datastoreItem xmlns:ds="http://schemas.openxmlformats.org/officeDocument/2006/customXml" ds:itemID="{504D0613-DD40-4785-AF10-ECA5BDF446CB}"/>
</file>

<file path=customXml/itemProps3.xml><?xml version="1.0" encoding="utf-8"?>
<ds:datastoreItem xmlns:ds="http://schemas.openxmlformats.org/officeDocument/2006/customXml" ds:itemID="{2BDB4CE1-21D4-45BD-84CA-1EB790C40428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1970</Words>
  <Application>Microsoft Office PowerPoint</Application>
  <PresentationFormat>On-screen Show (16:9)</PresentationFormat>
  <Paragraphs>206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Helvetica Neue</vt:lpstr>
      <vt:lpstr>Helvetica Neue Light</vt:lpstr>
      <vt:lpstr>Arial</vt:lpstr>
      <vt:lpstr>Comic Sans MS</vt:lpstr>
      <vt:lpstr>Calibri</vt:lpstr>
      <vt:lpstr>Simple Light</vt:lpstr>
      <vt:lpstr>1_Office Theme</vt:lpstr>
      <vt:lpstr>Office Theme</vt:lpstr>
      <vt:lpstr>ML SYSTEM OPTIMIZATION                     Session 10</vt:lpstr>
      <vt:lpstr>M3: Scale-Out Systems</vt:lpstr>
      <vt:lpstr>Baseline Synchronization Protocols</vt:lpstr>
      <vt:lpstr>Bulk Synchronous Parallel (BSP)</vt:lpstr>
      <vt:lpstr>Asynchronous Parallel (ASP)</vt:lpstr>
      <vt:lpstr>BSP Synchronization in Parameter Server Model</vt:lpstr>
      <vt:lpstr>BSP Synchronization in Parameter Server Model</vt:lpstr>
      <vt:lpstr>BSP Synchronization in Parameter Server Model</vt:lpstr>
      <vt:lpstr>BSP Synchronization in Parameter Server Model</vt:lpstr>
      <vt:lpstr>ASP Synchronization in Parameter Server Model</vt:lpstr>
      <vt:lpstr>ASP Synchronization in Parameter Server Model</vt:lpstr>
      <vt:lpstr>ASP Synchronization in Parameter Server Model</vt:lpstr>
      <vt:lpstr>ASP Synchronization in Parameter Server Model</vt:lpstr>
      <vt:lpstr>Flexible Synchronization Models</vt:lpstr>
      <vt:lpstr>Stale Synchronous Parallel (SSP)</vt:lpstr>
      <vt:lpstr>Stale Synchronous Parallel (SSP)</vt:lpstr>
      <vt:lpstr>k-Variants</vt:lpstr>
      <vt:lpstr>k-Variants</vt:lpstr>
      <vt:lpstr>k-BSP</vt:lpstr>
      <vt:lpstr>k-batch-BSP</vt:lpstr>
      <vt:lpstr>k-ASP</vt:lpstr>
      <vt:lpstr>k-batch-ASP</vt:lpstr>
      <vt:lpstr>Network Related Optimizations in Parameter Server Architectures</vt:lpstr>
      <vt:lpstr>Network-Related Optimizations</vt:lpstr>
      <vt:lpstr>Gradient Compression</vt:lpstr>
      <vt:lpstr>Pipelining and Overlapping</vt:lpstr>
      <vt:lpstr>Network related optimizations for the parameter server</vt:lpstr>
      <vt:lpstr>Parameter Management in Parameter Server</vt:lpstr>
      <vt:lpstr>Parameter Management</vt:lpstr>
      <vt:lpstr>Parameter Storage Techniques</vt:lpstr>
      <vt:lpstr>Parameter Management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Niranjan Srinivasan</dc:creator>
  <cp:lastModifiedBy>Niranjan Srinivasan</cp:lastModifiedBy>
  <cp:revision>1</cp:revision>
  <dcterms:modified xsi:type="dcterms:W3CDTF">2026-04-03T10:14:50Z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0x010100B123C1875908B441AF4AF4B1296840D8</vt:lpwstr>
  </property>
</Properties>
</file>